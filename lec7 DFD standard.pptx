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sldIdLst>
    <p:sldId id="279" r:id="rId2"/>
    <p:sldId id="278" r:id="rId3"/>
    <p:sldId id="257" r:id="rId4"/>
    <p:sldId id="258" r:id="rId5"/>
    <p:sldId id="260" r:id="rId6"/>
    <p:sldId id="261" r:id="rId7"/>
    <p:sldId id="28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  <p:sldId id="27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72" r:id="rId28"/>
    <p:sldId id="273" r:id="rId29"/>
    <p:sldId id="274" r:id="rId30"/>
    <p:sldId id="280" r:id="rId31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DDFF"/>
    <a:srgbClr val="DEBDFF"/>
    <a:srgbClr val="FFD9D9"/>
    <a:srgbClr val="4C00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36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uk-UA" smtClean="0"/>
              <a:t>Зразок заголовка</a:t>
            </a:r>
            <a:endParaRPr lang="ru-RU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 smtClean="0"/>
              <a:t>Зразок підзаголовка</a:t>
            </a:r>
            <a:endParaRPr lang="ru-RU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fld id="{8AF40CA7-5FBC-4E11-9C00-D1CA512D113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6210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ru-RU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ru-RU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fld id="{4FD08CD6-9F74-476F-BFC3-A920AEFF06D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6245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uk-UA" smtClean="0"/>
              <a:t>Зразок заголовка</a:t>
            </a:r>
            <a:endParaRPr lang="ru-RU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fld id="{BA0A5900-83A4-416A-AD59-60036FF6127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902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ru-RU"/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ru-RU"/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ru-RU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fld id="{480874AA-2DCF-4E7A-8369-7A36641642B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560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 smtClean="0"/>
              <a:t>Зразок заголовка</a:t>
            </a:r>
            <a:endParaRPr lang="ru-RU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ru-RU"/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ru-RU"/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fld id="{4EB55003-3CCF-46A3-9C19-49023E10819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551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fld id="{88890366-A850-4A1A-85C9-55ABAED8A4D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582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fld id="{D5DA6410-3A3F-48B0-BE51-9CE91FFEB16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7329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 smtClean="0"/>
              <a:t>Зразок заголовка</a:t>
            </a:r>
            <a:endParaRPr lang="ru-RU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ru-RU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fld id="{806C7697-44D0-45D5-BEA2-177F8B61D28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005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 smtClean="0"/>
              <a:t>Зразок заголовка</a:t>
            </a:r>
            <a:endParaRPr lang="ru-RU"/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fld id="{76092170-6B58-4D5C-80EE-3A211B86A9E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553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ru-RU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ru-RU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fld id="{3065DCD4-2C18-455E-A30F-020475FB4F2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03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uk-UA" smtClean="0"/>
              <a:t>Зразок заголовка</a:t>
            </a:r>
            <a:endParaRPr lang="ru-RU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ru-RU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fld id="{D0A1EA98-5909-489C-B929-4C86EF6D476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229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/>
          <p:cNvSpPr txBox="1">
            <a:spLocks noChangeArrowheads="1"/>
          </p:cNvSpPr>
          <p:nvPr/>
        </p:nvSpPr>
        <p:spPr bwMode="auto">
          <a:xfrm>
            <a:off x="7631113" y="6583363"/>
            <a:ext cx="1262062" cy="2746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uk-UA" sz="1200">
                <a:solidFill>
                  <a:prstClr val="black"/>
                </a:solidFill>
              </a:rPr>
              <a:t>Листопад 2011</a:t>
            </a:r>
            <a:endParaRPr lang="ru-RU" sz="1200">
              <a:solidFill>
                <a:prstClr val="black"/>
              </a:solidFill>
            </a:endParaRPr>
          </a:p>
        </p:txBody>
      </p:sp>
      <p:pic>
        <p:nvPicPr>
          <p:cNvPr id="3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691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58"/>
          <p:cNvSpPr txBox="1">
            <a:spLocks noChangeArrowheads="1"/>
          </p:cNvSpPr>
          <p:nvPr userDrawn="1"/>
        </p:nvSpPr>
        <p:spPr bwMode="auto">
          <a:xfrm flipH="1">
            <a:off x="5541963" y="6594475"/>
            <a:ext cx="27209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uk-UA" sz="1200" smtClean="0">
                <a:solidFill>
                  <a:srgbClr val="000000"/>
                </a:solidFill>
                <a:latin typeface="Calibri" pitchFamily="34" charset="0"/>
              </a:rPr>
              <a:t>Т.В. Ковалюк Проектування ПЗ</a:t>
            </a:r>
            <a:endParaRPr lang="ru-RU" sz="1200" smtClean="0">
              <a:solidFill>
                <a:srgbClr val="000000"/>
              </a:solidFill>
              <a:latin typeface="Calibri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7625"/>
            <a:ext cx="91440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583363"/>
            <a:ext cx="1905000" cy="274637"/>
          </a:xfr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prstClr val="black"/>
                </a:solidFill>
                <a:latin typeface="Arial" charset="0"/>
              </a:defRPr>
            </a:lvl1pPr>
          </a:lstStyle>
          <a:p>
            <a:pPr>
              <a:defRPr/>
            </a:pPr>
            <a:fld id="{3410011D-3D5B-468B-AE56-BDC9AECCE5F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39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>
            <a:lvl1pPr algn="ctr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>
            <a:lvl1pPr algn="l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01873A14-1285-4993-830C-0B76B1D72AE8}" type="datetimeFigureOut">
              <a:rPr lang="en-US"/>
              <a:pPr>
                <a:defRPr/>
              </a:pPr>
              <a:t>4/4/2019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>
            <a:lvl1pPr marL="123189" fontAlgn="base">
              <a:spcBef>
                <a:spcPct val="0"/>
              </a:spcBef>
              <a:spcAft>
                <a:spcPct val="0"/>
              </a:spcAft>
              <a:defRPr sz="1400" spc="-1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fld id="{8C94E8DD-5D79-4D1B-9010-263B68935153}" type="slidenum">
              <a:rPr/>
              <a:pPr>
                <a:defRPr/>
              </a:pPr>
              <a:t>‹#›</a:t>
            </a:fld>
            <a:endParaRPr spc="0"/>
          </a:p>
        </p:txBody>
      </p:sp>
    </p:spTree>
    <p:extLst>
      <p:ext uri="{BB962C8B-B14F-4D97-AF65-F5344CB8AC3E}">
        <p14:creationId xmlns:p14="http://schemas.microsoft.com/office/powerpoint/2010/main" val="1668922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Місце для заголовка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uk-UA" altLang="uk-UA" smtClean="0"/>
              <a:t>Зразок заголовка</a:t>
            </a:r>
            <a:endParaRPr lang="ru-RU" altLang="uk-UA" smtClean="0"/>
          </a:p>
        </p:txBody>
      </p:sp>
      <p:sp>
        <p:nvSpPr>
          <p:cNvPr id="1027" name="Місце для тексту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uk-UA" altLang="uk-UA" smtClean="0"/>
              <a:t>Зразок тексту</a:t>
            </a:r>
          </a:p>
          <a:p>
            <a:pPr lvl="1"/>
            <a:r>
              <a:rPr lang="uk-UA" altLang="uk-UA" smtClean="0"/>
              <a:t>Другий рівень</a:t>
            </a:r>
          </a:p>
          <a:p>
            <a:pPr lvl="2"/>
            <a:r>
              <a:rPr lang="uk-UA" altLang="uk-UA" smtClean="0"/>
              <a:t>Третій рівень</a:t>
            </a:r>
          </a:p>
          <a:p>
            <a:pPr lvl="3"/>
            <a:r>
              <a:rPr lang="uk-UA" altLang="uk-UA" smtClean="0"/>
              <a:t>Четвертий рівень</a:t>
            </a:r>
          </a:p>
          <a:p>
            <a:pPr lvl="4"/>
            <a:r>
              <a:rPr lang="uk-UA" altLang="uk-UA" smtClean="0"/>
              <a:t>П'ятий рівень</a:t>
            </a:r>
            <a:endParaRPr lang="ru-RU" altLang="uk-UA" smtClean="0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7413B73A-4EF6-4E68-A18E-0F9228FB5B5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://dit.isuct.ru/ivt/books../CASE/case10/idef1x/index.ht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WordArt 5"/>
          <p:cNvSpPr>
            <a:spLocks noChangeArrowheads="1" noChangeShapeType="1" noTextEdit="1"/>
          </p:cNvSpPr>
          <p:nvPr/>
        </p:nvSpPr>
        <p:spPr bwMode="auto">
          <a:xfrm>
            <a:off x="395536" y="1148267"/>
            <a:ext cx="8280400" cy="309562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uk-UA" sz="3600" b="1" kern="10" dirty="0" smtClean="0">
                <a:solidFill>
                  <a:srgbClr val="0000CC"/>
                </a:solidFill>
                <a:effectLst>
                  <a:outerShdw dist="68392" dir="1308085" algn="ctr" rotWithShape="0">
                    <a:srgbClr val="F6FB17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Архітектура і </a:t>
            </a:r>
          </a:p>
          <a:p>
            <a:pPr algn="ctr"/>
            <a:r>
              <a:rPr lang="uk-UA" sz="3600" b="1" kern="10" dirty="0" smtClean="0">
                <a:solidFill>
                  <a:srgbClr val="0000CC"/>
                </a:solidFill>
                <a:effectLst>
                  <a:outerShdw dist="68392" dir="1308085" algn="ctr" rotWithShape="0">
                    <a:srgbClr val="F6FB17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п</a:t>
            </a:r>
            <a:r>
              <a:rPr lang="uk-UA" sz="3600" b="1" kern="10" dirty="0" smtClean="0">
                <a:solidFill>
                  <a:srgbClr val="0000CC"/>
                </a:solidFill>
                <a:effectLst>
                  <a:outerShdw dist="68392" dir="1308085" algn="ctr" rotWithShape="0">
                    <a:srgbClr val="F6FB17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роектування </a:t>
            </a:r>
            <a:endParaRPr lang="uk-UA" sz="3600" b="1" kern="10" dirty="0">
              <a:solidFill>
                <a:srgbClr val="0000CC"/>
              </a:solidFill>
              <a:effectLst>
                <a:outerShdw dist="68392" dir="1308085" algn="ctr" rotWithShape="0">
                  <a:srgbClr val="F6FB17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  <a:p>
            <a:pPr algn="ctr"/>
            <a:r>
              <a:rPr lang="uk-UA" sz="3600" b="1" kern="10" dirty="0">
                <a:solidFill>
                  <a:srgbClr val="0000CC"/>
                </a:solidFill>
                <a:effectLst>
                  <a:outerShdw dist="68392" dir="1308085" algn="ctr" rotWithShape="0">
                    <a:srgbClr val="F6FB17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програмного забезпечення</a:t>
            </a:r>
          </a:p>
        </p:txBody>
      </p:sp>
      <p:sp>
        <p:nvSpPr>
          <p:cNvPr id="15363" name="WordArt 6"/>
          <p:cNvSpPr>
            <a:spLocks noChangeArrowheads="1" noChangeShapeType="1" noTextEdit="1"/>
          </p:cNvSpPr>
          <p:nvPr/>
        </p:nvSpPr>
        <p:spPr bwMode="auto">
          <a:xfrm>
            <a:off x="2771775" y="5084763"/>
            <a:ext cx="4464050" cy="687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ru-RU" sz="3600" i="1" kern="10">
                <a:ln w="9525">
                  <a:solidFill>
                    <a:schemeClr val="tx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00CC"/>
                    </a:gs>
                    <a:gs pos="100000">
                      <a:srgbClr val="00005E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"/>
                <a:cs typeface="Arial"/>
              </a:rPr>
              <a:t>Ковалюк Т.В. к.т.н., доцент </a:t>
            </a:r>
          </a:p>
          <a:p>
            <a:pPr algn="ctr"/>
            <a:r>
              <a:rPr lang="ru-RU" sz="3600" i="1" kern="10">
                <a:ln w="9525">
                  <a:solidFill>
                    <a:schemeClr val="tx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0000CC"/>
                    </a:gs>
                    <a:gs pos="100000">
                      <a:srgbClr val="00005E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"/>
                <a:cs typeface="Arial"/>
              </a:rPr>
              <a:t>tkovalyuk@ukr.net</a:t>
            </a:r>
            <a:endParaRPr lang="uk-UA" sz="3600" i="1" kern="10">
              <a:ln w="9525">
                <a:solidFill>
                  <a:schemeClr val="tx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0000CC"/>
                  </a:gs>
                  <a:gs pos="100000">
                    <a:srgbClr val="00005E"/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15364" name="Місце для номера слайда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148646D-A18F-483F-8312-6959E3AE8085}" type="slidenum">
              <a:rPr lang="ru-RU" altLang="uk-UA" smtClean="0"/>
              <a:pPr eaLnBrk="1" hangingPunct="1"/>
              <a:t>1</a:t>
            </a:fld>
            <a:endParaRPr lang="ru-RU" altLang="uk-UA" smtClean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Місце для номера слайда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332CD9F-02D3-447E-B6C0-750DAFF1FCD5}" type="slidenum">
              <a:rPr lang="ru-RU" altLang="uk-UA" smtClean="0"/>
              <a:pPr eaLnBrk="1" hangingPunct="1"/>
              <a:t>2</a:t>
            </a:fld>
            <a:endParaRPr lang="ru-RU" altLang="uk-UA" smtClean="0"/>
          </a:p>
        </p:txBody>
      </p:sp>
      <p:sp>
        <p:nvSpPr>
          <p:cNvPr id="16387" name="TextBox 2"/>
          <p:cNvSpPr txBox="1">
            <a:spLocks noChangeArrowheads="1"/>
          </p:cNvSpPr>
          <p:nvPr/>
        </p:nvSpPr>
        <p:spPr bwMode="auto">
          <a:xfrm>
            <a:off x="468313" y="1412875"/>
            <a:ext cx="8351837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altLang="uk-UA" sz="4000" b="1" dirty="0">
                <a:solidFill>
                  <a:srgbClr val="0000CC"/>
                </a:solidFill>
              </a:rPr>
              <a:t>Тема </a:t>
            </a:r>
            <a:r>
              <a:rPr lang="uk-UA" altLang="uk-UA" sz="4000" b="1" dirty="0" smtClean="0">
                <a:solidFill>
                  <a:srgbClr val="0000CC"/>
                </a:solidFill>
              </a:rPr>
              <a:t>7</a:t>
            </a:r>
            <a:endParaRPr lang="ru-RU" altLang="uk-UA" sz="4000" b="1" dirty="0">
              <a:solidFill>
                <a:srgbClr val="0000CC"/>
              </a:solidFill>
            </a:endParaRPr>
          </a:p>
          <a:p>
            <a:pPr algn="ctr" eaLnBrk="1" hangingPunct="1"/>
            <a:r>
              <a:rPr lang="ru-RU" altLang="uk-UA" sz="4000" b="1" i="1" dirty="0" err="1" smtClean="0"/>
              <a:t>Функц</a:t>
            </a:r>
            <a:r>
              <a:rPr lang="uk-UA" altLang="uk-UA" sz="4000" b="1" i="1" dirty="0" smtClean="0"/>
              <a:t>і</a:t>
            </a:r>
            <a:r>
              <a:rPr lang="ru-RU" altLang="uk-UA" sz="4000" b="1" i="1" dirty="0" err="1" smtClean="0"/>
              <a:t>ональне</a:t>
            </a:r>
            <a:r>
              <a:rPr lang="ru-RU" altLang="uk-UA" sz="4000" b="1" i="1" dirty="0" smtClean="0"/>
              <a:t> </a:t>
            </a:r>
            <a:r>
              <a:rPr lang="ru-RU" altLang="uk-UA" sz="4000" b="1" i="1" dirty="0" err="1" smtClean="0"/>
              <a:t>проектування</a:t>
            </a:r>
            <a:r>
              <a:rPr lang="ru-RU" altLang="uk-UA" sz="4000" b="1" i="1" dirty="0" smtClean="0"/>
              <a:t> </a:t>
            </a:r>
            <a:r>
              <a:rPr lang="ru-RU" altLang="uk-UA" sz="4000" b="1" i="1" dirty="0"/>
              <a:t>систем </a:t>
            </a:r>
            <a:r>
              <a:rPr lang="ru-RU" altLang="uk-UA" sz="4000" b="1" i="1" dirty="0" err="1" smtClean="0"/>
              <a:t>з</a:t>
            </a:r>
            <a:r>
              <a:rPr lang="ru-RU" altLang="uk-UA" sz="4000" b="1" i="1" dirty="0" smtClean="0"/>
              <a:t> </a:t>
            </a:r>
            <a:r>
              <a:rPr lang="ru-RU" altLang="uk-UA" sz="4000" b="1" i="1" dirty="0" err="1" smtClean="0"/>
              <a:t>використанням</a:t>
            </a:r>
            <a:r>
              <a:rPr lang="ru-RU" altLang="uk-UA" sz="4000" b="1" i="1" dirty="0" smtClean="0"/>
              <a:t> </a:t>
            </a:r>
            <a:r>
              <a:rPr lang="ru-RU" altLang="uk-UA" sz="4000" b="1" i="1" dirty="0" err="1" smtClean="0"/>
              <a:t>методології</a:t>
            </a:r>
            <a:r>
              <a:rPr lang="ru-RU" altLang="uk-UA" sz="4000" b="1" i="1" dirty="0" smtClean="0"/>
              <a:t> </a:t>
            </a:r>
            <a:r>
              <a:rPr lang="en-US" altLang="uk-UA" sz="4000" b="1" i="1" dirty="0" err="1"/>
              <a:t>DFD</a:t>
            </a:r>
            <a:endParaRPr lang="uk-UA" altLang="uk-UA" sz="4000" b="1" i="1" dirty="0"/>
          </a:p>
          <a:p>
            <a:pPr algn="ctr" eaLnBrk="1" hangingPunct="1"/>
            <a:r>
              <a:rPr lang="uk-UA" altLang="uk-UA" sz="4000" b="1" dirty="0">
                <a:solidFill>
                  <a:srgbClr val="C00000"/>
                </a:solidFill>
              </a:rPr>
              <a:t>(</a:t>
            </a:r>
            <a:r>
              <a:rPr lang="en-US" altLang="uk-UA" sz="4000" b="1" dirty="0">
                <a:solidFill>
                  <a:srgbClr val="C00000"/>
                </a:solidFill>
              </a:rPr>
              <a:t>Data Flow Diagrams</a:t>
            </a:r>
            <a:r>
              <a:rPr lang="uk-UA" altLang="uk-UA" sz="4000" b="1" dirty="0">
                <a:solidFill>
                  <a:srgbClr val="C00000"/>
                </a:solidFill>
              </a:rPr>
              <a:t>)</a:t>
            </a:r>
            <a:endParaRPr lang="ru-RU" altLang="uk-UA" sz="4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5536" y="0"/>
            <a:ext cx="8229600" cy="45152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4000" b="1" dirty="0" smtClean="0">
                <a:solidFill>
                  <a:srgbClr val="4C004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План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773238"/>
            <a:ext cx="8229600" cy="3311525"/>
          </a:xfrm>
        </p:spPr>
        <p:txBody>
          <a:bodyPr/>
          <a:lstStyle/>
          <a:p>
            <a:pPr eaLnBrk="1" hangingPunct="1"/>
            <a:r>
              <a:rPr lang="uk-UA" dirty="0" smtClean="0"/>
              <a:t>Визначення та функціональне призначення DFD-моделей</a:t>
            </a:r>
          </a:p>
          <a:p>
            <a:pPr eaLnBrk="1" hangingPunct="1"/>
            <a:r>
              <a:rPr lang="uk-UA" dirty="0" smtClean="0"/>
              <a:t>Основні компоненти DFD-моделей</a:t>
            </a:r>
            <a:br>
              <a:rPr lang="uk-UA" dirty="0" smtClean="0"/>
            </a:br>
            <a:r>
              <a:rPr lang="uk-UA" dirty="0" smtClean="0"/>
              <a:t>ієрархія </a:t>
            </a:r>
            <a:r>
              <a:rPr lang="uk-UA" dirty="0" err="1" smtClean="0"/>
              <a:t>DFD</a:t>
            </a:r>
            <a:endParaRPr lang="uk-UA" dirty="0" smtClean="0"/>
          </a:p>
          <a:p>
            <a:pPr eaLnBrk="1" hangingPunct="1"/>
            <a:r>
              <a:rPr lang="uk-UA" dirty="0" smtClean="0"/>
              <a:t>Розгляд прикладу DFD-моделі</a:t>
            </a:r>
            <a:endParaRPr lang="ru-RU" altLang="uk-UA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3062" y="0"/>
            <a:ext cx="8229600" cy="7397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40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Поняття</a:t>
            </a:r>
            <a:r>
              <a:rPr lang="ru-RU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DFD</a:t>
            </a:r>
            <a:r>
              <a:rPr lang="ru-RU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lang="ru-RU" sz="40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моделі</a:t>
            </a:r>
            <a:endParaRPr lang="ru-RU" sz="4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Прямокутник 1"/>
          <p:cNvSpPr/>
          <p:nvPr/>
        </p:nvSpPr>
        <p:spPr>
          <a:xfrm>
            <a:off x="33062" y="1196752"/>
            <a:ext cx="9110937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000" dirty="0">
                <a:solidFill>
                  <a:srgbClr val="FF0000"/>
                </a:solidFill>
              </a:rPr>
              <a:t>DFD - </a:t>
            </a:r>
            <a:r>
              <a:rPr lang="uk-UA" sz="2000" dirty="0" err="1">
                <a:solidFill>
                  <a:srgbClr val="FF0000"/>
                </a:solidFill>
              </a:rPr>
              <a:t>Data</a:t>
            </a:r>
            <a:r>
              <a:rPr lang="uk-UA" sz="2000" dirty="0">
                <a:solidFill>
                  <a:srgbClr val="FF0000"/>
                </a:solidFill>
              </a:rPr>
              <a:t> </a:t>
            </a:r>
            <a:r>
              <a:rPr lang="uk-UA" sz="2000" dirty="0" err="1">
                <a:solidFill>
                  <a:srgbClr val="FF0000"/>
                </a:solidFill>
              </a:rPr>
              <a:t>Flow</a:t>
            </a:r>
            <a:r>
              <a:rPr lang="uk-UA" sz="2000" dirty="0">
                <a:solidFill>
                  <a:srgbClr val="FF0000"/>
                </a:solidFill>
              </a:rPr>
              <a:t> </a:t>
            </a:r>
            <a:r>
              <a:rPr lang="uk-UA" sz="2000" dirty="0" err="1">
                <a:solidFill>
                  <a:srgbClr val="FF0000"/>
                </a:solidFill>
              </a:rPr>
              <a:t>Diagrams</a:t>
            </a:r>
            <a:r>
              <a:rPr lang="uk-UA" sz="2000" dirty="0">
                <a:solidFill>
                  <a:srgbClr val="FF0000"/>
                </a:solidFill>
              </a:rPr>
              <a:t> </a:t>
            </a:r>
            <a:r>
              <a:rPr lang="uk-UA" sz="2000" dirty="0"/>
              <a:t>- діаграми потоків даних</a:t>
            </a:r>
            <a:br>
              <a:rPr lang="uk-UA" sz="2000" dirty="0"/>
            </a:br>
            <a:r>
              <a:rPr lang="uk-UA" sz="2000" dirty="0"/>
              <a:t/>
            </a:r>
            <a:br>
              <a:rPr lang="uk-UA" sz="2000" dirty="0"/>
            </a:br>
            <a:r>
              <a:rPr lang="uk-UA" sz="2000" dirty="0"/>
              <a:t>Модель системи визначається як ієрархія діаграм потоків даних, що описують асинхронний процес перетворення інформації від її входу в систему до видачі користувачеві</a:t>
            </a:r>
            <a:r>
              <a:rPr lang="uk-UA" sz="2000" dirty="0" smtClean="0"/>
              <a:t>.</a:t>
            </a:r>
            <a:endParaRPr lang="en-US" sz="2000" dirty="0" smtClean="0"/>
          </a:p>
          <a:p>
            <a:endParaRPr lang="ru-RU" sz="2000" dirty="0"/>
          </a:p>
          <a:p>
            <a:r>
              <a:rPr lang="uk-UA" sz="2000" dirty="0">
                <a:solidFill>
                  <a:srgbClr val="FF0000"/>
                </a:solidFill>
              </a:rPr>
              <a:t>Головна мета такого подання </a:t>
            </a:r>
            <a:r>
              <a:rPr lang="uk-UA" sz="2000" dirty="0"/>
              <a:t>- продемонструвати, як кожен процес перетворює свої вхідні дані у вихідні, а також виявити відношення між цими процесами</a:t>
            </a:r>
            <a:r>
              <a:rPr lang="uk-UA" sz="2000" dirty="0" smtClean="0"/>
              <a:t>.</a:t>
            </a:r>
            <a:endParaRPr lang="en-US" sz="2000" dirty="0" smtClean="0"/>
          </a:p>
          <a:p>
            <a:endParaRPr lang="ru-RU" sz="2000" dirty="0"/>
          </a:p>
          <a:p>
            <a:r>
              <a:rPr lang="uk-UA" sz="2000" dirty="0"/>
              <a:t>DFD-моделі можуть бути використані на додаток до моделі IDEF0 для більш наочного відображення поточних операцій документообігу в корпоративних системах обробки інформації.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-171400"/>
            <a:ext cx="8229600" cy="73977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uk-UA" sz="3600" b="1" dirty="0" smtClean="0">
                <a:solidFill>
                  <a:schemeClr val="bg1"/>
                </a:solidFill>
              </a:rPr>
              <a:t>Основні компоненти діаграм потоків даних</a:t>
            </a:r>
            <a:endParaRPr lang="ru-RU" sz="4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341438"/>
            <a:ext cx="8229600" cy="3886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None/>
            </a:pPr>
            <a:r>
              <a:rPr lang="uk-UA" sz="2400" dirty="0" smtClean="0"/>
              <a:t>Основними компонентами діаграм потоків даних є: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uk-UA" dirty="0" smtClean="0"/>
              <a:t>зовнішні сутності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uk-UA" dirty="0" smtClean="0"/>
              <a:t>системи і підсистеми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uk-UA" dirty="0" smtClean="0"/>
              <a:t>Процеси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uk-UA" dirty="0" smtClean="0"/>
              <a:t>накопичувачі даних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Char char="q"/>
            </a:pPr>
            <a:r>
              <a:rPr lang="uk-UA" dirty="0" smtClean="0"/>
              <a:t>потоки даних</a:t>
            </a:r>
            <a:r>
              <a:rPr lang="ru-RU" altLang="uk-UA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2071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uk-UA" sz="3200" b="1" dirty="0" smtClean="0">
                <a:solidFill>
                  <a:schemeClr val="bg1"/>
                </a:solidFill>
              </a:rPr>
              <a:t>Нотації, що використовуються в DFD-моделюванні</a:t>
            </a:r>
            <a:endParaRPr lang="ru-RU" sz="3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8195" name="Group 9"/>
          <p:cNvGrpSpPr>
            <a:grpSpLocks/>
          </p:cNvGrpSpPr>
          <p:nvPr/>
        </p:nvGrpSpPr>
        <p:grpSpPr bwMode="auto">
          <a:xfrm>
            <a:off x="1258887" y="1340768"/>
            <a:ext cx="6626225" cy="2879725"/>
            <a:chOff x="884" y="1207"/>
            <a:chExt cx="4174" cy="1814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8197" name="Rectangle 4"/>
            <p:cNvSpPr>
              <a:spLocks noChangeArrowheads="1"/>
            </p:cNvSpPr>
            <p:nvPr/>
          </p:nvSpPr>
          <p:spPr bwMode="auto">
            <a:xfrm>
              <a:off x="2018" y="1207"/>
              <a:ext cx="1951" cy="63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ru-RU" sz="2400" dirty="0" err="1" smtClean="0"/>
                <a:t>Нотації</a:t>
              </a:r>
              <a:r>
                <a:rPr lang="ru-RU" sz="2400" dirty="0" smtClean="0"/>
                <a:t> </a:t>
              </a:r>
              <a:endParaRPr lang="ru-RU" sz="2400" dirty="0"/>
            </a:p>
            <a:p>
              <a:pPr algn="ctr">
                <a:defRPr/>
              </a:pPr>
              <a:r>
                <a:rPr lang="en-US" sz="2400" dirty="0" err="1"/>
                <a:t>DFD</a:t>
              </a:r>
              <a:r>
                <a:rPr lang="ru-RU" sz="2400" dirty="0" smtClean="0"/>
                <a:t>-</a:t>
              </a:r>
              <a:r>
                <a:rPr lang="ru-RU" sz="2400" dirty="0" err="1" smtClean="0"/>
                <a:t>моделювання</a:t>
              </a:r>
              <a:endParaRPr lang="ru-RU" sz="2400" dirty="0"/>
            </a:p>
          </p:txBody>
        </p:sp>
        <p:sp>
          <p:nvSpPr>
            <p:cNvPr id="8198" name="Rectangle 5"/>
            <p:cNvSpPr>
              <a:spLocks noChangeArrowheads="1"/>
            </p:cNvSpPr>
            <p:nvPr/>
          </p:nvSpPr>
          <p:spPr bwMode="auto">
            <a:xfrm>
              <a:off x="884" y="2432"/>
              <a:ext cx="1860" cy="58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ru-RU" sz="2400"/>
                <a:t>Гейна-Сарсона </a:t>
              </a:r>
              <a:endParaRPr lang="en-US" sz="2400"/>
            </a:p>
            <a:p>
              <a:pPr algn="ctr">
                <a:defRPr/>
              </a:pPr>
              <a:r>
                <a:rPr lang="en-US" sz="2400"/>
                <a:t>(Gene-Sarson)</a:t>
              </a:r>
              <a:endParaRPr lang="ru-RU"/>
            </a:p>
          </p:txBody>
        </p:sp>
        <p:sp>
          <p:nvSpPr>
            <p:cNvPr id="8199" name="Rectangle 6"/>
            <p:cNvSpPr>
              <a:spLocks noChangeArrowheads="1"/>
            </p:cNvSpPr>
            <p:nvPr/>
          </p:nvSpPr>
          <p:spPr bwMode="auto">
            <a:xfrm>
              <a:off x="3152" y="2432"/>
              <a:ext cx="1906" cy="58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ru-RU" sz="2400"/>
                <a:t>Йордона-ДеМарко </a:t>
              </a:r>
            </a:p>
            <a:p>
              <a:pPr algn="ctr">
                <a:defRPr/>
              </a:pPr>
              <a:r>
                <a:rPr lang="ru-RU" sz="2400"/>
                <a:t>(</a:t>
              </a:r>
              <a:r>
                <a:rPr lang="en-US" sz="2400"/>
                <a:t>Yordon-DeMarco</a:t>
              </a:r>
              <a:r>
                <a:rPr lang="ru-RU" sz="2400"/>
                <a:t>) </a:t>
              </a:r>
            </a:p>
          </p:txBody>
        </p:sp>
        <p:sp>
          <p:nvSpPr>
            <p:cNvPr id="8200" name="AutoShape 7"/>
            <p:cNvSpPr>
              <a:spLocks noChangeArrowheads="1"/>
            </p:cNvSpPr>
            <p:nvPr/>
          </p:nvSpPr>
          <p:spPr bwMode="auto">
            <a:xfrm rot="-1463985">
              <a:off x="3515" y="1933"/>
              <a:ext cx="317" cy="454"/>
            </a:xfrm>
            <a:prstGeom prst="downArrow">
              <a:avLst>
                <a:gd name="adj1" fmla="val 50000"/>
                <a:gd name="adj2" fmla="val 3580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8201" name="AutoShape 8"/>
            <p:cNvSpPr>
              <a:spLocks noChangeArrowheads="1"/>
            </p:cNvSpPr>
            <p:nvPr/>
          </p:nvSpPr>
          <p:spPr bwMode="auto">
            <a:xfrm rot="1219031">
              <a:off x="2200" y="1933"/>
              <a:ext cx="317" cy="454"/>
            </a:xfrm>
            <a:prstGeom prst="downArrow">
              <a:avLst>
                <a:gd name="adj1" fmla="val 50000"/>
                <a:gd name="adj2" fmla="val 3580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21508" name="Text Box 10"/>
          <p:cNvSpPr txBox="1">
            <a:spLocks noChangeArrowheads="1"/>
          </p:cNvSpPr>
          <p:nvPr/>
        </p:nvSpPr>
        <p:spPr bwMode="auto">
          <a:xfrm>
            <a:off x="0" y="5229225"/>
            <a:ext cx="9144000" cy="830997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uk-UA" sz="2400" dirty="0" smtClean="0"/>
              <a:t>Залежно від використовуваної нотації графічне представлення елементів діаграм буде різним</a:t>
            </a:r>
            <a:endParaRPr lang="ru-RU" altLang="uk-UA" sz="2400" dirty="0">
              <a:solidFill>
                <a:srgbClr val="4C004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Місце для номера слайда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4263A9F-CA0E-4E9F-AEBB-0581C71C5A77}" type="slidenum">
              <a:rPr lang="ru-RU" altLang="uk-UA" smtClean="0">
                <a:solidFill>
                  <a:srgbClr val="000000"/>
                </a:solidFill>
              </a:rPr>
              <a:pPr eaLnBrk="1" hangingPunct="1"/>
              <a:t>7</a:t>
            </a:fld>
            <a:endParaRPr lang="ru-RU" altLang="uk-UA" smtClean="0">
              <a:solidFill>
                <a:srgbClr val="000000"/>
              </a:solidFill>
            </a:endParaRPr>
          </a:p>
        </p:txBody>
      </p:sp>
      <p:sp>
        <p:nvSpPr>
          <p:cNvPr id="22532" name="Прямокутник 2"/>
          <p:cNvSpPr>
            <a:spLocks noChangeArrowheads="1"/>
          </p:cNvSpPr>
          <p:nvPr/>
        </p:nvSpPr>
        <p:spPr bwMode="auto">
          <a:xfrm>
            <a:off x="0" y="0"/>
            <a:ext cx="9144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uk-UA" sz="2800" b="1" dirty="0" smtClean="0">
                <a:solidFill>
                  <a:schemeClr val="bg1"/>
                </a:solidFill>
              </a:rPr>
              <a:t>Графічний мова моделювання </a:t>
            </a:r>
            <a:r>
              <a:rPr lang="uk-UA" sz="2800" b="1" dirty="0" err="1" smtClean="0">
                <a:solidFill>
                  <a:schemeClr val="bg1"/>
                </a:solidFill>
              </a:rPr>
              <a:t>DFD</a:t>
            </a:r>
            <a:r>
              <a:rPr lang="uk-UA" sz="2800" b="1" dirty="0" smtClean="0">
                <a:solidFill>
                  <a:schemeClr val="bg1"/>
                </a:solidFill>
              </a:rPr>
              <a:t> діаграм</a:t>
            </a:r>
            <a:endParaRPr lang="ru-RU" altLang="uk-UA" sz="2800" b="1" dirty="0">
              <a:solidFill>
                <a:schemeClr val="bg1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5612"/>
            <a:ext cx="9144000" cy="5591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6838" y="14288"/>
            <a:ext cx="8229600" cy="7397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uk-UA" sz="4000" b="1" dirty="0" smtClean="0">
                <a:solidFill>
                  <a:schemeClr val="bg1"/>
                </a:solidFill>
              </a:rPr>
              <a:t>Зовнішня сутність</a:t>
            </a:r>
            <a:endParaRPr lang="ru-RU" sz="4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196975"/>
            <a:ext cx="8964613" cy="21605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uk-UA" sz="2400" dirty="0" smtClean="0"/>
              <a:t>Являє собою матеріальний об'єкт або фізичну особу, яка є джерелом і приймачем інформації (наприклад, замовники, клієнти, постачальники, склад, персонал, банк).</a:t>
            </a:r>
          </a:p>
          <a:p>
            <a:pPr eaLnBrk="1" hangingPunct="1">
              <a:lnSpc>
                <a:spcPct val="80000"/>
              </a:lnSpc>
            </a:pPr>
            <a:r>
              <a:rPr lang="uk-UA" sz="2400" dirty="0" smtClean="0"/>
              <a:t>Зовнішня сутність знаходиться за межами аналізованої системи.</a:t>
            </a:r>
          </a:p>
          <a:p>
            <a:pPr eaLnBrk="1" hangingPunct="1">
              <a:lnSpc>
                <a:spcPct val="80000"/>
              </a:lnSpc>
            </a:pPr>
            <a:r>
              <a:rPr lang="uk-UA" sz="2400" dirty="0" smtClean="0"/>
              <a:t>Одна і та сама зовнішня сутність може бути використана багаторазово на одній або декількох діаграмах.</a:t>
            </a:r>
            <a:endParaRPr lang="ru-RU" altLang="uk-UA" sz="2400" dirty="0" smtClean="0"/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4751388" y="3297240"/>
            <a:ext cx="3384550" cy="2579688"/>
            <a:chOff x="3061" y="2478"/>
            <a:chExt cx="2132" cy="1625"/>
          </a:xfrm>
        </p:grpSpPr>
        <p:pic>
          <p:nvPicPr>
            <p:cNvPr id="23560" name="Picture 3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64" t="24525" r="82663" b="59291"/>
            <a:stretch>
              <a:fillRect/>
            </a:stretch>
          </p:blipFill>
          <p:spPr bwMode="auto">
            <a:xfrm>
              <a:off x="3288" y="2478"/>
              <a:ext cx="1633" cy="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61" name="Text Box 36"/>
            <p:cNvSpPr txBox="1">
              <a:spLocks noChangeArrowheads="1"/>
            </p:cNvSpPr>
            <p:nvPr/>
          </p:nvSpPr>
          <p:spPr bwMode="auto">
            <a:xfrm>
              <a:off x="3061" y="3657"/>
              <a:ext cx="2132" cy="446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uk-UA" sz="2000" dirty="0" smtClean="0"/>
                <a:t>Зовнішня сутність в нотації </a:t>
              </a:r>
              <a:r>
                <a:rPr lang="uk-UA" sz="2000" dirty="0" err="1" smtClean="0"/>
                <a:t>Гейна-Сарсона</a:t>
              </a:r>
              <a:endParaRPr lang="ru-RU" altLang="uk-UA" dirty="0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647700" y="3511552"/>
            <a:ext cx="3567113" cy="2354393"/>
            <a:chOff x="476" y="2613"/>
            <a:chExt cx="2247" cy="1820"/>
          </a:xfrm>
        </p:grpSpPr>
        <p:sp>
          <p:nvSpPr>
            <p:cNvPr id="23558" name="Text Box 35"/>
            <p:cNvSpPr txBox="1">
              <a:spLocks noChangeArrowheads="1"/>
            </p:cNvSpPr>
            <p:nvPr/>
          </p:nvSpPr>
          <p:spPr bwMode="auto">
            <a:xfrm>
              <a:off x="476" y="3648"/>
              <a:ext cx="2247" cy="785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ru-RU" sz="2000" dirty="0" smtClean="0"/>
            </a:p>
            <a:p>
              <a:r>
                <a:rPr lang="ru-RU" sz="2000" dirty="0" smtClean="0"/>
                <a:t>Внешняя сущность в нотации </a:t>
              </a:r>
              <a:r>
                <a:rPr lang="ru-RU" sz="2000" dirty="0" err="1" smtClean="0"/>
                <a:t>Йордона-</a:t>
              </a:r>
              <a:r>
                <a:rPr lang="ru-RU" sz="2000" b="1" i="1" dirty="0" err="1" smtClean="0"/>
                <a:t>Де</a:t>
              </a:r>
              <a:r>
                <a:rPr lang="ru-RU" sz="2000" b="1" i="1" dirty="0" smtClean="0"/>
                <a:t> Марко</a:t>
              </a:r>
            </a:p>
          </p:txBody>
        </p:sp>
        <p:sp>
          <p:nvSpPr>
            <p:cNvPr id="23559" name="Rectangle 11"/>
            <p:cNvSpPr>
              <a:spLocks noChangeArrowheads="1"/>
            </p:cNvSpPr>
            <p:nvPr/>
          </p:nvSpPr>
          <p:spPr bwMode="auto">
            <a:xfrm>
              <a:off x="793" y="2613"/>
              <a:ext cx="1407" cy="68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ru-RU" altLang="uk-UA" sz="2000" dirty="0" err="1" smtClean="0"/>
                <a:t>Ім’я</a:t>
              </a:r>
              <a:endParaRPr lang="ru-RU" altLang="uk-UA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19113" y="115888"/>
            <a:ext cx="8229600" cy="59531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b="1" dirty="0" smtClean="0">
                <a:solidFill>
                  <a:schemeClr val="bg1"/>
                </a:solidFill>
              </a:rPr>
              <a:t>Система та </a:t>
            </a:r>
            <a:r>
              <a:rPr lang="ru-RU" sz="3600" b="1" dirty="0" err="1" smtClean="0">
                <a:solidFill>
                  <a:schemeClr val="bg1"/>
                </a:solidFill>
              </a:rPr>
              <a:t>підсистема</a:t>
            </a:r>
            <a:endParaRPr lang="ru-RU" sz="3600" b="1" dirty="0" smtClean="0">
              <a:solidFill>
                <a:schemeClr val="bg1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1125538"/>
            <a:ext cx="8964612" cy="1655762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k-UA" sz="2000" dirty="0" smtClean="0"/>
              <a:t>При побудові моделі складної системи вона може бути представлена в найзагальнішому вигляді на так званій контекстної діаграмі у вигляді однієї системи, або у вигляді ряду підсистем.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k-UA" sz="2000" dirty="0" smtClean="0"/>
              <a:t>Найменування системи / підсистеми представляється у вигляді словосполучення з дієслівним іменником (розгляд порядку денного, рішення задачі, отримання грошей тощо).</a:t>
            </a:r>
            <a:endParaRPr lang="ru-RU" sz="2000" dirty="0" smtClean="0"/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0" y="2633598"/>
            <a:ext cx="9144000" cy="2008188"/>
            <a:chOff x="0" y="1888"/>
            <a:chExt cx="5760" cy="1265"/>
          </a:xfrm>
        </p:grpSpPr>
        <p:grpSp>
          <p:nvGrpSpPr>
            <p:cNvPr id="24589" name="Group 4"/>
            <p:cNvGrpSpPr>
              <a:grpSpLocks noChangeAspect="1"/>
            </p:cNvGrpSpPr>
            <p:nvPr/>
          </p:nvGrpSpPr>
          <p:grpSpPr bwMode="auto">
            <a:xfrm>
              <a:off x="1710" y="1888"/>
              <a:ext cx="4050" cy="1265"/>
              <a:chOff x="1722" y="2754"/>
              <a:chExt cx="5760" cy="1800"/>
            </a:xfrm>
          </p:grpSpPr>
          <p:sp>
            <p:nvSpPr>
              <p:cNvPr id="24591" name="AutoShape 5"/>
              <p:cNvSpPr>
                <a:spLocks noChangeAspect="1" noChangeArrowheads="1"/>
              </p:cNvSpPr>
              <p:nvPr/>
            </p:nvSpPr>
            <p:spPr bwMode="auto">
              <a:xfrm>
                <a:off x="1722" y="2754"/>
                <a:ext cx="5760" cy="1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uk-UA" altLang="uk-UA"/>
              </a:p>
            </p:txBody>
          </p:sp>
          <p:grpSp>
            <p:nvGrpSpPr>
              <p:cNvPr id="24592" name="Group 6"/>
              <p:cNvGrpSpPr>
                <a:grpSpLocks/>
              </p:cNvGrpSpPr>
              <p:nvPr/>
            </p:nvGrpSpPr>
            <p:grpSpPr bwMode="auto">
              <a:xfrm>
                <a:off x="1722" y="2935"/>
                <a:ext cx="5760" cy="1440"/>
                <a:chOff x="1722" y="2935"/>
                <a:chExt cx="5760" cy="1440"/>
              </a:xfrm>
            </p:grpSpPr>
            <p:grpSp>
              <p:nvGrpSpPr>
                <p:cNvPr id="24593" name="Group 7"/>
                <p:cNvGrpSpPr>
                  <a:grpSpLocks/>
                </p:cNvGrpSpPr>
                <p:nvPr/>
              </p:nvGrpSpPr>
              <p:grpSpPr bwMode="auto">
                <a:xfrm>
                  <a:off x="1722" y="2935"/>
                  <a:ext cx="5220" cy="1440"/>
                  <a:chOff x="2984" y="-70"/>
                  <a:chExt cx="4094" cy="1115"/>
                </a:xfrm>
              </p:grpSpPr>
              <p:grpSp>
                <p:nvGrpSpPr>
                  <p:cNvPr id="24595" name="Group 8"/>
                  <p:cNvGrpSpPr>
                    <a:grpSpLocks/>
                  </p:cNvGrpSpPr>
                  <p:nvPr/>
                </p:nvGrpSpPr>
                <p:grpSpPr bwMode="auto">
                  <a:xfrm>
                    <a:off x="2984" y="-70"/>
                    <a:ext cx="4094" cy="1115"/>
                    <a:chOff x="2984" y="-70"/>
                    <a:chExt cx="4094" cy="1115"/>
                  </a:xfrm>
                </p:grpSpPr>
                <p:sp>
                  <p:nvSpPr>
                    <p:cNvPr id="24597" name="AutoShap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84" y="-70"/>
                      <a:ext cx="1553" cy="1115"/>
                    </a:xfrm>
                    <a:prstGeom prst="flowChartAlternateProcess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uk-UA" altLang="uk-UA"/>
                    </a:p>
                  </p:txBody>
                </p:sp>
                <p:sp>
                  <p:nvSpPr>
                    <p:cNvPr id="24598" name="Line 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84" y="208"/>
                      <a:ext cx="1553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uk-UA"/>
                    </a:p>
                  </p:txBody>
                </p:sp>
                <p:sp>
                  <p:nvSpPr>
                    <p:cNvPr id="24599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84" y="766"/>
                      <a:ext cx="1553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uk-UA"/>
                    </a:p>
                  </p:txBody>
                </p:sp>
                <p:sp>
                  <p:nvSpPr>
                    <p:cNvPr id="24600" name="Text Box 1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135" y="288"/>
                      <a:ext cx="1270" cy="41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algn="ctr" eaLnBrk="1" hangingPunct="1"/>
                      <a:r>
                        <a:rPr lang="ru-RU" altLang="uk-UA" dirty="0" err="1" smtClean="0"/>
                        <a:t>Найменування</a:t>
                      </a:r>
                      <a:r>
                        <a:rPr lang="ru-RU" altLang="uk-UA" dirty="0" smtClean="0"/>
                        <a:t> </a:t>
                      </a:r>
                      <a:r>
                        <a:rPr lang="ru-RU" altLang="uk-UA" dirty="0" err="1" smtClean="0"/>
                        <a:t>системи</a:t>
                      </a:r>
                      <a:endParaRPr lang="ru-RU" altLang="uk-UA" dirty="0"/>
                    </a:p>
                  </p:txBody>
                </p:sp>
                <p:sp>
                  <p:nvSpPr>
                    <p:cNvPr id="24601" name="Text Box 1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549" y="-70"/>
                      <a:ext cx="423" cy="27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algn="ctr" eaLnBrk="1" hangingPunct="1"/>
                      <a:r>
                        <a:rPr lang="ru-RU" altLang="uk-UA"/>
                        <a:t>1</a:t>
                      </a:r>
                    </a:p>
                  </p:txBody>
                </p:sp>
                <p:sp>
                  <p:nvSpPr>
                    <p:cNvPr id="24602" name="Text Box 1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034" y="684"/>
                      <a:ext cx="1553" cy="27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algn="ctr" eaLnBrk="1" hangingPunct="1"/>
                      <a:r>
                        <a:rPr lang="ru-RU" altLang="uk-UA" sz="1600" dirty="0"/>
                        <a:t>Персонал, </a:t>
                      </a:r>
                      <a:r>
                        <a:rPr lang="ru-RU" altLang="uk-UA" sz="1600" dirty="0" err="1" smtClean="0"/>
                        <a:t>обладнання</a:t>
                      </a:r>
                      <a:endParaRPr lang="ru-RU" altLang="uk-UA" sz="1600" dirty="0"/>
                    </a:p>
                  </p:txBody>
                </p:sp>
                <p:sp>
                  <p:nvSpPr>
                    <p:cNvPr id="24603" name="Text Box 1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960" y="-70"/>
                      <a:ext cx="2118" cy="27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r>
                        <a:rPr lang="ru-RU" altLang="uk-UA" dirty="0"/>
                        <a:t>Поле </a:t>
                      </a:r>
                      <a:r>
                        <a:rPr lang="ru-RU" altLang="uk-UA" dirty="0" err="1" smtClean="0"/>
                        <a:t>ідентифікації</a:t>
                      </a:r>
                      <a:endParaRPr lang="ru-RU" altLang="uk-UA" dirty="0"/>
                    </a:p>
                  </p:txBody>
                </p:sp>
                <p:sp>
                  <p:nvSpPr>
                    <p:cNvPr id="24604" name="Text Box 1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960" y="348"/>
                      <a:ext cx="2116" cy="27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r>
                        <a:rPr lang="ru-RU" altLang="uk-UA" dirty="0"/>
                        <a:t>Поле </a:t>
                      </a:r>
                      <a:r>
                        <a:rPr lang="ru-RU" altLang="uk-UA" dirty="0" err="1" smtClean="0"/>
                        <a:t>імені</a:t>
                      </a:r>
                      <a:endParaRPr lang="ru-RU" altLang="uk-UA" dirty="0"/>
                    </a:p>
                  </p:txBody>
                </p:sp>
                <p:sp>
                  <p:nvSpPr>
                    <p:cNvPr id="24605" name="Line 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396" y="69"/>
                      <a:ext cx="5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800000"/>
                      </a:solidFill>
                      <a:round/>
                      <a:headEnd type="triangle" w="med" len="med"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uk-UA"/>
                    </a:p>
                  </p:txBody>
                </p:sp>
                <p:sp>
                  <p:nvSpPr>
                    <p:cNvPr id="24606" name="Line 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396" y="487"/>
                      <a:ext cx="5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800000"/>
                      </a:solidFill>
                      <a:round/>
                      <a:headEnd type="triangle" w="med" len="med"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uk-UA"/>
                    </a:p>
                  </p:txBody>
                </p:sp>
                <p:sp>
                  <p:nvSpPr>
                    <p:cNvPr id="24607" name="Line 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396" y="905"/>
                      <a:ext cx="5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800000"/>
                      </a:solidFill>
                      <a:round/>
                      <a:headEnd type="triangle" w="med" len="med"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uk-UA"/>
                    </a:p>
                  </p:txBody>
                </p:sp>
              </p:grpSp>
              <p:sp>
                <p:nvSpPr>
                  <p:cNvPr id="24596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3125" y="766"/>
                    <a:ext cx="127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uk-UA"/>
                  </a:p>
                </p:txBody>
              </p:sp>
            </p:grpSp>
            <p:sp>
              <p:nvSpPr>
                <p:cNvPr id="24594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4242" y="4014"/>
                  <a:ext cx="3240" cy="3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ru-RU" altLang="uk-UA" dirty="0"/>
                    <a:t>Поле </a:t>
                  </a:r>
                  <a:r>
                    <a:rPr lang="ru-RU" altLang="uk-UA" dirty="0" err="1" smtClean="0"/>
                    <a:t>фізичної</a:t>
                  </a:r>
                  <a:r>
                    <a:rPr lang="ru-RU" altLang="uk-UA" dirty="0" smtClean="0"/>
                    <a:t> </a:t>
                  </a:r>
                  <a:r>
                    <a:rPr lang="ru-RU" altLang="uk-UA" dirty="0" err="1" smtClean="0"/>
                    <a:t>реалізації</a:t>
                  </a:r>
                  <a:endParaRPr lang="ru-RU" altLang="uk-UA" dirty="0"/>
                </a:p>
              </p:txBody>
            </p:sp>
          </p:grpSp>
        </p:grpSp>
        <p:sp>
          <p:nvSpPr>
            <p:cNvPr id="24590" name="Text Box 23"/>
            <p:cNvSpPr txBox="1">
              <a:spLocks noChangeArrowheads="1"/>
            </p:cNvSpPr>
            <p:nvPr/>
          </p:nvSpPr>
          <p:spPr bwMode="auto">
            <a:xfrm>
              <a:off x="0" y="2160"/>
              <a:ext cx="1655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uk-UA" dirty="0" smtClean="0"/>
                <a:t>Система / підсистема</a:t>
              </a:r>
              <a:br>
                <a:rPr lang="uk-UA" dirty="0" smtClean="0"/>
              </a:br>
              <a:r>
                <a:rPr lang="uk-UA" dirty="0" smtClean="0"/>
                <a:t>в нотації </a:t>
              </a:r>
              <a:r>
                <a:rPr lang="uk-UA" dirty="0" err="1" smtClean="0"/>
                <a:t>Гейна-Сарсона</a:t>
              </a:r>
              <a:endParaRPr lang="ru-RU" altLang="uk-UA" dirty="0"/>
            </a:p>
          </p:txBody>
        </p:sp>
      </p:grpSp>
      <p:grpSp>
        <p:nvGrpSpPr>
          <p:cNvPr id="7" name="Group 70"/>
          <p:cNvGrpSpPr>
            <a:grpSpLocks/>
          </p:cNvGrpSpPr>
          <p:nvPr/>
        </p:nvGrpSpPr>
        <p:grpSpPr bwMode="auto">
          <a:xfrm>
            <a:off x="637381" y="4727661"/>
            <a:ext cx="7993063" cy="1441450"/>
            <a:chOff x="476" y="3203"/>
            <a:chExt cx="5035" cy="908"/>
          </a:xfrm>
        </p:grpSpPr>
        <p:sp>
          <p:nvSpPr>
            <p:cNvPr id="24582" name="Oval 63"/>
            <p:cNvSpPr>
              <a:spLocks noChangeArrowheads="1"/>
            </p:cNvSpPr>
            <p:nvPr/>
          </p:nvSpPr>
          <p:spPr bwMode="auto">
            <a:xfrm>
              <a:off x="476" y="3203"/>
              <a:ext cx="952" cy="90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ru-RU" altLang="uk-UA" dirty="0" err="1" smtClean="0"/>
                <a:t>Ім’я</a:t>
              </a:r>
              <a:r>
                <a:rPr lang="ru-RU" altLang="uk-UA" dirty="0" smtClean="0"/>
                <a:t> </a:t>
              </a:r>
              <a:r>
                <a:rPr lang="ru-RU" altLang="uk-UA" dirty="0" err="1" smtClean="0"/>
                <a:t>системи</a:t>
              </a:r>
              <a:r>
                <a:rPr lang="ru-RU" altLang="uk-UA" dirty="0" smtClean="0"/>
                <a:t>/</a:t>
              </a:r>
              <a:endParaRPr lang="ru-RU" altLang="uk-UA" dirty="0"/>
            </a:p>
            <a:p>
              <a:pPr algn="ctr" eaLnBrk="1" hangingPunct="1"/>
              <a:r>
                <a:rPr lang="ru-RU" altLang="uk-UA" dirty="0" err="1" smtClean="0"/>
                <a:t>подсистеми</a:t>
              </a:r>
              <a:endParaRPr lang="ru-RU" altLang="uk-UA" dirty="0"/>
            </a:p>
          </p:txBody>
        </p:sp>
        <p:sp>
          <p:nvSpPr>
            <p:cNvPr id="24583" name="Oval 64"/>
            <p:cNvSpPr>
              <a:spLocks noChangeArrowheads="1"/>
            </p:cNvSpPr>
            <p:nvPr/>
          </p:nvSpPr>
          <p:spPr bwMode="auto">
            <a:xfrm>
              <a:off x="2064" y="3249"/>
              <a:ext cx="907" cy="86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uk-UA" altLang="uk-UA"/>
            </a:p>
          </p:txBody>
        </p:sp>
        <p:sp>
          <p:nvSpPr>
            <p:cNvPr id="24584" name="Line 65"/>
            <p:cNvSpPr>
              <a:spLocks noChangeShapeType="1"/>
            </p:cNvSpPr>
            <p:nvPr/>
          </p:nvSpPr>
          <p:spPr bwMode="auto">
            <a:xfrm>
              <a:off x="2064" y="3657"/>
              <a:ext cx="9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4585" name="Text Box 66"/>
            <p:cNvSpPr txBox="1">
              <a:spLocks noChangeArrowheads="1"/>
            </p:cNvSpPr>
            <p:nvPr/>
          </p:nvSpPr>
          <p:spPr bwMode="auto">
            <a:xfrm>
              <a:off x="2381" y="3385"/>
              <a:ext cx="22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ru-RU" altLang="uk-UA"/>
                <a:t>1</a:t>
              </a:r>
            </a:p>
          </p:txBody>
        </p:sp>
        <p:sp>
          <p:nvSpPr>
            <p:cNvPr id="24586" name="Text Box 67"/>
            <p:cNvSpPr txBox="1">
              <a:spLocks noChangeArrowheads="1"/>
            </p:cNvSpPr>
            <p:nvPr/>
          </p:nvSpPr>
          <p:spPr bwMode="auto">
            <a:xfrm>
              <a:off x="2290" y="3702"/>
              <a:ext cx="4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ru-RU" altLang="uk-UA" dirty="0" err="1" smtClean="0"/>
                <a:t>Ім’я</a:t>
              </a:r>
              <a:endParaRPr lang="ru-RU" altLang="uk-UA" dirty="0"/>
            </a:p>
          </p:txBody>
        </p:sp>
        <p:sp>
          <p:nvSpPr>
            <p:cNvPr id="24587" name="Text Box 68"/>
            <p:cNvSpPr txBox="1">
              <a:spLocks noChangeArrowheads="1"/>
            </p:cNvSpPr>
            <p:nvPr/>
          </p:nvSpPr>
          <p:spPr bwMode="auto">
            <a:xfrm>
              <a:off x="1520" y="3566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uk-UA" dirty="0" err="1" smtClean="0"/>
                <a:t>або</a:t>
              </a:r>
              <a:endParaRPr lang="ru-RU" altLang="uk-UA" dirty="0"/>
            </a:p>
          </p:txBody>
        </p:sp>
        <p:sp>
          <p:nvSpPr>
            <p:cNvPr id="24588" name="Text Box 69"/>
            <p:cNvSpPr txBox="1">
              <a:spLocks noChangeArrowheads="1"/>
            </p:cNvSpPr>
            <p:nvPr/>
          </p:nvSpPr>
          <p:spPr bwMode="auto">
            <a:xfrm>
              <a:off x="3375" y="3249"/>
              <a:ext cx="2136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altLang="uk-UA" b="1" dirty="0" smtClean="0"/>
                <a:t>Система/</a:t>
              </a:r>
              <a:r>
                <a:rPr lang="ru-RU" altLang="uk-UA" b="1" dirty="0" err="1" smtClean="0"/>
                <a:t>підсистема</a:t>
              </a:r>
              <a:r>
                <a:rPr lang="ru-RU" altLang="uk-UA" b="1" dirty="0" smtClean="0"/>
                <a:t> </a:t>
              </a:r>
              <a:r>
                <a:rPr lang="ru-RU" altLang="uk-UA" b="1" dirty="0"/>
                <a:t>в </a:t>
              </a:r>
              <a:r>
                <a:rPr lang="ru-RU" altLang="uk-UA" b="1" dirty="0" err="1" smtClean="0"/>
                <a:t>нотації</a:t>
              </a:r>
              <a:r>
                <a:rPr lang="ru-RU" altLang="uk-UA" b="1" dirty="0" smtClean="0"/>
                <a:t> </a:t>
              </a:r>
              <a:r>
                <a:rPr lang="ru-RU" altLang="uk-UA" b="1" dirty="0" err="1"/>
                <a:t>Йордона-ДеМарко</a:t>
              </a:r>
              <a:endParaRPr lang="ru-RU" altLang="uk-UA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0"/>
            <a:ext cx="8229600" cy="6032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40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Процес</a:t>
            </a:r>
            <a:endParaRPr lang="ru-RU" sz="4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196975"/>
            <a:ext cx="8229600" cy="4525963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k-UA" sz="2800" dirty="0" smtClean="0"/>
              <a:t>Є перетворенням вхідних потоків у вихідні відповідно до певним алгоритмом.</a:t>
            </a:r>
            <a:br>
              <a:rPr lang="uk-UA" sz="2800" dirty="0" smtClean="0"/>
            </a:br>
            <a:endParaRPr lang="en-US" sz="2800" dirty="0" smtClean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k-UA" sz="2800" i="1" dirty="0" smtClean="0"/>
              <a:t>процес іменується у вигляді словосполучення з активним дієсловом у формі, за яким слідує іменник у знахідному відмінку</a:t>
            </a:r>
            <a:r>
              <a:rPr lang="uk-UA" sz="2800" dirty="0" smtClean="0"/>
              <a:t>.</a:t>
            </a: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32718" y="-139280"/>
            <a:ext cx="8229600" cy="7397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40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Процес</a:t>
            </a:r>
            <a:endParaRPr lang="ru-RU" sz="4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395288" y="1628775"/>
            <a:ext cx="8424862" cy="2016125"/>
            <a:chOff x="249" y="1026"/>
            <a:chExt cx="5307" cy="1270"/>
          </a:xfrm>
        </p:grpSpPr>
        <p:grpSp>
          <p:nvGrpSpPr>
            <p:cNvPr id="26638" name="Group 4"/>
            <p:cNvGrpSpPr>
              <a:grpSpLocks/>
            </p:cNvGrpSpPr>
            <p:nvPr/>
          </p:nvGrpSpPr>
          <p:grpSpPr bwMode="auto">
            <a:xfrm>
              <a:off x="249" y="1026"/>
              <a:ext cx="3856" cy="1270"/>
              <a:chOff x="1722" y="2935"/>
              <a:chExt cx="5760" cy="1440"/>
            </a:xfrm>
          </p:grpSpPr>
          <p:grpSp>
            <p:nvGrpSpPr>
              <p:cNvPr id="26640" name="Group 5"/>
              <p:cNvGrpSpPr>
                <a:grpSpLocks/>
              </p:cNvGrpSpPr>
              <p:nvPr/>
            </p:nvGrpSpPr>
            <p:grpSpPr bwMode="auto">
              <a:xfrm>
                <a:off x="1722" y="2935"/>
                <a:ext cx="5220" cy="1440"/>
                <a:chOff x="2984" y="-70"/>
                <a:chExt cx="4094" cy="1115"/>
              </a:xfrm>
            </p:grpSpPr>
            <p:grpSp>
              <p:nvGrpSpPr>
                <p:cNvPr id="26642" name="Group 6"/>
                <p:cNvGrpSpPr>
                  <a:grpSpLocks/>
                </p:cNvGrpSpPr>
                <p:nvPr/>
              </p:nvGrpSpPr>
              <p:grpSpPr bwMode="auto">
                <a:xfrm>
                  <a:off x="2984" y="-70"/>
                  <a:ext cx="4094" cy="1115"/>
                  <a:chOff x="2984" y="-70"/>
                  <a:chExt cx="4094" cy="1115"/>
                </a:xfrm>
              </p:grpSpPr>
              <p:sp>
                <p:nvSpPr>
                  <p:cNvPr id="26644" name="AutoShape 7"/>
                  <p:cNvSpPr>
                    <a:spLocks noChangeArrowheads="1"/>
                  </p:cNvSpPr>
                  <p:nvPr/>
                </p:nvSpPr>
                <p:spPr bwMode="auto">
                  <a:xfrm>
                    <a:off x="2984" y="-70"/>
                    <a:ext cx="1553" cy="1115"/>
                  </a:xfrm>
                  <a:prstGeom prst="flowChartAlternateProcess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uk-UA" altLang="uk-UA"/>
                  </a:p>
                </p:txBody>
              </p:sp>
              <p:sp>
                <p:nvSpPr>
                  <p:cNvPr id="26645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2984" y="208"/>
                    <a:ext cx="1553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uk-UA"/>
                  </a:p>
                </p:txBody>
              </p:sp>
              <p:sp>
                <p:nvSpPr>
                  <p:cNvPr id="26646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2984" y="766"/>
                    <a:ext cx="1553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uk-UA"/>
                  </a:p>
                </p:txBody>
              </p:sp>
              <p:sp>
                <p:nvSpPr>
                  <p:cNvPr id="26647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25" y="348"/>
                    <a:ext cx="1270" cy="418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algn="ctr" eaLnBrk="1" hangingPunct="1"/>
                    <a:r>
                      <a:rPr lang="ru-RU" altLang="uk-UA" sz="1600" dirty="0" err="1" smtClean="0"/>
                      <a:t>Найменування</a:t>
                    </a:r>
                    <a:r>
                      <a:rPr lang="ru-RU" altLang="uk-UA" sz="1600" dirty="0" smtClean="0"/>
                      <a:t> </a:t>
                    </a:r>
                    <a:r>
                      <a:rPr lang="ru-RU" altLang="uk-UA" sz="1600" dirty="0" err="1" smtClean="0"/>
                      <a:t>процесу</a:t>
                    </a:r>
                    <a:endParaRPr lang="ru-RU" altLang="uk-UA" sz="1600" dirty="0"/>
                  </a:p>
                </p:txBody>
              </p:sp>
              <p:sp>
                <p:nvSpPr>
                  <p:cNvPr id="26648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49" y="-70"/>
                    <a:ext cx="423" cy="27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algn="ctr" eaLnBrk="1" hangingPunct="1"/>
                    <a:r>
                      <a:rPr lang="ru-RU" altLang="uk-UA"/>
                      <a:t>1.1</a:t>
                    </a:r>
                  </a:p>
                </p:txBody>
              </p:sp>
              <p:sp>
                <p:nvSpPr>
                  <p:cNvPr id="26649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84" y="766"/>
                    <a:ext cx="1553" cy="27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algn="ctr" eaLnBrk="1" hangingPunct="1"/>
                    <a:r>
                      <a:rPr lang="ru-RU" altLang="uk-UA" sz="1600" dirty="0"/>
                      <a:t>Персонал, </a:t>
                    </a:r>
                    <a:r>
                      <a:rPr lang="ru-RU" altLang="uk-UA" sz="1600" dirty="0" err="1" smtClean="0"/>
                      <a:t>обладнання</a:t>
                    </a:r>
                    <a:endParaRPr lang="ru-RU" altLang="uk-UA" sz="1600" dirty="0"/>
                  </a:p>
                </p:txBody>
              </p:sp>
              <p:sp>
                <p:nvSpPr>
                  <p:cNvPr id="26650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60" y="-70"/>
                    <a:ext cx="2118" cy="27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ru-RU" altLang="uk-UA" dirty="0"/>
                      <a:t>Поле </a:t>
                    </a:r>
                    <a:r>
                      <a:rPr lang="ru-RU" altLang="uk-UA" dirty="0" err="1" smtClean="0"/>
                      <a:t>ідентифікації</a:t>
                    </a:r>
                    <a:endParaRPr lang="ru-RU" altLang="uk-UA" dirty="0"/>
                  </a:p>
                </p:txBody>
              </p:sp>
              <p:sp>
                <p:nvSpPr>
                  <p:cNvPr id="26651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60" y="348"/>
                    <a:ext cx="2116" cy="2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ru-RU" altLang="uk-UA" dirty="0"/>
                      <a:t>Поле </a:t>
                    </a:r>
                    <a:r>
                      <a:rPr lang="ru-RU" altLang="uk-UA" dirty="0" err="1" smtClean="0"/>
                      <a:t>імені</a:t>
                    </a:r>
                    <a:endParaRPr lang="ru-RU" altLang="uk-UA" dirty="0"/>
                  </a:p>
                </p:txBody>
              </p:sp>
              <p:sp>
                <p:nvSpPr>
                  <p:cNvPr id="26652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4396" y="69"/>
                    <a:ext cx="56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800000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uk-UA"/>
                  </a:p>
                </p:txBody>
              </p:sp>
              <p:sp>
                <p:nvSpPr>
                  <p:cNvPr id="26653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4396" y="487"/>
                    <a:ext cx="56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800000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uk-UA"/>
                  </a:p>
                </p:txBody>
              </p:sp>
              <p:sp>
                <p:nvSpPr>
                  <p:cNvPr id="26654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4396" y="905"/>
                    <a:ext cx="56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800000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uk-UA"/>
                  </a:p>
                </p:txBody>
              </p:sp>
            </p:grpSp>
            <p:sp>
              <p:nvSpPr>
                <p:cNvPr id="26643" name="Line 18"/>
                <p:cNvSpPr>
                  <a:spLocks noChangeShapeType="1"/>
                </p:cNvSpPr>
                <p:nvPr/>
              </p:nvSpPr>
              <p:spPr bwMode="auto">
                <a:xfrm>
                  <a:off x="3125" y="766"/>
                  <a:ext cx="1271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uk-UA"/>
                </a:p>
              </p:txBody>
            </p:sp>
          </p:grpSp>
          <p:sp>
            <p:nvSpPr>
              <p:cNvPr id="26641" name="Text Box 19"/>
              <p:cNvSpPr txBox="1">
                <a:spLocks noChangeArrowheads="1"/>
              </p:cNvSpPr>
              <p:nvPr/>
            </p:nvSpPr>
            <p:spPr bwMode="auto">
              <a:xfrm>
                <a:off x="4242" y="4014"/>
                <a:ext cx="3240" cy="3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ru-RU" altLang="uk-UA" dirty="0"/>
                  <a:t>Поле </a:t>
                </a:r>
                <a:r>
                  <a:rPr lang="ru-RU" altLang="uk-UA" dirty="0" err="1" smtClean="0"/>
                  <a:t>фізичної</a:t>
                </a:r>
                <a:r>
                  <a:rPr lang="ru-RU" altLang="uk-UA" dirty="0" smtClean="0"/>
                  <a:t> </a:t>
                </a:r>
                <a:r>
                  <a:rPr lang="ru-RU" altLang="uk-UA" dirty="0" err="1" smtClean="0"/>
                  <a:t>реалізації</a:t>
                </a:r>
                <a:endParaRPr lang="ru-RU" altLang="uk-UA" dirty="0"/>
              </a:p>
            </p:txBody>
          </p:sp>
        </p:grpSp>
        <p:sp>
          <p:nvSpPr>
            <p:cNvPr id="26639" name="Text Box 20"/>
            <p:cNvSpPr txBox="1">
              <a:spLocks noChangeArrowheads="1"/>
            </p:cNvSpPr>
            <p:nvPr/>
          </p:nvSpPr>
          <p:spPr bwMode="auto">
            <a:xfrm>
              <a:off x="3651" y="1298"/>
              <a:ext cx="1905" cy="448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ru-RU" altLang="uk-UA" sz="2000" b="1" dirty="0" err="1" smtClean="0"/>
                <a:t>Процес</a:t>
              </a:r>
              <a:r>
                <a:rPr lang="ru-RU" altLang="uk-UA" sz="2000" b="1" dirty="0" smtClean="0"/>
                <a:t> </a:t>
              </a:r>
              <a:r>
                <a:rPr lang="ru-RU" altLang="uk-UA" sz="2000" b="1" dirty="0"/>
                <a:t>в </a:t>
              </a:r>
              <a:r>
                <a:rPr lang="ru-RU" altLang="uk-UA" sz="2000" b="1" dirty="0" err="1" smtClean="0"/>
                <a:t>нотації</a:t>
              </a:r>
              <a:r>
                <a:rPr lang="ru-RU" altLang="uk-UA" sz="2000" b="1" dirty="0" smtClean="0"/>
                <a:t> </a:t>
              </a:r>
              <a:r>
                <a:rPr lang="ru-RU" altLang="uk-UA" sz="2000" b="1" dirty="0" err="1"/>
                <a:t>Гейна-Сарсона</a:t>
              </a:r>
              <a:r>
                <a:rPr lang="ru-RU" altLang="uk-UA" sz="2000" b="1" dirty="0"/>
                <a:t> </a:t>
              </a:r>
            </a:p>
          </p:txBody>
        </p:sp>
      </p:grpSp>
      <p:sp>
        <p:nvSpPr>
          <p:cNvPr id="13335" name="Text Box 23"/>
          <p:cNvSpPr txBox="1">
            <a:spLocks noChangeArrowheads="1"/>
          </p:cNvSpPr>
          <p:nvPr/>
        </p:nvSpPr>
        <p:spPr bwMode="auto">
          <a:xfrm>
            <a:off x="642910" y="5572140"/>
            <a:ext cx="7704137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uk-UA" sz="2400" u="sng" dirty="0">
                <a:solidFill>
                  <a:srgbClr val="4C004C"/>
                </a:solidFill>
              </a:rPr>
              <a:t>!!!!! </a:t>
            </a:r>
            <a:r>
              <a:rPr lang="ru-RU" altLang="uk-UA" sz="2400" u="sng" dirty="0" err="1" smtClean="0">
                <a:solidFill>
                  <a:srgbClr val="4C004C"/>
                </a:solidFill>
              </a:rPr>
              <a:t>Процес</a:t>
            </a:r>
            <a:r>
              <a:rPr lang="ru-RU" altLang="uk-UA" sz="2400" u="sng" dirty="0" smtClean="0">
                <a:solidFill>
                  <a:srgbClr val="4C004C"/>
                </a:solidFill>
              </a:rPr>
              <a:t> </a:t>
            </a:r>
            <a:r>
              <a:rPr lang="ru-RU" altLang="uk-UA" sz="2400" u="sng" dirty="0" err="1" smtClean="0">
                <a:solidFill>
                  <a:srgbClr val="4C004C"/>
                </a:solidFill>
              </a:rPr>
              <a:t>відрізняється</a:t>
            </a:r>
            <a:r>
              <a:rPr lang="ru-RU" altLang="uk-UA" sz="2400" u="sng" dirty="0" smtClean="0">
                <a:solidFill>
                  <a:srgbClr val="4C004C"/>
                </a:solidFill>
              </a:rPr>
              <a:t> </a:t>
            </a:r>
            <a:r>
              <a:rPr lang="ru-RU" altLang="uk-UA" sz="2400" u="sng" dirty="0" err="1" smtClean="0">
                <a:solidFill>
                  <a:srgbClr val="4C004C"/>
                </a:solidFill>
              </a:rPr>
              <a:t>від</a:t>
            </a:r>
            <a:r>
              <a:rPr lang="ru-RU" altLang="uk-UA" sz="2400" u="sng" dirty="0" smtClean="0">
                <a:solidFill>
                  <a:srgbClr val="4C004C"/>
                </a:solidFill>
              </a:rPr>
              <a:t> </a:t>
            </a:r>
            <a:r>
              <a:rPr lang="ru-RU" altLang="uk-UA" sz="2400" u="sng" dirty="0" err="1" smtClean="0">
                <a:solidFill>
                  <a:srgbClr val="4C004C"/>
                </a:solidFill>
              </a:rPr>
              <a:t>системи</a:t>
            </a:r>
            <a:r>
              <a:rPr lang="ru-RU" altLang="uk-UA" sz="2400" u="sng" dirty="0" smtClean="0">
                <a:solidFill>
                  <a:srgbClr val="4C004C"/>
                </a:solidFill>
              </a:rPr>
              <a:t>/</a:t>
            </a:r>
            <a:r>
              <a:rPr lang="ru-RU" altLang="uk-UA" sz="2400" u="sng" dirty="0" err="1" smtClean="0">
                <a:solidFill>
                  <a:srgbClr val="4C004C"/>
                </a:solidFill>
              </a:rPr>
              <a:t>підсистеми</a:t>
            </a:r>
            <a:r>
              <a:rPr lang="ru-RU" altLang="uk-UA" sz="2400" u="sng" dirty="0" smtClean="0">
                <a:solidFill>
                  <a:srgbClr val="4C004C"/>
                </a:solidFill>
              </a:rPr>
              <a:t> </a:t>
            </a:r>
            <a:r>
              <a:rPr lang="ru-RU" altLang="uk-UA" sz="2400" u="sng" dirty="0">
                <a:solidFill>
                  <a:srgbClr val="4C004C"/>
                </a:solidFill>
              </a:rPr>
              <a:t>по полю </a:t>
            </a:r>
            <a:r>
              <a:rPr lang="ru-RU" altLang="uk-UA" sz="2400" u="sng" dirty="0" err="1" smtClean="0">
                <a:solidFill>
                  <a:srgbClr val="4C004C"/>
                </a:solidFill>
              </a:rPr>
              <a:t>найменування</a:t>
            </a:r>
            <a:r>
              <a:rPr lang="en-US" altLang="uk-UA" sz="2400" dirty="0" smtClean="0">
                <a:solidFill>
                  <a:srgbClr val="4C004C"/>
                </a:solidFill>
              </a:rPr>
              <a:t>!!!!</a:t>
            </a:r>
            <a:endParaRPr lang="ru-RU" altLang="uk-UA" dirty="0">
              <a:solidFill>
                <a:srgbClr val="4C004C"/>
              </a:solidFill>
            </a:endParaRPr>
          </a:p>
        </p:txBody>
      </p: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468313" y="4005263"/>
            <a:ext cx="8280400" cy="1441450"/>
            <a:chOff x="295" y="2523"/>
            <a:chExt cx="5216" cy="908"/>
          </a:xfrm>
        </p:grpSpPr>
        <p:sp>
          <p:nvSpPr>
            <p:cNvPr id="26630" name="Text Box 22"/>
            <p:cNvSpPr txBox="1">
              <a:spLocks noChangeArrowheads="1"/>
            </p:cNvSpPr>
            <p:nvPr/>
          </p:nvSpPr>
          <p:spPr bwMode="auto">
            <a:xfrm>
              <a:off x="3742" y="2659"/>
              <a:ext cx="1769" cy="448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ru-RU" altLang="uk-UA" sz="2000" b="1" dirty="0" err="1" smtClean="0"/>
                <a:t>Процес</a:t>
              </a:r>
              <a:r>
                <a:rPr lang="ru-RU" altLang="uk-UA" sz="2000" b="1" dirty="0" smtClean="0"/>
                <a:t> </a:t>
              </a:r>
              <a:r>
                <a:rPr lang="ru-RU" altLang="uk-UA" sz="2000" b="1" dirty="0"/>
                <a:t>в </a:t>
              </a:r>
              <a:r>
                <a:rPr lang="ru-RU" altLang="uk-UA" sz="2000" b="1" dirty="0" err="1" smtClean="0"/>
                <a:t>нотації</a:t>
              </a:r>
              <a:r>
                <a:rPr lang="ru-RU" altLang="uk-UA" sz="2000" b="1" dirty="0" smtClean="0"/>
                <a:t> </a:t>
              </a:r>
              <a:r>
                <a:rPr lang="ru-RU" altLang="uk-UA" sz="2000" b="1" dirty="0" err="1"/>
                <a:t>Йордона-ДеМарко</a:t>
              </a:r>
              <a:endParaRPr lang="ru-RU" altLang="uk-UA" dirty="0"/>
            </a:p>
          </p:txBody>
        </p:sp>
        <p:grpSp>
          <p:nvGrpSpPr>
            <p:cNvPr id="26631" name="Group 34"/>
            <p:cNvGrpSpPr>
              <a:grpSpLocks/>
            </p:cNvGrpSpPr>
            <p:nvPr/>
          </p:nvGrpSpPr>
          <p:grpSpPr bwMode="auto">
            <a:xfrm>
              <a:off x="295" y="2523"/>
              <a:ext cx="2495" cy="908"/>
              <a:chOff x="295" y="2523"/>
              <a:chExt cx="2495" cy="908"/>
            </a:xfrm>
          </p:grpSpPr>
          <p:sp>
            <p:nvSpPr>
              <p:cNvPr id="26632" name="Oval 27"/>
              <p:cNvSpPr>
                <a:spLocks noChangeArrowheads="1"/>
              </p:cNvSpPr>
              <p:nvPr/>
            </p:nvSpPr>
            <p:spPr bwMode="auto">
              <a:xfrm>
                <a:off x="295" y="2523"/>
                <a:ext cx="952" cy="90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/>
                <a:r>
                  <a:rPr lang="ru-RU" altLang="uk-UA" dirty="0" err="1" smtClean="0"/>
                  <a:t>Ім’я</a:t>
                </a:r>
                <a:r>
                  <a:rPr lang="ru-RU" altLang="uk-UA" dirty="0" smtClean="0"/>
                  <a:t> </a:t>
                </a:r>
                <a:endParaRPr lang="ru-RU" altLang="uk-UA" dirty="0"/>
              </a:p>
              <a:p>
                <a:pPr algn="ctr" eaLnBrk="1" hangingPunct="1"/>
                <a:r>
                  <a:rPr lang="ru-RU" altLang="uk-UA" dirty="0" err="1" smtClean="0"/>
                  <a:t>процесу</a:t>
                </a:r>
                <a:endParaRPr lang="ru-RU" altLang="uk-UA" dirty="0"/>
              </a:p>
            </p:txBody>
          </p:sp>
          <p:sp>
            <p:nvSpPr>
              <p:cNvPr id="26633" name="Oval 28"/>
              <p:cNvSpPr>
                <a:spLocks noChangeArrowheads="1"/>
              </p:cNvSpPr>
              <p:nvPr/>
            </p:nvSpPr>
            <p:spPr bwMode="auto">
              <a:xfrm>
                <a:off x="1883" y="2569"/>
                <a:ext cx="907" cy="86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uk-UA" altLang="uk-UA"/>
              </a:p>
            </p:txBody>
          </p:sp>
          <p:sp>
            <p:nvSpPr>
              <p:cNvPr id="26634" name="Line 29"/>
              <p:cNvSpPr>
                <a:spLocks noChangeShapeType="1"/>
              </p:cNvSpPr>
              <p:nvPr/>
            </p:nvSpPr>
            <p:spPr bwMode="auto">
              <a:xfrm>
                <a:off x="1883" y="2977"/>
                <a:ext cx="90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26635" name="Text Box 30"/>
              <p:cNvSpPr txBox="1">
                <a:spLocks noChangeArrowheads="1"/>
              </p:cNvSpPr>
              <p:nvPr/>
            </p:nvSpPr>
            <p:spPr bwMode="auto">
              <a:xfrm>
                <a:off x="2200" y="2705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ru-RU" altLang="uk-UA"/>
                  <a:t>1</a:t>
                </a:r>
              </a:p>
            </p:txBody>
          </p:sp>
          <p:sp>
            <p:nvSpPr>
              <p:cNvPr id="26636" name="Text Box 31"/>
              <p:cNvSpPr txBox="1">
                <a:spLocks noChangeArrowheads="1"/>
              </p:cNvSpPr>
              <p:nvPr/>
            </p:nvSpPr>
            <p:spPr bwMode="auto">
              <a:xfrm>
                <a:off x="2109" y="3022"/>
                <a:ext cx="45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ru-RU" altLang="uk-UA" dirty="0" err="1" smtClean="0"/>
                  <a:t>Ім’я</a:t>
                </a:r>
                <a:endParaRPr lang="ru-RU" altLang="uk-UA" dirty="0"/>
              </a:p>
            </p:txBody>
          </p:sp>
          <p:sp>
            <p:nvSpPr>
              <p:cNvPr id="26637" name="Text Box 32"/>
              <p:cNvSpPr txBox="1">
                <a:spLocks noChangeArrowheads="1"/>
              </p:cNvSpPr>
              <p:nvPr/>
            </p:nvSpPr>
            <p:spPr bwMode="auto">
              <a:xfrm>
                <a:off x="1339" y="2886"/>
                <a:ext cx="45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ru-RU" altLang="uk-UA" dirty="0" err="1" smtClean="0"/>
                  <a:t>або</a:t>
                </a:r>
                <a:endParaRPr lang="ru-RU" altLang="uk-UA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67444" y="-89914"/>
            <a:ext cx="8229600" cy="6683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Накопичувач</a:t>
            </a:r>
            <a:r>
              <a:rPr lang="ru-RU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даних</a:t>
            </a:r>
            <a:endParaRPr lang="ru-RU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268413"/>
            <a:ext cx="8964488" cy="122448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uk-UA" sz="2400" dirty="0" smtClean="0"/>
              <a:t>Це абстрактний пристрій для зберігання інформації, яку можна в будь-який момент помістити в накопичувач і через деякий час витягнути.</a:t>
            </a:r>
            <a:endParaRPr lang="ru-RU" altLang="uk-UA" sz="2400" dirty="0" smtClean="0"/>
          </a:p>
        </p:txBody>
      </p:sp>
      <p:pic>
        <p:nvPicPr>
          <p:cNvPr id="27652" name="Picture 4" descr="store_df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3213100"/>
            <a:ext cx="2879725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395288" y="4508500"/>
            <a:ext cx="835342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uk-UA" sz="2000" dirty="0" smtClean="0"/>
              <a:t>Приклади: ящик в картотеці, таблиці в </a:t>
            </a:r>
            <a:r>
              <a:rPr lang="uk-UA" sz="2000" dirty="0" err="1" smtClean="0"/>
              <a:t>ОЗУ</a:t>
            </a:r>
            <a:r>
              <a:rPr lang="uk-UA" sz="2000" dirty="0" smtClean="0"/>
              <a:t>, файл на електронному носії</a:t>
            </a:r>
            <a:br>
              <a:rPr lang="uk-UA" sz="2000" dirty="0" smtClean="0"/>
            </a:br>
            <a:r>
              <a:rPr lang="uk-UA" sz="2000" dirty="0" smtClean="0"/>
              <a:t>Примітка: </a:t>
            </a:r>
            <a:r>
              <a:rPr lang="uk-UA" sz="2000" smtClean="0"/>
              <a:t>У нотаціях </a:t>
            </a:r>
            <a:r>
              <a:rPr lang="uk-UA" sz="2000" dirty="0" err="1" smtClean="0"/>
              <a:t>Гейна-Сарсона</a:t>
            </a:r>
            <a:r>
              <a:rPr lang="uk-UA" sz="2000" dirty="0" smtClean="0"/>
              <a:t> і </a:t>
            </a:r>
            <a:r>
              <a:rPr lang="uk-UA" sz="2000" dirty="0" err="1" smtClean="0"/>
              <a:t>Йордона-ДеМарко</a:t>
            </a:r>
            <a:r>
              <a:rPr lang="uk-UA" sz="2000" dirty="0" smtClean="0"/>
              <a:t> графічне представлення даного елемента аналогічне.</a:t>
            </a:r>
            <a:endParaRPr lang="ru-RU" altLang="uk-UA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5536" y="-64313"/>
            <a:ext cx="8229600" cy="7397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Поток </a:t>
            </a:r>
            <a:r>
              <a:rPr lang="ru-RU" sz="40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даних</a:t>
            </a:r>
            <a:endParaRPr lang="ru-RU" sz="4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512" y="1412875"/>
            <a:ext cx="8964488" cy="129604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altLang="uk-UA" sz="2400" dirty="0" smtClean="0"/>
              <a:t>Определяет информацию, передаваемую через некоторые соединения от источника к приемнику. Реальный поток данных может быть информацией, передаваемой по кабелю между двумя устройствами, пересылаемыми по почте письмами и т.п.</a:t>
            </a:r>
          </a:p>
        </p:txBody>
      </p:sp>
      <p:grpSp>
        <p:nvGrpSpPr>
          <p:cNvPr id="28676" name="Group 4"/>
          <p:cNvGrpSpPr>
            <a:grpSpLocks/>
          </p:cNvGrpSpPr>
          <p:nvPr/>
        </p:nvGrpSpPr>
        <p:grpSpPr bwMode="auto">
          <a:xfrm>
            <a:off x="1331640" y="3140968"/>
            <a:ext cx="5976938" cy="2449513"/>
            <a:chOff x="3407" y="1289"/>
            <a:chExt cx="3812" cy="1115"/>
          </a:xfrm>
        </p:grpSpPr>
        <p:sp>
          <p:nvSpPr>
            <p:cNvPr id="28677" name="AutoShape 5"/>
            <p:cNvSpPr>
              <a:spLocks noChangeArrowheads="1"/>
            </p:cNvSpPr>
            <p:nvPr/>
          </p:nvSpPr>
          <p:spPr bwMode="auto">
            <a:xfrm>
              <a:off x="5666" y="1289"/>
              <a:ext cx="1553" cy="111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uk-UA" altLang="uk-UA"/>
            </a:p>
          </p:txBody>
        </p:sp>
        <p:sp>
          <p:nvSpPr>
            <p:cNvPr id="28678" name="Line 6"/>
            <p:cNvSpPr>
              <a:spLocks noChangeShapeType="1"/>
            </p:cNvSpPr>
            <p:nvPr/>
          </p:nvSpPr>
          <p:spPr bwMode="auto">
            <a:xfrm>
              <a:off x="5666" y="1568"/>
              <a:ext cx="155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8679" name="Line 7"/>
            <p:cNvSpPr>
              <a:spLocks noChangeShapeType="1"/>
            </p:cNvSpPr>
            <p:nvPr/>
          </p:nvSpPr>
          <p:spPr bwMode="auto">
            <a:xfrm>
              <a:off x="5666" y="2125"/>
              <a:ext cx="155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8680" name="Rectangle 8"/>
            <p:cNvSpPr>
              <a:spLocks noChangeArrowheads="1"/>
            </p:cNvSpPr>
            <p:nvPr/>
          </p:nvSpPr>
          <p:spPr bwMode="auto">
            <a:xfrm>
              <a:off x="3549" y="1428"/>
              <a:ext cx="1270" cy="8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ru-RU" altLang="uk-UA" sz="1200"/>
            </a:p>
            <a:p>
              <a:pPr algn="ctr" eaLnBrk="1" hangingPunct="1"/>
              <a:endParaRPr lang="ru-RU" altLang="uk-UA" sz="2000"/>
            </a:p>
            <a:p>
              <a:pPr algn="ctr" eaLnBrk="1" hangingPunct="1"/>
              <a:r>
                <a:rPr lang="ru-RU" altLang="uk-UA" sz="2000"/>
                <a:t>Деканат</a:t>
              </a:r>
            </a:p>
          </p:txBody>
        </p:sp>
        <p:sp>
          <p:nvSpPr>
            <p:cNvPr id="28681" name="Line 9"/>
            <p:cNvSpPr>
              <a:spLocks noChangeShapeType="1"/>
            </p:cNvSpPr>
            <p:nvPr/>
          </p:nvSpPr>
          <p:spPr bwMode="auto">
            <a:xfrm>
              <a:off x="3407" y="1289"/>
              <a:ext cx="142" cy="1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8682" name="Line 10"/>
            <p:cNvSpPr>
              <a:spLocks noChangeShapeType="1"/>
            </p:cNvSpPr>
            <p:nvPr/>
          </p:nvSpPr>
          <p:spPr bwMode="auto">
            <a:xfrm>
              <a:off x="3407" y="1289"/>
              <a:ext cx="127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8683" name="Line 11"/>
            <p:cNvSpPr>
              <a:spLocks noChangeShapeType="1"/>
            </p:cNvSpPr>
            <p:nvPr/>
          </p:nvSpPr>
          <p:spPr bwMode="auto">
            <a:xfrm>
              <a:off x="3407" y="1289"/>
              <a:ext cx="1" cy="8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8684" name="Line 12"/>
            <p:cNvSpPr>
              <a:spLocks noChangeShapeType="1"/>
            </p:cNvSpPr>
            <p:nvPr/>
          </p:nvSpPr>
          <p:spPr bwMode="auto">
            <a:xfrm>
              <a:off x="3407" y="2125"/>
              <a:ext cx="142" cy="1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8685" name="Line 13"/>
            <p:cNvSpPr>
              <a:spLocks noChangeShapeType="1"/>
            </p:cNvSpPr>
            <p:nvPr/>
          </p:nvSpPr>
          <p:spPr bwMode="auto">
            <a:xfrm>
              <a:off x="4678" y="1289"/>
              <a:ext cx="141" cy="1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8686" name="Text Box 14"/>
            <p:cNvSpPr txBox="1">
              <a:spLocks noChangeArrowheads="1"/>
            </p:cNvSpPr>
            <p:nvPr/>
          </p:nvSpPr>
          <p:spPr bwMode="auto">
            <a:xfrm>
              <a:off x="5807" y="1568"/>
              <a:ext cx="1271" cy="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ru-RU" altLang="uk-UA" sz="2000" dirty="0" err="1" smtClean="0"/>
                <a:t>Заповнити</a:t>
              </a:r>
              <a:r>
                <a:rPr lang="ru-RU" altLang="uk-UA" sz="2000" dirty="0" smtClean="0"/>
                <a:t> </a:t>
              </a:r>
              <a:r>
                <a:rPr lang="ru-RU" altLang="uk-UA" sz="2000" dirty="0" err="1" smtClean="0"/>
                <a:t>відомость</a:t>
              </a:r>
              <a:endParaRPr lang="ru-RU" altLang="uk-UA" sz="2000" dirty="0"/>
            </a:p>
          </p:txBody>
        </p:sp>
        <p:sp>
          <p:nvSpPr>
            <p:cNvPr id="28687" name="Text Box 15"/>
            <p:cNvSpPr txBox="1">
              <a:spLocks noChangeArrowheads="1"/>
            </p:cNvSpPr>
            <p:nvPr/>
          </p:nvSpPr>
          <p:spPr bwMode="auto">
            <a:xfrm>
              <a:off x="5807" y="2125"/>
              <a:ext cx="1271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ru-RU" altLang="uk-UA" sz="1900" dirty="0" err="1" smtClean="0"/>
                <a:t>Викладач</a:t>
              </a:r>
              <a:r>
                <a:rPr lang="ru-RU" altLang="uk-UA" sz="1900" dirty="0" smtClean="0"/>
                <a:t> </a:t>
              </a:r>
              <a:endParaRPr lang="ru-RU" altLang="uk-UA" sz="1900" dirty="0"/>
            </a:p>
          </p:txBody>
        </p:sp>
        <p:sp>
          <p:nvSpPr>
            <p:cNvPr id="28688" name="Text Box 16"/>
            <p:cNvSpPr txBox="1">
              <a:spLocks noChangeArrowheads="1"/>
            </p:cNvSpPr>
            <p:nvPr/>
          </p:nvSpPr>
          <p:spPr bwMode="auto">
            <a:xfrm>
              <a:off x="5807" y="1289"/>
              <a:ext cx="1271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ru-RU" altLang="uk-UA" sz="2000"/>
                <a:t>1.1.1</a:t>
              </a:r>
            </a:p>
          </p:txBody>
        </p:sp>
        <p:sp>
          <p:nvSpPr>
            <p:cNvPr id="28689" name="Line 17"/>
            <p:cNvSpPr>
              <a:spLocks noChangeShapeType="1"/>
            </p:cNvSpPr>
            <p:nvPr/>
          </p:nvSpPr>
          <p:spPr bwMode="auto">
            <a:xfrm>
              <a:off x="4819" y="1846"/>
              <a:ext cx="84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8690" name="Text Box 18"/>
            <p:cNvSpPr txBox="1">
              <a:spLocks noChangeArrowheads="1"/>
            </p:cNvSpPr>
            <p:nvPr/>
          </p:nvSpPr>
          <p:spPr bwMode="auto">
            <a:xfrm>
              <a:off x="4819" y="1568"/>
              <a:ext cx="84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ru-RU" altLang="uk-UA" sz="1700" dirty="0" err="1" smtClean="0"/>
                <a:t>Відомость</a:t>
              </a:r>
              <a:endParaRPr lang="ru-RU" altLang="uk-UA" sz="17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576" y="0"/>
            <a:ext cx="9144000" cy="43247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40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Нумерація</a:t>
            </a:r>
            <a:r>
              <a:rPr lang="ru-RU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ru-RU" sz="40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об’єктів</a:t>
            </a:r>
            <a:endParaRPr lang="ru-RU" sz="4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16418" name="Group 3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6577886"/>
              </p:ext>
            </p:extLst>
          </p:nvPr>
        </p:nvGraphicFramePr>
        <p:xfrm>
          <a:off x="107504" y="1052736"/>
          <a:ext cx="8784976" cy="5256584"/>
        </p:xfrm>
        <a:graphic>
          <a:graphicData uri="http://schemas.openxmlformats.org/drawingml/2006/table">
            <a:tbl>
              <a:tblPr/>
              <a:tblGrid>
                <a:gridCol w="4392488"/>
                <a:gridCol w="4392488"/>
              </a:tblGrid>
              <a:tr h="28057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C004C"/>
                          </a:solidFill>
                          <a:effectLst/>
                          <a:latin typeface="Arial" charset="0"/>
                        </a:rPr>
                        <a:t>Системи</a:t>
                      </a:r>
                      <a:r>
                        <a:rPr kumimoji="0" lang="ru-RU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C004C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ru-RU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C004C"/>
                          </a:solidFill>
                          <a:effectLst/>
                          <a:latin typeface="Arial" charset="0"/>
                        </a:rPr>
                        <a:t>підсистеми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4C004C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4C004C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</a:t>
                      </a:r>
                      <a:r>
                        <a:rPr kumimoji="0" lang="ru-RU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Префікс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+ </a:t>
                      </a:r>
                      <a:r>
                        <a:rPr kumimoji="0" lang="ru-RU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власний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номер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C004C"/>
                          </a:solidFill>
                          <a:effectLst/>
                          <a:latin typeface="Arial" charset="0"/>
                        </a:rPr>
                        <a:t>Процес</a:t>
                      </a:r>
                      <a:r>
                        <a:rPr kumimoji="0" lang="uk-UA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C004C"/>
                          </a:solidFill>
                          <a:effectLst/>
                          <a:latin typeface="Arial" charset="0"/>
                        </a:rPr>
                        <a:t>и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4C004C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</a:t>
                      </a:r>
                      <a:r>
                        <a:rPr kumimoji="0" lang="ru-RU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Префікс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+номер </a:t>
                      </a:r>
                      <a:r>
                        <a:rPr kumimoji="0" lang="ru-RU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батьківської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ru-RU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підсистеми+власний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номер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0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C004C"/>
                          </a:solidFill>
                          <a:effectLst/>
                          <a:latin typeface="Arial" charset="0"/>
                        </a:rPr>
                        <a:t>Зовнішні</a:t>
                      </a:r>
                      <a:r>
                        <a:rPr kumimoji="0" lang="ru-RU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C004C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ru-RU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C004C"/>
                          </a:solidFill>
                          <a:effectLst/>
                          <a:latin typeface="Arial" charset="0"/>
                        </a:rPr>
                        <a:t>сутності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4C004C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</a:t>
                      </a:r>
                      <a:r>
                        <a:rPr kumimoji="0" lang="ru-RU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Префікс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+номер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C004C"/>
                          </a:solidFill>
                          <a:effectLst/>
                          <a:latin typeface="Arial" charset="0"/>
                        </a:rPr>
                        <a:t>Сховище</a:t>
                      </a:r>
                      <a:r>
                        <a:rPr kumimoji="0" lang="ru-RU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C004C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ru-RU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C004C"/>
                          </a:solidFill>
                          <a:effectLst/>
                          <a:latin typeface="Arial" charset="0"/>
                        </a:rPr>
                        <a:t>даних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4C004C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[</a:t>
                      </a:r>
                      <a:r>
                        <a:rPr kumimoji="0" lang="ru-RU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Префікс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]</a:t>
                      </a: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+номер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9710" name="Picture 1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6" t="24525" r="78804" b="59065"/>
          <a:stretch>
            <a:fillRect/>
          </a:stretch>
        </p:blipFill>
        <p:spPr bwMode="auto">
          <a:xfrm>
            <a:off x="1042193" y="1759097"/>
            <a:ext cx="2881313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11" name="Text Box 20"/>
          <p:cNvSpPr txBox="1">
            <a:spLocks noChangeArrowheads="1"/>
          </p:cNvSpPr>
          <p:nvPr/>
        </p:nvSpPr>
        <p:spPr bwMode="auto">
          <a:xfrm>
            <a:off x="5559425" y="330517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uk-UA" altLang="uk-UA"/>
          </a:p>
        </p:txBody>
      </p:sp>
      <p:pic>
        <p:nvPicPr>
          <p:cNvPr id="29712" name="Picture 2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2" t="24525" r="78787" b="59065"/>
          <a:stretch>
            <a:fillRect/>
          </a:stretch>
        </p:blipFill>
        <p:spPr bwMode="auto">
          <a:xfrm>
            <a:off x="5400675" y="1759097"/>
            <a:ext cx="2376487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13" name="Picture 2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4" t="24072" r="78813" b="55891"/>
          <a:stretch>
            <a:fillRect/>
          </a:stretch>
        </p:blipFill>
        <p:spPr bwMode="auto">
          <a:xfrm>
            <a:off x="1258888" y="4437112"/>
            <a:ext cx="2447925" cy="134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14" name="Picture 3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6" t="60950" r="78804" b="22934"/>
          <a:stretch>
            <a:fillRect/>
          </a:stretch>
        </p:blipFill>
        <p:spPr bwMode="auto">
          <a:xfrm>
            <a:off x="5076825" y="4470947"/>
            <a:ext cx="30241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46126" y="-99392"/>
            <a:ext cx="8229600" cy="7397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Рівні</a:t>
            </a: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DFD</a:t>
            </a:r>
            <a:r>
              <a:rPr lang="ru-RU" sz="4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lang="ru-RU" sz="40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моделі</a:t>
            </a:r>
            <a:endParaRPr lang="ru-RU" sz="40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2627313" y="1700213"/>
            <a:ext cx="3889375" cy="79216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ru-RU" sz="2400" dirty="0" err="1" smtClean="0"/>
              <a:t>Рівень</a:t>
            </a:r>
            <a:r>
              <a:rPr lang="ru-RU" sz="2400" dirty="0" smtClean="0"/>
              <a:t> </a:t>
            </a:r>
            <a:r>
              <a:rPr lang="ru-RU" sz="2400" dirty="0" err="1" smtClean="0"/>
              <a:t>системи</a:t>
            </a:r>
            <a:endParaRPr lang="ru-RU" sz="2400" dirty="0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627313" y="2565400"/>
            <a:ext cx="3889375" cy="1511300"/>
            <a:chOff x="1655" y="1616"/>
            <a:chExt cx="2450" cy="952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6392" name="Oval 5"/>
            <p:cNvSpPr>
              <a:spLocks noChangeArrowheads="1"/>
            </p:cNvSpPr>
            <p:nvPr/>
          </p:nvSpPr>
          <p:spPr bwMode="auto">
            <a:xfrm>
              <a:off x="1655" y="2069"/>
              <a:ext cx="2450" cy="499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ru-RU" sz="2400" dirty="0" err="1"/>
                <a:t>Рівень</a:t>
              </a:r>
              <a:r>
                <a:rPr lang="ru-RU" sz="2400" dirty="0"/>
                <a:t> </a:t>
              </a:r>
              <a:r>
                <a:rPr lang="ru-RU" sz="2400" dirty="0" err="1"/>
                <a:t>підсистеми</a:t>
              </a:r>
              <a:endParaRPr lang="ru-RU" sz="2400" dirty="0"/>
            </a:p>
          </p:txBody>
        </p:sp>
        <p:sp>
          <p:nvSpPr>
            <p:cNvPr id="16393" name="AutoShape 7"/>
            <p:cNvSpPr>
              <a:spLocks noChangeArrowheads="1"/>
            </p:cNvSpPr>
            <p:nvPr/>
          </p:nvSpPr>
          <p:spPr bwMode="auto">
            <a:xfrm>
              <a:off x="2835" y="1616"/>
              <a:ext cx="227" cy="408"/>
            </a:xfrm>
            <a:prstGeom prst="downArrow">
              <a:avLst>
                <a:gd name="adj1" fmla="val 50000"/>
                <a:gd name="adj2" fmla="val 44934"/>
              </a:avLst>
            </a:prstGeom>
            <a:solidFill>
              <a:srgbClr val="C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2700338" y="4221163"/>
            <a:ext cx="3889375" cy="1511300"/>
            <a:chOff x="1701" y="2614"/>
            <a:chExt cx="2450" cy="952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6390" name="Oval 6"/>
            <p:cNvSpPr>
              <a:spLocks noChangeArrowheads="1"/>
            </p:cNvSpPr>
            <p:nvPr/>
          </p:nvSpPr>
          <p:spPr bwMode="auto">
            <a:xfrm>
              <a:off x="1701" y="3067"/>
              <a:ext cx="2450" cy="499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ru-RU" sz="2400" dirty="0" err="1"/>
                <a:t>Рівень</a:t>
              </a:r>
              <a:r>
                <a:rPr lang="ru-RU" sz="2400" dirty="0"/>
                <a:t> </a:t>
              </a:r>
              <a:r>
                <a:rPr lang="ru-RU" sz="2400" dirty="0" err="1"/>
                <a:t>процесу</a:t>
              </a:r>
              <a:endParaRPr lang="ru-RU" sz="2400" dirty="0"/>
            </a:p>
          </p:txBody>
        </p:sp>
        <p:sp>
          <p:nvSpPr>
            <p:cNvPr id="16391" name="AutoShape 8"/>
            <p:cNvSpPr>
              <a:spLocks noChangeArrowheads="1"/>
            </p:cNvSpPr>
            <p:nvPr/>
          </p:nvSpPr>
          <p:spPr bwMode="auto">
            <a:xfrm>
              <a:off x="2835" y="2614"/>
              <a:ext cx="227" cy="408"/>
            </a:xfrm>
            <a:prstGeom prst="downArrow">
              <a:avLst>
                <a:gd name="adj1" fmla="val 50000"/>
                <a:gd name="adj2" fmla="val 44934"/>
              </a:avLst>
            </a:prstGeom>
            <a:solidFill>
              <a:srgbClr val="C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0"/>
            <a:ext cx="8229600" cy="45085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Побудова</a:t>
            </a:r>
            <a:r>
              <a:rPr lang="ru-RU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ієрархії</a:t>
            </a:r>
            <a:r>
              <a:rPr lang="ru-RU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DFD</a:t>
            </a:r>
            <a:endParaRPr lang="ru-RU" sz="32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1747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81075"/>
            <a:ext cx="8229600" cy="504825"/>
          </a:xfrm>
          <a:noFill/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ru-RU" altLang="uk-UA" sz="2400" dirty="0" smtClean="0"/>
              <a:t>1. </a:t>
            </a:r>
            <a:r>
              <a:rPr lang="ru-RU" altLang="uk-UA" sz="2400" dirty="0" err="1" smtClean="0"/>
              <a:t>Побудова</a:t>
            </a:r>
            <a:r>
              <a:rPr lang="ru-RU" altLang="uk-UA" sz="2400" dirty="0" smtClean="0"/>
              <a:t> </a:t>
            </a:r>
            <a:r>
              <a:rPr lang="ru-RU" altLang="uk-UA" sz="2400" dirty="0" err="1" smtClean="0"/>
              <a:t>діаграм</a:t>
            </a:r>
            <a:r>
              <a:rPr lang="ru-RU" altLang="uk-UA" sz="2400" dirty="0" smtClean="0"/>
              <a:t> </a:t>
            </a:r>
            <a:r>
              <a:rPr lang="ru-RU" altLang="uk-UA" sz="2400" dirty="0" err="1" smtClean="0"/>
              <a:t>рівня</a:t>
            </a:r>
            <a:r>
              <a:rPr lang="ru-RU" altLang="uk-UA" sz="2400" dirty="0" smtClean="0"/>
              <a:t> </a:t>
            </a:r>
            <a:r>
              <a:rPr lang="ru-RU" altLang="uk-UA" sz="2400" dirty="0" err="1" smtClean="0"/>
              <a:t>системи</a:t>
            </a:r>
            <a:r>
              <a:rPr lang="ru-RU" altLang="uk-UA" sz="2400" dirty="0" smtClean="0"/>
              <a:t> та </a:t>
            </a:r>
            <a:r>
              <a:rPr lang="ru-RU" altLang="uk-UA" sz="2400" dirty="0" err="1" smtClean="0"/>
              <a:t>підсистеми</a:t>
            </a:r>
            <a:endParaRPr lang="ru-RU" altLang="uk-UA" sz="2400" dirty="0" smtClean="0"/>
          </a:p>
        </p:txBody>
      </p:sp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9" t="17154" r="22794" b="19067"/>
          <a:stretch>
            <a:fillRect/>
          </a:stretch>
        </p:blipFill>
        <p:spPr bwMode="auto">
          <a:xfrm>
            <a:off x="971550" y="1317625"/>
            <a:ext cx="6985000" cy="554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08050"/>
            <a:ext cx="8229600" cy="5048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altLang="uk-UA" sz="2000" dirty="0" smtClean="0"/>
              <a:t>2. </a:t>
            </a:r>
            <a:r>
              <a:rPr lang="ru-RU" altLang="uk-UA" sz="2000" dirty="0" err="1" smtClean="0"/>
              <a:t>Побудова</a:t>
            </a:r>
            <a:r>
              <a:rPr lang="ru-RU" altLang="uk-UA" sz="2000" dirty="0" smtClean="0"/>
              <a:t> </a:t>
            </a:r>
            <a:r>
              <a:rPr lang="ru-RU" altLang="uk-UA" sz="2000" dirty="0" err="1" smtClean="0"/>
              <a:t>діаграм</a:t>
            </a:r>
            <a:r>
              <a:rPr lang="ru-RU" altLang="uk-UA" sz="2000" dirty="0" smtClean="0"/>
              <a:t> </a:t>
            </a:r>
            <a:r>
              <a:rPr lang="ru-RU" altLang="uk-UA" sz="2000" dirty="0" err="1" smtClean="0"/>
              <a:t>рівня</a:t>
            </a:r>
            <a:r>
              <a:rPr lang="ru-RU" altLang="uk-UA" sz="2000" dirty="0" smtClean="0"/>
              <a:t> </a:t>
            </a:r>
            <a:r>
              <a:rPr lang="ru-RU" altLang="uk-UA" sz="2000" dirty="0" err="1" smtClean="0"/>
              <a:t>процесу</a:t>
            </a:r>
            <a:r>
              <a:rPr lang="ru-RU" altLang="uk-UA" sz="2800" dirty="0" smtClean="0"/>
              <a:t> 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" t="15787" r="3548" b="21336"/>
          <a:stretch>
            <a:fillRect/>
          </a:stretch>
        </p:blipFill>
        <p:spPr bwMode="auto">
          <a:xfrm>
            <a:off x="0" y="1412875"/>
            <a:ext cx="9144000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51520" y="-26987"/>
            <a:ext cx="822960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ru-RU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Побудова</a:t>
            </a:r>
            <a:r>
              <a:rPr lang="ru-RU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ієрархії</a:t>
            </a:r>
            <a:r>
              <a:rPr lang="ru-RU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DFD</a:t>
            </a:r>
            <a:endParaRPr lang="ru-RU" sz="3200" b="1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>
            <a:spLocks noGrp="1"/>
          </p:cNvSpPr>
          <p:nvPr>
            <p:ph type="sldNum" sz="quarter" idx="10"/>
          </p:nvPr>
        </p:nvSpPr>
        <p:spPr/>
        <p:txBody>
          <a:bodyPr wrap="square" lIns="0" tIns="0" rIns="0" bIns="0">
            <a:spAutoFit/>
          </a:bodyPr>
          <a:lstStyle/>
          <a:p>
            <a:pPr marL="25400">
              <a:defRPr/>
            </a:pPr>
            <a:fld id="{E3CB7AAD-7AE4-4C85-BB17-296DACB9A3F4}" type="slidenum"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pPr marL="25400">
                <a:defRPr/>
              </a:pPr>
              <a:t>18</a:t>
            </a:fld>
            <a:endParaRPr sz="14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39646" y="-303091"/>
            <a:ext cx="8229600" cy="884216"/>
          </a:xfrm>
        </p:spPr>
        <p:txBody>
          <a:bodyPr lIns="0" tIns="273050" rIns="0" bIns="0" rtlCol="0">
            <a:spAutoFit/>
          </a:bodyPr>
          <a:lstStyle/>
          <a:p>
            <a:pPr marL="3197225" algn="l" eaLnBrk="1" fontAlgn="auto" hangingPunct="1">
              <a:lnSpc>
                <a:spcPts val="5235"/>
              </a:lnSpc>
              <a:spcAft>
                <a:spcPts val="0"/>
              </a:spcAft>
              <a:defRPr/>
            </a:pPr>
            <a:r>
              <a:rPr sz="3200" b="1" spc="-30" dirty="0" err="1" smtClean="0">
                <a:solidFill>
                  <a:schemeClr val="bg1"/>
                </a:solidFill>
              </a:rPr>
              <a:t>При</a:t>
            </a:r>
            <a:r>
              <a:rPr lang="uk-UA" sz="3200" b="1" spc="-30" dirty="0" err="1" smtClean="0">
                <a:solidFill>
                  <a:schemeClr val="bg1"/>
                </a:solidFill>
              </a:rPr>
              <a:t>клад</a:t>
            </a:r>
            <a:endParaRPr sz="3200" b="1" dirty="0">
              <a:solidFill>
                <a:schemeClr val="bg1"/>
              </a:solidFill>
            </a:endParaRPr>
          </a:p>
        </p:txBody>
      </p:sp>
      <p:sp>
        <p:nvSpPr>
          <p:cNvPr id="33796" name="object 3"/>
          <p:cNvSpPr>
            <a:spLocks noGrp="1"/>
          </p:cNvSpPr>
          <p:nvPr>
            <p:ph type="body" idx="4294967295"/>
          </p:nvPr>
        </p:nvSpPr>
        <p:spPr>
          <a:xfrm>
            <a:off x="323850" y="1052513"/>
            <a:ext cx="8229600" cy="4617354"/>
          </a:xfrm>
        </p:spPr>
        <p:txBody>
          <a:bodyPr lIns="0" tIns="0" rIns="0" bIns="0">
            <a:spAutoFit/>
          </a:bodyPr>
          <a:lstStyle/>
          <a:p>
            <a:pPr marL="354013" indent="-341313" eaLnBrk="1" hangingPunct="1">
              <a:lnSpc>
                <a:spcPts val="2588"/>
              </a:lnSpc>
              <a:buClr>
                <a:srgbClr val="010000"/>
              </a:buClr>
              <a:tabLst>
                <a:tab pos="355600" algn="l"/>
              </a:tabLst>
            </a:pPr>
            <a:r>
              <a:rPr lang="ru-RU" altLang="uk-UA" sz="2000" dirty="0" err="1">
                <a:latin typeface="Arial" charset="0"/>
                <a:cs typeface="Arial" charset="0"/>
              </a:rPr>
              <a:t>Розглянемо</a:t>
            </a:r>
            <a:r>
              <a:rPr lang="ru-RU" altLang="uk-UA" sz="2000" dirty="0">
                <a:latin typeface="Arial" charset="0"/>
                <a:cs typeface="Arial" charset="0"/>
              </a:rPr>
              <a:t> роботу </a:t>
            </a:r>
            <a:r>
              <a:rPr lang="ru-RU" altLang="uk-UA" sz="2000" dirty="0" err="1">
                <a:latin typeface="Arial" charset="0"/>
                <a:cs typeface="Arial" charset="0"/>
              </a:rPr>
              <a:t>відеотеки</a:t>
            </a:r>
            <a:r>
              <a:rPr lang="ru-RU" altLang="uk-UA" sz="2000" dirty="0">
                <a:latin typeface="Arial" charset="0"/>
                <a:cs typeface="Arial" charset="0"/>
              </a:rPr>
              <a:t>, яка </a:t>
            </a:r>
            <a:r>
              <a:rPr lang="ru-RU" altLang="uk-UA" sz="2000" dirty="0" err="1">
                <a:latin typeface="Arial" charset="0"/>
                <a:cs typeface="Arial" charset="0"/>
              </a:rPr>
              <a:t>отримує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запити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від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клієнтів</a:t>
            </a:r>
            <a:r>
              <a:rPr lang="ru-RU" altLang="uk-UA" sz="2000" dirty="0">
                <a:latin typeface="Arial" charset="0"/>
                <a:cs typeface="Arial" charset="0"/>
              </a:rPr>
              <a:t> на </a:t>
            </a:r>
            <a:r>
              <a:rPr lang="ru-RU" altLang="uk-UA" sz="2000" dirty="0" err="1">
                <a:latin typeface="Arial" charset="0"/>
                <a:cs typeface="Arial" charset="0"/>
              </a:rPr>
              <a:t>фільми</a:t>
            </a:r>
            <a:r>
              <a:rPr lang="ru-RU" altLang="uk-UA" sz="2000" dirty="0">
                <a:latin typeface="Arial" charset="0"/>
                <a:cs typeface="Arial" charset="0"/>
              </a:rPr>
              <a:t>, </a:t>
            </a:r>
            <a:r>
              <a:rPr lang="ru-RU" altLang="uk-UA" sz="2000" dirty="0" err="1">
                <a:latin typeface="Arial" charset="0"/>
                <a:cs typeface="Arial" charset="0"/>
              </a:rPr>
              <a:t>перевіряє</a:t>
            </a:r>
            <a:r>
              <a:rPr lang="ru-RU" altLang="uk-UA" sz="2000" dirty="0">
                <a:latin typeface="Arial" charset="0"/>
                <a:cs typeface="Arial" charset="0"/>
              </a:rPr>
              <a:t> членство </a:t>
            </a:r>
            <a:r>
              <a:rPr lang="ru-RU" altLang="uk-UA" sz="2000" dirty="0" err="1">
                <a:latin typeface="Arial" charset="0"/>
                <a:cs typeface="Arial" charset="0"/>
              </a:rPr>
              <a:t>клієнтів</a:t>
            </a:r>
            <a:r>
              <a:rPr lang="ru-RU" altLang="uk-UA" sz="2000" dirty="0">
                <a:latin typeface="Arial" charset="0"/>
                <a:cs typeface="Arial" charset="0"/>
              </a:rPr>
              <a:t>, </a:t>
            </a:r>
            <a:r>
              <a:rPr lang="ru-RU" altLang="uk-UA" sz="2000" dirty="0" err="1">
                <a:latin typeface="Arial" charset="0"/>
                <a:cs typeface="Arial" charset="0"/>
              </a:rPr>
              <a:t>контролює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повернення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стрічок</a:t>
            </a:r>
            <a:r>
              <a:rPr lang="ru-RU" altLang="uk-UA" sz="2000" dirty="0">
                <a:latin typeface="Arial" charset="0"/>
                <a:cs typeface="Arial" charset="0"/>
              </a:rPr>
              <a:t>, не </a:t>
            </a:r>
            <a:r>
              <a:rPr lang="ru-RU" altLang="uk-UA" sz="2000" dirty="0" err="1">
                <a:latin typeface="Arial" charset="0"/>
                <a:cs typeface="Arial" charset="0"/>
              </a:rPr>
              <a:t>допускаючи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видачу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фільмів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тим</a:t>
            </a:r>
            <a:r>
              <a:rPr lang="ru-RU" altLang="uk-UA" sz="2000" dirty="0">
                <a:latin typeface="Arial" charset="0"/>
                <a:cs typeface="Arial" charset="0"/>
              </a:rPr>
              <a:t>, </a:t>
            </a:r>
            <a:r>
              <a:rPr lang="ru-RU" altLang="uk-UA" sz="2000" dirty="0" err="1">
                <a:latin typeface="Arial" charset="0"/>
                <a:cs typeface="Arial" charset="0"/>
              </a:rPr>
              <a:t>хто</a:t>
            </a:r>
            <a:r>
              <a:rPr lang="ru-RU" altLang="uk-UA" sz="2000" dirty="0">
                <a:latin typeface="Arial" charset="0"/>
                <a:cs typeface="Arial" charset="0"/>
              </a:rPr>
              <a:t> прострочив </a:t>
            </a:r>
            <a:r>
              <a:rPr lang="ru-RU" altLang="uk-UA" sz="2000" dirty="0" err="1">
                <a:latin typeface="Arial" charset="0"/>
                <a:cs typeface="Arial" charset="0"/>
              </a:rPr>
              <a:t>оренду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фільму</a:t>
            </a:r>
            <a:r>
              <a:rPr lang="ru-RU" altLang="uk-UA" sz="2000" dirty="0">
                <a:latin typeface="Arial" charset="0"/>
                <a:cs typeface="Arial" charset="0"/>
              </a:rPr>
              <a:t>.</a:t>
            </a:r>
          </a:p>
          <a:p>
            <a:pPr marL="354013" indent="-341313" eaLnBrk="1" hangingPunct="1">
              <a:lnSpc>
                <a:spcPts val="2588"/>
              </a:lnSpc>
              <a:buClr>
                <a:srgbClr val="010000"/>
              </a:buClr>
              <a:tabLst>
                <a:tab pos="355600" algn="l"/>
              </a:tabLst>
            </a:pPr>
            <a:r>
              <a:rPr lang="ru-RU" altLang="uk-UA" sz="2000" dirty="0">
                <a:latin typeface="Arial" charset="0"/>
                <a:cs typeface="Arial" charset="0"/>
              </a:rPr>
              <a:t>За </a:t>
            </a:r>
            <a:r>
              <a:rPr lang="ru-RU" altLang="uk-UA" sz="2000" dirty="0" err="1">
                <a:latin typeface="Arial" charset="0"/>
                <a:cs typeface="Arial" charset="0"/>
              </a:rPr>
              <a:t>оренду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нараховується</a:t>
            </a:r>
            <a:r>
              <a:rPr lang="ru-RU" altLang="uk-UA" sz="2000" dirty="0">
                <a:latin typeface="Arial" charset="0"/>
                <a:cs typeface="Arial" charset="0"/>
              </a:rPr>
              <a:t> плата, за </a:t>
            </a:r>
            <a:r>
              <a:rPr lang="ru-RU" altLang="uk-UA" sz="2000" dirty="0" err="1">
                <a:latin typeface="Arial" charset="0"/>
                <a:cs typeface="Arial" charset="0"/>
              </a:rPr>
              <a:t>прострочення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повернення</a:t>
            </a:r>
            <a:endParaRPr lang="ru-RU" altLang="uk-UA" sz="2000" dirty="0">
              <a:latin typeface="Arial" charset="0"/>
              <a:cs typeface="Arial" charset="0"/>
            </a:endParaRPr>
          </a:p>
          <a:p>
            <a:pPr marL="355600" eaLnBrk="1" hangingPunct="1">
              <a:lnSpc>
                <a:spcPts val="2588"/>
              </a:lnSpc>
              <a:buClr>
                <a:srgbClr val="010000"/>
              </a:buClr>
              <a:buFontTx/>
              <a:buChar char="-"/>
              <a:tabLst>
                <a:tab pos="355600" algn="l"/>
              </a:tabLst>
            </a:pPr>
            <a:r>
              <a:rPr lang="ru-RU" altLang="uk-UA" sz="2000" dirty="0" err="1" smtClean="0">
                <a:latin typeface="Arial" charset="0"/>
                <a:cs typeface="Arial" charset="0"/>
              </a:rPr>
              <a:t>пені</a:t>
            </a:r>
            <a:r>
              <a:rPr lang="ru-RU" altLang="uk-UA" sz="2000" dirty="0" smtClean="0">
                <a:latin typeface="Arial" charset="0"/>
                <a:cs typeface="Arial" charset="0"/>
              </a:rPr>
              <a:t>.</a:t>
            </a:r>
          </a:p>
          <a:p>
            <a:pPr marL="355600" eaLnBrk="1" hangingPunct="1">
              <a:lnSpc>
                <a:spcPts val="2588"/>
              </a:lnSpc>
              <a:buClr>
                <a:srgbClr val="010000"/>
              </a:buClr>
              <a:buFontTx/>
              <a:buChar char="-"/>
              <a:tabLst>
                <a:tab pos="355600" algn="l"/>
              </a:tabLst>
            </a:pPr>
            <a:r>
              <a:rPr lang="ru-RU" altLang="uk-UA" sz="2000" dirty="0" smtClean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Інформація</a:t>
            </a:r>
            <a:r>
              <a:rPr lang="ru-RU" altLang="uk-UA" sz="2000" dirty="0">
                <a:latin typeface="Arial" charset="0"/>
                <a:cs typeface="Arial" charset="0"/>
              </a:rPr>
              <a:t> про </a:t>
            </a:r>
            <a:r>
              <a:rPr lang="ru-RU" altLang="uk-UA" sz="2000" dirty="0" err="1">
                <a:latin typeface="Arial" charset="0"/>
                <a:cs typeface="Arial" charset="0"/>
              </a:rPr>
              <a:t>оренду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стрічок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зберігається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окремо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від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записів</a:t>
            </a:r>
            <a:r>
              <a:rPr lang="ru-RU" altLang="uk-UA" sz="2000" dirty="0">
                <a:latin typeface="Arial" charset="0"/>
                <a:cs typeface="Arial" charset="0"/>
              </a:rPr>
              <a:t> про членство </a:t>
            </a:r>
            <a:r>
              <a:rPr lang="ru-RU" altLang="uk-UA" sz="2000" dirty="0" err="1">
                <a:latin typeface="Arial" charset="0"/>
                <a:cs typeface="Arial" charset="0"/>
              </a:rPr>
              <a:t>клієнтів</a:t>
            </a:r>
            <a:r>
              <a:rPr lang="ru-RU" altLang="uk-UA" sz="2000" dirty="0">
                <a:latin typeface="Arial" charset="0"/>
                <a:cs typeface="Arial" charset="0"/>
              </a:rPr>
              <a:t>.</a:t>
            </a:r>
          </a:p>
          <a:p>
            <a:pPr marL="354013" indent="-341313" eaLnBrk="1" hangingPunct="1">
              <a:lnSpc>
                <a:spcPts val="2588"/>
              </a:lnSpc>
              <a:buClr>
                <a:srgbClr val="010000"/>
              </a:buClr>
              <a:tabLst>
                <a:tab pos="355600" algn="l"/>
              </a:tabLst>
            </a:pPr>
            <a:r>
              <a:rPr lang="ru-RU" altLang="uk-UA" sz="2000" dirty="0" err="1">
                <a:latin typeface="Arial" charset="0"/>
                <a:cs typeface="Arial" charset="0"/>
              </a:rPr>
              <a:t>Нові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фільми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відеотека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отримує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від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постачальників</a:t>
            </a:r>
            <a:r>
              <a:rPr lang="ru-RU" altLang="uk-UA" sz="2000" dirty="0">
                <a:latin typeface="Arial" charset="0"/>
                <a:cs typeface="Arial" charset="0"/>
              </a:rPr>
              <a:t>, </a:t>
            </a:r>
            <a:r>
              <a:rPr lang="ru-RU" altLang="uk-UA" sz="2000" dirty="0" err="1">
                <a:latin typeface="Arial" charset="0"/>
                <a:cs typeface="Arial" charset="0"/>
              </a:rPr>
              <a:t>фіксуючи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інформацію</a:t>
            </a:r>
            <a:r>
              <a:rPr lang="ru-RU" altLang="uk-UA" sz="2000" dirty="0">
                <a:latin typeface="Arial" charset="0"/>
                <a:cs typeface="Arial" charset="0"/>
              </a:rPr>
              <a:t> про них.</a:t>
            </a:r>
          </a:p>
          <a:p>
            <a:pPr marL="354013" indent="-341313" eaLnBrk="1" hangingPunct="1">
              <a:lnSpc>
                <a:spcPts val="2588"/>
              </a:lnSpc>
              <a:buClr>
                <a:srgbClr val="010000"/>
              </a:buClr>
              <a:tabLst>
                <a:tab pos="355600" algn="l"/>
              </a:tabLst>
            </a:pPr>
            <a:r>
              <a:rPr lang="ru-RU" altLang="uk-UA" sz="2000" dirty="0" err="1">
                <a:latin typeface="Arial" charset="0"/>
                <a:cs typeface="Arial" charset="0"/>
              </a:rPr>
              <a:t>Службовці</a:t>
            </a:r>
            <a:r>
              <a:rPr lang="ru-RU" altLang="uk-UA" sz="2000" dirty="0">
                <a:latin typeface="Arial" charset="0"/>
                <a:cs typeface="Arial" charset="0"/>
              </a:rPr>
              <a:t> регулярно </a:t>
            </a:r>
            <a:r>
              <a:rPr lang="ru-RU" altLang="uk-UA" sz="2000" dirty="0" err="1">
                <a:latin typeface="Arial" charset="0"/>
                <a:cs typeface="Arial" charset="0"/>
              </a:rPr>
              <a:t>готують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звіти</a:t>
            </a:r>
            <a:r>
              <a:rPr lang="ru-RU" altLang="uk-UA" sz="2000" dirty="0">
                <a:latin typeface="Arial" charset="0"/>
                <a:cs typeface="Arial" charset="0"/>
              </a:rPr>
              <a:t> для </a:t>
            </a:r>
            <a:r>
              <a:rPr lang="ru-RU" altLang="uk-UA" sz="2000" dirty="0" err="1">
                <a:latin typeface="Arial" charset="0"/>
                <a:cs typeface="Arial" charset="0"/>
              </a:rPr>
              <a:t>керівництва</a:t>
            </a:r>
            <a:r>
              <a:rPr lang="ru-RU" altLang="uk-UA" sz="2000" dirty="0">
                <a:latin typeface="Arial" charset="0"/>
                <a:cs typeface="Arial" charset="0"/>
              </a:rPr>
              <a:t> за </a:t>
            </a:r>
            <a:r>
              <a:rPr lang="ru-RU" altLang="uk-UA" sz="2000" dirty="0" err="1">
                <a:latin typeface="Arial" charset="0"/>
                <a:cs typeface="Arial" charset="0"/>
              </a:rPr>
              <a:t>певний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період</a:t>
            </a:r>
            <a:r>
              <a:rPr lang="ru-RU" altLang="uk-UA" sz="2000" dirty="0">
                <a:latin typeface="Arial" charset="0"/>
                <a:cs typeface="Arial" charset="0"/>
              </a:rPr>
              <a:t> часу про </a:t>
            </a:r>
            <a:r>
              <a:rPr lang="ru-RU" altLang="uk-UA" sz="2000" dirty="0" err="1">
                <a:latin typeface="Arial" charset="0"/>
                <a:cs typeface="Arial" charset="0"/>
              </a:rPr>
              <a:t>членів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відеотеки</a:t>
            </a:r>
            <a:r>
              <a:rPr lang="ru-RU" altLang="uk-UA" sz="2000" dirty="0">
                <a:latin typeface="Arial" charset="0"/>
                <a:cs typeface="Arial" charset="0"/>
              </a:rPr>
              <a:t>, </a:t>
            </a:r>
            <a:r>
              <a:rPr lang="ru-RU" altLang="uk-UA" sz="2000" dirty="0" err="1">
                <a:latin typeface="Arial" charset="0"/>
                <a:cs typeface="Arial" charset="0"/>
              </a:rPr>
              <a:t>постачальників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стрічок</a:t>
            </a:r>
            <a:r>
              <a:rPr lang="ru-RU" altLang="uk-UA" sz="2000" dirty="0">
                <a:latin typeface="Arial" charset="0"/>
                <a:cs typeface="Arial" charset="0"/>
              </a:rPr>
              <a:t>, </a:t>
            </a:r>
            <a:r>
              <a:rPr lang="ru-RU" altLang="uk-UA" sz="2000" dirty="0" err="1">
                <a:latin typeface="Arial" charset="0"/>
                <a:cs typeface="Arial" charset="0"/>
              </a:rPr>
              <a:t>видачі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фільмів</a:t>
            </a:r>
            <a:r>
              <a:rPr lang="ru-RU" altLang="uk-UA" sz="2000" dirty="0">
                <a:latin typeface="Arial" charset="0"/>
                <a:cs typeface="Arial" charset="0"/>
              </a:rPr>
              <a:t> і </a:t>
            </a:r>
            <a:r>
              <a:rPr lang="ru-RU" altLang="uk-UA" sz="2000" dirty="0" err="1">
                <a:latin typeface="Arial" charset="0"/>
                <a:cs typeface="Arial" charset="0"/>
              </a:rPr>
              <a:t>придбаних</a:t>
            </a:r>
            <a:r>
              <a:rPr lang="ru-RU" altLang="uk-UA" sz="2000" dirty="0">
                <a:latin typeface="Arial" charset="0"/>
                <a:cs typeface="Arial" charset="0"/>
              </a:rPr>
              <a:t> </a:t>
            </a:r>
            <a:r>
              <a:rPr lang="ru-RU" altLang="uk-UA" sz="2000" dirty="0" err="1">
                <a:latin typeface="Arial" charset="0"/>
                <a:cs typeface="Arial" charset="0"/>
              </a:rPr>
              <a:t>стрічках</a:t>
            </a:r>
            <a:r>
              <a:rPr lang="ru-RU" altLang="uk-UA" sz="2000" dirty="0">
                <a:latin typeface="Arial" charset="0"/>
                <a:cs typeface="Arial" charset="0"/>
              </a:rPr>
              <a:t>.</a:t>
            </a:r>
            <a:endParaRPr lang="ru-RU" altLang="uk-UA" sz="2000" dirty="0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>
            <a:spLocks noGrp="1"/>
          </p:cNvSpPr>
          <p:nvPr>
            <p:ph type="sldNum" sz="quarter" idx="10"/>
          </p:nvPr>
        </p:nvSpPr>
        <p:spPr/>
        <p:txBody>
          <a:bodyPr wrap="square" lIns="0" tIns="0" rIns="0" bIns="0">
            <a:spAutoFit/>
          </a:bodyPr>
          <a:lstStyle/>
          <a:p>
            <a:pPr marL="25400">
              <a:defRPr/>
            </a:pPr>
            <a:fld id="{3F67DC0F-A13E-4523-B669-621D5B14E9CE}" type="slidenum"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pPr marL="25400">
                <a:defRPr/>
              </a:pPr>
              <a:t>19</a:t>
            </a:fld>
            <a:endParaRPr sz="14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23850" y="122238"/>
            <a:ext cx="8229600" cy="952500"/>
          </a:xfrm>
        </p:spPr>
        <p:txBody>
          <a:bodyPr lIns="0" tIns="273050" rIns="0" bIns="0" rtlCol="0">
            <a:sp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b="1" spc="-25" dirty="0" err="1" smtClean="0"/>
              <a:t>Контекстна</a:t>
            </a:r>
            <a:r>
              <a:rPr b="1" spc="5" dirty="0" smtClean="0"/>
              <a:t> </a:t>
            </a:r>
            <a:r>
              <a:rPr b="1" spc="-25" dirty="0" smtClean="0"/>
              <a:t>д</a:t>
            </a:r>
            <a:r>
              <a:rPr lang="uk-UA" b="1" spc="-25" dirty="0" smtClean="0"/>
              <a:t>і</a:t>
            </a:r>
            <a:r>
              <a:rPr b="1" spc="-25" dirty="0" err="1" smtClean="0"/>
              <a:t>аграма</a:t>
            </a:r>
            <a:endParaRPr b="1" dirty="0"/>
          </a:p>
        </p:txBody>
      </p:sp>
      <p:sp>
        <p:nvSpPr>
          <p:cNvPr id="34820" name="object 3"/>
          <p:cNvSpPr>
            <a:spLocks noChangeArrowheads="1"/>
          </p:cNvSpPr>
          <p:nvPr/>
        </p:nvSpPr>
        <p:spPr bwMode="auto">
          <a:xfrm>
            <a:off x="323850" y="1447800"/>
            <a:ext cx="7905750" cy="4586288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uk-UA" altLang="uk-U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>
            <a:spLocks noGrp="1"/>
          </p:cNvSpPr>
          <p:nvPr>
            <p:ph type="sldNum" sz="quarter" idx="10"/>
          </p:nvPr>
        </p:nvSpPr>
        <p:spPr/>
        <p:txBody>
          <a:bodyPr wrap="square" lIns="0" tIns="0" rIns="0" bIns="0">
            <a:spAutoFit/>
          </a:bodyPr>
          <a:lstStyle/>
          <a:p>
            <a:pPr marL="25400">
              <a:defRPr/>
            </a:pPr>
            <a:fld id="{ECF3B418-2B7B-4F16-950E-7C91AEAB75DC}" type="slidenum"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pPr marL="25400">
                <a:defRPr/>
              </a:pPr>
              <a:t>20</a:t>
            </a:fld>
            <a:endParaRPr sz="14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51520" y="-293595"/>
            <a:ext cx="8229600" cy="897746"/>
          </a:xfrm>
        </p:spPr>
        <p:txBody>
          <a:bodyPr lIns="0" tIns="273050" rIns="0" bIns="0" rtlCol="0">
            <a:spAutoFit/>
          </a:bodyPr>
          <a:lstStyle/>
          <a:p>
            <a:pPr marL="434975" eaLnBrk="1" fontAlgn="auto" hangingPunct="1">
              <a:lnSpc>
                <a:spcPts val="5235"/>
              </a:lnSpc>
              <a:spcAft>
                <a:spcPts val="0"/>
              </a:spcAft>
              <a:defRPr/>
            </a:pPr>
            <a:r>
              <a:rPr lang="uk-UA" sz="3600" b="1" spc="-30" dirty="0" smtClean="0">
                <a:solidFill>
                  <a:schemeClr val="bg1"/>
                </a:solidFill>
              </a:rPr>
              <a:t>Зміст </a:t>
            </a:r>
            <a:r>
              <a:rPr sz="3600" b="1" spc="-25" dirty="0" err="1" smtClean="0">
                <a:solidFill>
                  <a:schemeClr val="bg1"/>
                </a:solidFill>
              </a:rPr>
              <a:t>поток</a:t>
            </a:r>
            <a:r>
              <a:rPr lang="uk-UA" sz="3600" b="1" spc="-25" dirty="0" smtClean="0">
                <a:solidFill>
                  <a:schemeClr val="bg1"/>
                </a:solidFill>
              </a:rPr>
              <a:t>і</a:t>
            </a:r>
            <a:r>
              <a:rPr sz="3600" b="1" spc="-25" dirty="0" smtClean="0">
                <a:solidFill>
                  <a:schemeClr val="bg1"/>
                </a:solidFill>
              </a:rPr>
              <a:t>в</a:t>
            </a:r>
            <a:r>
              <a:rPr sz="3600" b="1" dirty="0" smtClean="0">
                <a:solidFill>
                  <a:schemeClr val="bg1"/>
                </a:solidFill>
              </a:rPr>
              <a:t> </a:t>
            </a:r>
            <a:r>
              <a:rPr sz="3600" b="1" spc="-30" dirty="0" err="1" smtClean="0">
                <a:solidFill>
                  <a:schemeClr val="bg1"/>
                </a:solidFill>
              </a:rPr>
              <a:t>дан</a:t>
            </a:r>
            <a:r>
              <a:rPr lang="uk-UA" sz="3600" b="1" spc="-30" dirty="0" smtClean="0">
                <a:solidFill>
                  <a:schemeClr val="bg1"/>
                </a:solidFill>
              </a:rPr>
              <a:t>и</a:t>
            </a:r>
            <a:r>
              <a:rPr sz="3600" b="1" spc="-30" dirty="0" smtClean="0">
                <a:solidFill>
                  <a:schemeClr val="bg1"/>
                </a:solidFill>
              </a:rPr>
              <a:t>х</a:t>
            </a:r>
            <a:endParaRPr sz="3600" b="1" dirty="0">
              <a:solidFill>
                <a:schemeClr val="bg1"/>
              </a:solidFill>
            </a:endParaRPr>
          </a:p>
        </p:txBody>
      </p:sp>
      <p:sp>
        <p:nvSpPr>
          <p:cNvPr id="35844" name="object 3"/>
          <p:cNvSpPr txBox="1">
            <a:spLocks noChangeArrowheads="1"/>
          </p:cNvSpPr>
          <p:nvPr/>
        </p:nvSpPr>
        <p:spPr bwMode="auto">
          <a:xfrm>
            <a:off x="536575" y="1649413"/>
            <a:ext cx="8037513" cy="330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54013" indent="-341313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2588"/>
              </a:lnSpc>
              <a:buClr>
                <a:srgbClr val="010000"/>
              </a:buClr>
              <a:buFont typeface="Arial" charset="0"/>
              <a:buChar char="•"/>
            </a:pPr>
            <a:r>
              <a:rPr lang="ru-RU" altLang="uk-UA" sz="2000" dirty="0" err="1">
                <a:cs typeface="Arial" charset="0"/>
              </a:rPr>
              <a:t>Інформація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від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клієнта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включає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дані</a:t>
            </a:r>
            <a:r>
              <a:rPr lang="ru-RU" altLang="uk-UA" sz="2000" dirty="0">
                <a:cs typeface="Arial" charset="0"/>
              </a:rPr>
              <a:t> про </a:t>
            </a:r>
            <a:r>
              <a:rPr lang="ru-RU" altLang="uk-UA" sz="2000" dirty="0" err="1">
                <a:cs typeface="Arial" charset="0"/>
              </a:rPr>
              <a:t>клієнта</a:t>
            </a:r>
            <a:r>
              <a:rPr lang="ru-RU" altLang="uk-UA" sz="2000" dirty="0">
                <a:cs typeface="Arial" charset="0"/>
              </a:rPr>
              <a:t> і запит на </a:t>
            </a:r>
            <a:r>
              <a:rPr lang="ru-RU" altLang="uk-UA" sz="2000" dirty="0" err="1">
                <a:cs typeface="Arial" charset="0"/>
              </a:rPr>
              <a:t>фільм</a:t>
            </a:r>
            <a:r>
              <a:rPr lang="ru-RU" altLang="uk-UA" sz="2000" dirty="0">
                <a:cs typeface="Arial" charset="0"/>
              </a:rPr>
              <a:t>;</a:t>
            </a:r>
          </a:p>
          <a:p>
            <a:pPr eaLnBrk="1" hangingPunct="1">
              <a:lnSpc>
                <a:spcPts val="2588"/>
              </a:lnSpc>
              <a:buClr>
                <a:srgbClr val="010000"/>
              </a:buClr>
              <a:buFont typeface="Arial" charset="0"/>
              <a:buChar char="•"/>
            </a:pPr>
            <a:r>
              <a:rPr lang="ru-RU" altLang="uk-UA" sz="2000" dirty="0" err="1">
                <a:cs typeface="Arial" charset="0"/>
              </a:rPr>
              <a:t>Інформація</a:t>
            </a:r>
            <a:r>
              <a:rPr lang="ru-RU" altLang="uk-UA" sz="2000" dirty="0">
                <a:cs typeface="Arial" charset="0"/>
              </a:rPr>
              <a:t> для </a:t>
            </a:r>
            <a:r>
              <a:rPr lang="ru-RU" altLang="uk-UA" sz="2000" dirty="0" err="1">
                <a:cs typeface="Arial" charset="0"/>
              </a:rPr>
              <a:t>клієнта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включає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відповідь</a:t>
            </a:r>
            <a:r>
              <a:rPr lang="ru-RU" altLang="uk-UA" sz="2000" dirty="0">
                <a:cs typeface="Arial" charset="0"/>
              </a:rPr>
              <a:t> на запит про </a:t>
            </a:r>
            <a:r>
              <a:rPr lang="ru-RU" altLang="uk-UA" sz="2000" dirty="0" err="1">
                <a:cs typeface="Arial" charset="0"/>
              </a:rPr>
              <a:t>оренду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фільму</a:t>
            </a:r>
            <a:r>
              <a:rPr lang="ru-RU" altLang="uk-UA" sz="2000" dirty="0">
                <a:cs typeface="Arial" charset="0"/>
              </a:rPr>
              <a:t> і </a:t>
            </a:r>
            <a:r>
              <a:rPr lang="ru-RU" altLang="uk-UA" sz="2000" dirty="0" err="1">
                <a:cs typeface="Arial" charset="0"/>
              </a:rPr>
              <a:t>членську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картку</a:t>
            </a:r>
            <a:r>
              <a:rPr lang="ru-RU" altLang="uk-UA" sz="2000" dirty="0">
                <a:cs typeface="Arial" charset="0"/>
              </a:rPr>
              <a:t>.</a:t>
            </a:r>
          </a:p>
          <a:p>
            <a:pPr eaLnBrk="1" hangingPunct="1">
              <a:lnSpc>
                <a:spcPts val="2588"/>
              </a:lnSpc>
              <a:buClr>
                <a:srgbClr val="010000"/>
              </a:buClr>
              <a:buFont typeface="Arial" charset="0"/>
              <a:buChar char="•"/>
            </a:pPr>
            <a:r>
              <a:rPr lang="ru-RU" altLang="uk-UA" sz="2000" dirty="0" err="1">
                <a:cs typeface="Arial" charset="0"/>
              </a:rPr>
              <a:t>Інформація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від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постачальника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включає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дані</a:t>
            </a:r>
            <a:r>
              <a:rPr lang="ru-RU" altLang="uk-UA" sz="2000" dirty="0">
                <a:cs typeface="Arial" charset="0"/>
              </a:rPr>
              <a:t> про </a:t>
            </a:r>
            <a:r>
              <a:rPr lang="ru-RU" altLang="uk-UA" sz="2000" dirty="0" err="1">
                <a:cs typeface="Arial" charset="0"/>
              </a:rPr>
              <a:t>постачальника</a:t>
            </a:r>
            <a:r>
              <a:rPr lang="ru-RU" altLang="uk-UA" sz="2000" dirty="0">
                <a:cs typeface="Arial" charset="0"/>
              </a:rPr>
              <a:t> і про </a:t>
            </a:r>
            <a:r>
              <a:rPr lang="ru-RU" altLang="uk-UA" sz="2000" dirty="0" err="1">
                <a:cs typeface="Arial" charset="0"/>
              </a:rPr>
              <a:t>нові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фільми</a:t>
            </a:r>
            <a:r>
              <a:rPr lang="ru-RU" altLang="uk-UA" sz="2000" dirty="0">
                <a:cs typeface="Arial" charset="0"/>
              </a:rPr>
              <a:t>;</a:t>
            </a:r>
          </a:p>
          <a:p>
            <a:pPr eaLnBrk="1" hangingPunct="1">
              <a:lnSpc>
                <a:spcPts val="2588"/>
              </a:lnSpc>
              <a:buClr>
                <a:srgbClr val="010000"/>
              </a:buClr>
              <a:buFont typeface="Arial" charset="0"/>
              <a:buChar char="•"/>
            </a:pPr>
            <a:r>
              <a:rPr lang="ru-RU" altLang="uk-UA" sz="2000" dirty="0" err="1">
                <a:cs typeface="Arial" charset="0"/>
              </a:rPr>
              <a:t>Інформація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від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керівництва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включає</a:t>
            </a:r>
            <a:r>
              <a:rPr lang="ru-RU" altLang="uk-UA" sz="2000" dirty="0">
                <a:cs typeface="Arial" charset="0"/>
              </a:rPr>
              <a:t>: </a:t>
            </a:r>
            <a:r>
              <a:rPr lang="ru-RU" altLang="uk-UA" sz="2000" dirty="0" err="1">
                <a:cs typeface="Arial" charset="0"/>
              </a:rPr>
              <a:t>запити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звітів</a:t>
            </a:r>
            <a:r>
              <a:rPr lang="ru-RU" altLang="uk-UA" sz="2000" dirty="0">
                <a:cs typeface="Arial" charset="0"/>
              </a:rPr>
              <a:t> про </a:t>
            </a:r>
            <a:r>
              <a:rPr lang="ru-RU" altLang="uk-UA" sz="2000" dirty="0" err="1">
                <a:cs typeface="Arial" charset="0"/>
              </a:rPr>
              <a:t>нових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членів</a:t>
            </a:r>
            <a:r>
              <a:rPr lang="ru-RU" altLang="uk-UA" sz="2000" dirty="0">
                <a:cs typeface="Arial" charset="0"/>
              </a:rPr>
              <a:t>, про </a:t>
            </a:r>
            <a:r>
              <a:rPr lang="ru-RU" altLang="uk-UA" sz="2000" dirty="0" err="1">
                <a:cs typeface="Arial" charset="0"/>
              </a:rPr>
              <a:t>нові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постачальників</a:t>
            </a:r>
            <a:r>
              <a:rPr lang="ru-RU" altLang="uk-UA" sz="2000" dirty="0">
                <a:cs typeface="Arial" charset="0"/>
              </a:rPr>
              <a:t>, про </a:t>
            </a:r>
            <a:r>
              <a:rPr lang="ru-RU" altLang="uk-UA" sz="2000" dirty="0" err="1">
                <a:cs typeface="Arial" charset="0"/>
              </a:rPr>
              <a:t>нові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фільми</a:t>
            </a:r>
            <a:r>
              <a:rPr lang="ru-RU" altLang="uk-UA" sz="2000" dirty="0">
                <a:cs typeface="Arial" charset="0"/>
              </a:rPr>
              <a:t>; про </a:t>
            </a:r>
            <a:r>
              <a:rPr lang="ru-RU" altLang="uk-UA" sz="2000" dirty="0" err="1">
                <a:cs typeface="Arial" charset="0"/>
              </a:rPr>
              <a:t>оренду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фільмів</a:t>
            </a:r>
            <a:r>
              <a:rPr lang="ru-RU" altLang="uk-UA" sz="2000" dirty="0">
                <a:cs typeface="Arial" charset="0"/>
              </a:rPr>
              <a:t>, про склад </a:t>
            </a:r>
            <a:r>
              <a:rPr lang="ru-RU" altLang="uk-UA" sz="2000" dirty="0" err="1">
                <a:cs typeface="Arial" charset="0"/>
              </a:rPr>
              <a:t>відеотеки</a:t>
            </a:r>
            <a:r>
              <a:rPr lang="ru-RU" altLang="uk-UA" sz="2000" dirty="0">
                <a:cs typeface="Arial" charset="0"/>
              </a:rPr>
              <a:t>, про </a:t>
            </a:r>
            <a:r>
              <a:rPr lang="ru-RU" altLang="uk-UA" sz="2000" dirty="0" err="1">
                <a:cs typeface="Arial" charset="0"/>
              </a:rPr>
              <a:t>постачальників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взагалі</a:t>
            </a:r>
            <a:r>
              <a:rPr lang="ru-RU" altLang="uk-UA" sz="2000" dirty="0">
                <a:cs typeface="Arial" charset="0"/>
              </a:rPr>
              <a:t>.</a:t>
            </a:r>
          </a:p>
          <a:p>
            <a:pPr eaLnBrk="1" hangingPunct="1">
              <a:lnSpc>
                <a:spcPts val="2588"/>
              </a:lnSpc>
              <a:buClr>
                <a:srgbClr val="010000"/>
              </a:buClr>
              <a:buFont typeface="Arial" charset="0"/>
              <a:buChar char="•"/>
            </a:pPr>
            <a:r>
              <a:rPr lang="ru-RU" altLang="uk-UA" sz="2000" dirty="0" err="1">
                <a:cs typeface="Arial" charset="0"/>
              </a:rPr>
              <a:t>Інформація</a:t>
            </a:r>
            <a:r>
              <a:rPr lang="ru-RU" altLang="uk-UA" sz="2000" dirty="0">
                <a:cs typeface="Arial" charset="0"/>
              </a:rPr>
              <a:t> для </a:t>
            </a:r>
            <a:r>
              <a:rPr lang="ru-RU" altLang="uk-UA" sz="2000" dirty="0" err="1">
                <a:cs typeface="Arial" charset="0"/>
              </a:rPr>
              <a:t>керівництва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включає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всі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ці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види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звітів</a:t>
            </a:r>
            <a:r>
              <a:rPr lang="ru-RU" altLang="uk-UA" sz="2000" dirty="0">
                <a:cs typeface="Arial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0" y="-99392"/>
            <a:ext cx="9144000" cy="59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algn="ctr">
              <a:lnSpc>
                <a:spcPts val="5235"/>
              </a:lnSpc>
              <a:defRPr/>
            </a:pPr>
            <a:r>
              <a:rPr sz="3200" b="1" spc="-30" dirty="0" err="1">
                <a:solidFill>
                  <a:schemeClr val="bg1"/>
                </a:solidFill>
                <a:latin typeface="Arial"/>
                <a:cs typeface="Arial"/>
              </a:rPr>
              <a:t>Таблица</a:t>
            </a:r>
            <a:r>
              <a:rPr sz="3200" b="1" spc="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3200" b="1" spc="-20" dirty="0" smtClean="0">
                <a:solidFill>
                  <a:schemeClr val="bg1"/>
                </a:solidFill>
                <a:latin typeface="Arial"/>
                <a:cs typeface="Arial"/>
              </a:rPr>
              <a:t>«</a:t>
            </a:r>
            <a:r>
              <a:rPr lang="uk-UA" sz="3200" b="1" spc="-25" dirty="0" smtClean="0">
                <a:solidFill>
                  <a:schemeClr val="bg1"/>
                </a:solidFill>
                <a:latin typeface="Arial"/>
                <a:cs typeface="Arial"/>
              </a:rPr>
              <a:t>подія</a:t>
            </a:r>
            <a:r>
              <a:rPr sz="3200" b="1" spc="-15" dirty="0" smtClean="0">
                <a:solidFill>
                  <a:schemeClr val="bg1"/>
                </a:solidFill>
                <a:latin typeface="Arial"/>
                <a:cs typeface="Arial"/>
              </a:rPr>
              <a:t>-</a:t>
            </a:r>
            <a:r>
              <a:rPr sz="3200" b="1" spc="-25" dirty="0" err="1" smtClean="0">
                <a:solidFill>
                  <a:schemeClr val="bg1"/>
                </a:solidFill>
                <a:latin typeface="Arial"/>
                <a:cs typeface="Arial"/>
              </a:rPr>
              <a:t>реакц</a:t>
            </a:r>
            <a:r>
              <a:rPr lang="uk-UA" sz="3200" b="1" spc="-25" dirty="0">
                <a:solidFill>
                  <a:schemeClr val="bg1"/>
                </a:solidFill>
                <a:latin typeface="Arial"/>
                <a:cs typeface="Arial"/>
              </a:rPr>
              <a:t>і</a:t>
            </a:r>
            <a:r>
              <a:rPr sz="3200" b="1" spc="-35" dirty="0" smtClean="0">
                <a:solidFill>
                  <a:schemeClr val="bg1"/>
                </a:solidFill>
                <a:latin typeface="Arial"/>
                <a:cs typeface="Arial"/>
              </a:rPr>
              <a:t>я</a:t>
            </a:r>
            <a:r>
              <a:rPr sz="3200" b="1" spc="-25" dirty="0">
                <a:solidFill>
                  <a:schemeClr val="bg1"/>
                </a:solidFill>
                <a:latin typeface="Arial"/>
                <a:cs typeface="Arial"/>
              </a:rPr>
              <a:t>»</a:t>
            </a:r>
            <a:endParaRPr sz="32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6867" name="object 4"/>
          <p:cNvSpPr txBox="1">
            <a:spLocks noChangeArrowheads="1"/>
          </p:cNvSpPr>
          <p:nvPr/>
        </p:nvSpPr>
        <p:spPr bwMode="auto">
          <a:xfrm>
            <a:off x="179513" y="1114425"/>
            <a:ext cx="8856984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55600" indent="-34290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10000"/>
              </a:buClr>
              <a:buFont typeface="Arial" charset="0"/>
              <a:buChar char="•"/>
            </a:pPr>
            <a:r>
              <a:rPr lang="ru-RU" altLang="uk-UA" sz="2000" dirty="0" err="1">
                <a:cs typeface="Arial" charset="0"/>
              </a:rPr>
              <a:t>Кожен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вхідний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потік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даних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породжений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якимось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подією</a:t>
            </a:r>
            <a:r>
              <a:rPr lang="ru-RU" altLang="uk-UA" sz="2000" dirty="0">
                <a:cs typeface="Arial" charset="0"/>
              </a:rPr>
              <a:t>, а </a:t>
            </a:r>
            <a:r>
              <a:rPr lang="ru-RU" altLang="uk-UA" sz="2000" dirty="0" err="1">
                <a:cs typeface="Arial" charset="0"/>
              </a:rPr>
              <a:t>вихідний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потік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даних</a:t>
            </a:r>
            <a:r>
              <a:rPr lang="ru-RU" altLang="uk-UA" sz="2000" dirty="0">
                <a:cs typeface="Arial" charset="0"/>
              </a:rPr>
              <a:t> є </a:t>
            </a:r>
            <a:r>
              <a:rPr lang="ru-RU" altLang="uk-UA" sz="2000" dirty="0" err="1">
                <a:cs typeface="Arial" charset="0"/>
              </a:rPr>
              <a:t>відповіддю</a:t>
            </a:r>
            <a:r>
              <a:rPr lang="ru-RU" altLang="uk-UA" sz="2000" dirty="0">
                <a:cs typeface="Arial" charset="0"/>
              </a:rPr>
              <a:t> (</a:t>
            </a:r>
            <a:r>
              <a:rPr lang="ru-RU" altLang="uk-UA" sz="2000" dirty="0" err="1">
                <a:cs typeface="Arial" charset="0"/>
              </a:rPr>
              <a:t>реакцією</a:t>
            </a:r>
            <a:r>
              <a:rPr lang="ru-RU" altLang="uk-UA" sz="2000" dirty="0">
                <a:cs typeface="Arial" charset="0"/>
              </a:rPr>
              <a:t>) </a:t>
            </a:r>
            <a:r>
              <a:rPr lang="ru-RU" altLang="uk-UA" sz="2000" dirty="0" err="1">
                <a:cs typeface="Arial" charset="0"/>
              </a:rPr>
              <a:t>системи</a:t>
            </a:r>
            <a:endParaRPr lang="ru-RU" altLang="uk-UA" sz="2000" dirty="0">
              <a:cs typeface="Arial" charset="0"/>
            </a:endParaRPr>
          </a:p>
        </p:txBody>
      </p:sp>
      <p:graphicFrame>
        <p:nvGraphicFramePr>
          <p:cNvPr id="5" name="Таблиця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363991"/>
              </p:ext>
            </p:extLst>
          </p:nvPr>
        </p:nvGraphicFramePr>
        <p:xfrm>
          <a:off x="179513" y="1916832"/>
          <a:ext cx="8856984" cy="39437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36983"/>
                <a:gridCol w="4020001"/>
              </a:tblGrid>
              <a:tr h="237233">
                <a:tc>
                  <a:txBody>
                    <a:bodyPr/>
                    <a:lstStyle/>
                    <a:p>
                      <a:pPr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 dirty="0" err="1">
                          <a:effectLst/>
                        </a:rPr>
                        <a:t>Подія</a:t>
                      </a:r>
                      <a:endParaRPr lang="ru-RU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550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>
                          <a:effectLst/>
                        </a:rPr>
                        <a:t>Реакція</a:t>
                      </a:r>
                      <a:endParaRPr lang="ru-RU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7661">
                <a:tc>
                  <a:txBody>
                    <a:bodyPr/>
                    <a:lstStyle/>
                    <a:p>
                      <a:pPr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 dirty="0" err="1">
                          <a:effectLst/>
                        </a:rPr>
                        <a:t>Новий</a:t>
                      </a:r>
                      <a:r>
                        <a:rPr lang="ru-RU" sz="2000" kern="1200" dirty="0">
                          <a:effectLst/>
                        </a:rPr>
                        <a:t> </a:t>
                      </a:r>
                      <a:r>
                        <a:rPr lang="ru-RU" sz="2000" kern="1200" dirty="0" err="1">
                          <a:effectLst/>
                        </a:rPr>
                        <a:t>клієнт</a:t>
                      </a:r>
                      <a:r>
                        <a:rPr lang="ru-RU" sz="2000" kern="1200" dirty="0">
                          <a:effectLst/>
                        </a:rPr>
                        <a:t> </a:t>
                      </a:r>
                      <a:r>
                        <a:rPr lang="ru-RU" sz="2000" kern="1200" dirty="0" err="1">
                          <a:effectLst/>
                        </a:rPr>
                        <a:t>хоче</a:t>
                      </a:r>
                      <a:r>
                        <a:rPr lang="ru-RU" sz="2000" kern="1200" dirty="0">
                          <a:effectLst/>
                        </a:rPr>
                        <a:t> стати </a:t>
                      </a:r>
                      <a:r>
                        <a:rPr lang="ru-RU" sz="2000" kern="1200" dirty="0" smtClean="0">
                          <a:effectLst/>
                        </a:rPr>
                        <a:t>членом </a:t>
                      </a:r>
                      <a:r>
                        <a:rPr lang="ru-RU" sz="2000" kern="1200" dirty="0" err="1" smtClean="0">
                          <a:effectLst/>
                        </a:rPr>
                        <a:t>відеотеки</a:t>
                      </a:r>
                      <a:endParaRPr lang="ru-RU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550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>
                          <a:effectLst/>
                        </a:rPr>
                        <a:t>Реєстрація клієнта</a:t>
                      </a:r>
                      <a:endParaRPr lang="ru-RU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7661">
                <a:tc>
                  <a:txBody>
                    <a:bodyPr/>
                    <a:lstStyle/>
                    <a:p>
                      <a:pPr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 dirty="0" err="1">
                          <a:effectLst/>
                        </a:rPr>
                        <a:t>Клієнт</a:t>
                      </a:r>
                      <a:r>
                        <a:rPr lang="ru-RU" sz="2000" kern="1200" dirty="0">
                          <a:effectLst/>
                        </a:rPr>
                        <a:t> </a:t>
                      </a:r>
                      <a:r>
                        <a:rPr lang="ru-RU" sz="2000" kern="1200" dirty="0" err="1">
                          <a:effectLst/>
                        </a:rPr>
                        <a:t>повідомляє</a:t>
                      </a:r>
                      <a:r>
                        <a:rPr lang="ru-RU" sz="2000" kern="1200" dirty="0">
                          <a:effectLst/>
                        </a:rPr>
                        <a:t> про </a:t>
                      </a:r>
                      <a:r>
                        <a:rPr lang="ru-RU" sz="2000" kern="1200" dirty="0" err="1" smtClean="0">
                          <a:effectLst/>
                        </a:rPr>
                        <a:t>зміну</a:t>
                      </a:r>
                      <a:r>
                        <a:rPr lang="ru-RU" sz="2000" kern="1200" dirty="0" smtClean="0">
                          <a:effectLst/>
                        </a:rPr>
                        <a:t> </a:t>
                      </a:r>
                      <a:r>
                        <a:rPr lang="ru-RU" sz="2000" kern="1200" dirty="0" err="1" smtClean="0">
                          <a:effectLst/>
                        </a:rPr>
                        <a:t>адреси</a:t>
                      </a:r>
                      <a:endParaRPr lang="ru-RU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550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>
                          <a:effectLst/>
                        </a:rPr>
                        <a:t>Реєстрація нової адреси</a:t>
                      </a:r>
                      <a:endParaRPr lang="ru-RU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233">
                <a:tc>
                  <a:txBody>
                    <a:bodyPr/>
                    <a:lstStyle/>
                    <a:p>
                      <a:pPr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>
                          <a:effectLst/>
                        </a:rPr>
                        <a:t>Клієнт просить фільм в оренду</a:t>
                      </a:r>
                      <a:endParaRPr lang="ru-RU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550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>
                          <a:effectLst/>
                        </a:rPr>
                        <a:t>Розгляд запиту</a:t>
                      </a:r>
                      <a:endParaRPr lang="ru-RU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233">
                <a:tc>
                  <a:txBody>
                    <a:bodyPr/>
                    <a:lstStyle/>
                    <a:p>
                      <a:pPr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>
                          <a:effectLst/>
                        </a:rPr>
                        <a:t>Клієнт повертає фільм</a:t>
                      </a:r>
                      <a:endParaRPr lang="ru-RU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550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>
                          <a:effectLst/>
                        </a:rPr>
                        <a:t>Реєстрація повернення</a:t>
                      </a:r>
                      <a:endParaRPr lang="ru-RU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7661">
                <a:tc>
                  <a:txBody>
                    <a:bodyPr/>
                    <a:lstStyle/>
                    <a:p>
                      <a:pPr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>
                          <a:effectLst/>
                        </a:rPr>
                        <a:t>Керівництво знаходить нового</a:t>
                      </a:r>
                      <a:endParaRPr lang="ru-RU" sz="2000">
                        <a:effectLst/>
                      </a:endParaRPr>
                    </a:p>
                    <a:p>
                      <a:pPr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>
                          <a:effectLst/>
                        </a:rPr>
                        <a:t>постачальника</a:t>
                      </a:r>
                      <a:endParaRPr lang="ru-RU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550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>
                          <a:effectLst/>
                        </a:rPr>
                        <a:t>Реєстрація нового постачальника</a:t>
                      </a:r>
                      <a:endParaRPr lang="ru-RU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233">
                <a:tc>
                  <a:txBody>
                    <a:bodyPr/>
                    <a:lstStyle/>
                    <a:p>
                      <a:pPr marL="5080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>
                          <a:effectLst/>
                        </a:rPr>
                        <a:t>Зміна даних про постачальника</a:t>
                      </a:r>
                      <a:endParaRPr lang="ru-RU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550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>
                          <a:effectLst/>
                        </a:rPr>
                        <a:t>Реєстрація змін</a:t>
                      </a:r>
                      <a:endParaRPr lang="ru-RU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6253">
                <a:tc>
                  <a:txBody>
                    <a:bodyPr/>
                    <a:lstStyle/>
                    <a:p>
                      <a:pPr marL="5080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>
                          <a:effectLst/>
                        </a:rPr>
                        <a:t>Постачальник передає новий фільм</a:t>
                      </a:r>
                      <a:endParaRPr lang="ru-RU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550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 dirty="0" err="1">
                          <a:effectLst/>
                        </a:rPr>
                        <a:t>Отримання</a:t>
                      </a:r>
                      <a:r>
                        <a:rPr lang="ru-RU" sz="2000" kern="1200" dirty="0">
                          <a:effectLst/>
                        </a:rPr>
                        <a:t> нового </a:t>
                      </a:r>
                      <a:r>
                        <a:rPr lang="ru-RU" sz="2000" kern="1200" dirty="0" err="1">
                          <a:effectLst/>
                        </a:rPr>
                        <a:t>фільму</a:t>
                      </a:r>
                      <a:endParaRPr lang="ru-RU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7661">
                <a:tc>
                  <a:txBody>
                    <a:bodyPr/>
                    <a:lstStyle/>
                    <a:p>
                      <a:pPr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kern="1200" dirty="0" err="1">
                          <a:effectLst/>
                        </a:rPr>
                        <a:t>Керівництво</a:t>
                      </a:r>
                      <a:r>
                        <a:rPr lang="ru-RU" sz="2000" kern="1200" dirty="0">
                          <a:effectLst/>
                        </a:rPr>
                        <a:t> </a:t>
                      </a:r>
                      <a:r>
                        <a:rPr lang="ru-RU" sz="2000" kern="1200" dirty="0" err="1">
                          <a:effectLst/>
                        </a:rPr>
                        <a:t>запрошує</a:t>
                      </a:r>
                      <a:r>
                        <a:rPr lang="ru-RU" sz="2000" kern="1200" dirty="0">
                          <a:effectLst/>
                        </a:rPr>
                        <a:t> </a:t>
                      </a:r>
                      <a:r>
                        <a:rPr lang="ru-RU" sz="2000" kern="1200" dirty="0" err="1">
                          <a:effectLst/>
                        </a:rPr>
                        <a:t>звіт</a:t>
                      </a:r>
                      <a:r>
                        <a:rPr lang="ru-RU" sz="2000" kern="1200" dirty="0">
                          <a:effectLst/>
                        </a:rPr>
                        <a:t> </a:t>
                      </a:r>
                      <a:r>
                        <a:rPr lang="ru-RU" sz="2000" kern="1200" dirty="0" smtClean="0">
                          <a:effectLst/>
                        </a:rPr>
                        <a:t>про </a:t>
                      </a:r>
                      <a:r>
                        <a:rPr lang="ru-RU" sz="2000" kern="1200" dirty="0" err="1" smtClean="0">
                          <a:effectLst/>
                        </a:rPr>
                        <a:t>роботи</a:t>
                      </a:r>
                      <a:endParaRPr lang="ru-RU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2550" fontAlgn="base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k-UA" sz="2000" kern="12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Формування  необхідного звіту</a:t>
                      </a:r>
                      <a:endParaRPr lang="ru-RU" sz="2000" baseline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>
            <a:spLocks noGrp="1"/>
          </p:cNvSpPr>
          <p:nvPr>
            <p:ph type="sldNum" sz="quarter" idx="10"/>
          </p:nvPr>
        </p:nvSpPr>
        <p:spPr/>
        <p:txBody>
          <a:bodyPr wrap="square" lIns="0" tIns="0" rIns="0" bIns="0">
            <a:spAutoFit/>
          </a:bodyPr>
          <a:lstStyle/>
          <a:p>
            <a:pPr marL="25400">
              <a:defRPr/>
            </a:pPr>
            <a:fld id="{19F67721-4601-4A3B-8454-F68C38F44027}" type="slidenum"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pPr marL="25400">
                <a:defRPr/>
              </a:pPr>
              <a:t>22</a:t>
            </a:fld>
            <a:endParaRPr sz="14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7891" name="object 2"/>
          <p:cNvSpPr>
            <a:spLocks noGrp="1"/>
          </p:cNvSpPr>
          <p:nvPr>
            <p:ph type="title" idx="4294967295"/>
          </p:nvPr>
        </p:nvSpPr>
        <p:spPr>
          <a:xfrm>
            <a:off x="0" y="22225"/>
            <a:ext cx="9144000" cy="492125"/>
          </a:xfrm>
        </p:spPr>
        <p:txBody>
          <a:bodyPr lIns="0" tIns="0" rIns="0" bIns="0">
            <a:spAutoFit/>
          </a:bodyPr>
          <a:lstStyle/>
          <a:p>
            <a:pPr marL="3390900" indent="-2752725" algn="l" eaLnBrk="1" hangingPunct="1"/>
            <a:r>
              <a:rPr lang="ru-RU" altLang="uk-UA" sz="3200" b="1" dirty="0" err="1" smtClean="0">
                <a:solidFill>
                  <a:schemeClr val="bg1"/>
                </a:solidFill>
                <a:latin typeface="Arial" charset="0"/>
                <a:cs typeface="Arial" charset="0"/>
              </a:rPr>
              <a:t>Декомпозиція</a:t>
            </a:r>
            <a:r>
              <a:rPr lang="ru-RU" altLang="uk-UA" sz="3200" b="1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 на </a:t>
            </a:r>
            <a:r>
              <a:rPr lang="ru-RU" altLang="uk-UA" sz="3200" b="1" dirty="0" err="1" smtClean="0">
                <a:solidFill>
                  <a:schemeClr val="bg1"/>
                </a:solidFill>
                <a:latin typeface="Arial" charset="0"/>
                <a:cs typeface="Arial" charset="0"/>
              </a:rPr>
              <a:t>діаграми</a:t>
            </a:r>
            <a:r>
              <a:rPr lang="ru-RU" altLang="uk-UA" sz="3200" b="1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 1-го </a:t>
            </a:r>
            <a:r>
              <a:rPr lang="ru-RU" altLang="uk-UA" sz="3200" b="1" dirty="0" err="1" smtClean="0">
                <a:solidFill>
                  <a:schemeClr val="bg1"/>
                </a:solidFill>
                <a:latin typeface="Arial" charset="0"/>
                <a:cs typeface="Arial" charset="0"/>
              </a:rPr>
              <a:t>рівня</a:t>
            </a:r>
            <a:endParaRPr lang="ru-RU" altLang="uk-UA" sz="3200" b="1" dirty="0" smtClean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7892" name="object 3"/>
          <p:cNvSpPr txBox="1">
            <a:spLocks noChangeArrowheads="1"/>
          </p:cNvSpPr>
          <p:nvPr/>
        </p:nvSpPr>
        <p:spPr bwMode="auto">
          <a:xfrm>
            <a:off x="536575" y="1636713"/>
            <a:ext cx="7783513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54013" indent="-341313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54063" indent="-28575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12700" indent="0" eaLnBrk="1" hangingPunct="1">
              <a:buClr>
                <a:srgbClr val="010000"/>
              </a:buClr>
            </a:pPr>
            <a:r>
              <a:rPr lang="ru-RU" altLang="uk-UA" sz="2000" dirty="0" err="1">
                <a:cs typeface="Arial" charset="0"/>
              </a:rPr>
              <a:t>Можна</a:t>
            </a:r>
            <a:r>
              <a:rPr lang="ru-RU" altLang="uk-UA" sz="2000" dirty="0">
                <a:cs typeface="Arial" charset="0"/>
              </a:rPr>
              <a:t> розбити </a:t>
            </a:r>
            <a:r>
              <a:rPr lang="ru-RU" altLang="uk-UA" sz="2000" dirty="0" err="1">
                <a:cs typeface="Arial" charset="0"/>
              </a:rPr>
              <a:t>процес</a:t>
            </a:r>
            <a:r>
              <a:rPr lang="ru-RU" altLang="uk-UA" sz="2000" dirty="0">
                <a:cs typeface="Arial" charset="0"/>
              </a:rPr>
              <a:t> 0-го </a:t>
            </a:r>
            <a:r>
              <a:rPr lang="ru-RU" altLang="uk-UA" sz="2000" dirty="0" err="1">
                <a:cs typeface="Arial" charset="0"/>
              </a:rPr>
              <a:t>рівня</a:t>
            </a:r>
            <a:r>
              <a:rPr lang="ru-RU" altLang="uk-UA" sz="2000" dirty="0">
                <a:cs typeface="Arial" charset="0"/>
              </a:rPr>
              <a:t> "</a:t>
            </a:r>
            <a:r>
              <a:rPr lang="ru-RU" altLang="uk-UA" sz="2000" dirty="0" err="1">
                <a:cs typeface="Arial" charset="0"/>
              </a:rPr>
              <a:t>Обслуговування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відеотеки</a:t>
            </a:r>
            <a:r>
              <a:rPr lang="ru-RU" altLang="uk-UA" sz="2000" dirty="0">
                <a:cs typeface="Arial" charset="0"/>
              </a:rPr>
              <a:t>" на 4 </a:t>
            </a:r>
            <a:r>
              <a:rPr lang="ru-RU" altLang="uk-UA" sz="2000" dirty="0" err="1">
                <a:cs typeface="Arial" charset="0"/>
              </a:rPr>
              <a:t>процесу</a:t>
            </a:r>
            <a:r>
              <a:rPr lang="ru-RU" altLang="uk-UA" sz="2000" dirty="0">
                <a:cs typeface="Arial" charset="0"/>
              </a:rPr>
              <a:t>, </a:t>
            </a:r>
            <a:r>
              <a:rPr lang="ru-RU" altLang="uk-UA" sz="2000" dirty="0" err="1">
                <a:cs typeface="Arial" charset="0"/>
              </a:rPr>
              <a:t>що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відображають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основні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види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діяльності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фільмотеки</a:t>
            </a:r>
            <a:r>
              <a:rPr lang="ru-RU" altLang="uk-UA" sz="2000" dirty="0">
                <a:cs typeface="Arial" charset="0"/>
              </a:rPr>
              <a:t>:</a:t>
            </a:r>
          </a:p>
          <a:p>
            <a:pPr eaLnBrk="1" hangingPunct="1">
              <a:buClr>
                <a:srgbClr val="010000"/>
              </a:buClr>
              <a:buFont typeface="Arial" charset="0"/>
              <a:buChar char="•"/>
            </a:pPr>
            <a:r>
              <a:rPr lang="ru-RU" altLang="uk-UA" sz="2000" dirty="0" err="1">
                <a:cs typeface="Arial" charset="0"/>
              </a:rPr>
              <a:t>облік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клієнтів</a:t>
            </a:r>
            <a:r>
              <a:rPr lang="ru-RU" altLang="uk-UA" sz="2000" dirty="0">
                <a:cs typeface="Arial" charset="0"/>
              </a:rPr>
              <a:t>,</a:t>
            </a:r>
          </a:p>
          <a:p>
            <a:pPr eaLnBrk="1" hangingPunct="1">
              <a:buClr>
                <a:srgbClr val="010000"/>
              </a:buClr>
              <a:buFont typeface="Arial" charset="0"/>
              <a:buChar char="•"/>
            </a:pPr>
            <a:r>
              <a:rPr lang="ru-RU" altLang="uk-UA" sz="2000" dirty="0" err="1">
                <a:cs typeface="Arial" charset="0"/>
              </a:rPr>
              <a:t>облік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постачальників</a:t>
            </a:r>
            <a:r>
              <a:rPr lang="ru-RU" altLang="uk-UA" sz="2000" dirty="0">
                <a:cs typeface="Arial" charset="0"/>
              </a:rPr>
              <a:t>,</a:t>
            </a:r>
          </a:p>
          <a:p>
            <a:pPr eaLnBrk="1" hangingPunct="1">
              <a:buClr>
                <a:srgbClr val="010000"/>
              </a:buClr>
              <a:buFont typeface="Arial" charset="0"/>
              <a:buChar char="•"/>
            </a:pPr>
            <a:r>
              <a:rPr lang="ru-RU" altLang="uk-UA" sz="2000" dirty="0" err="1">
                <a:cs typeface="Arial" charset="0"/>
              </a:rPr>
              <a:t>облік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оренди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фільмів</a:t>
            </a:r>
            <a:r>
              <a:rPr lang="ru-RU" altLang="uk-UA" sz="2000" dirty="0">
                <a:cs typeface="Arial" charset="0"/>
              </a:rPr>
              <a:t>,</a:t>
            </a:r>
          </a:p>
          <a:p>
            <a:pPr eaLnBrk="1" hangingPunct="1">
              <a:buClr>
                <a:srgbClr val="010000"/>
              </a:buClr>
              <a:buFont typeface="Arial" charset="0"/>
              <a:buChar char="•"/>
            </a:pPr>
            <a:r>
              <a:rPr lang="ru-RU" altLang="uk-UA" sz="2000" dirty="0" err="1">
                <a:cs typeface="Arial" charset="0"/>
              </a:rPr>
              <a:t>управління</a:t>
            </a:r>
            <a:r>
              <a:rPr lang="ru-RU" altLang="uk-UA" sz="2000" dirty="0">
                <a:cs typeface="Arial" charset="0"/>
              </a:rPr>
              <a:t> фондом </a:t>
            </a:r>
            <a:r>
              <a:rPr lang="ru-RU" altLang="uk-UA" sz="2000" dirty="0" err="1">
                <a:cs typeface="Arial" charset="0"/>
              </a:rPr>
              <a:t>фільмів</a:t>
            </a:r>
            <a:endParaRPr lang="ru-RU" altLang="uk-UA" sz="2000" dirty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>
            <a:spLocks noGrp="1"/>
          </p:cNvSpPr>
          <p:nvPr>
            <p:ph type="sldNum" sz="quarter" idx="10"/>
          </p:nvPr>
        </p:nvSpPr>
        <p:spPr/>
        <p:txBody>
          <a:bodyPr wrap="square" lIns="0" tIns="0" rIns="0" bIns="0">
            <a:spAutoFit/>
          </a:bodyPr>
          <a:lstStyle/>
          <a:p>
            <a:pPr marL="25400">
              <a:defRPr/>
            </a:pPr>
            <a:fld id="{1044739A-6B6B-443D-98F5-0DDF9E34041A}" type="slidenum"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pPr marL="25400">
                <a:defRPr/>
              </a:pPr>
              <a:t>23</a:t>
            </a:fld>
            <a:endParaRPr sz="14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-384175"/>
            <a:ext cx="8229600" cy="768350"/>
          </a:xfrm>
        </p:spPr>
        <p:txBody>
          <a:bodyPr lIns="0" tIns="273050" rIns="0" bIns="0" rtlCol="0">
            <a:spAutoFit/>
          </a:bodyPr>
          <a:lstStyle/>
          <a:p>
            <a:pPr marL="1433830" eaLnBrk="1" fontAlgn="auto" hangingPunct="1">
              <a:spcAft>
                <a:spcPts val="0"/>
              </a:spcAft>
              <a:defRPr/>
            </a:pPr>
            <a:r>
              <a:rPr sz="3200" b="1" spc="-25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Результат</a:t>
            </a:r>
            <a:r>
              <a:rPr sz="3200" b="1" spc="-25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uk-UA" sz="3200" b="1" spc="-25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декомпозиції</a:t>
            </a:r>
            <a:endParaRPr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8916" name="object 3"/>
          <p:cNvSpPr>
            <a:spLocks noChangeArrowheads="1"/>
          </p:cNvSpPr>
          <p:nvPr/>
        </p:nvSpPr>
        <p:spPr bwMode="auto">
          <a:xfrm>
            <a:off x="468313" y="1052513"/>
            <a:ext cx="8567737" cy="5329237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uk-UA" altLang="uk-U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object 2"/>
          <p:cNvSpPr>
            <a:spLocks noGrp="1"/>
          </p:cNvSpPr>
          <p:nvPr>
            <p:ph type="title" idx="4294967295"/>
          </p:nvPr>
        </p:nvSpPr>
        <p:spPr>
          <a:xfrm>
            <a:off x="66675" y="116632"/>
            <a:ext cx="9144000" cy="430887"/>
          </a:xfrm>
        </p:spPr>
        <p:txBody>
          <a:bodyPr lIns="0" tIns="0" rIns="0" bIns="0">
            <a:spAutoFit/>
          </a:bodyPr>
          <a:lstStyle/>
          <a:p>
            <a:pPr indent="-839788" eaLnBrk="1" hangingPunct="1"/>
            <a:r>
              <a:rPr lang="ru-RU" altLang="uk-UA" sz="2800" b="1" dirty="0" err="1" smtClean="0">
                <a:solidFill>
                  <a:schemeClr val="bg1"/>
                </a:solidFill>
                <a:latin typeface="Arial" charset="0"/>
                <a:cs typeface="Arial" charset="0"/>
              </a:rPr>
              <a:t>Діаграми</a:t>
            </a:r>
            <a:r>
              <a:rPr lang="ru-RU" altLang="uk-UA" sz="2800" b="1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 1-го </a:t>
            </a:r>
            <a:r>
              <a:rPr lang="ru-RU" altLang="uk-UA" sz="2800" b="1" dirty="0" err="1" smtClean="0">
                <a:solidFill>
                  <a:schemeClr val="bg1"/>
                </a:solidFill>
                <a:latin typeface="Arial" charset="0"/>
                <a:cs typeface="Arial" charset="0"/>
              </a:rPr>
              <a:t>рівня</a:t>
            </a:r>
            <a:r>
              <a:rPr lang="ru-RU" altLang="uk-UA" sz="2800" b="1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: </a:t>
            </a:r>
            <a:r>
              <a:rPr lang="ru-RU" altLang="uk-UA" sz="2800" b="1" dirty="0" err="1" smtClean="0">
                <a:solidFill>
                  <a:schemeClr val="bg1"/>
                </a:solidFill>
                <a:latin typeface="Arial" charset="0"/>
                <a:cs typeface="Arial" charset="0"/>
              </a:rPr>
              <a:t>облік</a:t>
            </a:r>
            <a:r>
              <a:rPr lang="ru-RU" altLang="uk-UA" sz="2800" b="1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r>
              <a:rPr lang="ru-RU" altLang="uk-UA" sz="2800" b="1" dirty="0" err="1" smtClean="0">
                <a:solidFill>
                  <a:schemeClr val="bg1"/>
                </a:solidFill>
                <a:latin typeface="Arial" charset="0"/>
                <a:cs typeface="Arial" charset="0"/>
              </a:rPr>
              <a:t>клієнтів</a:t>
            </a:r>
            <a:r>
              <a:rPr lang="ru-RU" altLang="uk-UA" sz="2800" b="1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r>
              <a:rPr lang="ru-RU" altLang="uk-UA" sz="2800" b="1" dirty="0" err="1" smtClean="0">
                <a:solidFill>
                  <a:schemeClr val="bg1"/>
                </a:solidFill>
                <a:latin typeface="Arial" charset="0"/>
                <a:cs typeface="Arial" charset="0"/>
              </a:rPr>
              <a:t>фільмотеки</a:t>
            </a:r>
            <a:endParaRPr lang="ru-RU" altLang="uk-UA" sz="2800" b="1" dirty="0" smtClean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9939" name="object 3"/>
          <p:cNvSpPr>
            <a:spLocks noChangeArrowheads="1"/>
          </p:cNvSpPr>
          <p:nvPr/>
        </p:nvSpPr>
        <p:spPr bwMode="auto">
          <a:xfrm>
            <a:off x="758549" y="1170471"/>
            <a:ext cx="7521575" cy="4938713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uk-UA" altLang="uk-UA"/>
          </a:p>
        </p:txBody>
      </p:sp>
      <p:sp>
        <p:nvSpPr>
          <p:cNvPr id="39940" name="object 4"/>
          <p:cNvSpPr>
            <a:spLocks/>
          </p:cNvSpPr>
          <p:nvPr/>
        </p:nvSpPr>
        <p:spPr bwMode="auto">
          <a:xfrm>
            <a:off x="3657600" y="6096000"/>
            <a:ext cx="2057400" cy="304800"/>
          </a:xfrm>
          <a:custGeom>
            <a:avLst/>
            <a:gdLst>
              <a:gd name="T0" fmla="*/ 0 w 2057400"/>
              <a:gd name="T1" fmla="*/ 0 h 304800"/>
              <a:gd name="T2" fmla="*/ 0 w 2057400"/>
              <a:gd name="T3" fmla="*/ 304800 h 304800"/>
              <a:gd name="T4" fmla="*/ 2057400 w 2057400"/>
              <a:gd name="T5" fmla="*/ 304800 h 304800"/>
              <a:gd name="T6" fmla="*/ 2057400 w 2057400"/>
              <a:gd name="T7" fmla="*/ 0 h 304800"/>
              <a:gd name="T8" fmla="*/ 0 w 2057400"/>
              <a:gd name="T9" fmla="*/ 0 h 304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57400" h="304800">
                <a:moveTo>
                  <a:pt x="0" y="0"/>
                </a:moveTo>
                <a:lnTo>
                  <a:pt x="0" y="304800"/>
                </a:lnTo>
                <a:lnTo>
                  <a:pt x="2057400" y="304800"/>
                </a:lnTo>
                <a:lnTo>
                  <a:pt x="2057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endParaRPr lang="uk-UA"/>
          </a:p>
        </p:txBody>
      </p:sp>
      <p:sp>
        <p:nvSpPr>
          <p:cNvPr id="5" name="object 5"/>
          <p:cNvSpPr txBox="1"/>
          <p:nvPr/>
        </p:nvSpPr>
        <p:spPr>
          <a:xfrm>
            <a:off x="3736975" y="6135688"/>
            <a:ext cx="901700" cy="22542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defRPr/>
            </a:pPr>
            <a:r>
              <a:rPr sz="1400" spc="-10" dirty="0">
                <a:solidFill>
                  <a:srgbClr val="1B1B1B"/>
                </a:solidFill>
                <a:latin typeface="Arial"/>
                <a:cs typeface="Arial"/>
              </a:rPr>
              <a:t>Видеоте</a:t>
            </a:r>
            <a:r>
              <a:rPr sz="1400" spc="-20" dirty="0">
                <a:solidFill>
                  <a:srgbClr val="1B1B1B"/>
                </a:solidFill>
                <a:latin typeface="Arial"/>
                <a:cs typeface="Arial"/>
              </a:rPr>
              <a:t>к</a:t>
            </a:r>
            <a:r>
              <a:rPr sz="1400" spc="-10" dirty="0">
                <a:solidFill>
                  <a:srgbClr val="1B1B1B"/>
                </a:solidFill>
                <a:latin typeface="Arial"/>
                <a:cs typeface="Arial"/>
              </a:rPr>
              <a:t>а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85175" y="6284913"/>
            <a:ext cx="222250" cy="223837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>
              <a:defRPr/>
            </a:pPr>
            <a:r>
              <a:rPr sz="1400" spc="-15" dirty="0">
                <a:latin typeface="Arial"/>
                <a:cs typeface="Arial"/>
              </a:rPr>
              <a:t>40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>
            <a:spLocks noGrp="1"/>
          </p:cNvSpPr>
          <p:nvPr>
            <p:ph type="sldNum" sz="quarter" idx="10"/>
          </p:nvPr>
        </p:nvSpPr>
        <p:spPr/>
        <p:txBody>
          <a:bodyPr wrap="square" lIns="0" tIns="0" rIns="0" bIns="0">
            <a:spAutoFit/>
          </a:bodyPr>
          <a:lstStyle/>
          <a:p>
            <a:pPr marL="25400">
              <a:defRPr/>
            </a:pPr>
            <a:fld id="{00D41F22-D695-4D0A-91DE-36774258AE4F}" type="slidenum"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pPr marL="25400">
                <a:defRPr/>
              </a:pPr>
              <a:t>25</a:t>
            </a:fld>
            <a:endParaRPr sz="14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79388" y="128924"/>
            <a:ext cx="8229600" cy="869277"/>
          </a:xfrm>
        </p:spPr>
        <p:txBody>
          <a:bodyPr lIns="0" tIns="273050" rIns="0" bIns="0" rtlCol="0">
            <a:spAutoFit/>
          </a:bodyPr>
          <a:lstStyle/>
          <a:p>
            <a:pPr eaLnBrk="1" fontAlgn="auto" hangingPunct="1">
              <a:lnSpc>
                <a:spcPts val="5235"/>
              </a:lnSpc>
              <a:spcAft>
                <a:spcPts val="0"/>
              </a:spcAft>
              <a:defRPr/>
            </a:pPr>
            <a:r>
              <a:rPr lang="uk-UA" sz="3200" b="1" spc="-3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Мініспеціфікації</a:t>
            </a:r>
            <a:r>
              <a:rPr lang="uk-UA" sz="3200" b="1" spc="-3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endParaRPr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964" name="object 3"/>
          <p:cNvSpPr txBox="1">
            <a:spLocks noChangeArrowheads="1"/>
          </p:cNvSpPr>
          <p:nvPr/>
        </p:nvSpPr>
        <p:spPr bwMode="auto">
          <a:xfrm>
            <a:off x="107504" y="1340768"/>
            <a:ext cx="9036496" cy="4616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55600" indent="-34290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rgbClr val="010000"/>
              </a:buClr>
              <a:buFont typeface="Arial" charset="0"/>
              <a:buChar char="•"/>
            </a:pPr>
            <a:r>
              <a:rPr lang="ru-RU" altLang="uk-UA" sz="2000" dirty="0" err="1">
                <a:cs typeface="Arial" charset="0"/>
              </a:rPr>
              <a:t>Кожен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процес</a:t>
            </a:r>
            <a:r>
              <a:rPr lang="ru-RU" altLang="uk-UA" sz="2000" dirty="0">
                <a:cs typeface="Arial" charset="0"/>
              </a:rPr>
              <a:t> на </a:t>
            </a:r>
            <a:r>
              <a:rPr lang="ru-RU" altLang="uk-UA" sz="2000" dirty="0" err="1">
                <a:cs typeface="Arial" charset="0"/>
              </a:rPr>
              <a:t>діаграмі</a:t>
            </a:r>
            <a:r>
              <a:rPr lang="ru-RU" altLang="uk-UA" sz="2000" dirty="0">
                <a:cs typeface="Arial" charset="0"/>
              </a:rPr>
              <a:t> «</a:t>
            </a:r>
            <a:r>
              <a:rPr lang="ru-RU" altLang="uk-UA" sz="2000" dirty="0" err="1">
                <a:cs typeface="Arial" charset="0"/>
              </a:rPr>
              <a:t>Облік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клієнтів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фільмотеки</a:t>
            </a:r>
            <a:r>
              <a:rPr lang="ru-RU" altLang="uk-UA" sz="2000" dirty="0">
                <a:cs typeface="Arial" charset="0"/>
              </a:rPr>
              <a:t>» </a:t>
            </a:r>
            <a:r>
              <a:rPr lang="ru-RU" altLang="uk-UA" sz="2000" dirty="0" err="1">
                <a:cs typeface="Arial" charset="0"/>
              </a:rPr>
              <a:t>має</a:t>
            </a:r>
            <a:r>
              <a:rPr lang="ru-RU" altLang="uk-UA" sz="2000" dirty="0">
                <a:cs typeface="Arial" charset="0"/>
              </a:rPr>
              <a:t> 2-3 </a:t>
            </a:r>
            <a:r>
              <a:rPr lang="ru-RU" altLang="uk-UA" sz="2000" dirty="0" err="1">
                <a:cs typeface="Arial" charset="0"/>
              </a:rPr>
              <a:t>вхідних</a:t>
            </a:r>
            <a:r>
              <a:rPr lang="ru-RU" altLang="uk-UA" sz="2000" dirty="0">
                <a:cs typeface="Arial" charset="0"/>
              </a:rPr>
              <a:t> і </a:t>
            </a:r>
            <a:r>
              <a:rPr lang="ru-RU" altLang="uk-UA" sz="2000" dirty="0" err="1">
                <a:cs typeface="Arial" charset="0"/>
              </a:rPr>
              <a:t>вихідних</a:t>
            </a:r>
            <a:r>
              <a:rPr lang="ru-RU" altLang="uk-UA" sz="2000" dirty="0">
                <a:cs typeface="Arial" charset="0"/>
              </a:rPr>
              <a:t> потоку </a:t>
            </a:r>
            <a:r>
              <a:rPr lang="ru-RU" altLang="uk-UA" sz="2000" dirty="0" err="1">
                <a:cs typeface="Arial" charset="0"/>
              </a:rPr>
              <a:t>даних</a:t>
            </a:r>
            <a:r>
              <a:rPr lang="ru-RU" altLang="uk-UA" sz="2000" dirty="0">
                <a:cs typeface="Arial" charset="0"/>
              </a:rPr>
              <a:t>, тому </a:t>
            </a:r>
            <a:r>
              <a:rPr lang="ru-RU" altLang="uk-UA" sz="2000" dirty="0" err="1">
                <a:cs typeface="Arial" charset="0"/>
              </a:rPr>
              <a:t>їх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подальша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деталізація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недоцільна</a:t>
            </a:r>
            <a:r>
              <a:rPr lang="ru-RU" altLang="uk-UA" sz="2000" dirty="0" smtClean="0">
                <a:cs typeface="Arial" charset="0"/>
              </a:rPr>
              <a:t>.</a:t>
            </a:r>
          </a:p>
          <a:p>
            <a:pPr eaLnBrk="1" hangingPunct="1">
              <a:buClr>
                <a:srgbClr val="010000"/>
              </a:buClr>
              <a:buFont typeface="Arial" charset="0"/>
              <a:buChar char="•"/>
            </a:pPr>
            <a:endParaRPr lang="ru-RU" altLang="uk-UA" sz="2000" dirty="0">
              <a:cs typeface="Arial" charset="0"/>
            </a:endParaRPr>
          </a:p>
          <a:p>
            <a:pPr eaLnBrk="1" hangingPunct="1">
              <a:buClr>
                <a:srgbClr val="010000"/>
              </a:buClr>
              <a:buFont typeface="Arial" charset="0"/>
              <a:buChar char="•"/>
            </a:pPr>
            <a:r>
              <a:rPr lang="ru-RU" altLang="uk-UA" sz="2000" dirty="0" err="1">
                <a:cs typeface="Arial" charset="0"/>
              </a:rPr>
              <a:t>Створюємо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мініспеціфікаціі</a:t>
            </a:r>
            <a:r>
              <a:rPr lang="ru-RU" altLang="uk-UA" sz="2000" dirty="0">
                <a:cs typeface="Arial" charset="0"/>
              </a:rPr>
              <a:t>:</a:t>
            </a:r>
          </a:p>
          <a:p>
            <a:pPr marL="800100" lvl="2" indent="0" eaLnBrk="1" hangingPunct="1">
              <a:buClr>
                <a:srgbClr val="010000"/>
              </a:buClr>
            </a:pPr>
            <a:r>
              <a:rPr lang="ru-RU" altLang="uk-UA" sz="2000" dirty="0">
                <a:cs typeface="Arial" charset="0"/>
              </a:rPr>
              <a:t>а) Початок</a:t>
            </a:r>
          </a:p>
          <a:p>
            <a:pPr marL="800100" lvl="2" indent="0" eaLnBrk="1" hangingPunct="1">
              <a:buClr>
                <a:srgbClr val="010000"/>
              </a:buClr>
            </a:pPr>
            <a:r>
              <a:rPr lang="ru-RU" altLang="uk-UA" sz="2000" dirty="0">
                <a:cs typeface="Arial" charset="0"/>
              </a:rPr>
              <a:t>б) </a:t>
            </a:r>
            <a:r>
              <a:rPr lang="ru-RU" altLang="uk-UA" sz="2000" dirty="0" err="1">
                <a:cs typeface="Arial" charset="0"/>
              </a:rPr>
              <a:t>Отримати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від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клієнта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дані</a:t>
            </a:r>
            <a:r>
              <a:rPr lang="ru-RU" altLang="uk-UA" sz="2000" dirty="0">
                <a:cs typeface="Arial" charset="0"/>
              </a:rPr>
              <a:t> для </a:t>
            </a:r>
            <a:r>
              <a:rPr lang="ru-RU" altLang="uk-UA" sz="2000" dirty="0" err="1">
                <a:cs typeface="Arial" charset="0"/>
              </a:rPr>
              <a:t>реєстрації</a:t>
            </a:r>
            <a:endParaRPr lang="ru-RU" altLang="uk-UA" sz="2000" dirty="0">
              <a:cs typeface="Arial" charset="0"/>
            </a:endParaRPr>
          </a:p>
          <a:p>
            <a:pPr marL="800100" lvl="2" indent="0" eaLnBrk="1" hangingPunct="1">
              <a:buClr>
                <a:srgbClr val="010000"/>
              </a:buClr>
            </a:pPr>
            <a:r>
              <a:rPr lang="ru-RU" altLang="uk-UA" sz="2000" dirty="0">
                <a:cs typeface="Arial" charset="0"/>
              </a:rPr>
              <a:t>в) </a:t>
            </a:r>
            <a:r>
              <a:rPr lang="ru-RU" altLang="uk-UA" sz="2000" dirty="0" err="1">
                <a:cs typeface="Arial" charset="0"/>
              </a:rPr>
              <a:t>порівняти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дані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клієнта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зі</a:t>
            </a:r>
            <a:r>
              <a:rPr lang="ru-RU" altLang="uk-UA" sz="2000" dirty="0">
                <a:cs typeface="Arial" charset="0"/>
              </a:rPr>
              <a:t> списком </a:t>
            </a:r>
            <a:r>
              <a:rPr lang="ru-RU" altLang="uk-UA" sz="2000" dirty="0" err="1">
                <a:cs typeface="Arial" charset="0"/>
              </a:rPr>
              <a:t>членів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відеотеки</a:t>
            </a:r>
            <a:r>
              <a:rPr lang="ru-RU" altLang="uk-UA" sz="2000" dirty="0">
                <a:cs typeface="Arial" charset="0"/>
              </a:rPr>
              <a:t> (</a:t>
            </a:r>
            <a:r>
              <a:rPr lang="ru-RU" altLang="uk-UA" sz="2000" dirty="0" err="1">
                <a:cs typeface="Arial" charset="0"/>
              </a:rPr>
              <a:t>процес</a:t>
            </a:r>
            <a:r>
              <a:rPr lang="ru-RU" altLang="uk-UA" sz="2000" dirty="0">
                <a:cs typeface="Arial" charset="0"/>
              </a:rPr>
              <a:t> А14)</a:t>
            </a:r>
          </a:p>
          <a:p>
            <a:pPr marL="800100" lvl="2" indent="0" eaLnBrk="1" hangingPunct="1">
              <a:buClr>
                <a:srgbClr val="010000"/>
              </a:buClr>
            </a:pPr>
            <a:r>
              <a:rPr lang="ru-RU" altLang="uk-UA" sz="2000" dirty="0">
                <a:cs typeface="Arial" charset="0"/>
              </a:rPr>
              <a:t>г) </a:t>
            </a:r>
            <a:r>
              <a:rPr lang="ru-RU" altLang="uk-UA" sz="2000" dirty="0" err="1">
                <a:cs typeface="Arial" charset="0"/>
              </a:rPr>
              <a:t>перевірити</a:t>
            </a:r>
            <a:r>
              <a:rPr lang="ru-RU" altLang="uk-UA" sz="2000" dirty="0">
                <a:cs typeface="Arial" charset="0"/>
              </a:rPr>
              <a:t>: </a:t>
            </a:r>
            <a:r>
              <a:rPr lang="ru-RU" altLang="uk-UA" sz="2000" dirty="0" err="1">
                <a:cs typeface="Arial" charset="0"/>
              </a:rPr>
              <a:t>чи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був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клієнт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зареєстрований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раніше</a:t>
            </a:r>
            <a:r>
              <a:rPr lang="ru-RU" altLang="uk-UA" sz="2000" dirty="0">
                <a:cs typeface="Arial" charset="0"/>
              </a:rPr>
              <a:t>,</a:t>
            </a:r>
          </a:p>
          <a:p>
            <a:pPr marL="800100" lvl="2" indent="0" eaLnBrk="1" hangingPunct="1">
              <a:buClr>
                <a:srgbClr val="010000"/>
              </a:buClr>
            </a:pPr>
            <a:r>
              <a:rPr lang="ru-RU" altLang="uk-UA" sz="2000" dirty="0">
                <a:cs typeface="Arial" charset="0"/>
              </a:rPr>
              <a:t>д) </a:t>
            </a:r>
            <a:r>
              <a:rPr lang="ru-RU" altLang="uk-UA" sz="2000" dirty="0" err="1">
                <a:cs typeface="Arial" charset="0"/>
              </a:rPr>
              <a:t>якщо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немає</a:t>
            </a:r>
            <a:r>
              <a:rPr lang="ru-RU" altLang="uk-UA" sz="2000" dirty="0">
                <a:cs typeface="Arial" charset="0"/>
              </a:rPr>
              <a:t> - то занести </a:t>
            </a:r>
            <a:r>
              <a:rPr lang="ru-RU" altLang="uk-UA" sz="2000" dirty="0" err="1">
                <a:cs typeface="Arial" charset="0"/>
              </a:rPr>
              <a:t>дані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клієнта</a:t>
            </a:r>
            <a:r>
              <a:rPr lang="ru-RU" altLang="uk-UA" sz="2000" dirty="0">
                <a:cs typeface="Arial" charset="0"/>
              </a:rPr>
              <a:t> в </a:t>
            </a:r>
            <a:r>
              <a:rPr lang="ru-RU" altLang="uk-UA" sz="2000" dirty="0" err="1">
                <a:cs typeface="Arial" charset="0"/>
              </a:rPr>
              <a:t>накопичувач</a:t>
            </a:r>
            <a:r>
              <a:rPr lang="ru-RU" altLang="uk-UA" sz="2000" dirty="0">
                <a:cs typeface="Arial" charset="0"/>
              </a:rPr>
              <a:t> "Члени </a:t>
            </a:r>
            <a:r>
              <a:rPr lang="ru-RU" altLang="uk-UA" sz="2000" dirty="0" err="1">
                <a:cs typeface="Arial" charset="0"/>
              </a:rPr>
              <a:t>відеотеки</a:t>
            </a:r>
            <a:r>
              <a:rPr lang="ru-RU" altLang="uk-UA" sz="2000" dirty="0">
                <a:cs typeface="Arial" charset="0"/>
              </a:rPr>
              <a:t>"</a:t>
            </a:r>
          </a:p>
          <a:p>
            <a:pPr marL="800100" lvl="2" indent="0" eaLnBrk="1" hangingPunct="1">
              <a:buClr>
                <a:srgbClr val="010000"/>
              </a:buClr>
            </a:pPr>
            <a:r>
              <a:rPr lang="ru-RU" altLang="uk-UA" sz="2000" dirty="0">
                <a:cs typeface="Arial" charset="0"/>
              </a:rPr>
              <a:t>е) в </a:t>
            </a:r>
            <a:r>
              <a:rPr lang="ru-RU" altLang="uk-UA" sz="2000" dirty="0" err="1">
                <a:cs typeface="Arial" charset="0"/>
              </a:rPr>
              <a:t>іншому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випадку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перевірити</a:t>
            </a:r>
            <a:r>
              <a:rPr lang="ru-RU" altLang="uk-UA" sz="2000" dirty="0">
                <a:cs typeface="Arial" charset="0"/>
              </a:rPr>
              <a:t>: </a:t>
            </a:r>
            <a:r>
              <a:rPr lang="ru-RU" altLang="uk-UA" sz="2000" dirty="0" err="1">
                <a:cs typeface="Arial" charset="0"/>
              </a:rPr>
              <a:t>чи</a:t>
            </a:r>
            <a:r>
              <a:rPr lang="ru-RU" altLang="uk-UA" sz="2000" dirty="0">
                <a:cs typeface="Arial" charset="0"/>
              </a:rPr>
              <a:t> є </a:t>
            </a:r>
            <a:r>
              <a:rPr lang="ru-RU" altLang="uk-UA" sz="2000" dirty="0" err="1">
                <a:cs typeface="Arial" charset="0"/>
              </a:rPr>
              <a:t>клієнт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боржником</a:t>
            </a:r>
            <a:r>
              <a:rPr lang="ru-RU" altLang="uk-UA" sz="2000" dirty="0">
                <a:cs typeface="Arial" charset="0"/>
              </a:rPr>
              <a:t>; </a:t>
            </a:r>
            <a:endParaRPr lang="ru-RU" altLang="uk-UA" sz="2000" dirty="0" smtClean="0">
              <a:cs typeface="Arial" charset="0"/>
            </a:endParaRPr>
          </a:p>
          <a:p>
            <a:pPr marL="800100" lvl="2" indent="0" eaLnBrk="1" hangingPunct="1">
              <a:buClr>
                <a:srgbClr val="010000"/>
              </a:buClr>
            </a:pPr>
            <a:r>
              <a:rPr lang="ru-RU" altLang="uk-UA" sz="2000" dirty="0" smtClean="0">
                <a:cs typeface="Arial" charset="0"/>
              </a:rPr>
              <a:t>ж</a:t>
            </a:r>
            <a:r>
              <a:rPr lang="ru-RU" altLang="uk-UA" sz="2000" dirty="0">
                <a:cs typeface="Arial" charset="0"/>
              </a:rPr>
              <a:t>) </a:t>
            </a:r>
            <a:r>
              <a:rPr lang="ru-RU" altLang="uk-UA" sz="2000" dirty="0" err="1">
                <a:cs typeface="Arial" charset="0"/>
              </a:rPr>
              <a:t>якщо</a:t>
            </a:r>
            <a:r>
              <a:rPr lang="ru-RU" altLang="uk-UA" sz="2000" dirty="0">
                <a:cs typeface="Arial" charset="0"/>
              </a:rPr>
              <a:t> так - </a:t>
            </a:r>
            <a:r>
              <a:rPr lang="ru-RU" altLang="uk-UA" sz="2000" dirty="0" err="1">
                <a:cs typeface="Arial" charset="0"/>
              </a:rPr>
              <a:t>відмовити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клієнту</a:t>
            </a:r>
            <a:r>
              <a:rPr lang="ru-RU" altLang="uk-UA" sz="2000" dirty="0">
                <a:cs typeface="Arial" charset="0"/>
              </a:rPr>
              <a:t> в </a:t>
            </a:r>
            <a:r>
              <a:rPr lang="ru-RU" altLang="uk-UA" sz="2000" dirty="0" err="1">
                <a:cs typeface="Arial" charset="0"/>
              </a:rPr>
              <a:t>повторній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реєстрації</a:t>
            </a:r>
            <a:r>
              <a:rPr lang="ru-RU" altLang="uk-UA" sz="2000" dirty="0">
                <a:cs typeface="Arial" charset="0"/>
              </a:rPr>
              <a:t> і </a:t>
            </a:r>
            <a:r>
              <a:rPr lang="ru-RU" altLang="uk-UA" sz="2000" dirty="0" err="1">
                <a:cs typeface="Arial" charset="0"/>
              </a:rPr>
              <a:t>зажадати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повернення</a:t>
            </a:r>
            <a:r>
              <a:rPr lang="ru-RU" altLang="uk-UA" sz="2000" dirty="0">
                <a:cs typeface="Arial" charset="0"/>
              </a:rPr>
              <a:t> боргу; </a:t>
            </a:r>
            <a:r>
              <a:rPr lang="ru-RU" altLang="uk-UA" sz="2000" dirty="0" err="1">
                <a:cs typeface="Arial" charset="0"/>
              </a:rPr>
              <a:t>потім</a:t>
            </a:r>
            <a:r>
              <a:rPr lang="ru-RU" altLang="uk-UA" sz="2000" dirty="0">
                <a:cs typeface="Arial" charset="0"/>
              </a:rPr>
              <a:t> перейти до </a:t>
            </a:r>
            <a:r>
              <a:rPr lang="ru-RU" altLang="uk-UA" sz="2000" dirty="0" err="1">
                <a:cs typeface="Arial" charset="0"/>
              </a:rPr>
              <a:t>кроку</a:t>
            </a:r>
            <a:r>
              <a:rPr lang="ru-RU" altLang="uk-UA" sz="2000" dirty="0">
                <a:cs typeface="Arial" charset="0"/>
              </a:rPr>
              <a:t> "і";</a:t>
            </a:r>
          </a:p>
          <a:p>
            <a:pPr marL="800100" lvl="2" indent="0" eaLnBrk="1" hangingPunct="1">
              <a:buClr>
                <a:srgbClr val="010000"/>
              </a:buClr>
            </a:pPr>
            <a:r>
              <a:rPr lang="ru-RU" altLang="uk-UA" sz="2000" dirty="0">
                <a:cs typeface="Arial" charset="0"/>
              </a:rPr>
              <a:t>з) в </a:t>
            </a:r>
            <a:r>
              <a:rPr lang="ru-RU" altLang="uk-UA" sz="2000" dirty="0" err="1">
                <a:cs typeface="Arial" charset="0"/>
              </a:rPr>
              <a:t>іншому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випадку</a:t>
            </a:r>
            <a:r>
              <a:rPr lang="ru-RU" altLang="uk-UA" sz="2000" dirty="0">
                <a:cs typeface="Arial" charset="0"/>
              </a:rPr>
              <a:t> - </a:t>
            </a:r>
            <a:r>
              <a:rPr lang="ru-RU" altLang="uk-UA" sz="2000" dirty="0" err="1">
                <a:cs typeface="Arial" charset="0"/>
              </a:rPr>
              <a:t>оновити</a:t>
            </a:r>
            <a:r>
              <a:rPr lang="ru-RU" altLang="uk-UA" sz="2000" dirty="0">
                <a:cs typeface="Arial" charset="0"/>
              </a:rPr>
              <a:t> </a:t>
            </a:r>
            <a:r>
              <a:rPr lang="ru-RU" altLang="uk-UA" sz="2000" dirty="0" err="1">
                <a:cs typeface="Arial" charset="0"/>
              </a:rPr>
              <a:t>інформацію</a:t>
            </a:r>
            <a:r>
              <a:rPr lang="ru-RU" altLang="uk-UA" sz="2000" dirty="0">
                <a:cs typeface="Arial" charset="0"/>
              </a:rPr>
              <a:t> про </a:t>
            </a:r>
            <a:r>
              <a:rPr lang="ru-RU" altLang="uk-UA" sz="2000" dirty="0" err="1">
                <a:cs typeface="Arial" charset="0"/>
              </a:rPr>
              <a:t>клієнта</a:t>
            </a:r>
            <a:r>
              <a:rPr lang="ru-RU" altLang="uk-UA" sz="2000" dirty="0">
                <a:cs typeface="Arial" charset="0"/>
              </a:rPr>
              <a:t> в </a:t>
            </a:r>
            <a:r>
              <a:rPr lang="ru-RU" altLang="uk-UA" sz="2000" dirty="0" err="1" smtClean="0">
                <a:cs typeface="Arial" charset="0"/>
              </a:rPr>
              <a:t>накопичувачі</a:t>
            </a:r>
            <a:r>
              <a:rPr lang="ru-RU" altLang="uk-UA" sz="2000" dirty="0" smtClean="0">
                <a:cs typeface="Arial" charset="0"/>
              </a:rPr>
              <a:t> "Члени </a:t>
            </a:r>
            <a:r>
              <a:rPr lang="ru-RU" altLang="uk-UA" sz="2000" dirty="0" err="1">
                <a:cs typeface="Arial" charset="0"/>
              </a:rPr>
              <a:t>відеотеки</a:t>
            </a:r>
            <a:r>
              <a:rPr lang="ru-RU" altLang="uk-UA" sz="2000" dirty="0">
                <a:cs typeface="Arial" charset="0"/>
              </a:rPr>
              <a:t>" і перейти до </a:t>
            </a:r>
            <a:r>
              <a:rPr lang="ru-RU" altLang="uk-UA" sz="2000" dirty="0" err="1">
                <a:cs typeface="Arial" charset="0"/>
              </a:rPr>
              <a:t>процесу</a:t>
            </a:r>
            <a:r>
              <a:rPr lang="ru-RU" altLang="uk-UA" sz="2000" dirty="0">
                <a:cs typeface="Arial" charset="0"/>
              </a:rPr>
              <a:t> А12. і </a:t>
            </a:r>
            <a:r>
              <a:rPr lang="ru-RU" altLang="uk-UA" sz="2000" dirty="0" err="1">
                <a:cs typeface="Arial" charset="0"/>
              </a:rPr>
              <a:t>кінець</a:t>
            </a:r>
            <a:endParaRPr lang="ru-RU" altLang="uk-UA" sz="2000" dirty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>
            <a:spLocks noGrp="1"/>
          </p:cNvSpPr>
          <p:nvPr>
            <p:ph type="sldNum" sz="quarter" idx="10"/>
          </p:nvPr>
        </p:nvSpPr>
        <p:spPr/>
        <p:txBody>
          <a:bodyPr wrap="square" lIns="0" tIns="0" rIns="0" bIns="0">
            <a:spAutoFit/>
          </a:bodyPr>
          <a:lstStyle/>
          <a:p>
            <a:pPr marL="25400">
              <a:defRPr/>
            </a:pPr>
            <a:fld id="{1826727E-759A-41F2-9A92-94637279AACA}" type="slidenum">
              <a:rPr sz="1400" spc="-10" dirty="0">
                <a:solidFill>
                  <a:schemeClr val="tx1"/>
                </a:solidFill>
                <a:latin typeface="Arial"/>
                <a:cs typeface="Arial"/>
              </a:rPr>
              <a:pPr marL="25400">
                <a:defRPr/>
              </a:pPr>
              <a:t>26</a:t>
            </a:fld>
            <a:endParaRPr sz="14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51520" y="-234950"/>
            <a:ext cx="8229600" cy="768350"/>
          </a:xfrm>
        </p:spPr>
        <p:txBody>
          <a:bodyPr lIns="0" tIns="273050" rIns="0" bIns="0" rtlCol="0">
            <a:spAutoFit/>
          </a:bodyPr>
          <a:lstStyle/>
          <a:p>
            <a:pPr marL="437515" eaLnBrk="1" fontAlgn="auto" hangingPunct="1">
              <a:spcAft>
                <a:spcPts val="0"/>
              </a:spcAft>
              <a:defRPr/>
            </a:pPr>
            <a:r>
              <a:rPr sz="3200" b="1" spc="-25" dirty="0">
                <a:solidFill>
                  <a:schemeClr val="bg1"/>
                </a:solidFill>
              </a:rPr>
              <a:t>Дополнительные </a:t>
            </a:r>
            <a:r>
              <a:rPr sz="3200" b="1" spc="-30" dirty="0">
                <a:solidFill>
                  <a:schemeClr val="bg1"/>
                </a:solidFill>
              </a:rPr>
              <a:t>диаграммы</a:t>
            </a:r>
            <a:endParaRPr sz="3200" b="1" dirty="0">
              <a:solidFill>
                <a:schemeClr val="bg1"/>
              </a:solidFill>
            </a:endParaRPr>
          </a:p>
        </p:txBody>
      </p:sp>
      <p:sp>
        <p:nvSpPr>
          <p:cNvPr id="41988" name="object 3"/>
          <p:cNvSpPr>
            <a:spLocks noChangeArrowheads="1"/>
          </p:cNvSpPr>
          <p:nvPr/>
        </p:nvSpPr>
        <p:spPr bwMode="auto">
          <a:xfrm>
            <a:off x="685800" y="1524000"/>
            <a:ext cx="7935913" cy="45720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uk-UA" altLang="uk-UA"/>
          </a:p>
        </p:txBody>
      </p:sp>
      <p:sp>
        <p:nvSpPr>
          <p:cNvPr id="41989" name="object 4"/>
          <p:cNvSpPr txBox="1">
            <a:spLocks noChangeArrowheads="1"/>
          </p:cNvSpPr>
          <p:nvPr/>
        </p:nvSpPr>
        <p:spPr bwMode="auto">
          <a:xfrm>
            <a:off x="3073292" y="4005064"/>
            <a:ext cx="5417865" cy="1667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54013" indent="-341313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2588"/>
              </a:lnSpc>
              <a:buClr>
                <a:srgbClr val="010000"/>
              </a:buClr>
              <a:buFont typeface="Arial" charset="0"/>
              <a:buChar char="•"/>
            </a:pPr>
            <a:r>
              <a:rPr lang="ru-RU" altLang="uk-UA" sz="2400" dirty="0">
                <a:cs typeface="Arial" charset="0"/>
              </a:rPr>
              <a:t>По данной диаграмме потоков данных можно построить так </a:t>
            </a:r>
            <a:r>
              <a:rPr lang="ru-RU" altLang="uk-UA" sz="2400" dirty="0" smtClean="0">
                <a:cs typeface="Arial" charset="0"/>
              </a:rPr>
              <a:t>называемую «Структуру </a:t>
            </a:r>
            <a:r>
              <a:rPr lang="ru-RU" altLang="uk-UA" sz="2400" dirty="0">
                <a:cs typeface="Arial" charset="0"/>
              </a:rPr>
              <a:t>разбивки работ» (</a:t>
            </a:r>
            <a:r>
              <a:rPr lang="ru-RU" altLang="uk-UA" sz="2400" dirty="0" err="1">
                <a:cs typeface="Arial" charset="0"/>
              </a:rPr>
              <a:t>work</a:t>
            </a:r>
            <a:r>
              <a:rPr lang="ru-RU" altLang="uk-UA" sz="2400" dirty="0">
                <a:cs typeface="Arial" charset="0"/>
              </a:rPr>
              <a:t> </a:t>
            </a:r>
            <a:r>
              <a:rPr lang="ru-RU" altLang="uk-UA" sz="2400" dirty="0" err="1">
                <a:cs typeface="Arial" charset="0"/>
              </a:rPr>
              <a:t>breakdown</a:t>
            </a:r>
            <a:r>
              <a:rPr lang="ru-RU" altLang="uk-UA" sz="2400" dirty="0">
                <a:cs typeface="Arial" charset="0"/>
              </a:rPr>
              <a:t> </a:t>
            </a:r>
            <a:r>
              <a:rPr lang="ru-RU" altLang="uk-UA" sz="2400" dirty="0" err="1">
                <a:cs typeface="Arial" charset="0"/>
              </a:rPr>
              <a:t>structure</a:t>
            </a:r>
            <a:r>
              <a:rPr lang="ru-RU" altLang="uk-UA" sz="2400" dirty="0">
                <a:cs typeface="Arial" charset="0"/>
              </a:rPr>
              <a:t>, WBS), в виде </a:t>
            </a:r>
            <a:r>
              <a:rPr lang="ru-RU" altLang="uk-UA" sz="2400" dirty="0" err="1" smtClean="0">
                <a:cs typeface="Arial" charset="0"/>
              </a:rPr>
              <a:t>Node-Tree</a:t>
            </a:r>
            <a:r>
              <a:rPr lang="ru-RU" altLang="uk-UA" sz="2400" dirty="0" smtClean="0">
                <a:cs typeface="Arial" charset="0"/>
              </a:rPr>
              <a:t> </a:t>
            </a:r>
            <a:r>
              <a:rPr lang="ru-RU" altLang="uk-UA" sz="2400" dirty="0" err="1">
                <a:cs typeface="Arial" charset="0"/>
              </a:rPr>
              <a:t>Diagram</a:t>
            </a:r>
            <a:endParaRPr lang="ru-RU" altLang="uk-UA" sz="2400" dirty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0"/>
            <a:ext cx="8229600" cy="517525"/>
          </a:xfrm>
        </p:spPr>
        <p:txBody>
          <a:bodyPr/>
          <a:lstStyle/>
          <a:p>
            <a:pPr eaLnBrk="1" hangingPunct="1"/>
            <a:r>
              <a:rPr lang="ru-RU" altLang="uk-UA" sz="2800" b="1" smtClean="0">
                <a:solidFill>
                  <a:schemeClr val="bg1"/>
                </a:solidFill>
              </a:rPr>
              <a:t>Пример2 </a:t>
            </a:r>
            <a:r>
              <a:rPr lang="en-US" altLang="uk-UA" sz="2800" b="1" smtClean="0">
                <a:solidFill>
                  <a:schemeClr val="bg1"/>
                </a:solidFill>
              </a:rPr>
              <a:t>DFD</a:t>
            </a:r>
            <a:r>
              <a:rPr lang="ru-RU" altLang="uk-UA" sz="2800" b="1" smtClean="0">
                <a:solidFill>
                  <a:schemeClr val="bg1"/>
                </a:solidFill>
              </a:rPr>
              <a:t>-модели постройки дачного домика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341438"/>
            <a:ext cx="8229600" cy="431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altLang="uk-UA" sz="2000" smtClean="0"/>
              <a:t>1. Контекстная диаграмма уровня системы</a:t>
            </a:r>
          </a:p>
        </p:txBody>
      </p:sp>
      <p:pic>
        <p:nvPicPr>
          <p:cNvPr id="43012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" t="14090" r="17264" b="19716"/>
          <a:stretch>
            <a:fillRect/>
          </a:stretch>
        </p:blipFill>
        <p:spPr bwMode="auto">
          <a:xfrm>
            <a:off x="395288" y="1924050"/>
            <a:ext cx="7848600" cy="457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412875"/>
            <a:ext cx="8229600" cy="431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u-RU" altLang="uk-UA" sz="2000" smtClean="0"/>
              <a:t>2. Диаграмма уровня подсистемы</a:t>
            </a:r>
          </a:p>
        </p:txBody>
      </p:sp>
      <p:pic>
        <p:nvPicPr>
          <p:cNvPr id="44035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" t="18739" r="8005" b="19687"/>
          <a:stretch>
            <a:fillRect/>
          </a:stretch>
        </p:blipFill>
        <p:spPr bwMode="auto">
          <a:xfrm>
            <a:off x="215900" y="2041525"/>
            <a:ext cx="8748713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Rectangle 2"/>
          <p:cNvSpPr txBox="1">
            <a:spLocks noChangeArrowheads="1"/>
          </p:cNvSpPr>
          <p:nvPr/>
        </p:nvSpPr>
        <p:spPr bwMode="auto">
          <a:xfrm>
            <a:off x="0" y="31750"/>
            <a:ext cx="82296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altLang="uk-UA" sz="2800" b="1">
                <a:solidFill>
                  <a:schemeClr val="bg1"/>
                </a:solidFill>
                <a:latin typeface="Calibri" pitchFamily="34" charset="0"/>
              </a:rPr>
              <a:t>Пример2 </a:t>
            </a:r>
            <a:r>
              <a:rPr lang="en-US" altLang="uk-UA" sz="2800" b="1">
                <a:solidFill>
                  <a:schemeClr val="bg1"/>
                </a:solidFill>
                <a:latin typeface="Calibri" pitchFamily="34" charset="0"/>
              </a:rPr>
              <a:t>DFD</a:t>
            </a:r>
            <a:r>
              <a:rPr lang="ru-RU" altLang="uk-UA" sz="2800" b="1">
                <a:solidFill>
                  <a:schemeClr val="bg1"/>
                </a:solidFill>
                <a:latin typeface="Calibri" pitchFamily="34" charset="0"/>
              </a:rPr>
              <a:t>-модели постройки дачного домика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268413"/>
            <a:ext cx="8229600" cy="51911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ru-RU" altLang="uk-UA" sz="2000" smtClean="0"/>
              <a:t>3. Диаграмма уровня процесса</a:t>
            </a:r>
          </a:p>
        </p:txBody>
      </p:sp>
      <p:pic>
        <p:nvPicPr>
          <p:cNvPr id="4505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" t="18739" r="7349" b="17793"/>
          <a:stretch>
            <a:fillRect/>
          </a:stretch>
        </p:blipFill>
        <p:spPr bwMode="auto">
          <a:xfrm>
            <a:off x="250825" y="1989138"/>
            <a:ext cx="8642350" cy="414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Rectangle 2"/>
          <p:cNvSpPr txBox="1">
            <a:spLocks noChangeArrowheads="1"/>
          </p:cNvSpPr>
          <p:nvPr/>
        </p:nvSpPr>
        <p:spPr bwMode="auto">
          <a:xfrm>
            <a:off x="0" y="31750"/>
            <a:ext cx="82296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altLang="uk-UA" sz="2800" b="1">
                <a:solidFill>
                  <a:schemeClr val="bg1"/>
                </a:solidFill>
                <a:latin typeface="Calibri" pitchFamily="34" charset="0"/>
              </a:rPr>
              <a:t>Пример2 </a:t>
            </a:r>
            <a:r>
              <a:rPr lang="en-US" altLang="uk-UA" sz="2800" b="1">
                <a:solidFill>
                  <a:schemeClr val="bg1"/>
                </a:solidFill>
                <a:latin typeface="Calibri" pitchFamily="34" charset="0"/>
              </a:rPr>
              <a:t>DFD</a:t>
            </a:r>
            <a:r>
              <a:rPr lang="ru-RU" altLang="uk-UA" sz="2800" b="1">
                <a:solidFill>
                  <a:schemeClr val="bg1"/>
                </a:solidFill>
                <a:latin typeface="Calibri" pitchFamily="34" charset="0"/>
              </a:rPr>
              <a:t>-модели постройки дачного домика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Місце для номера слайда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C37CEA5-E677-4EDC-93F9-599E32B930E2}" type="slidenum">
              <a:rPr lang="ru-RU" altLang="uk-UA" smtClean="0">
                <a:solidFill>
                  <a:srgbClr val="000000"/>
                </a:solidFill>
              </a:rPr>
              <a:pPr eaLnBrk="1" hangingPunct="1"/>
              <a:t>30</a:t>
            </a:fld>
            <a:endParaRPr lang="ru-RU" altLang="uk-UA" smtClean="0">
              <a:solidFill>
                <a:srgbClr val="000000"/>
              </a:solidFill>
            </a:endParaRPr>
          </a:p>
        </p:txBody>
      </p:sp>
      <p:sp>
        <p:nvSpPr>
          <p:cNvPr id="46083" name="Прямокутник 2"/>
          <p:cNvSpPr>
            <a:spLocks noChangeArrowheads="1"/>
          </p:cNvSpPr>
          <p:nvPr/>
        </p:nvSpPr>
        <p:spPr bwMode="auto">
          <a:xfrm>
            <a:off x="684213" y="1484313"/>
            <a:ext cx="80645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uk-UA" altLang="uk-UA" dirty="0"/>
              <a:t>Електронний підручник </a:t>
            </a:r>
            <a:r>
              <a:rPr lang="en-US" altLang="uk-UA" dirty="0">
                <a:hlinkClick r:id="rId2"/>
              </a:rPr>
              <a:t>http://dit.isuct.ru/</a:t>
            </a:r>
            <a:r>
              <a:rPr lang="en-US" altLang="uk-UA" dirty="0" err="1">
                <a:hlinkClick r:id="rId2"/>
              </a:rPr>
              <a:t>ivt</a:t>
            </a:r>
            <a:r>
              <a:rPr lang="en-US" altLang="uk-UA" dirty="0">
                <a:hlinkClick r:id="rId2"/>
              </a:rPr>
              <a:t>/books../CASE/case10/idef1x/index.htm</a:t>
            </a:r>
            <a:endParaRPr lang="uk-UA" altLang="uk-UA" dirty="0"/>
          </a:p>
          <a:p>
            <a:pPr eaLnBrk="1" hangingPunct="1"/>
            <a:endParaRPr lang="uk-UA" altLang="uk-UA" dirty="0"/>
          </a:p>
          <a:p>
            <a:pPr eaLnBrk="1" hangingPunct="1"/>
            <a:r>
              <a:rPr lang="en-US" altLang="uk-UA" dirty="0"/>
              <a:t>http://www.nazametku.com/2010/11/dfd-</a:t>
            </a:r>
            <a:r>
              <a:rPr lang="ru-RU" altLang="uk-UA" dirty="0" smtClean="0"/>
              <a:t>методология-нотация-принципы-модел</a:t>
            </a:r>
            <a:r>
              <a:rPr lang="ru-RU" altLang="uk-UA" dirty="0"/>
              <a:t>и</a:t>
            </a:r>
            <a:endParaRPr lang="uk-UA" alt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743</TotalTime>
  <Words>972</Words>
  <Application>Microsoft Office PowerPoint</Application>
  <PresentationFormat>Экран (4:3)</PresentationFormat>
  <Paragraphs>197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5" baseType="lpstr">
      <vt:lpstr>Arial</vt:lpstr>
      <vt:lpstr>Calibri</vt:lpstr>
      <vt:lpstr>Times New Roman</vt:lpstr>
      <vt:lpstr>Wingdings</vt:lpstr>
      <vt:lpstr>Тема Office</vt:lpstr>
      <vt:lpstr>Презентация PowerPoint</vt:lpstr>
      <vt:lpstr>Презентация PowerPoint</vt:lpstr>
      <vt:lpstr>План</vt:lpstr>
      <vt:lpstr>Поняття DFD-моделі</vt:lpstr>
      <vt:lpstr>Основні компоненти діаграм потоків даних</vt:lpstr>
      <vt:lpstr>Нотації, що використовуються в DFD-моделюванні</vt:lpstr>
      <vt:lpstr>Презентация PowerPoint</vt:lpstr>
      <vt:lpstr>Зовнішня сутність</vt:lpstr>
      <vt:lpstr>Система та підсистема</vt:lpstr>
      <vt:lpstr>Процес</vt:lpstr>
      <vt:lpstr>Процес</vt:lpstr>
      <vt:lpstr>Накопичувач даних</vt:lpstr>
      <vt:lpstr>Поток даних</vt:lpstr>
      <vt:lpstr>Нумерація об’єктів</vt:lpstr>
      <vt:lpstr>Рівні DFD-моделі</vt:lpstr>
      <vt:lpstr>Побудова ієрархії DFD</vt:lpstr>
      <vt:lpstr>Презентация PowerPoint</vt:lpstr>
      <vt:lpstr>Приклад</vt:lpstr>
      <vt:lpstr>Контекстна діаграма</vt:lpstr>
      <vt:lpstr>Зміст потоків даних</vt:lpstr>
      <vt:lpstr>Презентация PowerPoint</vt:lpstr>
      <vt:lpstr>Декомпозиція на діаграми 1-го рівня</vt:lpstr>
      <vt:lpstr>Результат декомпозиції</vt:lpstr>
      <vt:lpstr>Діаграми 1-го рівня: облік клієнтів фільмотеки</vt:lpstr>
      <vt:lpstr>Мініспеціфікації </vt:lpstr>
      <vt:lpstr>Дополнительные диаграммы</vt:lpstr>
      <vt:lpstr>Пример2 DFD-модели постройки дачного домика</vt:lpstr>
      <vt:lpstr>Презентация PowerPoint</vt:lpstr>
      <vt:lpstr>Презентация PowerPoint</vt:lpstr>
      <vt:lpstr>Презентация PowerPoint</vt:lpstr>
    </vt:vector>
  </TitlesOfParts>
  <Company>shishki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Функциональное моделирование систем с использованием методологии DFD</dc:title>
  <dc:creator>mashi_m</dc:creator>
  <cp:lastModifiedBy>Tetyana Kovalyuk</cp:lastModifiedBy>
  <cp:revision>29</cp:revision>
  <dcterms:created xsi:type="dcterms:W3CDTF">2009-03-06T16:36:45Z</dcterms:created>
  <dcterms:modified xsi:type="dcterms:W3CDTF">2019-04-04T10:32:22Z</dcterms:modified>
</cp:coreProperties>
</file>