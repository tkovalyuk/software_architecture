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57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314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5" r:id="rId47"/>
    <p:sldId id="316" r:id="rId48"/>
    <p:sldId id="317" r:id="rId49"/>
    <p:sldId id="318" r:id="rId50"/>
    <p:sldId id="313" r:id="rId5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12F9CDCF-F794-4D81-8381-19EA34B04F24}" type="slidenum">
              <a:rPr lang="ru-RU" sz="1600" smtClean="0">
                <a:solidFill>
                  <a:srgbClr val="000000"/>
                </a:solidFill>
              </a:rPr>
              <a:pPr/>
              <a:t>‹#›</a:t>
            </a:fld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4545105" y="6534855"/>
            <a:ext cx="35399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uk-UA" sz="1200" dirty="0">
                <a:solidFill>
                  <a:srgbClr val="000000"/>
                </a:solidFill>
              </a:rPr>
              <a:t>Т.В. </a:t>
            </a:r>
            <a:r>
              <a:rPr lang="uk-UA" sz="1200" dirty="0" err="1">
                <a:solidFill>
                  <a:srgbClr val="000000"/>
                </a:solidFill>
              </a:rPr>
              <a:t>Ковалюк</a:t>
            </a:r>
            <a:r>
              <a:rPr lang="uk-UA" sz="1200" dirty="0">
                <a:solidFill>
                  <a:srgbClr val="000000"/>
                </a:solidFill>
              </a:rPr>
              <a:t> </a:t>
            </a:r>
            <a:r>
              <a:rPr lang="uk-UA" sz="1200" dirty="0">
                <a:solidFill>
                  <a:srgbClr val="000000"/>
                </a:solidFill>
              </a:rPr>
              <a:t>Архітектура і проектування </a:t>
            </a:r>
            <a:r>
              <a:rPr lang="uk-UA" sz="1200" dirty="0">
                <a:solidFill>
                  <a:srgbClr val="000000"/>
                </a:solidFill>
              </a:rPr>
              <a:t>ПЗ</a:t>
            </a:r>
            <a:endParaRPr lang="ru-RU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1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8575"/>
            <a:ext cx="9144000" cy="6800850"/>
          </a:xfrm>
          <a:prstGeom prst="rect">
            <a:avLst/>
          </a:prstGeom>
        </p:spPr>
      </p:pic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532440" y="6597352"/>
            <a:ext cx="591784" cy="275117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‹#›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2" name="Прямокутник 1"/>
          <p:cNvSpPr/>
          <p:nvPr userDrawn="1"/>
        </p:nvSpPr>
        <p:spPr>
          <a:xfrm>
            <a:off x="-19777" y="769477"/>
            <a:ext cx="9144001" cy="5760640"/>
          </a:xfrm>
          <a:prstGeom prst="rect">
            <a:avLst/>
          </a:prstGeom>
          <a:solidFill>
            <a:schemeClr val="bg1"/>
          </a:solidFill>
          <a:ln w="38100" cmpd="thinThick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552223" y="6597352"/>
            <a:ext cx="3371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200" dirty="0">
                <a:solidFill>
                  <a:srgbClr val="FFFFFF"/>
                </a:solidFill>
              </a:rPr>
              <a:t>Т.В. Ковалюк. Архітектура і проектування ПЗ</a:t>
            </a:r>
            <a:endParaRPr lang="ru-RU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49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12F9CDCF-F794-4D81-8381-19EA34B04F24}" type="slidenum">
              <a:rPr lang="ru-RU" sz="1600" smtClean="0">
                <a:solidFill>
                  <a:srgbClr val="000000"/>
                </a:solidFill>
              </a:rPr>
              <a:pPr/>
              <a:t>‹#›</a:t>
            </a:fld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4258491" y="6534855"/>
            <a:ext cx="382657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uk-UA" sz="1200" dirty="0">
                <a:solidFill>
                  <a:srgbClr val="000000"/>
                </a:solidFill>
              </a:rPr>
              <a:t>Т.В. </a:t>
            </a:r>
            <a:r>
              <a:rPr lang="uk-UA" sz="1200" dirty="0" err="1">
                <a:solidFill>
                  <a:srgbClr val="000000"/>
                </a:solidFill>
              </a:rPr>
              <a:t>Ковалюк</a:t>
            </a:r>
            <a:r>
              <a:rPr lang="uk-UA" sz="1200" dirty="0">
                <a:solidFill>
                  <a:srgbClr val="000000"/>
                </a:solidFill>
              </a:rPr>
              <a:t> </a:t>
            </a:r>
            <a:r>
              <a:rPr lang="uk-UA" sz="1200" dirty="0" err="1">
                <a:solidFill>
                  <a:srgbClr val="000000"/>
                </a:solidFill>
              </a:rPr>
              <a:t>Архітнектура</a:t>
            </a:r>
            <a:r>
              <a:rPr lang="uk-UA" sz="1200" dirty="0">
                <a:solidFill>
                  <a:srgbClr val="000000"/>
                </a:solidFill>
              </a:rPr>
              <a:t> та Проектування </a:t>
            </a:r>
            <a:r>
              <a:rPr lang="uk-UA" sz="1200" dirty="0">
                <a:solidFill>
                  <a:srgbClr val="000000"/>
                </a:solidFill>
              </a:rPr>
              <a:t>ПЗ</a:t>
            </a:r>
            <a:endParaRPr lang="ru-RU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08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1.v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5"/>
          <p:cNvGraphicFramePr>
            <a:graphicFrameLocks noChangeAspect="1"/>
          </p:cNvGraphicFramePr>
          <p:nvPr/>
        </p:nvGraphicFramePr>
        <p:xfrm>
          <a:off x="0" y="6381750"/>
          <a:ext cx="9144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Фотография Photo Editor" r:id="rId6" imgW="1828571" imgH="1047619" progId="">
                  <p:embed/>
                </p:oleObj>
              </mc:Choice>
              <mc:Fallback>
                <p:oleObj name="Фотография Photo Editor" r:id="rId6" imgW="1828571" imgH="104761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81750"/>
                        <a:ext cx="9144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Группа 6"/>
          <p:cNvGrpSpPr>
            <a:grpSpLocks/>
          </p:cNvGrpSpPr>
          <p:nvPr/>
        </p:nvGrpSpPr>
        <p:grpSpPr bwMode="auto">
          <a:xfrm>
            <a:off x="0" y="0"/>
            <a:ext cx="9144000" cy="2078038"/>
            <a:chOff x="-4" y="0"/>
            <a:chExt cx="9144003" cy="2078019"/>
          </a:xfrm>
        </p:grpSpPr>
        <p:grpSp>
          <p:nvGrpSpPr>
            <p:cNvPr id="1033" name="Группа 66"/>
            <p:cNvGrpSpPr>
              <a:grpSpLocks/>
            </p:cNvGrpSpPr>
            <p:nvPr/>
          </p:nvGrpSpPr>
          <p:grpSpPr bwMode="auto">
            <a:xfrm>
              <a:off x="-4" y="0"/>
              <a:ext cx="3111501" cy="1384272"/>
              <a:chOff x="-4" y="0"/>
              <a:chExt cx="3111501" cy="1384272"/>
            </a:xfrm>
          </p:grpSpPr>
          <p:sp>
            <p:nvSpPr>
              <p:cNvPr id="24" name="Прямоугольник 23"/>
              <p:cNvSpPr/>
              <p:nvPr/>
            </p:nvSpPr>
            <p:spPr>
              <a:xfrm flipH="1">
                <a:off x="-4" y="0"/>
                <a:ext cx="3111501" cy="68738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  <a:alpha val="27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 flipH="1">
                <a:off x="-4" y="681897"/>
                <a:ext cx="3020162" cy="702375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  <a:alpha val="48000"/>
                    </a:srgbClr>
                  </a:gs>
                  <a:gs pos="100000">
                    <a:srgbClr val="FFFF00">
                      <a:tint val="23500"/>
                      <a:satMod val="160000"/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 flipH="1">
                <a:off x="500059" y="0"/>
                <a:ext cx="487362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7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Прямоугольник 26"/>
              <p:cNvSpPr/>
              <p:nvPr/>
            </p:nvSpPr>
            <p:spPr>
              <a:xfrm flipH="1">
                <a:off x="706434" y="0"/>
                <a:ext cx="579437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46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Прямоугольник 27"/>
              <p:cNvSpPr/>
              <p:nvPr/>
            </p:nvSpPr>
            <p:spPr>
              <a:xfrm flipH="1">
                <a:off x="2076447" y="0"/>
                <a:ext cx="487363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2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Прямоугольник 28"/>
              <p:cNvSpPr/>
              <p:nvPr/>
            </p:nvSpPr>
            <p:spPr>
              <a:xfrm flipH="1">
                <a:off x="1741485" y="0"/>
                <a:ext cx="577850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Прямоугольник с двумя скругленными противолежащими углами 8"/>
            <p:cNvSpPr/>
            <p:nvPr/>
          </p:nvSpPr>
          <p:spPr>
            <a:xfrm>
              <a:off x="1504946" y="288922"/>
              <a:ext cx="7639053" cy="1789097"/>
            </a:xfrm>
            <a:prstGeom prst="round2DiagRect">
              <a:avLst>
                <a:gd name="adj1" fmla="val 372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grpSp>
          <p:nvGrpSpPr>
            <p:cNvPr id="1035" name="Группа 55"/>
            <p:cNvGrpSpPr>
              <a:grpSpLocks/>
            </p:cNvGrpSpPr>
            <p:nvPr/>
          </p:nvGrpSpPr>
          <p:grpSpPr bwMode="auto">
            <a:xfrm>
              <a:off x="1700173" y="473034"/>
              <a:ext cx="1000132" cy="1000132"/>
              <a:chOff x="282516" y="190456"/>
              <a:chExt cx="1000132" cy="1000132"/>
            </a:xfrm>
          </p:grpSpPr>
          <p:sp>
            <p:nvSpPr>
              <p:cNvPr id="13" name="Хорда 12"/>
              <p:cNvSpPr/>
              <p:nvPr/>
            </p:nvSpPr>
            <p:spPr>
              <a:xfrm>
                <a:off x="339703" y="219068"/>
                <a:ext cx="928687" cy="928680"/>
              </a:xfrm>
              <a:prstGeom prst="chord">
                <a:avLst>
                  <a:gd name="adj1" fmla="val 7131849"/>
                  <a:gd name="adj2" fmla="val 4448976"/>
                </a:avLst>
              </a:prstGeom>
              <a:gradFill flip="none" rotWithShape="1">
                <a:gsLst>
                  <a:gs pos="0">
                    <a:srgbClr val="006699">
                      <a:shade val="30000"/>
                      <a:satMod val="115000"/>
                    </a:srgbClr>
                  </a:gs>
                  <a:gs pos="50000">
                    <a:srgbClr val="006699">
                      <a:shade val="67500"/>
                      <a:satMod val="115000"/>
                    </a:srgbClr>
                  </a:gs>
                  <a:gs pos="100000">
                    <a:srgbClr val="006699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Кольцо 13"/>
              <p:cNvSpPr/>
              <p:nvPr/>
            </p:nvSpPr>
            <p:spPr>
              <a:xfrm>
                <a:off x="282553" y="190493"/>
                <a:ext cx="1000125" cy="1000116"/>
              </a:xfrm>
              <a:prstGeom prst="donut">
                <a:avLst>
                  <a:gd name="adj" fmla="val 1419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>
              <a:xfrm>
                <a:off x="482578" y="361941"/>
                <a:ext cx="500062" cy="4286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1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Кольцо 15"/>
              <p:cNvSpPr/>
              <p:nvPr/>
            </p:nvSpPr>
            <p:spPr>
              <a:xfrm>
                <a:off x="398440" y="301617"/>
                <a:ext cx="754063" cy="766756"/>
              </a:xfrm>
              <a:prstGeom prst="donut">
                <a:avLst>
                  <a:gd name="adj" fmla="val 5909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Овал 16"/>
              <p:cNvSpPr/>
              <p:nvPr/>
            </p:nvSpPr>
            <p:spPr>
              <a:xfrm rot="19570648">
                <a:off x="471465" y="328605"/>
                <a:ext cx="292100" cy="219073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Овал 17"/>
              <p:cNvSpPr/>
              <p:nvPr/>
            </p:nvSpPr>
            <p:spPr>
              <a:xfrm rot="19038152">
                <a:off x="492103" y="357179"/>
                <a:ext cx="219075" cy="146049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Овал 18"/>
              <p:cNvSpPr/>
              <p:nvPr/>
            </p:nvSpPr>
            <p:spPr>
              <a:xfrm rot="19038152">
                <a:off x="536553" y="369879"/>
                <a:ext cx="103187" cy="92074"/>
              </a:xfrm>
              <a:prstGeom prst="ellipse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Овал 19"/>
              <p:cNvSpPr/>
              <p:nvPr/>
            </p:nvSpPr>
            <p:spPr>
              <a:xfrm rot="19038152">
                <a:off x="515915" y="360354"/>
                <a:ext cx="153988" cy="119061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8" cstate="email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7" name="Picture 2"/>
              <p:cNvPicPr>
                <a:picLocks noChangeAspect="1" noChangeArrowheads="1"/>
              </p:cNvPicPr>
              <p:nvPr/>
            </p:nvPicPr>
            <p:blipFill>
              <a:blip r:embed="rId8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lum bright="70000" contrast="-70000"/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Месяц 22"/>
              <p:cNvSpPr/>
              <p:nvPr/>
            </p:nvSpPr>
            <p:spPr>
              <a:xfrm rot="15681566">
                <a:off x="617517" y="506400"/>
                <a:ext cx="365122" cy="615950"/>
              </a:xfrm>
              <a:prstGeom prst="moon">
                <a:avLst>
                  <a:gd name="adj" fmla="val 59019"/>
                </a:avLst>
              </a:prstGeom>
              <a:solidFill>
                <a:schemeClr val="tx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Прямоугольник с двумя скругленными противолежащими углами 10"/>
            <p:cNvSpPr/>
            <p:nvPr/>
          </p:nvSpPr>
          <p:spPr>
            <a:xfrm>
              <a:off x="2819397" y="836605"/>
              <a:ext cx="6061077" cy="474658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sp>
          <p:nvSpPr>
            <p:cNvPr id="12" name="Прямоугольник с двумя скругленными противолежащими углами 11"/>
            <p:cNvSpPr/>
            <p:nvPr/>
          </p:nvSpPr>
          <p:spPr>
            <a:xfrm>
              <a:off x="2819397" y="434971"/>
              <a:ext cx="803275" cy="876292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</p:grpSp>
      <p:sp>
        <p:nvSpPr>
          <p:cNvPr id="1028" name="Заголовок 1"/>
          <p:cNvSpPr>
            <a:spLocks noGrp="1"/>
          </p:cNvSpPr>
          <p:nvPr>
            <p:ph type="title"/>
          </p:nvPr>
        </p:nvSpPr>
        <p:spPr bwMode="auto">
          <a:xfrm>
            <a:off x="2819400" y="398463"/>
            <a:ext cx="6061075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uk-UA" smtClean="0"/>
          </a:p>
        </p:txBody>
      </p:sp>
      <p:sp>
        <p:nvSpPr>
          <p:cNvPr id="1029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endParaRPr lang="uk-UA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32" name="Text Box 32"/>
          <p:cNvSpPr txBox="1">
            <a:spLocks noChangeArrowheads="1"/>
          </p:cNvSpPr>
          <p:nvPr/>
        </p:nvSpPr>
        <p:spPr bwMode="auto">
          <a:xfrm>
            <a:off x="7631113" y="6583363"/>
            <a:ext cx="1262062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uk-UA" sz="1200">
                <a:solidFill>
                  <a:srgbClr val="000000"/>
                </a:solidFill>
              </a:rPr>
              <a:t>Листопад 2011</a:t>
            </a:r>
            <a:endParaRPr lang="ru-RU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88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5"/>
          <p:cNvSpPr>
            <a:spLocks noChangeArrowheads="1" noChangeShapeType="1" noTextEdit="1"/>
          </p:cNvSpPr>
          <p:nvPr/>
        </p:nvSpPr>
        <p:spPr bwMode="auto">
          <a:xfrm>
            <a:off x="395288" y="1412875"/>
            <a:ext cx="8280400" cy="3095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Архітектура і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sz="3600" b="1" kern="10" dirty="0" smtClean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проектування </a:t>
            </a:r>
            <a:endParaRPr lang="uk-UA" sz="3600" b="1" kern="10" dirty="0">
              <a:ln w="9525">
                <a:noFill/>
                <a:round/>
                <a:headEnd/>
                <a:tailEnd/>
              </a:ln>
              <a:solidFill>
                <a:srgbClr val="0000CC"/>
              </a:solidFill>
              <a:effectLst>
                <a:outerShdw dist="68392" dir="1308085" algn="ctr" rotWithShape="0">
                  <a:srgbClr val="F6FB17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програмного забезпечення</a:t>
            </a:r>
          </a:p>
        </p:txBody>
      </p:sp>
      <p:sp>
        <p:nvSpPr>
          <p:cNvPr id="15363" name="WordArt 6"/>
          <p:cNvSpPr>
            <a:spLocks noChangeArrowheads="1" noChangeShapeType="1" noTextEdit="1"/>
          </p:cNvSpPr>
          <p:nvPr/>
        </p:nvSpPr>
        <p:spPr bwMode="auto">
          <a:xfrm>
            <a:off x="2771775" y="5084763"/>
            <a:ext cx="4464050" cy="687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i="1" kern="10">
                <a:ln w="9525">
                  <a:solidFill>
                    <a:srgbClr val="1F497D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</a:rPr>
              <a:t>Ковалюк Т.В. к.т.н., доцент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i="1" kern="10">
                <a:ln w="9525">
                  <a:solidFill>
                    <a:srgbClr val="1F497D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</a:rPr>
              <a:t>tkovalyuk@ukr.net</a:t>
            </a:r>
            <a:endParaRPr lang="uk-UA" sz="3600" i="1" kern="10">
              <a:ln w="9525">
                <a:solidFill>
                  <a:srgbClr val="1F497D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00CC"/>
                  </a:gs>
                  <a:gs pos="100000">
                    <a:srgbClr val="00005E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50598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2062" y="1017530"/>
            <a:ext cx="906193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Лекці</a:t>
            </a:r>
            <a:r>
              <a:rPr lang="uk-UA" altLang="ru-RU" sz="4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</a:t>
            </a: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</a:t>
            </a:r>
            <a:endParaRPr lang="uk-UA" altLang="ru-RU" sz="4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uk-UA" altLang="ru-RU" sz="44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Структурне проектування ПЗ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ru-RU" sz="4400" b="1" dirty="0" smtClean="0">
                <a:solidFill>
                  <a:srgbClr val="0000CC"/>
                </a:solidFill>
              </a:rPr>
              <a:t>SADT-s</a:t>
            </a:r>
            <a:r>
              <a:rPr lang="en-US" sz="4400" b="1" dirty="0" smtClean="0">
                <a:solidFill>
                  <a:srgbClr val="0000CC"/>
                </a:solidFill>
              </a:rPr>
              <a:t>tructured </a:t>
            </a:r>
            <a:r>
              <a:rPr lang="en-US" sz="4400" b="1" dirty="0">
                <a:solidFill>
                  <a:srgbClr val="0000CC"/>
                </a:solidFill>
              </a:rPr>
              <a:t>analysis and design technique</a:t>
            </a:r>
            <a:r>
              <a:rPr lang="uk-UA" altLang="ru-RU" sz="44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Стандарт </a:t>
            </a:r>
            <a:r>
              <a:rPr lang="en-US" altLang="ru-RU" sz="44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IDEF0</a:t>
            </a:r>
            <a:endParaRPr lang="uk-UA" altLang="ru-RU" sz="44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ru-RU" altLang="ru-RU" sz="4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770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9784" y="107162"/>
            <a:ext cx="6643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>
                <a:solidFill>
                  <a:schemeClr val="bg1"/>
                </a:solidFill>
              </a:rPr>
              <a:t>Мови опису архітектури та структур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9002" y="1592989"/>
            <a:ext cx="87651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IDEF0</a:t>
            </a:r>
            <a:r>
              <a:rPr lang="en-US" dirty="0">
                <a:solidFill>
                  <a:srgbClr val="000000"/>
                </a:solidFill>
              </a:rPr>
              <a:t> - </a:t>
            </a:r>
            <a:r>
              <a:rPr lang="uk-UA" dirty="0">
                <a:solidFill>
                  <a:srgbClr val="000000"/>
                </a:solidFill>
              </a:rPr>
              <a:t>Опис функціональної структури ПЗ відповідно до функціональних задач інформаційної системи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DFD</a:t>
            </a:r>
            <a:r>
              <a:rPr lang="en-US" dirty="0">
                <a:solidFill>
                  <a:srgbClr val="000000"/>
                </a:solidFill>
              </a:rPr>
              <a:t> – </a:t>
            </a:r>
            <a:r>
              <a:rPr lang="uk-UA" dirty="0">
                <a:solidFill>
                  <a:srgbClr val="000000"/>
                </a:solidFill>
              </a:rPr>
              <a:t>Опис функціональної структури ПЗ відповідно до потоків даних</a:t>
            </a:r>
          </a:p>
          <a:p>
            <a:r>
              <a:rPr lang="en-US" b="1" dirty="0">
                <a:solidFill>
                  <a:srgbClr val="000000"/>
                </a:solidFill>
              </a:rPr>
              <a:t>UML</a:t>
            </a:r>
            <a:r>
              <a:rPr lang="uk-UA" dirty="0">
                <a:solidFill>
                  <a:srgbClr val="000000"/>
                </a:solidFill>
              </a:rPr>
              <a:t> – Опис  структурних елементів ПЗ відповідно до об</a:t>
            </a:r>
            <a:r>
              <a:rPr lang="en-US" dirty="0">
                <a:solidFill>
                  <a:srgbClr val="000000"/>
                </a:solidFill>
              </a:rPr>
              <a:t>’</a:t>
            </a:r>
            <a:r>
              <a:rPr lang="uk-UA" dirty="0" err="1">
                <a:solidFill>
                  <a:srgbClr val="000000"/>
                </a:solidFill>
              </a:rPr>
              <a:t>єктно</a:t>
            </a:r>
            <a:r>
              <a:rPr lang="uk-UA" dirty="0">
                <a:solidFill>
                  <a:srgbClr val="000000"/>
                </a:solidFill>
              </a:rPr>
              <a:t>-орієнтованого підходу</a:t>
            </a:r>
          </a:p>
          <a:p>
            <a:r>
              <a:rPr lang="en-US" b="1" dirty="0">
                <a:solidFill>
                  <a:srgbClr val="000000"/>
                </a:solidFill>
              </a:rPr>
              <a:t>BPMN</a:t>
            </a:r>
            <a:r>
              <a:rPr lang="en-US" dirty="0">
                <a:solidFill>
                  <a:srgbClr val="000000"/>
                </a:solidFill>
              </a:rPr>
              <a:t> – </a:t>
            </a:r>
            <a:r>
              <a:rPr lang="uk-UA" dirty="0">
                <a:solidFill>
                  <a:srgbClr val="000000"/>
                </a:solidFill>
              </a:rPr>
              <a:t>Опис бізнес-процесів системи</a:t>
            </a:r>
          </a:p>
          <a:p>
            <a:r>
              <a:rPr lang="en-US" b="1" dirty="0">
                <a:solidFill>
                  <a:srgbClr val="000000"/>
                </a:solidFill>
              </a:rPr>
              <a:t>AADL</a:t>
            </a:r>
            <a:r>
              <a:rPr lang="uk-UA" dirty="0">
                <a:solidFill>
                  <a:srgbClr val="000000"/>
                </a:solidFill>
              </a:rPr>
              <a:t> </a:t>
            </a:r>
            <a:r>
              <a:rPr lang="uk-UA" b="1" dirty="0">
                <a:solidFill>
                  <a:srgbClr val="000000"/>
                </a:solidFill>
              </a:rPr>
              <a:t>- </a:t>
            </a:r>
            <a:r>
              <a:rPr lang="en-US" dirty="0">
                <a:solidFill>
                  <a:srgbClr val="000000"/>
                </a:solidFill>
              </a:rPr>
              <a:t>Architecture Analysis &amp; Design </a:t>
            </a:r>
            <a:r>
              <a:rPr lang="en-US" dirty="0">
                <a:solidFill>
                  <a:srgbClr val="000000"/>
                </a:solidFill>
              </a:rPr>
              <a:t>Language</a:t>
            </a:r>
            <a:endParaRPr lang="uk-UA" dirty="0">
              <a:solidFill>
                <a:srgbClr val="000000"/>
              </a:solidFill>
            </a:endParaRPr>
          </a:p>
          <a:p>
            <a:r>
              <a:rPr lang="en-US" b="1" dirty="0" err="1">
                <a:solidFill>
                  <a:srgbClr val="000000"/>
                </a:solidFill>
              </a:rPr>
              <a:t>ArchiMate</a:t>
            </a:r>
            <a:r>
              <a:rPr lang="en-US" dirty="0">
                <a:solidFill>
                  <a:srgbClr val="000000"/>
                </a:solidFill>
              </a:rPr>
              <a:t> - </a:t>
            </a:r>
            <a:r>
              <a:rPr lang="uk-UA" dirty="0">
                <a:solidFill>
                  <a:srgbClr val="000000"/>
                </a:solidFill>
              </a:rPr>
              <a:t> Опис шарів архітектури підприємства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uk-UA" dirty="0">
                <a:solidFill>
                  <a:srgbClr val="000000"/>
                </a:solidFill>
              </a:rPr>
              <a:t> </a:t>
            </a:r>
            <a:endParaRPr lang="ru-R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07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323528" y="917912"/>
            <a:ext cx="849694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SADT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(Structured Analysis and Design Technique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ctr">
              <a:spcAft>
                <a:spcPts val="600"/>
              </a:spcAft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SADT </a:t>
            </a:r>
            <a:r>
              <a:rPr lang="uk-UA" sz="2000" dirty="0" smtClean="0">
                <a:latin typeface="Arial" pitchFamily="34" charset="0"/>
                <a:cs typeface="Arial" pitchFamily="34" charset="0"/>
              </a:rPr>
              <a:t>- м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етодологія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структурного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аналізу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проектування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uk-UA" sz="2000" dirty="0" smtClean="0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інтегрує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процес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конфігурацією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проекту,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використання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додаткових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мовних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засобів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керівництво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проектом.</a:t>
            </a: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Процес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може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розділений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декілька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етапів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: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опитування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експертів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створення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моделей,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розповсюдження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документації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оцінка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адекватності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моделей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прийняття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подальшого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використання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Визнання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корисності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SADT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привело до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стандартизації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та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публікації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її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частини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призначеної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функціонального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як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методології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і стандарту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функціонального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опису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бізнес-процесів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IDEF0.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33165" y="148537"/>
            <a:ext cx="3453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Поняття 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SADT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70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0" y="0"/>
            <a:ext cx="912422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</a:pP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Суть структурного </a:t>
            </a:r>
            <a:r>
              <a:rPr lang="ru-RU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підходу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до </a:t>
            </a:r>
            <a:r>
              <a:rPr lang="ru-RU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систем</a:t>
            </a:r>
            <a:endParaRPr lang="ru-RU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539552" y="1340768"/>
            <a:ext cx="7848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sz="2400" dirty="0"/>
              <a:t>Система </a:t>
            </a:r>
            <a:r>
              <a:rPr lang="ru-RU" sz="2400" dirty="0" err="1"/>
              <a:t>розбивається</a:t>
            </a:r>
            <a:r>
              <a:rPr lang="ru-RU" sz="2400" dirty="0"/>
              <a:t> на </a:t>
            </a:r>
            <a:r>
              <a:rPr lang="ru-RU" sz="2400" dirty="0" err="1"/>
              <a:t>функціональні</a:t>
            </a:r>
            <a:r>
              <a:rPr lang="ru-RU" sz="2400" dirty="0"/>
              <a:t> </a:t>
            </a:r>
            <a:r>
              <a:rPr lang="ru-RU" sz="2400" dirty="0" err="1"/>
              <a:t>підсистеми</a:t>
            </a:r>
            <a:r>
              <a:rPr lang="ru-RU" sz="2400" dirty="0"/>
              <a:t>, </a:t>
            </a:r>
            <a:r>
              <a:rPr lang="ru-RU" sz="2400" dirty="0" err="1"/>
              <a:t>які</a:t>
            </a:r>
            <a:r>
              <a:rPr lang="ru-RU" sz="2400" dirty="0"/>
              <a:t>, у свою </a:t>
            </a:r>
            <a:r>
              <a:rPr lang="ru-RU" sz="2400" dirty="0" err="1"/>
              <a:t>чергу</a:t>
            </a:r>
            <a:r>
              <a:rPr lang="ru-RU" sz="2400" dirty="0"/>
              <a:t>, </a:t>
            </a:r>
            <a:r>
              <a:rPr lang="ru-RU" sz="2400" dirty="0" err="1"/>
              <a:t>діляться</a:t>
            </a:r>
            <a:r>
              <a:rPr lang="ru-RU" sz="2400" dirty="0"/>
              <a:t> на </a:t>
            </a:r>
            <a:r>
              <a:rPr lang="ru-RU" sz="2400" dirty="0" err="1"/>
              <a:t>підфункції</a:t>
            </a:r>
            <a:r>
              <a:rPr lang="ru-RU" sz="2400" dirty="0"/>
              <a:t>, </a:t>
            </a:r>
            <a:r>
              <a:rPr lang="ru-RU" sz="2400" dirty="0" err="1"/>
              <a:t>підфункції</a:t>
            </a:r>
            <a:r>
              <a:rPr lang="ru-RU" sz="2400" dirty="0"/>
              <a:t> - на </a:t>
            </a:r>
            <a:r>
              <a:rPr lang="ru-RU" sz="2400" dirty="0" err="1"/>
              <a:t>завдання</a:t>
            </a:r>
            <a:r>
              <a:rPr lang="ru-RU" sz="2400" dirty="0"/>
              <a:t> і </a:t>
            </a:r>
            <a:r>
              <a:rPr lang="ru-RU" sz="2400" dirty="0" err="1" smtClean="0"/>
              <a:t>далі</a:t>
            </a:r>
            <a:r>
              <a:rPr lang="ru-RU" sz="2400" dirty="0" smtClean="0"/>
              <a:t> </a:t>
            </a:r>
            <a:r>
              <a:rPr lang="ru-RU" sz="2400" dirty="0"/>
              <a:t>до </a:t>
            </a:r>
            <a:r>
              <a:rPr lang="ru-RU" sz="2400" dirty="0" err="1"/>
              <a:t>конкретних</a:t>
            </a:r>
            <a:r>
              <a:rPr lang="ru-RU" sz="2400" dirty="0"/>
              <a:t> процедур </a:t>
            </a:r>
          </a:p>
        </p:txBody>
      </p:sp>
      <p:grpSp>
        <p:nvGrpSpPr>
          <p:cNvPr id="5" name="Групувати 4"/>
          <p:cNvGrpSpPr/>
          <p:nvPr/>
        </p:nvGrpSpPr>
        <p:grpSpPr>
          <a:xfrm>
            <a:off x="341313" y="2988469"/>
            <a:ext cx="8080375" cy="2751138"/>
            <a:chOff x="611188" y="3429000"/>
            <a:chExt cx="8080375" cy="2751138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611188" y="4437063"/>
              <a:ext cx="1441450" cy="57626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dirty="0"/>
                <a:t>Система</a:t>
              </a:r>
            </a:p>
          </p:txBody>
        </p:sp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1835150" y="3787775"/>
              <a:ext cx="1801813" cy="720725"/>
              <a:chOff x="1202" y="2704"/>
              <a:chExt cx="1135" cy="454"/>
            </a:xfrm>
          </p:grpSpPr>
          <p:sp>
            <p:nvSpPr>
              <p:cNvPr id="48" name="Oval 5"/>
              <p:cNvSpPr>
                <a:spLocks noChangeArrowheads="1"/>
              </p:cNvSpPr>
              <p:nvPr/>
            </p:nvSpPr>
            <p:spPr bwMode="auto">
              <a:xfrm>
                <a:off x="1565" y="2704"/>
                <a:ext cx="772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 dirty="0" err="1" smtClean="0"/>
                  <a:t>Функція</a:t>
                </a:r>
                <a:r>
                  <a:rPr lang="ru-RU" dirty="0" smtClean="0"/>
                  <a:t> </a:t>
                </a:r>
                <a:r>
                  <a:rPr lang="ru-RU" dirty="0"/>
                  <a:t>1</a:t>
                </a:r>
              </a:p>
            </p:txBody>
          </p:sp>
          <p:sp>
            <p:nvSpPr>
              <p:cNvPr id="49" name="Line 17"/>
              <p:cNvSpPr>
                <a:spLocks noChangeShapeType="1"/>
              </p:cNvSpPr>
              <p:nvPr/>
            </p:nvSpPr>
            <p:spPr bwMode="auto">
              <a:xfrm flipV="1">
                <a:off x="1202" y="2886"/>
                <a:ext cx="408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" name="Group 38"/>
            <p:cNvGrpSpPr>
              <a:grpSpLocks/>
            </p:cNvGrpSpPr>
            <p:nvPr/>
          </p:nvGrpSpPr>
          <p:grpSpPr bwMode="auto">
            <a:xfrm>
              <a:off x="2051050" y="4364038"/>
              <a:ext cx="1655763" cy="431800"/>
              <a:chOff x="1338" y="3067"/>
              <a:chExt cx="1043" cy="272"/>
            </a:xfrm>
          </p:grpSpPr>
          <p:sp>
            <p:nvSpPr>
              <p:cNvPr id="46" name="Oval 6"/>
              <p:cNvSpPr>
                <a:spLocks noChangeArrowheads="1"/>
              </p:cNvSpPr>
              <p:nvPr/>
            </p:nvSpPr>
            <p:spPr bwMode="auto">
              <a:xfrm>
                <a:off x="1565" y="3067"/>
                <a:ext cx="816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 dirty="0" err="1" smtClean="0"/>
                  <a:t>Функція</a:t>
                </a:r>
                <a:r>
                  <a:rPr lang="ru-RU" dirty="0" smtClean="0"/>
                  <a:t> </a:t>
                </a:r>
                <a:r>
                  <a:rPr lang="ru-RU" dirty="0"/>
                  <a:t>2</a:t>
                </a:r>
              </a:p>
            </p:txBody>
          </p:sp>
          <p:sp>
            <p:nvSpPr>
              <p:cNvPr id="47" name="Line 19"/>
              <p:cNvSpPr>
                <a:spLocks noChangeShapeType="1"/>
              </p:cNvSpPr>
              <p:nvPr/>
            </p:nvSpPr>
            <p:spPr bwMode="auto">
              <a:xfrm flipV="1">
                <a:off x="1338" y="3203"/>
                <a:ext cx="227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2051050" y="4795838"/>
              <a:ext cx="1239838" cy="560387"/>
              <a:chOff x="1338" y="3339"/>
              <a:chExt cx="781" cy="353"/>
            </a:xfrm>
          </p:grpSpPr>
          <p:sp>
            <p:nvSpPr>
              <p:cNvPr id="44" name="Text Box 8"/>
              <p:cNvSpPr txBox="1">
                <a:spLocks noChangeArrowheads="1"/>
              </p:cNvSpPr>
              <p:nvPr/>
            </p:nvSpPr>
            <p:spPr bwMode="auto">
              <a:xfrm>
                <a:off x="1779" y="3365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  <p:sp>
            <p:nvSpPr>
              <p:cNvPr id="45" name="Line 20"/>
              <p:cNvSpPr>
                <a:spLocks noChangeShapeType="1"/>
              </p:cNvSpPr>
              <p:nvPr/>
            </p:nvSpPr>
            <p:spPr bwMode="auto">
              <a:xfrm>
                <a:off x="1338" y="3339"/>
                <a:ext cx="453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1906588" y="4940300"/>
              <a:ext cx="1800225" cy="1008063"/>
              <a:chOff x="1247" y="3430"/>
              <a:chExt cx="1134" cy="635"/>
            </a:xfrm>
          </p:grpSpPr>
          <p:sp>
            <p:nvSpPr>
              <p:cNvPr id="42" name="Oval 7"/>
              <p:cNvSpPr>
                <a:spLocks noChangeArrowheads="1"/>
              </p:cNvSpPr>
              <p:nvPr/>
            </p:nvSpPr>
            <p:spPr bwMode="auto">
              <a:xfrm>
                <a:off x="1565" y="3793"/>
                <a:ext cx="816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 dirty="0" err="1" smtClean="0"/>
                  <a:t>Функція</a:t>
                </a:r>
                <a:r>
                  <a:rPr lang="ru-RU" dirty="0" smtClean="0"/>
                  <a:t> </a:t>
                </a:r>
                <a:r>
                  <a:rPr lang="en-US" dirty="0"/>
                  <a:t>n</a:t>
                </a:r>
                <a:endParaRPr lang="ru-RU" dirty="0"/>
              </a:p>
            </p:txBody>
          </p:sp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>
                <a:off x="1247" y="3430"/>
                <a:ext cx="318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" name="Group 42"/>
            <p:cNvGrpSpPr>
              <a:grpSpLocks/>
            </p:cNvGrpSpPr>
            <p:nvPr/>
          </p:nvGrpSpPr>
          <p:grpSpPr bwMode="auto">
            <a:xfrm>
              <a:off x="3706813" y="4508500"/>
              <a:ext cx="2305050" cy="431800"/>
              <a:chOff x="2381" y="3158"/>
              <a:chExt cx="1452" cy="272"/>
            </a:xfrm>
          </p:grpSpPr>
          <p:sp>
            <p:nvSpPr>
              <p:cNvPr id="40" name="Oval 10"/>
              <p:cNvSpPr>
                <a:spLocks noChangeArrowheads="1"/>
              </p:cNvSpPr>
              <p:nvPr/>
            </p:nvSpPr>
            <p:spPr bwMode="auto">
              <a:xfrm>
                <a:off x="2699" y="3158"/>
                <a:ext cx="1134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 dirty="0" err="1" smtClean="0"/>
                  <a:t>Підфункція</a:t>
                </a:r>
                <a:r>
                  <a:rPr lang="ru-RU" dirty="0" smtClean="0"/>
                  <a:t> </a:t>
                </a:r>
                <a:r>
                  <a:rPr lang="ru-RU" dirty="0"/>
                  <a:t>2</a:t>
                </a:r>
              </a:p>
            </p:txBody>
          </p:sp>
          <p:sp>
            <p:nvSpPr>
              <p:cNvPr id="41" name="Line 23"/>
              <p:cNvSpPr>
                <a:spLocks noChangeShapeType="1"/>
              </p:cNvSpPr>
              <p:nvPr/>
            </p:nvSpPr>
            <p:spPr bwMode="auto">
              <a:xfrm>
                <a:off x="2381" y="3203"/>
                <a:ext cx="318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2" name="Group 57"/>
            <p:cNvGrpSpPr>
              <a:grpSpLocks/>
            </p:cNvGrpSpPr>
            <p:nvPr/>
          </p:nvGrpSpPr>
          <p:grpSpPr bwMode="auto">
            <a:xfrm>
              <a:off x="3706813" y="4652963"/>
              <a:ext cx="1692275" cy="590550"/>
              <a:chOff x="2381" y="3249"/>
              <a:chExt cx="1066" cy="372"/>
            </a:xfrm>
          </p:grpSpPr>
          <p:sp>
            <p:nvSpPr>
              <p:cNvPr id="38" name="Text Box 12"/>
              <p:cNvSpPr txBox="1">
                <a:spLocks noChangeArrowheads="1"/>
              </p:cNvSpPr>
              <p:nvPr/>
            </p:nvSpPr>
            <p:spPr bwMode="auto">
              <a:xfrm>
                <a:off x="3107" y="329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  <p:sp>
            <p:nvSpPr>
              <p:cNvPr id="39" name="Line 25"/>
              <p:cNvSpPr>
                <a:spLocks noChangeShapeType="1"/>
              </p:cNvSpPr>
              <p:nvPr/>
            </p:nvSpPr>
            <p:spPr bwMode="auto">
              <a:xfrm>
                <a:off x="2381" y="3249"/>
                <a:ext cx="544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" name="Group 55"/>
            <p:cNvGrpSpPr>
              <a:grpSpLocks/>
            </p:cNvGrpSpPr>
            <p:nvPr/>
          </p:nvGrpSpPr>
          <p:grpSpPr bwMode="auto">
            <a:xfrm>
              <a:off x="5938838" y="4795838"/>
              <a:ext cx="1671637" cy="560387"/>
              <a:chOff x="3787" y="3339"/>
              <a:chExt cx="1053" cy="353"/>
            </a:xfrm>
          </p:grpSpPr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4500" y="3365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  <p:sp>
            <p:nvSpPr>
              <p:cNvPr id="37" name="Line 29"/>
              <p:cNvSpPr>
                <a:spLocks noChangeShapeType="1"/>
              </p:cNvSpPr>
              <p:nvPr/>
            </p:nvSpPr>
            <p:spPr bwMode="auto">
              <a:xfrm>
                <a:off x="3787" y="3339"/>
                <a:ext cx="72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" name="Group 52"/>
            <p:cNvGrpSpPr>
              <a:grpSpLocks/>
            </p:cNvGrpSpPr>
            <p:nvPr/>
          </p:nvGrpSpPr>
          <p:grpSpPr bwMode="auto">
            <a:xfrm>
              <a:off x="5938838" y="4476750"/>
              <a:ext cx="2608262" cy="534988"/>
              <a:chOff x="3787" y="3138"/>
              <a:chExt cx="1643" cy="337"/>
            </a:xfrm>
          </p:grpSpPr>
          <p:sp>
            <p:nvSpPr>
              <p:cNvPr id="33" name="Oval 14"/>
              <p:cNvSpPr>
                <a:spLocks noChangeArrowheads="1"/>
              </p:cNvSpPr>
              <p:nvPr/>
            </p:nvSpPr>
            <p:spPr bwMode="auto">
              <a:xfrm>
                <a:off x="4150" y="3203"/>
                <a:ext cx="861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Задача 2</a:t>
                </a:r>
              </a:p>
            </p:txBody>
          </p:sp>
          <p:sp>
            <p:nvSpPr>
              <p:cNvPr id="34" name="Line 27"/>
              <p:cNvSpPr>
                <a:spLocks noChangeShapeType="1"/>
              </p:cNvSpPr>
              <p:nvPr/>
            </p:nvSpPr>
            <p:spPr bwMode="auto">
              <a:xfrm flipV="1">
                <a:off x="3787" y="3294"/>
                <a:ext cx="363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5090" y="3138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</p:grpSp>
        <p:grpSp>
          <p:nvGrpSpPr>
            <p:cNvPr id="15" name="Group 41"/>
            <p:cNvGrpSpPr>
              <a:grpSpLocks/>
            </p:cNvGrpSpPr>
            <p:nvPr/>
          </p:nvGrpSpPr>
          <p:grpSpPr bwMode="auto">
            <a:xfrm>
              <a:off x="3635375" y="3429000"/>
              <a:ext cx="2303463" cy="1079500"/>
              <a:chOff x="2336" y="2478"/>
              <a:chExt cx="1451" cy="680"/>
            </a:xfrm>
          </p:grpSpPr>
          <p:sp>
            <p:nvSpPr>
              <p:cNvPr id="30" name="Oval 9"/>
              <p:cNvSpPr>
                <a:spLocks noChangeArrowheads="1"/>
              </p:cNvSpPr>
              <p:nvPr/>
            </p:nvSpPr>
            <p:spPr bwMode="auto">
              <a:xfrm>
                <a:off x="2699" y="2840"/>
                <a:ext cx="1088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 dirty="0" err="1" smtClean="0"/>
                  <a:t>Підфункція</a:t>
                </a:r>
                <a:r>
                  <a:rPr lang="ru-RU" dirty="0" smtClean="0"/>
                  <a:t> </a:t>
                </a:r>
                <a:r>
                  <a:rPr lang="ru-RU" dirty="0"/>
                  <a:t>1</a:t>
                </a:r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 flipV="1">
                <a:off x="2336" y="3022"/>
                <a:ext cx="408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" name="Text Box 34"/>
              <p:cNvSpPr txBox="1">
                <a:spLocks noChangeArrowheads="1"/>
              </p:cNvSpPr>
              <p:nvPr/>
            </p:nvSpPr>
            <p:spPr bwMode="auto">
              <a:xfrm>
                <a:off x="3061" y="2478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</p:grpSp>
        <p:grpSp>
          <p:nvGrpSpPr>
            <p:cNvPr id="16" name="Group 51"/>
            <p:cNvGrpSpPr>
              <a:grpSpLocks/>
            </p:cNvGrpSpPr>
            <p:nvPr/>
          </p:nvGrpSpPr>
          <p:grpSpPr bwMode="auto">
            <a:xfrm>
              <a:off x="6011863" y="3468688"/>
              <a:ext cx="2463800" cy="1255712"/>
              <a:chOff x="3833" y="2503"/>
              <a:chExt cx="1552" cy="791"/>
            </a:xfrm>
          </p:grpSpPr>
          <p:sp>
            <p:nvSpPr>
              <p:cNvPr id="26" name="Oval 13"/>
              <p:cNvSpPr>
                <a:spLocks noChangeArrowheads="1"/>
              </p:cNvSpPr>
              <p:nvPr/>
            </p:nvSpPr>
            <p:spPr bwMode="auto">
              <a:xfrm>
                <a:off x="4150" y="2840"/>
                <a:ext cx="816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Задача 1</a:t>
                </a:r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 flipV="1">
                <a:off x="3833" y="3022"/>
                <a:ext cx="31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" name="Text Box 30"/>
              <p:cNvSpPr txBox="1">
                <a:spLocks noChangeArrowheads="1"/>
              </p:cNvSpPr>
              <p:nvPr/>
            </p:nvSpPr>
            <p:spPr bwMode="auto">
              <a:xfrm>
                <a:off x="5045" y="268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  <p:sp>
            <p:nvSpPr>
              <p:cNvPr id="29" name="Text Box 35"/>
              <p:cNvSpPr txBox="1">
                <a:spLocks noChangeArrowheads="1"/>
              </p:cNvSpPr>
              <p:nvPr/>
            </p:nvSpPr>
            <p:spPr bwMode="auto">
              <a:xfrm>
                <a:off x="4364" y="2503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</p:grpSp>
        <p:grpSp>
          <p:nvGrpSpPr>
            <p:cNvPr id="17" name="Group 56"/>
            <p:cNvGrpSpPr>
              <a:grpSpLocks/>
            </p:cNvGrpSpPr>
            <p:nvPr/>
          </p:nvGrpSpPr>
          <p:grpSpPr bwMode="auto">
            <a:xfrm>
              <a:off x="5938838" y="4795838"/>
              <a:ext cx="2752725" cy="1384300"/>
              <a:chOff x="3787" y="3339"/>
              <a:chExt cx="1734" cy="872"/>
            </a:xfrm>
          </p:grpSpPr>
          <p:sp>
            <p:nvSpPr>
              <p:cNvPr id="22" name="Oval 15"/>
              <p:cNvSpPr>
                <a:spLocks noChangeArrowheads="1"/>
              </p:cNvSpPr>
              <p:nvPr/>
            </p:nvSpPr>
            <p:spPr bwMode="auto">
              <a:xfrm>
                <a:off x="4150" y="3702"/>
                <a:ext cx="861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Задача </a:t>
                </a:r>
                <a:r>
                  <a:rPr lang="en-US"/>
                  <a:t>n</a:t>
                </a:r>
                <a:endParaRPr lang="ru-RU"/>
              </a:p>
            </p:txBody>
          </p:sp>
          <p:sp>
            <p:nvSpPr>
              <p:cNvPr id="23" name="Line 28"/>
              <p:cNvSpPr>
                <a:spLocks noChangeShapeType="1"/>
              </p:cNvSpPr>
              <p:nvPr/>
            </p:nvSpPr>
            <p:spPr bwMode="auto">
              <a:xfrm>
                <a:off x="3787" y="3339"/>
                <a:ext cx="408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" name="Text Box 32"/>
              <p:cNvSpPr txBox="1">
                <a:spLocks noChangeArrowheads="1"/>
              </p:cNvSpPr>
              <p:nvPr/>
            </p:nvSpPr>
            <p:spPr bwMode="auto">
              <a:xfrm>
                <a:off x="5181" y="3591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  <p:sp>
            <p:nvSpPr>
              <p:cNvPr id="25" name="Text Box 36"/>
              <p:cNvSpPr txBox="1">
                <a:spLocks noChangeArrowheads="1"/>
              </p:cNvSpPr>
              <p:nvPr/>
            </p:nvSpPr>
            <p:spPr bwMode="auto">
              <a:xfrm>
                <a:off x="4468" y="388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3635375" y="4724400"/>
              <a:ext cx="2376488" cy="1455738"/>
              <a:chOff x="2336" y="3294"/>
              <a:chExt cx="1497" cy="917"/>
            </a:xfrm>
          </p:grpSpPr>
          <p:sp>
            <p:nvSpPr>
              <p:cNvPr id="19" name="Oval 11"/>
              <p:cNvSpPr>
                <a:spLocks noChangeArrowheads="1"/>
              </p:cNvSpPr>
              <p:nvPr/>
            </p:nvSpPr>
            <p:spPr bwMode="auto">
              <a:xfrm>
                <a:off x="2699" y="3612"/>
                <a:ext cx="1134" cy="272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 dirty="0" err="1" smtClean="0"/>
                  <a:t>Підфункція</a:t>
                </a:r>
                <a:r>
                  <a:rPr lang="ru-RU" dirty="0" smtClean="0"/>
                  <a:t> </a:t>
                </a:r>
                <a:r>
                  <a:rPr lang="en-US" dirty="0"/>
                  <a:t>n</a:t>
                </a:r>
                <a:endParaRPr lang="ru-RU" dirty="0"/>
              </a:p>
            </p:txBody>
          </p:sp>
          <p:sp>
            <p:nvSpPr>
              <p:cNvPr id="20" name="Line 44"/>
              <p:cNvSpPr>
                <a:spLocks noChangeShapeType="1"/>
              </p:cNvSpPr>
              <p:nvPr/>
            </p:nvSpPr>
            <p:spPr bwMode="auto">
              <a:xfrm>
                <a:off x="2336" y="3294"/>
                <a:ext cx="408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" name="Text Box 45"/>
              <p:cNvSpPr txBox="1">
                <a:spLocks noChangeArrowheads="1"/>
              </p:cNvSpPr>
              <p:nvPr/>
            </p:nvSpPr>
            <p:spPr bwMode="auto">
              <a:xfrm>
                <a:off x="3152" y="388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2800"/>
                  <a:t>…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374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647564" y="1412776"/>
            <a:ext cx="784887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70-і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рр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ХХ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століття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SADT</a:t>
            </a:r>
          </a:p>
          <a:p>
            <a:pPr marL="285750" lvl="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Запропонована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Дугласом Россом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Douglas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Ross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285750" lvl="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u="sng" dirty="0" err="1">
                <a:latin typeface="Arial" pitchFamily="34" charset="0"/>
                <a:cs typeface="Arial" pitchFamily="34" charset="0"/>
              </a:rPr>
              <a:t>Основна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ідея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цієї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методології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-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побудова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деревовидної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ієрархічної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u="sng" dirty="0" err="1">
                <a:latin typeface="Arial" pitchFamily="34" charset="0"/>
                <a:cs typeface="Arial" pitchFamily="34" charset="0"/>
              </a:rPr>
              <a:t>підприємства</a:t>
            </a:r>
            <a:r>
              <a:rPr lang="ru-RU" sz="2000" u="sng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marL="285750" lvl="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На початку 1990-х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SADT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прийнятий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стандарт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бізнес-процесів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IDEF0 (США),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є одним з 14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стандартів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лінійки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IDEF, -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ntegration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ru-RU" sz="2000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inition</a:t>
            </a:r>
            <a:r>
              <a:rPr lang="ru-RU" sz="20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Functional</a:t>
            </a:r>
            <a:r>
              <a:rPr lang="ru-RU" sz="20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Modeling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lvl="0">
              <a:spcAft>
                <a:spcPts val="600"/>
              </a:spcAft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0" y="32837"/>
            <a:ext cx="9144000" cy="78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структурного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аналізу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та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проектування</a:t>
            </a:r>
            <a:endParaRPr lang="ru-RU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85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971600" y="1268760"/>
            <a:ext cx="748883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/>
            <a:r>
              <a:rPr lang="ru-RU" sz="2000" b="1" dirty="0">
                <a:latin typeface="Arial" pitchFamily="34" charset="0"/>
                <a:cs typeface="Arial" pitchFamily="34" charset="0"/>
              </a:rPr>
              <a:t>3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типи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моделей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використовуються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в структурному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підході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: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lvl="0" fontAlgn="base"/>
            <a:r>
              <a:rPr lang="ru-RU" sz="2000" dirty="0">
                <a:latin typeface="Arial" pitchFamily="34" charset="0"/>
                <a:cs typeface="Arial" pitchFamily="34" charset="0"/>
              </a:rPr>
              <a:t>1)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функціональні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(ФМ)</a:t>
            </a:r>
          </a:p>
          <a:p>
            <a:pPr lvl="0" fontAlgn="base"/>
            <a:r>
              <a:rPr lang="ru-RU" sz="2000" dirty="0">
                <a:latin typeface="Arial" pitchFamily="34" charset="0"/>
                <a:cs typeface="Arial" pitchFamily="34" charset="0"/>
              </a:rPr>
              <a:t>2)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інформаційні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(ІМ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</a:t>
            </a:r>
          </a:p>
          <a:p>
            <a:pPr lvl="0" fontAlgn="base"/>
            <a:r>
              <a:rPr lang="ru-RU" sz="2000" dirty="0">
                <a:latin typeface="Arial" pitchFamily="34" charset="0"/>
                <a:cs typeface="Arial" pitchFamily="34" charset="0"/>
              </a:rPr>
              <a:t>3)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динамічні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(ДМ)</a:t>
            </a:r>
          </a:p>
        </p:txBody>
      </p:sp>
      <p:graphicFrame>
        <p:nvGraphicFramePr>
          <p:cNvPr id="5" name="Таблиця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9422"/>
              </p:ext>
            </p:extLst>
          </p:nvPr>
        </p:nvGraphicFramePr>
        <p:xfrm>
          <a:off x="339970" y="3429000"/>
          <a:ext cx="8192470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093"/>
                <a:gridCol w="3755829"/>
                <a:gridCol w="3151548"/>
              </a:tblGrid>
              <a:tr h="370840">
                <a:tc>
                  <a:txBody>
                    <a:bodyPr/>
                    <a:lstStyle/>
                    <a:p>
                      <a:r>
                        <a:rPr lang="uk-UA" sz="2000" b="1" dirty="0" smtClean="0">
                          <a:latin typeface="Arial" pitchFamily="34" charset="0"/>
                          <a:cs typeface="Arial" pitchFamily="34" charset="0"/>
                        </a:rPr>
                        <a:t>Тип моделі</a:t>
                      </a:r>
                      <a:endParaRPr lang="ru-RU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b="1" dirty="0" smtClean="0">
                          <a:latin typeface="Arial" pitchFamily="34" charset="0"/>
                          <a:cs typeface="Arial" pitchFamily="34" charset="0"/>
                        </a:rPr>
                        <a:t>Стандарт моделі</a:t>
                      </a:r>
                      <a:endParaRPr lang="ru-RU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Arial" pitchFamily="34" charset="0"/>
                          <a:cs typeface="Arial" pitchFamily="34" charset="0"/>
                        </a:rPr>
                        <a:t>CASE</a:t>
                      </a:r>
                      <a:r>
                        <a:rPr lang="uk-UA" sz="2000" b="1" dirty="0" err="1" smtClean="0">
                          <a:latin typeface="Arial" pitchFamily="34" charset="0"/>
                          <a:cs typeface="Arial" pitchFamily="34" charset="0"/>
                        </a:rPr>
                        <a:t>-засоби</a:t>
                      </a:r>
                      <a:endParaRPr lang="ru-RU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uk-UA" sz="2000" dirty="0" smtClean="0">
                          <a:latin typeface="Arial" pitchFamily="34" charset="0"/>
                          <a:cs typeface="Arial" pitchFamily="34" charset="0"/>
                        </a:rPr>
                        <a:t>ФМ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SADT (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IDEF0), DFD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BPWin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Design/IDEF</a:t>
                      </a:r>
                      <a:endParaRPr lang="en-US" sz="20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uk-UA" sz="2000" dirty="0" smtClean="0">
                          <a:latin typeface="Arial" pitchFamily="34" charset="0"/>
                          <a:cs typeface="Arial" pitchFamily="34" charset="0"/>
                        </a:rPr>
                        <a:t>ІМ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ERD (IDEF1X)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Design/IDEF, </a:t>
                      </a:r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ERWin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uk-UA" sz="2000" dirty="0" smtClean="0">
                          <a:latin typeface="Arial" pitchFamily="34" charset="0"/>
                          <a:cs typeface="Arial" pitchFamily="34" charset="0"/>
                        </a:rPr>
                        <a:t>ДМ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IDEF/CPN, IDEF3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Design/IDEF, </a:t>
                      </a:r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BPWin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endParaRPr lang="ru-RU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Прямокутник 5"/>
          <p:cNvSpPr/>
          <p:nvPr/>
        </p:nvSpPr>
        <p:spPr>
          <a:xfrm>
            <a:off x="0" y="0"/>
            <a:ext cx="9124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Модел</a:t>
            </a:r>
            <a:r>
              <a:rPr lang="uk-UA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і</a:t>
            </a:r>
            <a:r>
              <a:rPr lang="ru-R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структурного 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підходу</a:t>
            </a:r>
            <a:endParaRPr lang="ru-RU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46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uk-UA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Методології сімейства </a:t>
            </a: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IDEF</a:t>
            </a:r>
            <a:endParaRPr lang="ru-R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0" y="806551"/>
            <a:ext cx="9144000" cy="58631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сімейства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IDEF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дозволяють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відображувати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аналізувати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</a:t>
            </a:r>
            <a:r>
              <a:rPr lang="uk-UA" sz="2000" dirty="0" err="1">
                <a:latin typeface="Arial" pitchFamily="34" charset="0"/>
                <a:cs typeface="Arial" pitchFamily="34" charset="0"/>
              </a:rPr>
              <a:t>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діяльності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будь-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яких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складних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систем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різних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розрізах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Зараз в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сімейство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IDEF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входять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IDEF0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функціонального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(система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представляється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вигляді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набору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взаємо</a:t>
            </a:r>
            <a:r>
              <a:rPr lang="uk-UA" sz="2000" dirty="0" smtClean="0">
                <a:latin typeface="Arial" pitchFamily="34" charset="0"/>
                <a:cs typeface="Arial" pitchFamily="34" charset="0"/>
              </a:rPr>
              <a:t>по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в'язаних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-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функциональных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блоків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інформаційних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потоків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всередині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дозволяє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відображувати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аналізувати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структуру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взаємозв'язки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IDEF1X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IDEF1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eXtended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 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реляційних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баз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даних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відношення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даної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IDEF2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динамічного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розвитку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систем;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IDEF3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документування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процесів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відбуваються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IDEF4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побудови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об'єктно-орієнтованих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систем,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дозволяє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наочно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відображувати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структуру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об'єктів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закладені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принципи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взаємодії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80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sp>
        <p:nvSpPr>
          <p:cNvPr id="4" name="Прямокутник 3"/>
          <p:cNvSpPr/>
          <p:nvPr/>
        </p:nvSpPr>
        <p:spPr>
          <a:xfrm>
            <a:off x="-19775" y="806551"/>
            <a:ext cx="9143999" cy="60170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IDEF5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онтологічного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дослідження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складних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систем за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допомогою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певного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словника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термінів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правил,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підставі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можуть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сформовані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достовірні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твердження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про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стан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даної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деякий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момент часу;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IDEF6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використання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раціонального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досвіду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проектування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дозволяє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запобігти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виникненню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структурних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помилок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при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новому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проектуванні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інформаційних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систем;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IDEF7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аудиту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інформаційної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IDEF8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розробки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графічного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інтерфейсу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користувача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IDEF9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аналізу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існуючих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умов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обмежень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впливу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рішення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приймаються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процесі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реінжиніринга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IDEF10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архітектури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IDEF11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інформаційного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артефактів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IDEF12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організаційного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IDEF13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проектування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трьохсхемного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дизайну карт;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IDEF14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методологія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комп'ютерних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мереж.</a:t>
            </a:r>
          </a:p>
        </p:txBody>
      </p:sp>
      <p:sp>
        <p:nvSpPr>
          <p:cNvPr id="5" name="Прямокутник 2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uk-UA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Методології сімейства </a:t>
            </a: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IDEF</a:t>
            </a:r>
            <a:endParaRPr lang="ru-R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3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48892" y="1412776"/>
            <a:ext cx="871296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Основу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методології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складає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графічна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мова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опису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бізнес-процесів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Моделлю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нотації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IDEF0 є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сукупність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ієрархічно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впорядкованих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взаємозв'язаних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Кожна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є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одиницею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опису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розташовується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окремому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листі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Модель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AS - IS, TO - BE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або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SHOULD - BE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може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містити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4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типи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діаграм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контекстну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декомпозиції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дерева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вузлів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800100" lvl="1" indent="-342900">
              <a:spcAft>
                <a:spcPts val="600"/>
              </a:spcAft>
              <a:buFont typeface="Wingdings" pitchFamily="2" charset="2"/>
              <a:buChar char="Ø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тільки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експозиції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(for exposition only, FEO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).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3275856" y="0"/>
            <a:ext cx="17491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IDEF0 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63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77458" y="1480262"/>
            <a:ext cx="900886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uk-UA" sz="2000" b="1" dirty="0" smtClean="0">
                <a:latin typeface="Arial" pitchFamily="34" charset="0"/>
                <a:cs typeface="Arial" pitchFamily="34" charset="0"/>
              </a:rPr>
              <a:t>Є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діаграмою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верхнього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рівня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будучи вершиною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деревовидної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структури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показує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призначення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основну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функцію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)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взаємодію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із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зовнішнім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середовищем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 </a:t>
            </a:r>
            <a:endParaRPr lang="uk-UA" sz="20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кожній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може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тільки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одна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контекстна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Після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опису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виконується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функціональна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декомпозиція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тобто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складається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основна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9776" y="-35842"/>
            <a:ext cx="91242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IDEF0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 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Контекстна</a:t>
            </a:r>
            <a:r>
              <a:rPr lang="ru-R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діаграма</a:t>
            </a:r>
            <a:endParaRPr lang="ru-RU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5392738" y="-29736"/>
            <a:ext cx="228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endParaRPr lang="ru-RU" sz="2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21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115364" y="902005"/>
            <a:ext cx="900886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Після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опису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виконується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функціональна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декомпозиція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тобто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складається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Далі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діляться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так до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досягнення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необхідного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рівня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деталізації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досліджуваної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описують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кожний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фрагмент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називаються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діаграмами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декомпозиці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Після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кожного сеансу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декомпозиції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проводяться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сеанси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експертизи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експерти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предметної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області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вказують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відповідність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реальних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процесів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створеним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діаграмам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Знайдені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невідповідності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усуваються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після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чого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приступають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до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подальшої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деталізації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процесів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9776" y="-35842"/>
            <a:ext cx="91242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IDEF0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 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іаграми</a:t>
            </a:r>
            <a:r>
              <a:rPr lang="ru-R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декомпозиції</a:t>
            </a:r>
            <a:endParaRPr lang="ru-RU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5392738" y="-29736"/>
            <a:ext cx="228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endParaRPr lang="ru-RU" sz="2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5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13585" y="1124744"/>
            <a:ext cx="8712968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200" b="1" dirty="0" err="1" smtClean="0"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2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b="1" dirty="0">
                <a:latin typeface="Arial" pitchFamily="34" charset="0"/>
                <a:cs typeface="Arial" pitchFamily="34" charset="0"/>
              </a:rPr>
              <a:t>дерева </a:t>
            </a:r>
            <a:r>
              <a:rPr lang="ru-RU" sz="2200" b="1" dirty="0" err="1">
                <a:latin typeface="Arial" pitchFamily="34" charset="0"/>
                <a:cs typeface="Arial" pitchFamily="34" charset="0"/>
              </a:rPr>
              <a:t>вузлів</a:t>
            </a:r>
            <a:r>
              <a:rPr lang="ru-RU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показує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ієрархічну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залежність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робіт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), але не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зв'язки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ними.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може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декілька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оскільки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дерево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можна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побудувати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довільну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глибину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і з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довільного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вузла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200" b="1" dirty="0" err="1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2200" b="1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200" b="1" dirty="0" err="1">
                <a:latin typeface="Arial" pitchFamily="34" charset="0"/>
                <a:cs typeface="Arial" pitchFamily="34" charset="0"/>
              </a:rPr>
              <a:t>експозиції</a:t>
            </a:r>
            <a:r>
              <a:rPr lang="ru-RU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будуються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ілюстрації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окремих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фрагментів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з метою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відображення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альтернативної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точки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процеси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наприклад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, з точки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керівництва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організації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),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відбуваються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200" dirty="0" err="1">
                <a:latin typeface="Arial" pitchFamily="34" charset="0"/>
                <a:cs typeface="Arial" pitchFamily="34" charset="0"/>
              </a:rPr>
              <a:t>системі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3275856" y="0"/>
            <a:ext cx="39116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IDEF0 </a:t>
            </a:r>
            <a:r>
              <a:rPr lang="ru-RU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883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0" y="0"/>
            <a:ext cx="91500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Будівельні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блоки IDEF0 </a:t>
            </a:r>
            <a:r>
              <a:rPr lang="ru-RU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403648" y="1340768"/>
            <a:ext cx="71287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Arial" pitchFamily="34" charset="0"/>
                <a:cs typeface="Arial" pitchFamily="34" charset="0"/>
              </a:rPr>
              <a:t>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основі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IDEF0 -методологии лежать  4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основних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поняття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ru-RU" sz="2000" dirty="0">
              <a:latin typeface="Arial" pitchFamily="34" charset="0"/>
              <a:cs typeface="Arial" pitchFamily="34" charset="0"/>
            </a:endParaRP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1)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функціональний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блок;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2)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інтерфейсна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дуга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стрілка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3)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декомпозиція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4)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глосарій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66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5888"/>
            <a:ext cx="9124224" cy="739775"/>
          </a:xfrm>
        </p:spPr>
        <p:txBody>
          <a:bodyPr/>
          <a:lstStyle/>
          <a:p>
            <a:pPr eaLnBrk="1" hangingPunct="1">
              <a:defRPr/>
            </a:pPr>
            <a:r>
              <a:rPr lang="ru-RU" sz="3600" b="1" i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Функціональний</a:t>
            </a:r>
            <a:r>
              <a:rPr lang="ru-RU" sz="3600" b="1" i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блок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8775" y="1039813"/>
            <a:ext cx="8785225" cy="1223962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Визначає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деяку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конкретну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функцію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або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роботу в рамках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проектується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uk-UA" sz="2000" i="1" dirty="0" smtClean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Зображення -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прямокутник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ім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’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я </a:t>
            </a:r>
            <a:r>
              <a:rPr lang="uk-UA" sz="2000" dirty="0" smtClean="0">
                <a:latin typeface="Arial" pitchFamily="34" charset="0"/>
                <a:cs typeface="Arial" pitchFamily="34" charset="0"/>
              </a:rPr>
              <a:t>та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номер,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використовується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опису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функциії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2051050" y="2321826"/>
            <a:ext cx="5075238" cy="4107549"/>
            <a:chOff x="3404" y="4698"/>
            <a:chExt cx="3670" cy="2335"/>
          </a:xfrm>
        </p:grpSpPr>
        <p:sp>
          <p:nvSpPr>
            <p:cNvPr id="11279" name="Line 5"/>
            <p:cNvSpPr>
              <a:spLocks noChangeShapeType="1"/>
            </p:cNvSpPr>
            <p:nvPr/>
          </p:nvSpPr>
          <p:spPr bwMode="auto">
            <a:xfrm>
              <a:off x="5240" y="4698"/>
              <a:ext cx="0" cy="6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280" name="Rectangle 6"/>
            <p:cNvSpPr>
              <a:spLocks noChangeArrowheads="1"/>
            </p:cNvSpPr>
            <p:nvPr/>
          </p:nvSpPr>
          <p:spPr bwMode="auto">
            <a:xfrm>
              <a:off x="4533" y="5405"/>
              <a:ext cx="1412" cy="74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Управляти</a:t>
              </a:r>
              <a:r>
                <a:rPr lang="ru-RU" sz="2000" dirty="0" smtClean="0"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підприємством</a:t>
              </a:r>
              <a:endParaRPr lang="ru-RU" sz="2000" dirty="0">
                <a:latin typeface="Arial" pitchFamily="34" charset="0"/>
                <a:cs typeface="Arial" pitchFamily="34" charset="0"/>
              </a:endParaRPr>
            </a:p>
            <a:p>
              <a:pPr algn="r"/>
              <a:endParaRPr lang="ru-RU" sz="2000" dirty="0">
                <a:latin typeface="Arial" pitchFamily="34" charset="0"/>
                <a:cs typeface="Arial" pitchFamily="34" charset="0"/>
              </a:endParaRPr>
            </a:p>
            <a:p>
              <a:pPr algn="r"/>
              <a:r>
                <a:rPr lang="ru-RU" sz="2000" dirty="0">
                  <a:latin typeface="Arial" pitchFamily="34" charset="0"/>
                  <a:cs typeface="Arial" pitchFamily="34" charset="0"/>
                </a:rPr>
                <a:t>А0</a:t>
              </a:r>
            </a:p>
          </p:txBody>
        </p:sp>
        <p:sp>
          <p:nvSpPr>
            <p:cNvPr id="11281" name="Line 7"/>
            <p:cNvSpPr>
              <a:spLocks noChangeShapeType="1"/>
            </p:cNvSpPr>
            <p:nvPr/>
          </p:nvSpPr>
          <p:spPr bwMode="auto">
            <a:xfrm>
              <a:off x="3404" y="5700"/>
              <a:ext cx="11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282" name="Line 8"/>
            <p:cNvSpPr>
              <a:spLocks noChangeShapeType="1"/>
            </p:cNvSpPr>
            <p:nvPr/>
          </p:nvSpPr>
          <p:spPr bwMode="auto">
            <a:xfrm>
              <a:off x="5945" y="5700"/>
              <a:ext cx="11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283" name="Line 9"/>
            <p:cNvSpPr>
              <a:spLocks noChangeShapeType="1"/>
            </p:cNvSpPr>
            <p:nvPr/>
          </p:nvSpPr>
          <p:spPr bwMode="auto">
            <a:xfrm flipV="1">
              <a:off x="5240" y="6146"/>
              <a:ext cx="1" cy="8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284" name="Text Box 10"/>
            <p:cNvSpPr txBox="1">
              <a:spLocks noChangeArrowheads="1"/>
            </p:cNvSpPr>
            <p:nvPr/>
          </p:nvSpPr>
          <p:spPr bwMode="auto">
            <a:xfrm>
              <a:off x="5380" y="4793"/>
              <a:ext cx="1270" cy="2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dirty="0" err="1" smtClean="0"/>
                <a:t>управління</a:t>
              </a:r>
              <a:endParaRPr lang="ru-RU" dirty="0"/>
            </a:p>
          </p:txBody>
        </p:sp>
        <p:sp>
          <p:nvSpPr>
            <p:cNvPr id="11285" name="Text Box 11"/>
            <p:cNvSpPr txBox="1">
              <a:spLocks noChangeArrowheads="1"/>
            </p:cNvSpPr>
            <p:nvPr/>
          </p:nvSpPr>
          <p:spPr bwMode="auto">
            <a:xfrm>
              <a:off x="3537" y="5493"/>
              <a:ext cx="705" cy="2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dirty="0" err="1" smtClean="0"/>
                <a:t>вхід</a:t>
              </a:r>
              <a:endParaRPr lang="ru-RU" dirty="0"/>
            </a:p>
          </p:txBody>
        </p:sp>
        <p:sp>
          <p:nvSpPr>
            <p:cNvPr id="11286" name="Text Box 12"/>
            <p:cNvSpPr txBox="1">
              <a:spLocks noChangeArrowheads="1"/>
            </p:cNvSpPr>
            <p:nvPr/>
          </p:nvSpPr>
          <p:spPr bwMode="auto">
            <a:xfrm>
              <a:off x="6227" y="5450"/>
              <a:ext cx="847" cy="2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dirty="0" err="1" smtClean="0"/>
                <a:t>вихід</a:t>
              </a:r>
              <a:endParaRPr lang="ru-RU" dirty="0"/>
            </a:p>
          </p:txBody>
        </p:sp>
        <p:sp>
          <p:nvSpPr>
            <p:cNvPr id="11287" name="Text Box 13"/>
            <p:cNvSpPr txBox="1">
              <a:spLocks noChangeArrowheads="1"/>
            </p:cNvSpPr>
            <p:nvPr/>
          </p:nvSpPr>
          <p:spPr bwMode="auto">
            <a:xfrm>
              <a:off x="5521" y="6339"/>
              <a:ext cx="847" cy="2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dirty="0" err="1" smtClean="0"/>
                <a:t>механізм</a:t>
              </a:r>
              <a:endParaRPr lang="ru-RU" dirty="0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95288" y="4156075"/>
            <a:ext cx="3624262" cy="1977911"/>
            <a:chOff x="282" y="2750"/>
            <a:chExt cx="2235" cy="1056"/>
          </a:xfrm>
        </p:grpSpPr>
        <p:sp>
          <p:nvSpPr>
            <p:cNvPr id="11277" name="Text Box 16"/>
            <p:cNvSpPr txBox="1">
              <a:spLocks noChangeArrowheads="1"/>
            </p:cNvSpPr>
            <p:nvPr/>
          </p:nvSpPr>
          <p:spPr bwMode="auto">
            <a:xfrm>
              <a:off x="282" y="3313"/>
              <a:ext cx="1543" cy="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dirty="0" err="1" smtClean="0">
                  <a:solidFill>
                    <a:srgbClr val="CC0000"/>
                  </a:solidFill>
                </a:rPr>
                <a:t>Найменування</a:t>
              </a:r>
              <a:r>
                <a:rPr lang="ru-RU" dirty="0" smtClean="0">
                  <a:solidFill>
                    <a:srgbClr val="CC0000"/>
                  </a:solidFill>
                </a:rPr>
                <a:t> блоку – </a:t>
              </a:r>
              <a:r>
                <a:rPr lang="ru-RU" dirty="0" err="1" smtClean="0">
                  <a:solidFill>
                    <a:srgbClr val="CC0000"/>
                  </a:solidFill>
                </a:rPr>
                <a:t>назва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системи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чи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підсистеми</a:t>
              </a:r>
              <a:r>
                <a:rPr lang="ru-RU" dirty="0" smtClean="0">
                  <a:solidFill>
                    <a:srgbClr val="CC0000"/>
                  </a:solidFill>
                </a:rPr>
                <a:t>  </a:t>
              </a:r>
              <a:endParaRPr lang="ru-RU" dirty="0">
                <a:solidFill>
                  <a:srgbClr val="CC0000"/>
                </a:solidFill>
              </a:endParaRPr>
            </a:p>
          </p:txBody>
        </p:sp>
        <p:sp>
          <p:nvSpPr>
            <p:cNvPr id="11278" name="Line 17"/>
            <p:cNvSpPr>
              <a:spLocks noChangeShapeType="1"/>
            </p:cNvSpPr>
            <p:nvPr/>
          </p:nvSpPr>
          <p:spPr bwMode="auto">
            <a:xfrm flipV="1">
              <a:off x="1519" y="2750"/>
              <a:ext cx="998" cy="544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5364163" y="4591050"/>
            <a:ext cx="3384550" cy="1285721"/>
            <a:chOff x="3379" y="2976"/>
            <a:chExt cx="2087" cy="686"/>
          </a:xfrm>
        </p:grpSpPr>
        <p:sp>
          <p:nvSpPr>
            <p:cNvPr id="11275" name="Text Box 19"/>
            <p:cNvSpPr txBox="1">
              <a:spLocks noChangeArrowheads="1"/>
            </p:cNvSpPr>
            <p:nvPr/>
          </p:nvSpPr>
          <p:spPr bwMode="auto">
            <a:xfrm>
              <a:off x="3969" y="3022"/>
              <a:ext cx="14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dirty="0" err="1" smtClean="0">
                  <a:solidFill>
                    <a:srgbClr val="CC0000"/>
                  </a:solidFill>
                </a:rPr>
                <a:t>Кожний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>
                  <a:solidFill>
                    <a:srgbClr val="CC0000"/>
                  </a:solidFill>
                </a:rPr>
                <a:t>блок в рамках </a:t>
              </a:r>
              <a:r>
                <a:rPr lang="ru-RU" dirty="0" err="1" smtClean="0">
                  <a:solidFill>
                    <a:srgbClr val="CC0000"/>
                  </a:solidFill>
                </a:rPr>
                <a:t>єдиної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системи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має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унікальний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>
                  <a:solidFill>
                    <a:srgbClr val="CC0000"/>
                  </a:solidFill>
                </a:rPr>
                <a:t>номер</a:t>
              </a:r>
            </a:p>
          </p:txBody>
        </p:sp>
        <p:sp>
          <p:nvSpPr>
            <p:cNvPr id="11276" name="Line 20"/>
            <p:cNvSpPr>
              <a:spLocks noChangeShapeType="1"/>
            </p:cNvSpPr>
            <p:nvPr/>
          </p:nvSpPr>
          <p:spPr bwMode="auto">
            <a:xfrm flipH="1" flipV="1">
              <a:off x="3379" y="2976"/>
              <a:ext cx="635" cy="9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95288" y="2420938"/>
            <a:ext cx="4104770" cy="1614487"/>
            <a:chOff x="249" y="1616"/>
            <a:chExt cx="2531" cy="862"/>
          </a:xfrm>
        </p:grpSpPr>
        <p:sp>
          <p:nvSpPr>
            <p:cNvPr id="11272" name="Text Box 22"/>
            <p:cNvSpPr txBox="1">
              <a:spLocks noChangeArrowheads="1"/>
            </p:cNvSpPr>
            <p:nvPr/>
          </p:nvSpPr>
          <p:spPr bwMode="auto">
            <a:xfrm>
              <a:off x="249" y="1616"/>
              <a:ext cx="1360" cy="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dirty="0" err="1" smtClean="0">
                  <a:solidFill>
                    <a:srgbClr val="CC0000"/>
                  </a:solidFill>
                </a:rPr>
                <a:t>Кожний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бік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функціонального</a:t>
              </a:r>
              <a:r>
                <a:rPr lang="ru-RU" dirty="0" smtClean="0">
                  <a:solidFill>
                    <a:srgbClr val="CC0000"/>
                  </a:solidFill>
                </a:rPr>
                <a:t> блоку </a:t>
              </a:r>
              <a:r>
                <a:rPr lang="ru-RU" dirty="0" err="1" smtClean="0">
                  <a:solidFill>
                    <a:srgbClr val="CC0000"/>
                  </a:solidFill>
                </a:rPr>
                <a:t>має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своє</a:t>
              </a:r>
              <a:r>
                <a:rPr lang="ru-RU" dirty="0" smtClean="0">
                  <a:solidFill>
                    <a:srgbClr val="CC0000"/>
                  </a:solidFill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</a:rPr>
                <a:t>призначення</a:t>
              </a:r>
              <a:endParaRPr lang="ru-RU" dirty="0">
                <a:solidFill>
                  <a:srgbClr val="CC0000"/>
                </a:solidFill>
              </a:endParaRPr>
            </a:p>
          </p:txBody>
        </p:sp>
        <p:sp>
          <p:nvSpPr>
            <p:cNvPr id="11273" name="Line 23"/>
            <p:cNvSpPr>
              <a:spLocks noChangeShapeType="1"/>
            </p:cNvSpPr>
            <p:nvPr/>
          </p:nvSpPr>
          <p:spPr bwMode="auto">
            <a:xfrm>
              <a:off x="1383" y="2000"/>
              <a:ext cx="1397" cy="21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274" name="Line 24"/>
            <p:cNvSpPr>
              <a:spLocks noChangeShapeType="1"/>
            </p:cNvSpPr>
            <p:nvPr/>
          </p:nvSpPr>
          <p:spPr bwMode="auto">
            <a:xfrm>
              <a:off x="1383" y="2000"/>
              <a:ext cx="817" cy="47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436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600" b="1" i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Інтерфейсна</a:t>
            </a:r>
            <a:r>
              <a:rPr lang="ru-RU" sz="3600" b="1" i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дуга</a:t>
            </a:r>
          </a:p>
        </p:txBody>
      </p:sp>
      <p:sp>
        <p:nvSpPr>
          <p:cNvPr id="2" name="Прямокутник 1"/>
          <p:cNvSpPr/>
          <p:nvPr/>
        </p:nvSpPr>
        <p:spPr>
          <a:xfrm>
            <a:off x="457200" y="1012265"/>
            <a:ext cx="807524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uk-UA" sz="2000" dirty="0" err="1">
                <a:latin typeface="Arial" pitchFamily="34" charset="0"/>
                <a:cs typeface="Arial" pitchFamily="34" charset="0"/>
              </a:rPr>
              <a:t>Інтерфейсна</a:t>
            </a:r>
            <a:r>
              <a:rPr lang="uk-UA" sz="2000" dirty="0">
                <a:latin typeface="Arial" pitchFamily="34" charset="0"/>
                <a:cs typeface="Arial" pitchFamily="34" charset="0"/>
              </a:rPr>
              <a:t> дуга відображує елемент системи, який обробляється функціональним блоком або чинить інший вплив на функцію, що відображується функціональним блоком. 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i="1" dirty="0" err="1">
                <a:latin typeface="Arial" pitchFamily="34" charset="0"/>
                <a:cs typeface="Arial" pitchFamily="34" charset="0"/>
              </a:rPr>
              <a:t>Графічно</a:t>
            </a:r>
            <a:r>
              <a:rPr lang="ru-RU" sz="2000" i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i="1" dirty="0" err="1" smtClean="0">
                <a:latin typeface="Arial" pitchFamily="34" charset="0"/>
                <a:cs typeface="Arial" pitchFamily="34" charset="0"/>
              </a:rPr>
              <a:t>зображується</a:t>
            </a:r>
            <a:r>
              <a:rPr lang="ru-RU" sz="20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i="1" dirty="0">
                <a:latin typeface="Arial" pitchFamily="34" charset="0"/>
                <a:cs typeface="Arial" pitchFamily="34" charset="0"/>
              </a:rPr>
              <a:t>у </a:t>
            </a:r>
            <a:r>
              <a:rPr lang="ru-RU" sz="2000" i="1" dirty="0" err="1">
                <a:latin typeface="Arial" pitchFamily="34" charset="0"/>
                <a:cs typeface="Arial" pitchFamily="34" charset="0"/>
              </a:rPr>
              <a:t>вигляді</a:t>
            </a:r>
            <a:r>
              <a:rPr lang="ru-RU" sz="2000" i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i="1" dirty="0" err="1" smtClean="0">
                <a:latin typeface="Arial" pitchFamily="34" charset="0"/>
                <a:cs typeface="Arial" pitchFamily="34" charset="0"/>
              </a:rPr>
              <a:t>однонаправленої</a:t>
            </a:r>
            <a:r>
              <a:rPr lang="ru-RU" sz="20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i="1" dirty="0" err="1">
                <a:latin typeface="Arial" pitchFamily="34" charset="0"/>
                <a:cs typeface="Arial" pitchFamily="34" charset="0"/>
              </a:rPr>
              <a:t>стрілки</a:t>
            </a:r>
            <a:r>
              <a:rPr lang="ru-RU" sz="2000" i="1" dirty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Кожна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дуга повинна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свою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унікальну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назву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(повинно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відповідати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питання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хто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?,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?).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Приклади</a:t>
            </a:r>
            <a:r>
              <a:rPr lang="ru-RU" sz="2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ru-RU" sz="2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інформація</a:t>
            </a:r>
            <a:r>
              <a:rPr lang="ru-RU" sz="2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розробник</a:t>
            </a:r>
            <a:r>
              <a:rPr lang="ru-RU" sz="2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 документ, </a:t>
            </a:r>
            <a:r>
              <a:rPr lang="ru-RU" sz="2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оброблена</a:t>
            </a:r>
            <a:r>
              <a:rPr lang="ru-RU" sz="2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заявка.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Залежно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того, до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сторони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блоку вона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підходить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інтерфейсна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дуга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являтиметься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ru-RU" sz="2000" i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вхідною</a:t>
            </a:r>
            <a:r>
              <a:rPr lang="ru-RU" sz="2000" i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000" i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вихідною</a:t>
            </a:r>
            <a:r>
              <a:rPr lang="ru-RU" sz="2000" i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000" i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управлінням</a:t>
            </a:r>
            <a:r>
              <a:rPr lang="ru-RU" sz="2000" i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000" i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механізмом</a:t>
            </a:r>
            <a:endParaRPr lang="ru-RU" sz="2000" dirty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68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4"/>
          <p:cNvGrpSpPr>
            <a:grpSpLocks/>
          </p:cNvGrpSpPr>
          <p:nvPr/>
        </p:nvGrpSpPr>
        <p:grpSpPr bwMode="auto">
          <a:xfrm>
            <a:off x="1301750" y="1965325"/>
            <a:ext cx="5880100" cy="3835400"/>
            <a:chOff x="3404" y="4665"/>
            <a:chExt cx="3670" cy="2368"/>
          </a:xfrm>
        </p:grpSpPr>
        <p:sp>
          <p:nvSpPr>
            <p:cNvPr id="13329" name="Line 5"/>
            <p:cNvSpPr>
              <a:spLocks noChangeShapeType="1"/>
            </p:cNvSpPr>
            <p:nvPr/>
          </p:nvSpPr>
          <p:spPr bwMode="auto">
            <a:xfrm>
              <a:off x="5240" y="4698"/>
              <a:ext cx="0" cy="6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0" name="Rectangle 6"/>
            <p:cNvSpPr>
              <a:spLocks noChangeArrowheads="1"/>
            </p:cNvSpPr>
            <p:nvPr/>
          </p:nvSpPr>
          <p:spPr bwMode="auto">
            <a:xfrm>
              <a:off x="4533" y="5405"/>
              <a:ext cx="1412" cy="74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Функціональний</a:t>
              </a:r>
              <a:r>
                <a:rPr lang="ru-RU" sz="2000" dirty="0" smtClean="0"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>
                  <a:latin typeface="Arial" pitchFamily="34" charset="0"/>
                  <a:cs typeface="Arial" pitchFamily="34" charset="0"/>
                </a:rPr>
                <a:t>блок</a:t>
              </a:r>
            </a:p>
            <a:p>
              <a:pPr algn="r"/>
              <a:endParaRPr lang="ru-RU" sz="2000" dirty="0">
                <a:latin typeface="Arial" pitchFamily="34" charset="0"/>
                <a:cs typeface="Arial" pitchFamily="34" charset="0"/>
              </a:endParaRPr>
            </a:p>
            <a:p>
              <a:pPr algn="r"/>
              <a:r>
                <a:rPr lang="ru-RU" sz="2000" dirty="0">
                  <a:latin typeface="Arial" pitchFamily="34" charset="0"/>
                  <a:cs typeface="Arial" pitchFamily="34" charset="0"/>
                </a:rPr>
                <a:t>А0</a:t>
              </a:r>
            </a:p>
          </p:txBody>
        </p:sp>
        <p:sp>
          <p:nvSpPr>
            <p:cNvPr id="13331" name="Line 7"/>
            <p:cNvSpPr>
              <a:spLocks noChangeShapeType="1"/>
            </p:cNvSpPr>
            <p:nvPr/>
          </p:nvSpPr>
          <p:spPr bwMode="auto">
            <a:xfrm>
              <a:off x="3404" y="5700"/>
              <a:ext cx="11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2" name="Line 8"/>
            <p:cNvSpPr>
              <a:spLocks noChangeShapeType="1"/>
            </p:cNvSpPr>
            <p:nvPr/>
          </p:nvSpPr>
          <p:spPr bwMode="auto">
            <a:xfrm>
              <a:off x="5945" y="5700"/>
              <a:ext cx="11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3" name="Line 9"/>
            <p:cNvSpPr>
              <a:spLocks noChangeShapeType="1"/>
            </p:cNvSpPr>
            <p:nvPr/>
          </p:nvSpPr>
          <p:spPr bwMode="auto">
            <a:xfrm flipV="1">
              <a:off x="5240" y="6146"/>
              <a:ext cx="1" cy="8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4" name="Text Box 10"/>
            <p:cNvSpPr txBox="1">
              <a:spLocks noChangeArrowheads="1"/>
            </p:cNvSpPr>
            <p:nvPr/>
          </p:nvSpPr>
          <p:spPr bwMode="auto">
            <a:xfrm>
              <a:off x="5380" y="4665"/>
              <a:ext cx="1270" cy="4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управління</a:t>
              </a:r>
              <a:endParaRPr lang="ru-RU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5" name="Text Box 11"/>
            <p:cNvSpPr txBox="1">
              <a:spLocks noChangeArrowheads="1"/>
            </p:cNvSpPr>
            <p:nvPr/>
          </p:nvSpPr>
          <p:spPr bwMode="auto">
            <a:xfrm>
              <a:off x="3546" y="5222"/>
              <a:ext cx="705" cy="4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вхід</a:t>
              </a:r>
              <a:endParaRPr lang="ru-RU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6" name="Text Box 12"/>
            <p:cNvSpPr txBox="1">
              <a:spLocks noChangeArrowheads="1"/>
            </p:cNvSpPr>
            <p:nvPr/>
          </p:nvSpPr>
          <p:spPr bwMode="auto">
            <a:xfrm>
              <a:off x="6087" y="5222"/>
              <a:ext cx="847" cy="4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вихід</a:t>
              </a:r>
              <a:endParaRPr lang="ru-RU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37" name="Text Box 13"/>
            <p:cNvSpPr txBox="1">
              <a:spLocks noChangeArrowheads="1"/>
            </p:cNvSpPr>
            <p:nvPr/>
          </p:nvSpPr>
          <p:spPr bwMode="auto">
            <a:xfrm>
              <a:off x="5380" y="6260"/>
              <a:ext cx="1128" cy="4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sz="2000" dirty="0" err="1" smtClean="0">
                  <a:latin typeface="Arial" pitchFamily="34" charset="0"/>
                  <a:cs typeface="Arial" pitchFamily="34" charset="0"/>
                </a:rPr>
                <a:t>механізм</a:t>
              </a:r>
              <a:endParaRPr lang="ru-RU" sz="2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32389" y="4678392"/>
            <a:ext cx="4147613" cy="1402125"/>
            <a:chOff x="748" y="2976"/>
            <a:chExt cx="2540" cy="812"/>
          </a:xfrm>
        </p:grpSpPr>
        <p:sp>
          <p:nvSpPr>
            <p:cNvPr id="13327" name="Text Box 17"/>
            <p:cNvSpPr txBox="1">
              <a:spLocks noChangeArrowheads="1"/>
            </p:cNvSpPr>
            <p:nvPr/>
          </p:nvSpPr>
          <p:spPr bwMode="auto">
            <a:xfrm>
              <a:off x="748" y="3022"/>
              <a:ext cx="1951" cy="766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Ресурси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необходні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для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проведення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роботи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(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людські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ресурси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обладнання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ІС</a:t>
              </a:r>
              <a:r>
                <a:rPr lang="ru-RU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).</a:t>
              </a:r>
            </a:p>
          </p:txBody>
        </p:sp>
        <p:sp>
          <p:nvSpPr>
            <p:cNvPr id="13328" name="Line 24"/>
            <p:cNvSpPr>
              <a:spLocks noChangeShapeType="1"/>
            </p:cNvSpPr>
            <p:nvPr/>
          </p:nvSpPr>
          <p:spPr bwMode="auto">
            <a:xfrm flipV="1">
              <a:off x="2699" y="2976"/>
              <a:ext cx="589" cy="36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684213" y="1665287"/>
            <a:ext cx="2641600" cy="1922955"/>
            <a:chOff x="703" y="1117"/>
            <a:chExt cx="1509" cy="816"/>
          </a:xfrm>
        </p:grpSpPr>
        <p:sp>
          <p:nvSpPr>
            <p:cNvPr id="13325" name="Text Box 14"/>
            <p:cNvSpPr txBox="1">
              <a:spLocks noChangeArrowheads="1"/>
            </p:cNvSpPr>
            <p:nvPr/>
          </p:nvSpPr>
          <p:spPr bwMode="auto">
            <a:xfrm>
              <a:off x="703" y="1117"/>
              <a:ext cx="1509" cy="589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Ресурси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що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переробляються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системой</a:t>
              </a:r>
            </a:p>
          </p:txBody>
        </p:sp>
        <p:sp>
          <p:nvSpPr>
            <p:cNvPr id="13326" name="Line 26"/>
            <p:cNvSpPr>
              <a:spLocks noChangeShapeType="1"/>
            </p:cNvSpPr>
            <p:nvPr/>
          </p:nvSpPr>
          <p:spPr bwMode="auto">
            <a:xfrm>
              <a:off x="1474" y="1706"/>
              <a:ext cx="136" cy="22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4949825" y="1268413"/>
            <a:ext cx="3654425" cy="1631238"/>
            <a:chOff x="3424" y="890"/>
            <a:chExt cx="2087" cy="946"/>
          </a:xfrm>
        </p:grpSpPr>
        <p:sp>
          <p:nvSpPr>
            <p:cNvPr id="13323" name="Text Box 16"/>
            <p:cNvSpPr txBox="1">
              <a:spLocks noChangeArrowheads="1"/>
            </p:cNvSpPr>
            <p:nvPr/>
          </p:nvSpPr>
          <p:spPr bwMode="auto">
            <a:xfrm>
              <a:off x="4014" y="890"/>
              <a:ext cx="1497" cy="946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Регулює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р</a:t>
              </a:r>
              <a:r>
                <a:rPr lang="uk-UA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о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боту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системи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управляє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(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нормативна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документація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та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інш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.)</a:t>
              </a:r>
              <a:endParaRPr lang="ru-RU" sz="2000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24" name="Line 28"/>
            <p:cNvSpPr>
              <a:spLocks noChangeShapeType="1"/>
            </p:cNvSpPr>
            <p:nvPr/>
          </p:nvSpPr>
          <p:spPr bwMode="auto">
            <a:xfrm flipH="1">
              <a:off x="3424" y="1071"/>
              <a:ext cx="590" cy="27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5713413" y="3643313"/>
            <a:ext cx="3179669" cy="2469848"/>
            <a:chOff x="3878" y="2024"/>
            <a:chExt cx="1816" cy="1761"/>
          </a:xfrm>
        </p:grpSpPr>
        <p:sp>
          <p:nvSpPr>
            <p:cNvPr id="13321" name="Text Box 15"/>
            <p:cNvSpPr txBox="1">
              <a:spLocks noChangeArrowheads="1"/>
            </p:cNvSpPr>
            <p:nvPr/>
          </p:nvSpPr>
          <p:spPr bwMode="auto">
            <a:xfrm>
              <a:off x="4059" y="2840"/>
              <a:ext cx="1635" cy="945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Результат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роботи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системи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перероблені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ресурси</a:t>
              </a:r>
              <a:r>
                <a:rPr lang="ru-RU" sz="2000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ru-RU" sz="2000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продукт </a:t>
              </a:r>
              <a:r>
                <a:rPr lang="ru-RU" sz="2000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діяльності</a:t>
              </a:r>
              <a:endParaRPr lang="ru-RU" sz="2000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22" name="Line 30"/>
            <p:cNvSpPr>
              <a:spLocks noChangeShapeType="1"/>
            </p:cNvSpPr>
            <p:nvPr/>
          </p:nvSpPr>
          <p:spPr bwMode="auto">
            <a:xfrm flipH="1" flipV="1">
              <a:off x="3878" y="2024"/>
              <a:ext cx="590" cy="81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 sz="20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467544" y="0"/>
            <a:ext cx="8229600" cy="595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Інтерфейсна дуга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05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9144000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35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1" y="0"/>
            <a:ext cx="9124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Декомпозиція</a:t>
            </a:r>
            <a:r>
              <a:rPr lang="ru-R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IDEF0</a:t>
            </a:r>
            <a:r>
              <a:rPr lang="uk-UA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діаграми</a:t>
            </a:r>
            <a:endParaRPr lang="ru-RU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827584" y="1305342"/>
            <a:ext cx="784887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Принцип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декомпозиції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застосовується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розбитті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складних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процесів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складові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його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При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цьому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рівень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деталізації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безпосередньо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розробником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Модель IDEF0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завжди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починається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з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розгляду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як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єдиного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цілого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тобто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одного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функціонального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блоку з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інтерфейсними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дугами,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тягнуться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за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межі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даної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області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Така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називається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контекстною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, вона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позначається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ідентифікатором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А0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42900" lvl="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Для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меж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контекстній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обов'язково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мета і точка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41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0" y="0"/>
            <a:ext cx="9124224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Мета </a:t>
            </a:r>
            <a:r>
              <a:rPr lang="ru-RU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375138" y="907014"/>
            <a:ext cx="814741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Мета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повинна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відповідати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такі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запитання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lvl="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Чому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процес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000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модельований</a:t>
            </a:r>
            <a:r>
              <a:rPr lang="ru-RU" sz="20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?</a:t>
            </a:r>
            <a:endParaRPr lang="ru-RU" sz="2000" dirty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повинна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показувати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модель?</a:t>
            </a:r>
          </a:p>
          <a:p>
            <a:pPr marL="457200" lvl="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може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отримати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читач</a:t>
            </a:r>
            <a:r>
              <a:rPr lang="ru-RU" sz="20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pPr marL="457200" lvl="0" indent="-457200">
              <a:spcAft>
                <a:spcPts val="600"/>
              </a:spcAft>
              <a:buFont typeface="+mj-lt"/>
              <a:buAutoNum type="arabicPeriod"/>
            </a:pP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Приклади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цілей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: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«</a:t>
            </a:r>
            <a:r>
              <a:rPr lang="uk-UA" sz="2000" b="1" dirty="0" smtClean="0">
                <a:latin typeface="Arial" pitchFamily="34" charset="0"/>
                <a:cs typeface="Arial" pitchFamily="34" charset="0"/>
              </a:rPr>
              <a:t>Покращити</a:t>
            </a:r>
            <a:r>
              <a:rPr lang="uk-UA" sz="2000" dirty="0" smtClean="0">
                <a:latin typeface="Arial" pitchFamily="34" charset="0"/>
                <a:cs typeface="Arial" pitchFamily="34" charset="0"/>
              </a:rPr>
              <a:t> процес збору даних через і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дентифікацію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слабких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сторін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процесу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збору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даних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»;</a:t>
            </a:r>
          </a:p>
          <a:p>
            <a:pPr>
              <a:spcAft>
                <a:spcPts val="600"/>
              </a:spcAft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«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Покращити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якість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співробітників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через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написання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посадових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інструкцій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визначають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відповідальність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співробітників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»</a:t>
            </a: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тощо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56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843808" y="0"/>
            <a:ext cx="26239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Точка </a:t>
            </a: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зору</a:t>
            </a:r>
            <a:endParaRPr lang="ru-RU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104885" y="1412776"/>
            <a:ext cx="713952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000" b="1" dirty="0">
                <a:latin typeface="Arial" pitchFamily="34" charset="0"/>
                <a:cs typeface="Arial" pitchFamily="34" charset="0"/>
              </a:rPr>
              <a:t>Точка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позиція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якою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будуватиметься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модель.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ru-RU" sz="2000" dirty="0" smtClean="0">
                <a:latin typeface="Arial" pitchFamily="34" charset="0"/>
                <a:cs typeface="Arial" pitchFamily="34" charset="0"/>
              </a:rPr>
              <a:t>Як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точка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береться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погляд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людини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яка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бачить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систему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потрібному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моделювання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аспекті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ru-RU" sz="2000" dirty="0">
                <a:latin typeface="Arial" pitchFamily="34" charset="0"/>
                <a:cs typeface="Arial" pitchFamily="34" charset="0"/>
              </a:rPr>
              <a:t>Як правило,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вибирається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точка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людини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відповідальної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за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модельованої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метою і точкою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бути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строга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відповідність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4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2296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600" b="1" i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Декомпозиція</a:t>
            </a:r>
            <a:endParaRPr lang="ru-RU" sz="3600" b="1" i="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411" name="AutoShape 5"/>
          <p:cNvSpPr>
            <a:spLocks noChangeAspect="1" noChangeArrowheads="1"/>
          </p:cNvSpPr>
          <p:nvPr/>
        </p:nvSpPr>
        <p:spPr bwMode="auto">
          <a:xfrm>
            <a:off x="1258888" y="1278964"/>
            <a:ext cx="65532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9561" name="Text Box 105"/>
          <p:cNvSpPr txBox="1">
            <a:spLocks noChangeArrowheads="1"/>
          </p:cNvSpPr>
          <p:nvPr/>
        </p:nvSpPr>
        <p:spPr bwMode="auto">
          <a:xfrm>
            <a:off x="6372225" y="3068638"/>
            <a:ext cx="2520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000" b="1" dirty="0" err="1" smtClean="0"/>
              <a:t>Декомпозиція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контекстної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діаграми</a:t>
            </a:r>
            <a:endParaRPr lang="ru-RU" sz="2000" b="1" dirty="0"/>
          </a:p>
        </p:txBody>
      </p:sp>
      <p:grpSp>
        <p:nvGrpSpPr>
          <p:cNvPr id="2" name="Групувати 1"/>
          <p:cNvGrpSpPr/>
          <p:nvPr/>
        </p:nvGrpSpPr>
        <p:grpSpPr>
          <a:xfrm>
            <a:off x="950109" y="1069975"/>
            <a:ext cx="7351713" cy="5304019"/>
            <a:chOff x="1165225" y="1268413"/>
            <a:chExt cx="7351713" cy="5304019"/>
          </a:xfrm>
        </p:grpSpPr>
        <p:grpSp>
          <p:nvGrpSpPr>
            <p:cNvPr id="17412" name="Group 6"/>
            <p:cNvGrpSpPr>
              <a:grpSpLocks/>
            </p:cNvGrpSpPr>
            <p:nvPr/>
          </p:nvGrpSpPr>
          <p:grpSpPr bwMode="auto">
            <a:xfrm>
              <a:off x="3059113" y="1268413"/>
              <a:ext cx="2592387" cy="1512887"/>
              <a:chOff x="4110" y="2088"/>
              <a:chExt cx="2824" cy="1951"/>
            </a:xfrm>
          </p:grpSpPr>
          <p:sp>
            <p:nvSpPr>
              <p:cNvPr id="17477" name="Rectangle 7"/>
              <p:cNvSpPr>
                <a:spLocks noChangeArrowheads="1"/>
              </p:cNvSpPr>
              <p:nvPr/>
            </p:nvSpPr>
            <p:spPr bwMode="auto">
              <a:xfrm>
                <a:off x="4110" y="2088"/>
                <a:ext cx="2824" cy="195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7478" name="Group 8"/>
              <p:cNvGrpSpPr>
                <a:grpSpLocks/>
              </p:cNvGrpSpPr>
              <p:nvPr/>
            </p:nvGrpSpPr>
            <p:grpSpPr bwMode="auto">
              <a:xfrm>
                <a:off x="4957" y="2228"/>
                <a:ext cx="1130" cy="836"/>
                <a:chOff x="4957" y="2228"/>
                <a:chExt cx="1130" cy="836"/>
              </a:xfrm>
            </p:grpSpPr>
            <p:sp>
              <p:nvSpPr>
                <p:cNvPr id="17481" name="Rectangle 9"/>
                <p:cNvSpPr>
                  <a:spLocks noChangeArrowheads="1"/>
                </p:cNvSpPr>
                <p:nvPr/>
              </p:nvSpPr>
              <p:spPr bwMode="auto">
                <a:xfrm>
                  <a:off x="5099" y="2367"/>
                  <a:ext cx="846" cy="55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r"/>
                  <a:endParaRPr lang="ru-RU" sz="1200"/>
                </a:p>
                <a:p>
                  <a:pPr algn="r"/>
                  <a:r>
                    <a:rPr lang="ru-RU" sz="1600"/>
                    <a:t>А0</a:t>
                  </a:r>
                </a:p>
              </p:txBody>
            </p:sp>
            <p:sp>
              <p:nvSpPr>
                <p:cNvPr id="17482" name="Line 10"/>
                <p:cNvSpPr>
                  <a:spLocks noChangeShapeType="1"/>
                </p:cNvSpPr>
                <p:nvPr/>
              </p:nvSpPr>
              <p:spPr bwMode="auto">
                <a:xfrm>
                  <a:off x="4957" y="2646"/>
                  <a:ext cx="142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7483" name="Line 11"/>
                <p:cNvSpPr>
                  <a:spLocks noChangeShapeType="1"/>
                </p:cNvSpPr>
                <p:nvPr/>
              </p:nvSpPr>
              <p:spPr bwMode="auto">
                <a:xfrm>
                  <a:off x="5522" y="2228"/>
                  <a:ext cx="1" cy="1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7484" name="Line 12"/>
                <p:cNvSpPr>
                  <a:spLocks noChangeShapeType="1"/>
                </p:cNvSpPr>
                <p:nvPr/>
              </p:nvSpPr>
              <p:spPr bwMode="auto">
                <a:xfrm>
                  <a:off x="5946" y="2646"/>
                  <a:ext cx="14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748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5522" y="2924"/>
                  <a:ext cx="0" cy="1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7479" name="Text Box 14"/>
              <p:cNvSpPr txBox="1">
                <a:spLocks noChangeArrowheads="1"/>
              </p:cNvSpPr>
              <p:nvPr/>
            </p:nvSpPr>
            <p:spPr bwMode="auto">
              <a:xfrm>
                <a:off x="4251" y="3343"/>
                <a:ext cx="1272" cy="55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1600" dirty="0" smtClean="0"/>
                  <a:t>Мета:</a:t>
                </a:r>
                <a:endParaRPr lang="ru-RU" sz="1600" dirty="0"/>
              </a:p>
              <a:p>
                <a:pPr eaLnBrk="1" hangingPunct="1"/>
                <a:r>
                  <a:rPr lang="ru-RU" sz="1600" dirty="0" err="1" smtClean="0"/>
                  <a:t>Т.зору</a:t>
                </a:r>
                <a:endParaRPr lang="ru-RU" sz="1600" dirty="0"/>
              </a:p>
            </p:txBody>
          </p:sp>
          <p:sp>
            <p:nvSpPr>
              <p:cNvPr id="17480" name="Text Box 15"/>
              <p:cNvSpPr txBox="1">
                <a:spLocks noChangeArrowheads="1"/>
              </p:cNvSpPr>
              <p:nvPr/>
            </p:nvSpPr>
            <p:spPr bwMode="auto">
              <a:xfrm>
                <a:off x="6228" y="3482"/>
                <a:ext cx="565" cy="4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sz="1600"/>
                  <a:t>А-0</a:t>
                </a:r>
              </a:p>
              <a:p>
                <a:pPr eaLnBrk="1" hangingPunct="1"/>
                <a:endParaRPr lang="ru-RU" sz="1600"/>
              </a:p>
            </p:txBody>
          </p:sp>
        </p:grpSp>
        <p:grpSp>
          <p:nvGrpSpPr>
            <p:cNvPr id="4" name="Group 96"/>
            <p:cNvGrpSpPr>
              <a:grpSpLocks/>
            </p:cNvGrpSpPr>
            <p:nvPr/>
          </p:nvGrpSpPr>
          <p:grpSpPr bwMode="auto">
            <a:xfrm>
              <a:off x="2484438" y="1917700"/>
              <a:ext cx="3686175" cy="2651125"/>
              <a:chOff x="1565" y="935"/>
              <a:chExt cx="2322" cy="1670"/>
            </a:xfrm>
          </p:grpSpPr>
          <p:grpSp>
            <p:nvGrpSpPr>
              <p:cNvPr id="17458" name="Group 77"/>
              <p:cNvGrpSpPr>
                <a:grpSpLocks/>
              </p:cNvGrpSpPr>
              <p:nvPr/>
            </p:nvGrpSpPr>
            <p:grpSpPr bwMode="auto">
              <a:xfrm>
                <a:off x="1565" y="1525"/>
                <a:ext cx="2322" cy="1080"/>
                <a:chOff x="3546" y="4318"/>
                <a:chExt cx="3811" cy="2090"/>
              </a:xfrm>
            </p:grpSpPr>
            <p:sp>
              <p:nvSpPr>
                <p:cNvPr id="17461" name="Rectangle 78"/>
                <p:cNvSpPr>
                  <a:spLocks noChangeArrowheads="1"/>
                </p:cNvSpPr>
                <p:nvPr/>
              </p:nvSpPr>
              <p:spPr bwMode="auto">
                <a:xfrm>
                  <a:off x="3546" y="4318"/>
                  <a:ext cx="3811" cy="20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7462" name="Group 79"/>
                <p:cNvGrpSpPr>
                  <a:grpSpLocks/>
                </p:cNvGrpSpPr>
                <p:nvPr/>
              </p:nvGrpSpPr>
              <p:grpSpPr bwMode="auto">
                <a:xfrm>
                  <a:off x="3828" y="4597"/>
                  <a:ext cx="3247" cy="1254"/>
                  <a:chOff x="3828" y="4597"/>
                  <a:chExt cx="3247" cy="1254"/>
                </a:xfrm>
              </p:grpSpPr>
              <p:sp>
                <p:nvSpPr>
                  <p:cNvPr id="17464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3969" y="4736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А1</a:t>
                    </a:r>
                  </a:p>
                </p:txBody>
              </p:sp>
              <p:sp>
                <p:nvSpPr>
                  <p:cNvPr id="17465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6228" y="5293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А3</a:t>
                    </a:r>
                  </a:p>
                </p:txBody>
              </p:sp>
              <p:sp>
                <p:nvSpPr>
                  <p:cNvPr id="17466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5099" y="5015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А2</a:t>
                    </a:r>
                  </a:p>
                </p:txBody>
              </p:sp>
              <p:sp>
                <p:nvSpPr>
                  <p:cNvPr id="17467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3828" y="4875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68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6934" y="5433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69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393" y="4597"/>
                    <a:ext cx="1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70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5522" y="4875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71" name="Line 87"/>
                  <p:cNvSpPr>
                    <a:spLocks noChangeShapeType="1"/>
                  </p:cNvSpPr>
                  <p:nvPr/>
                </p:nvSpPr>
                <p:spPr bwMode="auto">
                  <a:xfrm>
                    <a:off x="6651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72" name="Line 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93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73" name="Line 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22" y="5433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74" name="Line 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651" y="5711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cxnSp>
                <p:nvCxnSpPr>
                  <p:cNvPr id="17475" name="AutoShape 91"/>
                  <p:cNvCxnSpPr>
                    <a:cxnSpLocks noChangeShapeType="1"/>
                    <a:stCxn id="17464" idx="3"/>
                    <a:endCxn id="17466" idx="1"/>
                  </p:cNvCxnSpPr>
                  <p:nvPr/>
                </p:nvCxnSpPr>
                <p:spPr bwMode="auto">
                  <a:xfrm>
                    <a:off x="4676" y="4945"/>
                    <a:ext cx="423" cy="279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476" name="AutoShape 92"/>
                  <p:cNvCxnSpPr>
                    <a:cxnSpLocks noChangeShapeType="1"/>
                    <a:stCxn id="17466" idx="3"/>
                    <a:endCxn id="17465" idx="1"/>
                  </p:cNvCxnSpPr>
                  <p:nvPr/>
                </p:nvCxnSpPr>
                <p:spPr bwMode="auto">
                  <a:xfrm>
                    <a:off x="5806" y="5224"/>
                    <a:ext cx="422" cy="278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7463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6510" y="5990"/>
                  <a:ext cx="706" cy="2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r" eaLnBrk="1" hangingPunct="1"/>
                  <a:r>
                    <a:rPr lang="ru-RU" sz="1600"/>
                    <a:t>А0</a:t>
                  </a:r>
                </a:p>
              </p:txBody>
            </p:sp>
          </p:grpSp>
          <p:sp>
            <p:nvSpPr>
              <p:cNvPr id="17459" name="Line 94"/>
              <p:cNvSpPr>
                <a:spLocks noChangeShapeType="1"/>
              </p:cNvSpPr>
              <p:nvPr/>
            </p:nvSpPr>
            <p:spPr bwMode="auto">
              <a:xfrm flipH="1">
                <a:off x="1565" y="935"/>
                <a:ext cx="907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460" name="Line 95"/>
              <p:cNvSpPr>
                <a:spLocks noChangeShapeType="1"/>
              </p:cNvSpPr>
              <p:nvPr/>
            </p:nvSpPr>
            <p:spPr bwMode="auto">
              <a:xfrm>
                <a:off x="2971" y="935"/>
                <a:ext cx="907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" name="Group 99"/>
            <p:cNvGrpSpPr>
              <a:grpSpLocks/>
            </p:cNvGrpSpPr>
            <p:nvPr/>
          </p:nvGrpSpPr>
          <p:grpSpPr bwMode="auto">
            <a:xfrm>
              <a:off x="1403350" y="3429000"/>
              <a:ext cx="3024188" cy="2824163"/>
              <a:chOff x="884" y="1933"/>
              <a:chExt cx="1905" cy="1779"/>
            </a:xfrm>
          </p:grpSpPr>
          <p:grpSp>
            <p:nvGrpSpPr>
              <p:cNvPr id="17439" name="Group 35"/>
              <p:cNvGrpSpPr>
                <a:grpSpLocks/>
              </p:cNvGrpSpPr>
              <p:nvPr/>
            </p:nvGrpSpPr>
            <p:grpSpPr bwMode="auto">
              <a:xfrm>
                <a:off x="884" y="2704"/>
                <a:ext cx="1892" cy="1008"/>
                <a:chOff x="3546" y="4318"/>
                <a:chExt cx="3811" cy="1951"/>
              </a:xfrm>
            </p:grpSpPr>
            <p:sp>
              <p:nvSpPr>
                <p:cNvPr id="17442" name="Rectangle 36"/>
                <p:cNvSpPr>
                  <a:spLocks noChangeArrowheads="1"/>
                </p:cNvSpPr>
                <p:nvPr/>
              </p:nvSpPr>
              <p:spPr bwMode="auto">
                <a:xfrm>
                  <a:off x="3546" y="4318"/>
                  <a:ext cx="3811" cy="181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7443" name="Group 37"/>
                <p:cNvGrpSpPr>
                  <a:grpSpLocks/>
                </p:cNvGrpSpPr>
                <p:nvPr/>
              </p:nvGrpSpPr>
              <p:grpSpPr bwMode="auto">
                <a:xfrm>
                  <a:off x="3828" y="4597"/>
                  <a:ext cx="3247" cy="1254"/>
                  <a:chOff x="3828" y="4597"/>
                  <a:chExt cx="3247" cy="1254"/>
                </a:xfrm>
              </p:grpSpPr>
              <p:sp>
                <p:nvSpPr>
                  <p:cNvPr id="17445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969" y="4736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А11</a:t>
                    </a:r>
                  </a:p>
                </p:txBody>
              </p:sp>
              <p:sp>
                <p:nvSpPr>
                  <p:cNvPr id="17446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6228" y="5293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А13</a:t>
                    </a:r>
                  </a:p>
                </p:txBody>
              </p:sp>
              <p:sp>
                <p:nvSpPr>
                  <p:cNvPr id="17447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5099" y="5015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 dirty="0"/>
                      <a:t>А12</a:t>
                    </a:r>
                  </a:p>
                </p:txBody>
              </p:sp>
              <p:sp>
                <p:nvSpPr>
                  <p:cNvPr id="17448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828" y="4875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49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6934" y="5433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50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4393" y="4597"/>
                    <a:ext cx="1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51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5522" y="4875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52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6651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53" name="Line 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93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54" name="Line 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22" y="5433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55" name="Line 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651" y="5711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cxnSp>
                <p:nvCxnSpPr>
                  <p:cNvPr id="17456" name="AutoShape 49"/>
                  <p:cNvCxnSpPr>
                    <a:cxnSpLocks noChangeShapeType="1"/>
                    <a:stCxn id="17445" idx="3"/>
                    <a:endCxn id="17447" idx="1"/>
                  </p:cNvCxnSpPr>
                  <p:nvPr/>
                </p:nvCxnSpPr>
                <p:spPr bwMode="auto">
                  <a:xfrm>
                    <a:off x="4676" y="4945"/>
                    <a:ext cx="423" cy="279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457" name="AutoShape 50"/>
                  <p:cNvCxnSpPr>
                    <a:cxnSpLocks noChangeShapeType="1"/>
                    <a:stCxn id="17447" idx="3"/>
                    <a:endCxn id="17446" idx="1"/>
                  </p:cNvCxnSpPr>
                  <p:nvPr/>
                </p:nvCxnSpPr>
                <p:spPr bwMode="auto">
                  <a:xfrm>
                    <a:off x="5806" y="5224"/>
                    <a:ext cx="422" cy="278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7444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6510" y="5990"/>
                  <a:ext cx="706" cy="2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r" eaLnBrk="1" hangingPunct="1"/>
                  <a:r>
                    <a:rPr lang="ru-RU" sz="1600"/>
                    <a:t>А1</a:t>
                  </a:r>
                </a:p>
              </p:txBody>
            </p:sp>
          </p:grpSp>
          <p:sp>
            <p:nvSpPr>
              <p:cNvPr id="17440" name="Line 97"/>
              <p:cNvSpPr>
                <a:spLocks noChangeShapeType="1"/>
              </p:cNvSpPr>
              <p:nvPr/>
            </p:nvSpPr>
            <p:spPr bwMode="auto">
              <a:xfrm flipH="1">
                <a:off x="884" y="1933"/>
                <a:ext cx="953" cy="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441" name="Line 98"/>
              <p:cNvSpPr>
                <a:spLocks noChangeShapeType="1"/>
              </p:cNvSpPr>
              <p:nvPr/>
            </p:nvSpPr>
            <p:spPr bwMode="auto">
              <a:xfrm>
                <a:off x="2245" y="1933"/>
                <a:ext cx="544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" name="Group 102"/>
            <p:cNvGrpSpPr>
              <a:grpSpLocks/>
            </p:cNvGrpSpPr>
            <p:nvPr/>
          </p:nvGrpSpPr>
          <p:grpSpPr bwMode="auto">
            <a:xfrm>
              <a:off x="4500563" y="3933825"/>
              <a:ext cx="3024187" cy="2205174"/>
              <a:chOff x="2835" y="2251"/>
              <a:chExt cx="1905" cy="1533"/>
            </a:xfrm>
          </p:grpSpPr>
          <p:grpSp>
            <p:nvGrpSpPr>
              <p:cNvPr id="17420" name="Group 52"/>
              <p:cNvGrpSpPr>
                <a:grpSpLocks/>
              </p:cNvGrpSpPr>
              <p:nvPr/>
            </p:nvGrpSpPr>
            <p:grpSpPr bwMode="auto">
              <a:xfrm>
                <a:off x="2835" y="2704"/>
                <a:ext cx="1892" cy="1080"/>
                <a:chOff x="3546" y="4318"/>
                <a:chExt cx="3811" cy="2090"/>
              </a:xfrm>
            </p:grpSpPr>
            <p:sp>
              <p:nvSpPr>
                <p:cNvPr id="17423" name="Rectangle 53"/>
                <p:cNvSpPr>
                  <a:spLocks noChangeArrowheads="1"/>
                </p:cNvSpPr>
                <p:nvPr/>
              </p:nvSpPr>
              <p:spPr bwMode="auto">
                <a:xfrm>
                  <a:off x="3546" y="4318"/>
                  <a:ext cx="3811" cy="20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7424" name="Group 54"/>
                <p:cNvGrpSpPr>
                  <a:grpSpLocks/>
                </p:cNvGrpSpPr>
                <p:nvPr/>
              </p:nvGrpSpPr>
              <p:grpSpPr bwMode="auto">
                <a:xfrm>
                  <a:off x="3828" y="4597"/>
                  <a:ext cx="3247" cy="1254"/>
                  <a:chOff x="3828" y="4597"/>
                  <a:chExt cx="3247" cy="1254"/>
                </a:xfrm>
              </p:grpSpPr>
              <p:sp>
                <p:nvSpPr>
                  <p:cNvPr id="17426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3969" y="4736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А31</a:t>
                    </a:r>
                  </a:p>
                </p:txBody>
              </p:sp>
              <p:sp>
                <p:nvSpPr>
                  <p:cNvPr id="1742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6228" y="5293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А33</a:t>
                    </a:r>
                  </a:p>
                </p:txBody>
              </p:sp>
              <p:sp>
                <p:nvSpPr>
                  <p:cNvPr id="1742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5099" y="5015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sz="1600"/>
                      <a:t>А32</a:t>
                    </a:r>
                  </a:p>
                </p:txBody>
              </p:sp>
              <p:sp>
                <p:nvSpPr>
                  <p:cNvPr id="17429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3828" y="4875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0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934" y="5433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1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4393" y="4597"/>
                    <a:ext cx="1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5522" y="4875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6651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4" name="Line 6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93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5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22" y="5433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7436" name="Line 6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651" y="5711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cxnSp>
                <p:nvCxnSpPr>
                  <p:cNvPr id="17437" name="AutoShape 66"/>
                  <p:cNvCxnSpPr>
                    <a:cxnSpLocks noChangeShapeType="1"/>
                    <a:stCxn id="17426" idx="3"/>
                    <a:endCxn id="17428" idx="1"/>
                  </p:cNvCxnSpPr>
                  <p:nvPr/>
                </p:nvCxnSpPr>
                <p:spPr bwMode="auto">
                  <a:xfrm>
                    <a:off x="4676" y="4945"/>
                    <a:ext cx="423" cy="279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438" name="AutoShape 67"/>
                  <p:cNvCxnSpPr>
                    <a:cxnSpLocks noChangeShapeType="1"/>
                    <a:stCxn id="17428" idx="3"/>
                    <a:endCxn id="17427" idx="1"/>
                  </p:cNvCxnSpPr>
                  <p:nvPr/>
                </p:nvCxnSpPr>
                <p:spPr bwMode="auto">
                  <a:xfrm>
                    <a:off x="5806" y="5224"/>
                    <a:ext cx="422" cy="278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7425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6510" y="5990"/>
                  <a:ext cx="706" cy="2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r" eaLnBrk="1" hangingPunct="1"/>
                  <a:r>
                    <a:rPr lang="ru-RU" sz="1600"/>
                    <a:t>А3</a:t>
                  </a:r>
                </a:p>
              </p:txBody>
            </p:sp>
          </p:grpSp>
          <p:sp>
            <p:nvSpPr>
              <p:cNvPr id="17421" name="Line 100"/>
              <p:cNvSpPr>
                <a:spLocks noChangeShapeType="1"/>
              </p:cNvSpPr>
              <p:nvPr/>
            </p:nvSpPr>
            <p:spPr bwMode="auto">
              <a:xfrm flipH="1">
                <a:off x="2835" y="2251"/>
                <a:ext cx="363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422" name="Line 101"/>
              <p:cNvSpPr>
                <a:spLocks noChangeShapeType="1"/>
              </p:cNvSpPr>
              <p:nvPr/>
            </p:nvSpPr>
            <p:spPr bwMode="auto">
              <a:xfrm>
                <a:off x="3606" y="2251"/>
                <a:ext cx="1134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7416" name="Text Box 104"/>
            <p:cNvSpPr txBox="1">
              <a:spLocks noChangeArrowheads="1"/>
            </p:cNvSpPr>
            <p:nvPr/>
          </p:nvSpPr>
          <p:spPr bwMode="auto">
            <a:xfrm>
              <a:off x="6588125" y="1557338"/>
              <a:ext cx="1928813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u-RU" sz="2000" b="1" dirty="0" err="1" smtClean="0"/>
                <a:t>Контекстна</a:t>
              </a:r>
              <a:r>
                <a:rPr lang="ru-RU" sz="2000" b="1" dirty="0" smtClean="0"/>
                <a:t> </a:t>
              </a:r>
              <a:r>
                <a:rPr lang="ru-RU" sz="2000" b="1" dirty="0" err="1" smtClean="0"/>
                <a:t>діаграма</a:t>
              </a:r>
              <a:endParaRPr lang="ru-RU" sz="2000" b="1" dirty="0"/>
            </a:p>
          </p:txBody>
        </p:sp>
        <p:sp>
          <p:nvSpPr>
            <p:cNvPr id="19562" name="Text Box 106"/>
            <p:cNvSpPr txBox="1">
              <a:spLocks noChangeArrowheads="1"/>
            </p:cNvSpPr>
            <p:nvPr/>
          </p:nvSpPr>
          <p:spPr bwMode="auto">
            <a:xfrm>
              <a:off x="1165225" y="6175557"/>
              <a:ext cx="32416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sz="2000" b="1" dirty="0"/>
                <a:t>Декомпозиция блока А1</a:t>
              </a:r>
            </a:p>
          </p:txBody>
        </p:sp>
        <p:sp>
          <p:nvSpPr>
            <p:cNvPr id="19563" name="Text Box 107"/>
            <p:cNvSpPr txBox="1">
              <a:spLocks noChangeArrowheads="1"/>
            </p:cNvSpPr>
            <p:nvPr/>
          </p:nvSpPr>
          <p:spPr bwMode="auto">
            <a:xfrm>
              <a:off x="4625966" y="6138336"/>
              <a:ext cx="33115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sz="2000" b="1" dirty="0"/>
                <a:t>Декомпозиция блока А3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530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5" name="Group 6"/>
          <p:cNvGrpSpPr>
            <a:grpSpLocks noChangeAspect="1"/>
          </p:cNvGrpSpPr>
          <p:nvPr/>
        </p:nvGrpSpPr>
        <p:grpSpPr bwMode="auto">
          <a:xfrm>
            <a:off x="1042988" y="1196975"/>
            <a:ext cx="7056437" cy="2640221"/>
            <a:chOff x="2275" y="332"/>
            <a:chExt cx="7200" cy="2648"/>
          </a:xfrm>
        </p:grpSpPr>
        <p:sp>
          <p:nvSpPr>
            <p:cNvPr id="18440" name="AutoShape 7"/>
            <p:cNvSpPr>
              <a:spLocks noChangeAspect="1" noChangeArrowheads="1"/>
            </p:cNvSpPr>
            <p:nvPr/>
          </p:nvSpPr>
          <p:spPr bwMode="auto">
            <a:xfrm>
              <a:off x="2275" y="332"/>
              <a:ext cx="7200" cy="2648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18441" name="Group 8"/>
            <p:cNvGrpSpPr>
              <a:grpSpLocks/>
            </p:cNvGrpSpPr>
            <p:nvPr/>
          </p:nvGrpSpPr>
          <p:grpSpPr bwMode="auto">
            <a:xfrm>
              <a:off x="2699" y="611"/>
              <a:ext cx="4375" cy="2090"/>
              <a:chOff x="2699" y="611"/>
              <a:chExt cx="4375" cy="2090"/>
            </a:xfrm>
          </p:grpSpPr>
          <p:sp>
            <p:nvSpPr>
              <p:cNvPr id="18442" name="Rectangle 9"/>
              <p:cNvSpPr>
                <a:spLocks noChangeArrowheads="1"/>
              </p:cNvSpPr>
              <p:nvPr/>
            </p:nvSpPr>
            <p:spPr bwMode="auto">
              <a:xfrm>
                <a:off x="5099" y="611"/>
                <a:ext cx="847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А0</a:t>
                </a:r>
              </a:p>
            </p:txBody>
          </p:sp>
          <p:sp>
            <p:nvSpPr>
              <p:cNvPr id="18443" name="Rectangle 10"/>
              <p:cNvSpPr>
                <a:spLocks noChangeArrowheads="1"/>
              </p:cNvSpPr>
              <p:nvPr/>
            </p:nvSpPr>
            <p:spPr bwMode="auto">
              <a:xfrm>
                <a:off x="3969" y="1447"/>
                <a:ext cx="847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А1</a:t>
                </a:r>
              </a:p>
            </p:txBody>
          </p:sp>
          <p:sp>
            <p:nvSpPr>
              <p:cNvPr id="18444" name="Rectangle 11"/>
              <p:cNvSpPr>
                <a:spLocks noChangeArrowheads="1"/>
              </p:cNvSpPr>
              <p:nvPr/>
            </p:nvSpPr>
            <p:spPr bwMode="auto">
              <a:xfrm>
                <a:off x="5099" y="1447"/>
                <a:ext cx="846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А2</a:t>
                </a:r>
              </a:p>
            </p:txBody>
          </p:sp>
          <p:sp>
            <p:nvSpPr>
              <p:cNvPr id="18445" name="Rectangle 12"/>
              <p:cNvSpPr>
                <a:spLocks noChangeArrowheads="1"/>
              </p:cNvSpPr>
              <p:nvPr/>
            </p:nvSpPr>
            <p:spPr bwMode="auto">
              <a:xfrm>
                <a:off x="6228" y="1447"/>
                <a:ext cx="846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А3</a:t>
                </a:r>
              </a:p>
            </p:txBody>
          </p:sp>
          <p:sp>
            <p:nvSpPr>
              <p:cNvPr id="18446" name="Rectangle 13"/>
              <p:cNvSpPr>
                <a:spLocks noChangeArrowheads="1"/>
              </p:cNvSpPr>
              <p:nvPr/>
            </p:nvSpPr>
            <p:spPr bwMode="auto">
              <a:xfrm>
                <a:off x="2699" y="2283"/>
                <a:ext cx="846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А11</a:t>
                </a:r>
              </a:p>
            </p:txBody>
          </p:sp>
          <p:sp>
            <p:nvSpPr>
              <p:cNvPr id="18447" name="Rectangle 14"/>
              <p:cNvSpPr>
                <a:spLocks noChangeArrowheads="1"/>
              </p:cNvSpPr>
              <p:nvPr/>
            </p:nvSpPr>
            <p:spPr bwMode="auto">
              <a:xfrm>
                <a:off x="3969" y="2283"/>
                <a:ext cx="846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А12</a:t>
                </a:r>
              </a:p>
            </p:txBody>
          </p:sp>
          <p:sp>
            <p:nvSpPr>
              <p:cNvPr id="18448" name="Rectangle 15"/>
              <p:cNvSpPr>
                <a:spLocks noChangeArrowheads="1"/>
              </p:cNvSpPr>
              <p:nvPr/>
            </p:nvSpPr>
            <p:spPr bwMode="auto">
              <a:xfrm>
                <a:off x="5240" y="2283"/>
                <a:ext cx="846" cy="41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/>
                  <a:t>А13</a:t>
                </a:r>
              </a:p>
            </p:txBody>
          </p:sp>
          <p:sp>
            <p:nvSpPr>
              <p:cNvPr id="18449" name="Line 16"/>
              <p:cNvSpPr>
                <a:spLocks noChangeShapeType="1"/>
              </p:cNvSpPr>
              <p:nvPr/>
            </p:nvSpPr>
            <p:spPr bwMode="auto">
              <a:xfrm>
                <a:off x="5522" y="1029"/>
                <a:ext cx="0" cy="41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450" name="Line 17"/>
              <p:cNvSpPr>
                <a:spLocks noChangeShapeType="1"/>
              </p:cNvSpPr>
              <p:nvPr/>
            </p:nvSpPr>
            <p:spPr bwMode="auto">
              <a:xfrm flipH="1">
                <a:off x="4393" y="1029"/>
                <a:ext cx="1129" cy="41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451" name="Line 18"/>
              <p:cNvSpPr>
                <a:spLocks noChangeShapeType="1"/>
              </p:cNvSpPr>
              <p:nvPr/>
            </p:nvSpPr>
            <p:spPr bwMode="auto">
              <a:xfrm>
                <a:off x="5522" y="1029"/>
                <a:ext cx="1129" cy="41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452" name="Line 19"/>
              <p:cNvSpPr>
                <a:spLocks noChangeShapeType="1"/>
              </p:cNvSpPr>
              <p:nvPr/>
            </p:nvSpPr>
            <p:spPr bwMode="auto">
              <a:xfrm flipH="1">
                <a:off x="3122" y="1865"/>
                <a:ext cx="1271" cy="41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453" name="Line 20"/>
              <p:cNvSpPr>
                <a:spLocks noChangeShapeType="1"/>
              </p:cNvSpPr>
              <p:nvPr/>
            </p:nvSpPr>
            <p:spPr bwMode="auto">
              <a:xfrm>
                <a:off x="4393" y="1865"/>
                <a:ext cx="141" cy="41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454" name="Line 21"/>
              <p:cNvSpPr>
                <a:spLocks noChangeShapeType="1"/>
              </p:cNvSpPr>
              <p:nvPr/>
            </p:nvSpPr>
            <p:spPr bwMode="auto">
              <a:xfrm>
                <a:off x="4393" y="1865"/>
                <a:ext cx="1270" cy="41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8436" name="Rectangle 22"/>
          <p:cNvSpPr>
            <a:spLocks noChangeArrowheads="1"/>
          </p:cNvSpPr>
          <p:nvPr/>
        </p:nvSpPr>
        <p:spPr bwMode="auto">
          <a:xfrm>
            <a:off x="1034969" y="3977713"/>
            <a:ext cx="7058025" cy="2376488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8437" name="Rectangle 23"/>
          <p:cNvSpPr>
            <a:spLocks noChangeArrowheads="1"/>
          </p:cNvSpPr>
          <p:nvPr/>
        </p:nvSpPr>
        <p:spPr bwMode="auto">
          <a:xfrm>
            <a:off x="1348771" y="4158688"/>
            <a:ext cx="3816350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indent="450850" algn="ctr"/>
            <a:r>
              <a:rPr lang="ru-RU" dirty="0"/>
              <a:t>А0 ____________</a:t>
            </a:r>
          </a:p>
          <a:p>
            <a:pPr indent="450850" algn="ctr"/>
            <a:r>
              <a:rPr lang="ru-RU" dirty="0"/>
              <a:t>	А1____________</a:t>
            </a:r>
          </a:p>
          <a:p>
            <a:pPr indent="450850" algn="ctr"/>
            <a:r>
              <a:rPr lang="ru-RU" dirty="0"/>
              <a:t>		А11___________</a:t>
            </a:r>
          </a:p>
          <a:p>
            <a:pPr indent="450850" algn="ctr"/>
            <a:r>
              <a:rPr lang="ru-RU" dirty="0"/>
              <a:t>		А12___________</a:t>
            </a:r>
          </a:p>
          <a:p>
            <a:pPr indent="450850" algn="ctr"/>
            <a:r>
              <a:rPr lang="ru-RU" dirty="0"/>
              <a:t>		А13___________</a:t>
            </a:r>
          </a:p>
          <a:p>
            <a:pPr indent="450850" algn="ctr"/>
            <a:r>
              <a:rPr lang="ru-RU" dirty="0"/>
              <a:t>	А2____________</a:t>
            </a:r>
          </a:p>
          <a:p>
            <a:pPr indent="450850" algn="ctr"/>
            <a:r>
              <a:rPr lang="ru-RU" dirty="0"/>
              <a:t>	А3____________</a:t>
            </a:r>
          </a:p>
        </p:txBody>
      </p:sp>
      <p:sp>
        <p:nvSpPr>
          <p:cNvPr id="18438" name="Text Box 24"/>
          <p:cNvSpPr txBox="1">
            <a:spLocks noChangeArrowheads="1"/>
          </p:cNvSpPr>
          <p:nvPr/>
        </p:nvSpPr>
        <p:spPr bwMode="auto">
          <a:xfrm>
            <a:off x="5730098" y="3125755"/>
            <a:ext cx="2184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400" dirty="0">
                <a:solidFill>
                  <a:schemeClr val="hlink"/>
                </a:solidFill>
              </a:rPr>
              <a:t>Дерево </a:t>
            </a:r>
            <a:r>
              <a:rPr lang="ru-RU" sz="2400" dirty="0" err="1" smtClean="0">
                <a:solidFill>
                  <a:schemeClr val="hlink"/>
                </a:solidFill>
              </a:rPr>
              <a:t>вузлів</a:t>
            </a:r>
            <a:endParaRPr lang="ru-RU" sz="2400" dirty="0">
              <a:solidFill>
                <a:schemeClr val="hlink"/>
              </a:solidFill>
            </a:endParaRPr>
          </a:p>
        </p:txBody>
      </p:sp>
      <p:sp>
        <p:nvSpPr>
          <p:cNvPr id="18439" name="Text Box 25"/>
          <p:cNvSpPr txBox="1">
            <a:spLocks noChangeArrowheads="1"/>
          </p:cNvSpPr>
          <p:nvPr/>
        </p:nvSpPr>
        <p:spPr bwMode="auto">
          <a:xfrm>
            <a:off x="5777770" y="5490735"/>
            <a:ext cx="20277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400" dirty="0" err="1" smtClean="0">
                <a:solidFill>
                  <a:schemeClr val="hlink"/>
                </a:solidFill>
              </a:rPr>
              <a:t>Індекс</a:t>
            </a:r>
            <a:r>
              <a:rPr lang="ru-RU" sz="2400" dirty="0" smtClean="0">
                <a:solidFill>
                  <a:schemeClr val="hlink"/>
                </a:solidFill>
              </a:rPr>
              <a:t> </a:t>
            </a:r>
            <a:r>
              <a:rPr lang="ru-RU" sz="2400" dirty="0" err="1" smtClean="0">
                <a:solidFill>
                  <a:schemeClr val="hlink"/>
                </a:solidFill>
              </a:rPr>
              <a:t>вузлів</a:t>
            </a:r>
            <a:endParaRPr lang="ru-RU" sz="2400" dirty="0">
              <a:solidFill>
                <a:schemeClr val="hlink"/>
              </a:solidFill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180974" y="0"/>
            <a:ext cx="8229600" cy="595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Декомпозиція</a:t>
            </a:r>
            <a:endParaRPr lang="ru-RU" sz="36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42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"/>
            <a:ext cx="9144000" cy="5953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600" b="1" i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Нумерація</a:t>
            </a:r>
            <a:r>
              <a:rPr lang="ru-RU" sz="3600" b="1" i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i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робіт</a:t>
            </a:r>
            <a:r>
              <a:rPr lang="ru-RU" sz="3600" b="1" i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та </a:t>
            </a:r>
            <a:r>
              <a:rPr lang="ru-RU" sz="3600" b="1" i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</a:t>
            </a:r>
            <a:endParaRPr lang="ru-RU" sz="3600" b="1" i="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oup 79"/>
          <p:cNvGrpSpPr>
            <a:grpSpLocks/>
          </p:cNvGrpSpPr>
          <p:nvPr/>
        </p:nvGrpSpPr>
        <p:grpSpPr bwMode="auto">
          <a:xfrm>
            <a:off x="5580064" y="1557338"/>
            <a:ext cx="3455988" cy="935037"/>
            <a:chOff x="3515" y="981"/>
            <a:chExt cx="2177" cy="589"/>
          </a:xfrm>
        </p:grpSpPr>
        <p:sp>
          <p:nvSpPr>
            <p:cNvPr id="19474" name="Text Box 77"/>
            <p:cNvSpPr txBox="1">
              <a:spLocks noChangeArrowheads="1"/>
            </p:cNvSpPr>
            <p:nvPr/>
          </p:nvSpPr>
          <p:spPr bwMode="auto">
            <a:xfrm>
              <a:off x="3969" y="981"/>
              <a:ext cx="172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Номер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контекстної</a:t>
              </a:r>
              <a:r>
                <a:rPr lang="ru-RU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діаграми</a:t>
              </a:r>
              <a:endParaRPr lang="ru-RU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75" name="Line 78"/>
            <p:cNvSpPr>
              <a:spLocks noChangeShapeType="1"/>
            </p:cNvSpPr>
            <p:nvPr/>
          </p:nvSpPr>
          <p:spPr bwMode="auto">
            <a:xfrm flipH="1">
              <a:off x="3515" y="1207"/>
              <a:ext cx="590" cy="36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82"/>
          <p:cNvGrpSpPr>
            <a:grpSpLocks/>
          </p:cNvGrpSpPr>
          <p:nvPr/>
        </p:nvGrpSpPr>
        <p:grpSpPr bwMode="auto">
          <a:xfrm>
            <a:off x="250825" y="1268414"/>
            <a:ext cx="4321175" cy="1477963"/>
            <a:chOff x="158" y="799"/>
            <a:chExt cx="2722" cy="931"/>
          </a:xfrm>
        </p:grpSpPr>
        <p:sp>
          <p:nvSpPr>
            <p:cNvPr id="19472" name="Text Box 80"/>
            <p:cNvSpPr txBox="1">
              <a:spLocks noChangeArrowheads="1"/>
            </p:cNvSpPr>
            <p:nvPr/>
          </p:nvSpPr>
          <p:spPr bwMode="auto">
            <a:xfrm>
              <a:off x="158" y="799"/>
              <a:ext cx="1361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Номер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функціонального</a:t>
              </a:r>
              <a:endParaRPr lang="ru-RU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  <a:p>
              <a:pPr algn="ctr" eaLnBrk="1" hangingPunct="1"/>
              <a:r>
                <a:rPr lang="ru-RU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блоку </a:t>
              </a:r>
              <a:r>
                <a:rPr lang="ru-RU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на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контекстній</a:t>
              </a:r>
              <a:r>
                <a:rPr lang="ru-RU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діаграмі</a:t>
              </a:r>
              <a:endParaRPr lang="ru-RU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73" name="Line 81"/>
            <p:cNvSpPr>
              <a:spLocks noChangeShapeType="1"/>
            </p:cNvSpPr>
            <p:nvPr/>
          </p:nvSpPr>
          <p:spPr bwMode="auto">
            <a:xfrm flipV="1">
              <a:off x="1292" y="1117"/>
              <a:ext cx="1588" cy="9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" name="Групувати 1"/>
          <p:cNvGrpSpPr/>
          <p:nvPr/>
        </p:nvGrpSpPr>
        <p:grpSpPr>
          <a:xfrm>
            <a:off x="1814501" y="1067320"/>
            <a:ext cx="6861175" cy="5170487"/>
            <a:chOff x="1979613" y="1268413"/>
            <a:chExt cx="6861175" cy="5170487"/>
          </a:xfrm>
        </p:grpSpPr>
        <p:grpSp>
          <p:nvGrpSpPr>
            <p:cNvPr id="19459" name="Group 4"/>
            <p:cNvGrpSpPr>
              <a:grpSpLocks/>
            </p:cNvGrpSpPr>
            <p:nvPr/>
          </p:nvGrpSpPr>
          <p:grpSpPr bwMode="auto">
            <a:xfrm>
              <a:off x="3635375" y="1268413"/>
              <a:ext cx="2665827" cy="1512887"/>
              <a:chOff x="4110" y="2088"/>
              <a:chExt cx="2904" cy="1951"/>
            </a:xfrm>
          </p:grpSpPr>
          <p:sp>
            <p:nvSpPr>
              <p:cNvPr id="19533" name="Rectangle 5"/>
              <p:cNvSpPr>
                <a:spLocks noChangeArrowheads="1"/>
              </p:cNvSpPr>
              <p:nvPr/>
            </p:nvSpPr>
            <p:spPr bwMode="auto">
              <a:xfrm>
                <a:off x="4110" y="2088"/>
                <a:ext cx="2824" cy="195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9534" name="Group 6"/>
              <p:cNvGrpSpPr>
                <a:grpSpLocks/>
              </p:cNvGrpSpPr>
              <p:nvPr/>
            </p:nvGrpSpPr>
            <p:grpSpPr bwMode="auto">
              <a:xfrm>
                <a:off x="4957" y="2228"/>
                <a:ext cx="1130" cy="836"/>
                <a:chOff x="4957" y="2228"/>
                <a:chExt cx="1130" cy="836"/>
              </a:xfrm>
            </p:grpSpPr>
            <p:sp>
              <p:nvSpPr>
                <p:cNvPr id="19537" name="Rectangle 7"/>
                <p:cNvSpPr>
                  <a:spLocks noChangeArrowheads="1"/>
                </p:cNvSpPr>
                <p:nvPr/>
              </p:nvSpPr>
              <p:spPr bwMode="auto">
                <a:xfrm>
                  <a:off x="5155" y="2228"/>
                  <a:ext cx="846" cy="55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r"/>
                  <a:endParaRPr lang="ru-RU" dirty="0">
                    <a:latin typeface="Arial" pitchFamily="34" charset="0"/>
                    <a:cs typeface="Arial" pitchFamily="34" charset="0"/>
                  </a:endParaRPr>
                </a:p>
                <a:p>
                  <a:pPr algn="r"/>
                  <a:r>
                    <a:rPr lang="ru-RU" dirty="0">
                      <a:latin typeface="Arial" pitchFamily="34" charset="0"/>
                      <a:cs typeface="Arial" pitchFamily="34" charset="0"/>
                    </a:rPr>
                    <a:t>А0</a:t>
                  </a:r>
                </a:p>
              </p:txBody>
            </p:sp>
            <p:sp>
              <p:nvSpPr>
                <p:cNvPr id="19538" name="Line 8"/>
                <p:cNvSpPr>
                  <a:spLocks noChangeShapeType="1"/>
                </p:cNvSpPr>
                <p:nvPr/>
              </p:nvSpPr>
              <p:spPr bwMode="auto">
                <a:xfrm>
                  <a:off x="4957" y="2646"/>
                  <a:ext cx="142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539" name="Line 9"/>
                <p:cNvSpPr>
                  <a:spLocks noChangeShapeType="1"/>
                </p:cNvSpPr>
                <p:nvPr/>
              </p:nvSpPr>
              <p:spPr bwMode="auto">
                <a:xfrm>
                  <a:off x="5522" y="2228"/>
                  <a:ext cx="1" cy="1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540" name="Line 10"/>
                <p:cNvSpPr>
                  <a:spLocks noChangeShapeType="1"/>
                </p:cNvSpPr>
                <p:nvPr/>
              </p:nvSpPr>
              <p:spPr bwMode="auto">
                <a:xfrm>
                  <a:off x="5946" y="2646"/>
                  <a:ext cx="14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54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5522" y="2924"/>
                  <a:ext cx="0" cy="1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9535" name="Text Box 12"/>
              <p:cNvSpPr txBox="1">
                <a:spLocks noChangeArrowheads="1"/>
              </p:cNvSpPr>
              <p:nvPr/>
            </p:nvSpPr>
            <p:spPr bwMode="auto">
              <a:xfrm>
                <a:off x="4251" y="3343"/>
                <a:ext cx="1272" cy="55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dirty="0" smtClean="0">
                    <a:latin typeface="Arial" pitchFamily="34" charset="0"/>
                    <a:cs typeface="Arial" pitchFamily="34" charset="0"/>
                  </a:rPr>
                  <a:t>Мета :</a:t>
                </a:r>
                <a:endParaRPr lang="ru-RU" dirty="0">
                  <a:latin typeface="Arial" pitchFamily="34" charset="0"/>
                  <a:cs typeface="Arial" pitchFamily="34" charset="0"/>
                </a:endParaRPr>
              </a:p>
              <a:p>
                <a:pPr eaLnBrk="1" hangingPunct="1"/>
                <a:r>
                  <a:rPr lang="ru-RU" dirty="0" err="1" smtClean="0">
                    <a:latin typeface="Arial" pitchFamily="34" charset="0"/>
                    <a:cs typeface="Arial" pitchFamily="34" charset="0"/>
                  </a:rPr>
                  <a:t>Т.зору</a:t>
                </a:r>
                <a:r>
                  <a:rPr lang="ru-RU" dirty="0" smtClean="0">
                    <a:latin typeface="Arial" pitchFamily="34" charset="0"/>
                    <a:cs typeface="Arial" pitchFamily="34" charset="0"/>
                  </a:rPr>
                  <a:t>:</a:t>
                </a:r>
                <a:endParaRPr lang="ru-RU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536" name="Text Box 13"/>
              <p:cNvSpPr txBox="1">
                <a:spLocks noChangeArrowheads="1"/>
              </p:cNvSpPr>
              <p:nvPr/>
            </p:nvSpPr>
            <p:spPr bwMode="auto">
              <a:xfrm>
                <a:off x="6228" y="3482"/>
                <a:ext cx="786" cy="4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dirty="0" smtClean="0">
                    <a:latin typeface="Arial" pitchFamily="34" charset="0"/>
                    <a:cs typeface="Arial" pitchFamily="34" charset="0"/>
                  </a:rPr>
                  <a:t>А0</a:t>
                </a:r>
                <a:endParaRPr lang="ru-RU" dirty="0">
                  <a:latin typeface="Arial" pitchFamily="34" charset="0"/>
                  <a:cs typeface="Arial" pitchFamily="34" charset="0"/>
                </a:endParaRPr>
              </a:p>
              <a:p>
                <a:pPr eaLnBrk="1" hangingPunct="1"/>
                <a:endParaRPr lang="ru-RU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460" name="Group 14"/>
            <p:cNvGrpSpPr>
              <a:grpSpLocks/>
            </p:cNvGrpSpPr>
            <p:nvPr/>
          </p:nvGrpSpPr>
          <p:grpSpPr bwMode="auto">
            <a:xfrm>
              <a:off x="3059113" y="1916113"/>
              <a:ext cx="3686175" cy="2651125"/>
              <a:chOff x="1565" y="935"/>
              <a:chExt cx="2322" cy="1670"/>
            </a:xfrm>
          </p:grpSpPr>
          <p:grpSp>
            <p:nvGrpSpPr>
              <p:cNvPr id="19514" name="Group 15"/>
              <p:cNvGrpSpPr>
                <a:grpSpLocks/>
              </p:cNvGrpSpPr>
              <p:nvPr/>
            </p:nvGrpSpPr>
            <p:grpSpPr bwMode="auto">
              <a:xfrm>
                <a:off x="1565" y="1525"/>
                <a:ext cx="2322" cy="1080"/>
                <a:chOff x="3546" y="4318"/>
                <a:chExt cx="3811" cy="2090"/>
              </a:xfrm>
            </p:grpSpPr>
            <p:sp>
              <p:nvSpPr>
                <p:cNvPr id="19517" name="Rectangle 16"/>
                <p:cNvSpPr>
                  <a:spLocks noChangeArrowheads="1"/>
                </p:cNvSpPr>
                <p:nvPr/>
              </p:nvSpPr>
              <p:spPr bwMode="auto">
                <a:xfrm>
                  <a:off x="3546" y="4318"/>
                  <a:ext cx="3811" cy="20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19518" name="Group 17"/>
                <p:cNvGrpSpPr>
                  <a:grpSpLocks/>
                </p:cNvGrpSpPr>
                <p:nvPr/>
              </p:nvGrpSpPr>
              <p:grpSpPr bwMode="auto">
                <a:xfrm>
                  <a:off x="3828" y="4597"/>
                  <a:ext cx="3247" cy="1254"/>
                  <a:chOff x="3828" y="4597"/>
                  <a:chExt cx="3247" cy="1254"/>
                </a:xfrm>
              </p:grpSpPr>
              <p:sp>
                <p:nvSpPr>
                  <p:cNvPr id="1952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969" y="4736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>
                        <a:latin typeface="Arial" pitchFamily="34" charset="0"/>
                        <a:cs typeface="Arial" pitchFamily="34" charset="0"/>
                      </a:rPr>
                      <a:t>А1</a:t>
                    </a:r>
                  </a:p>
                </p:txBody>
              </p:sp>
              <p:sp>
                <p:nvSpPr>
                  <p:cNvPr id="1952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6228" y="5293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>
                        <a:latin typeface="Arial" pitchFamily="34" charset="0"/>
                        <a:cs typeface="Arial" pitchFamily="34" charset="0"/>
                      </a:rPr>
                      <a:t>А3</a:t>
                    </a:r>
                  </a:p>
                </p:txBody>
              </p:sp>
              <p:sp>
                <p:nvSpPr>
                  <p:cNvPr id="1952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5099" y="5015"/>
                    <a:ext cx="70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>
                        <a:latin typeface="Arial" pitchFamily="34" charset="0"/>
                        <a:cs typeface="Arial" pitchFamily="34" charset="0"/>
                      </a:rPr>
                      <a:t>А2</a:t>
                    </a:r>
                  </a:p>
                </p:txBody>
              </p:sp>
              <p:sp>
                <p:nvSpPr>
                  <p:cNvPr id="19523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3828" y="4875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24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6934" y="5433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25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4393" y="4597"/>
                    <a:ext cx="1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26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5522" y="4875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27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6651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28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93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29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22" y="5433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30" name="Lin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651" y="5711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19531" name="AutoShape 29"/>
                  <p:cNvCxnSpPr>
                    <a:cxnSpLocks noChangeShapeType="1"/>
                    <a:stCxn id="19520" idx="3"/>
                    <a:endCxn id="19522" idx="1"/>
                  </p:cNvCxnSpPr>
                  <p:nvPr/>
                </p:nvCxnSpPr>
                <p:spPr bwMode="auto">
                  <a:xfrm>
                    <a:off x="4676" y="4945"/>
                    <a:ext cx="423" cy="279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9532" name="AutoShape 30"/>
                  <p:cNvCxnSpPr>
                    <a:cxnSpLocks noChangeShapeType="1"/>
                    <a:stCxn id="19522" idx="3"/>
                    <a:endCxn id="19521" idx="1"/>
                  </p:cNvCxnSpPr>
                  <p:nvPr/>
                </p:nvCxnSpPr>
                <p:spPr bwMode="auto">
                  <a:xfrm>
                    <a:off x="5806" y="5224"/>
                    <a:ext cx="422" cy="278"/>
                  </a:xfrm>
                  <a:prstGeom prst="bentConnector3">
                    <a:avLst>
                      <a:gd name="adj1" fmla="val 49815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951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6510" y="5990"/>
                  <a:ext cx="706" cy="2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r" eaLnBrk="1" hangingPunct="1"/>
                  <a:r>
                    <a:rPr lang="ru-RU">
                      <a:latin typeface="Arial" pitchFamily="34" charset="0"/>
                      <a:cs typeface="Arial" pitchFamily="34" charset="0"/>
                    </a:rPr>
                    <a:t>А0</a:t>
                  </a:r>
                </a:p>
              </p:txBody>
            </p:sp>
          </p:grpSp>
          <p:sp>
            <p:nvSpPr>
              <p:cNvPr id="19515" name="Line 32"/>
              <p:cNvSpPr>
                <a:spLocks noChangeShapeType="1"/>
              </p:cNvSpPr>
              <p:nvPr/>
            </p:nvSpPr>
            <p:spPr bwMode="auto">
              <a:xfrm flipH="1">
                <a:off x="1565" y="935"/>
                <a:ext cx="907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516" name="Line 33"/>
              <p:cNvSpPr>
                <a:spLocks noChangeShapeType="1"/>
              </p:cNvSpPr>
              <p:nvPr/>
            </p:nvSpPr>
            <p:spPr bwMode="auto">
              <a:xfrm>
                <a:off x="2971" y="935"/>
                <a:ext cx="907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461" name="Group 34"/>
            <p:cNvGrpSpPr>
              <a:grpSpLocks/>
            </p:cNvGrpSpPr>
            <p:nvPr/>
          </p:nvGrpSpPr>
          <p:grpSpPr bwMode="auto">
            <a:xfrm>
              <a:off x="1979613" y="3500438"/>
              <a:ext cx="3024187" cy="2938462"/>
              <a:chOff x="884" y="1933"/>
              <a:chExt cx="1905" cy="1851"/>
            </a:xfrm>
          </p:grpSpPr>
          <p:grpSp>
            <p:nvGrpSpPr>
              <p:cNvPr id="19495" name="Group 35"/>
              <p:cNvGrpSpPr>
                <a:grpSpLocks/>
              </p:cNvGrpSpPr>
              <p:nvPr/>
            </p:nvGrpSpPr>
            <p:grpSpPr bwMode="auto">
              <a:xfrm>
                <a:off x="884" y="2704"/>
                <a:ext cx="1892" cy="1080"/>
                <a:chOff x="3546" y="4318"/>
                <a:chExt cx="3811" cy="2090"/>
              </a:xfrm>
            </p:grpSpPr>
            <p:sp>
              <p:nvSpPr>
                <p:cNvPr id="19498" name="Rectangle 36"/>
                <p:cNvSpPr>
                  <a:spLocks noChangeArrowheads="1"/>
                </p:cNvSpPr>
                <p:nvPr/>
              </p:nvSpPr>
              <p:spPr bwMode="auto">
                <a:xfrm>
                  <a:off x="3546" y="4318"/>
                  <a:ext cx="3811" cy="20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 sz="1600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19499" name="Group 37"/>
                <p:cNvGrpSpPr>
                  <a:grpSpLocks/>
                </p:cNvGrpSpPr>
                <p:nvPr/>
              </p:nvGrpSpPr>
              <p:grpSpPr bwMode="auto">
                <a:xfrm>
                  <a:off x="3687" y="4597"/>
                  <a:ext cx="3605" cy="1254"/>
                  <a:chOff x="3687" y="4597"/>
                  <a:chExt cx="3605" cy="1254"/>
                </a:xfrm>
              </p:grpSpPr>
              <p:sp>
                <p:nvSpPr>
                  <p:cNvPr id="19501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935" y="4736"/>
                    <a:ext cx="741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dirty="0">
                        <a:latin typeface="Arial" pitchFamily="34" charset="0"/>
                        <a:cs typeface="Arial" pitchFamily="34" charset="0"/>
                      </a:rPr>
                      <a:t>А11</a:t>
                    </a:r>
                  </a:p>
                </p:txBody>
              </p:sp>
              <p:sp>
                <p:nvSpPr>
                  <p:cNvPr id="19502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6228" y="5293"/>
                    <a:ext cx="787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dirty="0">
                        <a:latin typeface="Arial" pitchFamily="34" charset="0"/>
                        <a:cs typeface="Arial" pitchFamily="34" charset="0"/>
                      </a:rPr>
                      <a:t>А13</a:t>
                    </a:r>
                  </a:p>
                </p:txBody>
              </p:sp>
              <p:sp>
                <p:nvSpPr>
                  <p:cNvPr id="19503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5099" y="5015"/>
                    <a:ext cx="761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dirty="0">
                        <a:latin typeface="Arial" pitchFamily="34" charset="0"/>
                        <a:cs typeface="Arial" pitchFamily="34" charset="0"/>
                      </a:rPr>
                      <a:t>А12</a:t>
                    </a:r>
                  </a:p>
                </p:txBody>
              </p:sp>
              <p:sp>
                <p:nvSpPr>
                  <p:cNvPr id="19504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687" y="4875"/>
                    <a:ext cx="28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05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6934" y="5433"/>
                    <a:ext cx="358" cy="6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06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4393" y="4597"/>
                    <a:ext cx="1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07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5522" y="4875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08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6651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09" name="Line 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93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10" name="Line 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22" y="5433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511" name="Line 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651" y="5711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19512" name="AutoShape 49"/>
                  <p:cNvCxnSpPr>
                    <a:cxnSpLocks noChangeShapeType="1"/>
                    <a:stCxn id="19501" idx="3"/>
                    <a:endCxn id="19503" idx="1"/>
                  </p:cNvCxnSpPr>
                  <p:nvPr/>
                </p:nvCxnSpPr>
                <p:spPr bwMode="auto">
                  <a:xfrm>
                    <a:off x="4676" y="4945"/>
                    <a:ext cx="423" cy="279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9513" name="AutoShape 50"/>
                  <p:cNvCxnSpPr>
                    <a:cxnSpLocks noChangeShapeType="1"/>
                    <a:stCxn id="19503" idx="3"/>
                    <a:endCxn id="19502" idx="1"/>
                  </p:cNvCxnSpPr>
                  <p:nvPr/>
                </p:nvCxnSpPr>
                <p:spPr bwMode="auto">
                  <a:xfrm>
                    <a:off x="5860" y="5224"/>
                    <a:ext cx="368" cy="278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9500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6510" y="5990"/>
                  <a:ext cx="706" cy="2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r" eaLnBrk="1" hangingPunct="1"/>
                  <a:r>
                    <a:rPr lang="ru-RU">
                      <a:latin typeface="Arial" pitchFamily="34" charset="0"/>
                      <a:cs typeface="Arial" pitchFamily="34" charset="0"/>
                    </a:rPr>
                    <a:t>А1</a:t>
                  </a:r>
                </a:p>
              </p:txBody>
            </p:sp>
          </p:grpSp>
          <p:sp>
            <p:nvSpPr>
              <p:cNvPr id="19496" name="Line 52"/>
              <p:cNvSpPr>
                <a:spLocks noChangeShapeType="1"/>
              </p:cNvSpPr>
              <p:nvPr/>
            </p:nvSpPr>
            <p:spPr bwMode="auto">
              <a:xfrm flipH="1">
                <a:off x="884" y="1933"/>
                <a:ext cx="953" cy="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497" name="Line 53"/>
              <p:cNvSpPr>
                <a:spLocks noChangeShapeType="1"/>
              </p:cNvSpPr>
              <p:nvPr/>
            </p:nvSpPr>
            <p:spPr bwMode="auto">
              <a:xfrm>
                <a:off x="2245" y="1933"/>
                <a:ext cx="544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462" name="Group 54"/>
            <p:cNvGrpSpPr>
              <a:grpSpLocks/>
            </p:cNvGrpSpPr>
            <p:nvPr/>
          </p:nvGrpSpPr>
          <p:grpSpPr bwMode="auto">
            <a:xfrm>
              <a:off x="5076825" y="4005263"/>
              <a:ext cx="3621088" cy="2433637"/>
              <a:chOff x="2835" y="2251"/>
              <a:chExt cx="2281" cy="1533"/>
            </a:xfrm>
          </p:grpSpPr>
          <p:grpSp>
            <p:nvGrpSpPr>
              <p:cNvPr id="19476" name="Group 55"/>
              <p:cNvGrpSpPr>
                <a:grpSpLocks/>
              </p:cNvGrpSpPr>
              <p:nvPr/>
            </p:nvGrpSpPr>
            <p:grpSpPr bwMode="auto">
              <a:xfrm>
                <a:off x="2835" y="2704"/>
                <a:ext cx="2281" cy="1080"/>
                <a:chOff x="3546" y="4318"/>
                <a:chExt cx="4594" cy="2090"/>
              </a:xfrm>
            </p:grpSpPr>
            <p:sp>
              <p:nvSpPr>
                <p:cNvPr id="19479" name="Rectangle 56"/>
                <p:cNvSpPr>
                  <a:spLocks noChangeArrowheads="1"/>
                </p:cNvSpPr>
                <p:nvPr/>
              </p:nvSpPr>
              <p:spPr bwMode="auto">
                <a:xfrm>
                  <a:off x="3546" y="4318"/>
                  <a:ext cx="4594" cy="20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19480" name="Group 57"/>
                <p:cNvGrpSpPr>
                  <a:grpSpLocks/>
                </p:cNvGrpSpPr>
                <p:nvPr/>
              </p:nvGrpSpPr>
              <p:grpSpPr bwMode="auto">
                <a:xfrm>
                  <a:off x="3828" y="4597"/>
                  <a:ext cx="3388" cy="1254"/>
                  <a:chOff x="3828" y="4597"/>
                  <a:chExt cx="3388" cy="1254"/>
                </a:xfrm>
              </p:grpSpPr>
              <p:sp>
                <p:nvSpPr>
                  <p:cNvPr id="19482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3850" y="4736"/>
                    <a:ext cx="826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dirty="0">
                        <a:latin typeface="Arial" pitchFamily="34" charset="0"/>
                        <a:cs typeface="Arial" pitchFamily="34" charset="0"/>
                      </a:rPr>
                      <a:t>А31</a:t>
                    </a:r>
                  </a:p>
                </p:txBody>
              </p:sp>
              <p:sp>
                <p:nvSpPr>
                  <p:cNvPr id="19483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6228" y="5293"/>
                    <a:ext cx="762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dirty="0">
                        <a:latin typeface="Arial" pitchFamily="34" charset="0"/>
                        <a:cs typeface="Arial" pitchFamily="34" charset="0"/>
                      </a:rPr>
                      <a:t>А33</a:t>
                    </a:r>
                  </a:p>
                </p:txBody>
              </p:sp>
              <p:sp>
                <p:nvSpPr>
                  <p:cNvPr id="19484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5099" y="5015"/>
                    <a:ext cx="761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r"/>
                    <a:r>
                      <a:rPr lang="ru-RU" dirty="0">
                        <a:latin typeface="Arial" pitchFamily="34" charset="0"/>
                        <a:cs typeface="Arial" pitchFamily="34" charset="0"/>
                      </a:rPr>
                      <a:t>А32</a:t>
                    </a:r>
                  </a:p>
                </p:txBody>
              </p:sp>
              <p:sp>
                <p:nvSpPr>
                  <p:cNvPr id="1948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828" y="4875"/>
                    <a:ext cx="14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86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6934" y="5433"/>
                    <a:ext cx="28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87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4393" y="4597"/>
                    <a:ext cx="1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88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5522" y="4875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89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6651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90" name="Line 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93" y="5154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91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22" y="5433"/>
                    <a:ext cx="0" cy="1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492" name="Line 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651" y="5711"/>
                    <a:ext cx="0" cy="14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19493" name="AutoShape 69"/>
                  <p:cNvCxnSpPr>
                    <a:cxnSpLocks noChangeShapeType="1"/>
                    <a:stCxn id="19482" idx="3"/>
                    <a:endCxn id="19484" idx="1"/>
                  </p:cNvCxnSpPr>
                  <p:nvPr/>
                </p:nvCxnSpPr>
                <p:spPr bwMode="auto">
                  <a:xfrm>
                    <a:off x="4676" y="4945"/>
                    <a:ext cx="423" cy="279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9494" name="AutoShape 70"/>
                  <p:cNvCxnSpPr>
                    <a:cxnSpLocks noChangeShapeType="1"/>
                    <a:stCxn id="19484" idx="3"/>
                    <a:endCxn id="19483" idx="1"/>
                  </p:cNvCxnSpPr>
                  <p:nvPr/>
                </p:nvCxnSpPr>
                <p:spPr bwMode="auto">
                  <a:xfrm>
                    <a:off x="5860" y="5224"/>
                    <a:ext cx="368" cy="278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9481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6510" y="5990"/>
                  <a:ext cx="706" cy="2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r" eaLnBrk="1" hangingPunct="1"/>
                  <a:r>
                    <a:rPr lang="ru-RU">
                      <a:latin typeface="Arial" pitchFamily="34" charset="0"/>
                      <a:cs typeface="Arial" pitchFamily="34" charset="0"/>
                    </a:rPr>
                    <a:t>А3</a:t>
                  </a:r>
                </a:p>
              </p:txBody>
            </p:sp>
          </p:grpSp>
          <p:sp>
            <p:nvSpPr>
              <p:cNvPr id="19477" name="Line 72"/>
              <p:cNvSpPr>
                <a:spLocks noChangeShapeType="1"/>
              </p:cNvSpPr>
              <p:nvPr/>
            </p:nvSpPr>
            <p:spPr bwMode="auto">
              <a:xfrm flipH="1">
                <a:off x="2835" y="2251"/>
                <a:ext cx="363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478" name="Line 73"/>
              <p:cNvSpPr>
                <a:spLocks noChangeShapeType="1"/>
              </p:cNvSpPr>
              <p:nvPr/>
            </p:nvSpPr>
            <p:spPr bwMode="auto">
              <a:xfrm>
                <a:off x="3606" y="2251"/>
                <a:ext cx="1134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5" name="Group 91"/>
            <p:cNvGrpSpPr>
              <a:grpSpLocks/>
            </p:cNvGrpSpPr>
            <p:nvPr/>
          </p:nvGrpSpPr>
          <p:grpSpPr bwMode="auto">
            <a:xfrm>
              <a:off x="6516688" y="2781300"/>
              <a:ext cx="2324100" cy="3529013"/>
              <a:chOff x="4105" y="1616"/>
              <a:chExt cx="1464" cy="2223"/>
            </a:xfrm>
          </p:grpSpPr>
          <p:sp>
            <p:nvSpPr>
              <p:cNvPr id="19469" name="Text Box 86"/>
              <p:cNvSpPr txBox="1">
                <a:spLocks noChangeArrowheads="1"/>
              </p:cNvSpPr>
              <p:nvPr/>
            </p:nvSpPr>
            <p:spPr bwMode="auto">
              <a:xfrm>
                <a:off x="4195" y="1616"/>
                <a:ext cx="1374" cy="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ru-RU" dirty="0" err="1" smtClean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Діаграми</a:t>
                </a:r>
                <a:r>
                  <a:rPr lang="ru-RU" dirty="0" smtClean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ru-RU" dirty="0" err="1" smtClean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декомпозиції</a:t>
                </a:r>
                <a:r>
                  <a:rPr lang="ru-RU" dirty="0" smtClean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ru-RU" dirty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имеют номер  </a:t>
                </a:r>
                <a:r>
                  <a:rPr lang="ru-RU" dirty="0" err="1" smtClean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декомпозіруємого</a:t>
                </a:r>
                <a:r>
                  <a:rPr lang="ru-RU" dirty="0" smtClean="0">
                    <a:solidFill>
                      <a:srgbClr val="CC0000"/>
                    </a:solidFill>
                    <a:latin typeface="Arial" pitchFamily="34" charset="0"/>
                    <a:cs typeface="Arial" pitchFamily="34" charset="0"/>
                  </a:rPr>
                  <a:t> блоку</a:t>
                </a:r>
                <a:endParaRPr lang="ru-RU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470" name="Line 87"/>
              <p:cNvSpPr>
                <a:spLocks noChangeShapeType="1"/>
              </p:cNvSpPr>
              <p:nvPr/>
            </p:nvSpPr>
            <p:spPr bwMode="auto">
              <a:xfrm flipH="1">
                <a:off x="4105" y="2432"/>
                <a:ext cx="453" cy="27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471" name="Line 88"/>
              <p:cNvSpPr>
                <a:spLocks noChangeShapeType="1"/>
              </p:cNvSpPr>
              <p:nvPr/>
            </p:nvSpPr>
            <p:spPr bwMode="auto">
              <a:xfrm flipH="1">
                <a:off x="4967" y="2432"/>
                <a:ext cx="181" cy="140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6" name="Group 93"/>
          <p:cNvGrpSpPr>
            <a:grpSpLocks/>
          </p:cNvGrpSpPr>
          <p:nvPr/>
        </p:nvGrpSpPr>
        <p:grpSpPr bwMode="auto">
          <a:xfrm>
            <a:off x="61575" y="3340075"/>
            <a:ext cx="2447925" cy="2586039"/>
            <a:chOff x="113" y="2115"/>
            <a:chExt cx="1542" cy="1629"/>
          </a:xfrm>
        </p:grpSpPr>
        <p:sp>
          <p:nvSpPr>
            <p:cNvPr id="19467" name="Text Box 90"/>
            <p:cNvSpPr txBox="1">
              <a:spLocks noChangeArrowheads="1"/>
            </p:cNvSpPr>
            <p:nvPr/>
          </p:nvSpPr>
          <p:spPr bwMode="auto">
            <a:xfrm>
              <a:off x="113" y="2115"/>
              <a:ext cx="1270" cy="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u="sng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Формат номера </a:t>
              </a:r>
              <a:r>
                <a:rPr lang="ru-RU" u="sng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блоку:</a:t>
              </a:r>
              <a:endParaRPr lang="ru-RU" u="sng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  <a:p>
              <a:pPr eaLnBrk="1" hangingPunct="1">
                <a:buFontTx/>
                <a:buAutoNum type="arabicPeriod"/>
              </a:pP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Префікс</a:t>
              </a:r>
              <a:endParaRPr lang="ru-RU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  <a:p>
              <a:pPr eaLnBrk="1" hangingPunct="1">
                <a:buFontTx/>
                <a:buAutoNum type="arabicPeriod"/>
              </a:pPr>
              <a:r>
                <a:rPr lang="ru-RU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Номер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батьківської</a:t>
              </a:r>
              <a:r>
                <a:rPr lang="ru-RU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роботи</a:t>
              </a:r>
              <a:endParaRPr lang="ru-RU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  <a:p>
              <a:pPr eaLnBrk="1" hangingPunct="1"/>
              <a:r>
                <a:rPr lang="ru-RU" dirty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3.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Власний</a:t>
              </a:r>
              <a:r>
                <a:rPr lang="ru-RU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dirty="0" err="1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порядковий</a:t>
              </a:r>
              <a:r>
                <a:rPr lang="ru-RU" dirty="0" smtClean="0">
                  <a:solidFill>
                    <a:srgbClr val="CC0000"/>
                  </a:solidFill>
                  <a:latin typeface="Arial" pitchFamily="34" charset="0"/>
                  <a:cs typeface="Arial" pitchFamily="34" charset="0"/>
                </a:rPr>
                <a:t> номер</a:t>
              </a:r>
              <a:endParaRPr lang="ru-RU" dirty="0">
                <a:solidFill>
                  <a:srgbClr val="CC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68" name="Line 92"/>
            <p:cNvSpPr>
              <a:spLocks noChangeShapeType="1"/>
            </p:cNvSpPr>
            <p:nvPr/>
          </p:nvSpPr>
          <p:spPr bwMode="auto">
            <a:xfrm>
              <a:off x="975" y="2387"/>
              <a:ext cx="680" cy="8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30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5352" y="200915"/>
            <a:ext cx="8229600" cy="59531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sz="3600" b="1" i="0" dirty="0" err="1" smtClean="0">
                <a:solidFill>
                  <a:schemeClr val="bg1"/>
                </a:solidFill>
              </a:rPr>
              <a:t>Основні</a:t>
            </a:r>
            <a:r>
              <a:rPr lang="ru-RU" sz="3600" b="1" i="0" dirty="0" smtClean="0">
                <a:solidFill>
                  <a:schemeClr val="bg1"/>
                </a:solidFill>
              </a:rPr>
              <a:t> правила </a:t>
            </a:r>
            <a:r>
              <a:rPr lang="ru-RU" sz="3600" b="1" i="0" dirty="0" err="1" smtClean="0">
                <a:solidFill>
                  <a:schemeClr val="bg1"/>
                </a:solidFill>
              </a:rPr>
              <a:t>побудови</a:t>
            </a:r>
            <a:r>
              <a:rPr lang="ru-RU" sz="3600" b="1" i="0" dirty="0" smtClean="0">
                <a:solidFill>
                  <a:schemeClr val="bg1"/>
                </a:solidFill>
              </a:rPr>
              <a:t> </a:t>
            </a:r>
            <a:r>
              <a:rPr lang="ru-RU" sz="3600" b="1" i="0" dirty="0" err="1" smtClean="0">
                <a:solidFill>
                  <a:schemeClr val="bg1"/>
                </a:solidFill>
              </a:rPr>
              <a:t>діаграм</a:t>
            </a:r>
            <a:endParaRPr lang="ru-RU" sz="3600" b="1" i="0" dirty="0" smtClean="0">
              <a:solidFill>
                <a:schemeClr val="bg1"/>
              </a:solidFill>
            </a:endParaRPr>
          </a:p>
        </p:txBody>
      </p:sp>
      <p:grpSp>
        <p:nvGrpSpPr>
          <p:cNvPr id="20484" name="Group 4"/>
          <p:cNvGrpSpPr>
            <a:grpSpLocks noChangeAspect="1"/>
          </p:cNvGrpSpPr>
          <p:nvPr/>
        </p:nvGrpSpPr>
        <p:grpSpPr bwMode="auto">
          <a:xfrm>
            <a:off x="250824" y="3323089"/>
            <a:ext cx="8677275" cy="2552700"/>
            <a:chOff x="2275" y="253"/>
            <a:chExt cx="7200" cy="2091"/>
          </a:xfrm>
        </p:grpSpPr>
        <p:sp>
          <p:nvSpPr>
            <p:cNvPr id="20485" name="AutoShape 5"/>
            <p:cNvSpPr>
              <a:spLocks noChangeAspect="1" noChangeArrowheads="1"/>
            </p:cNvSpPr>
            <p:nvPr/>
          </p:nvSpPr>
          <p:spPr bwMode="auto">
            <a:xfrm>
              <a:off x="2275" y="253"/>
              <a:ext cx="7200" cy="2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20486" name="Group 6"/>
            <p:cNvGrpSpPr>
              <a:grpSpLocks/>
            </p:cNvGrpSpPr>
            <p:nvPr/>
          </p:nvGrpSpPr>
          <p:grpSpPr bwMode="auto">
            <a:xfrm>
              <a:off x="2557" y="392"/>
              <a:ext cx="2542" cy="1810"/>
              <a:chOff x="2557" y="392"/>
              <a:chExt cx="2542" cy="1810"/>
            </a:xfrm>
          </p:grpSpPr>
          <p:sp>
            <p:nvSpPr>
              <p:cNvPr id="20496" name="Rectangle 7"/>
              <p:cNvSpPr>
                <a:spLocks noChangeArrowheads="1"/>
              </p:cNvSpPr>
              <p:nvPr/>
            </p:nvSpPr>
            <p:spPr bwMode="auto">
              <a:xfrm>
                <a:off x="2840" y="950"/>
                <a:ext cx="847" cy="5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497" name="Rectangle 8"/>
              <p:cNvSpPr>
                <a:spLocks noChangeArrowheads="1"/>
              </p:cNvSpPr>
              <p:nvPr/>
            </p:nvSpPr>
            <p:spPr bwMode="auto">
              <a:xfrm>
                <a:off x="4251" y="1647"/>
                <a:ext cx="848" cy="5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cxnSp>
            <p:nvCxnSpPr>
              <p:cNvPr id="20498" name="AutoShape 9"/>
              <p:cNvCxnSpPr>
                <a:cxnSpLocks noChangeShapeType="1"/>
                <a:endCxn id="20496" idx="0"/>
              </p:cNvCxnSpPr>
              <p:nvPr/>
            </p:nvCxnSpPr>
            <p:spPr bwMode="auto">
              <a:xfrm rot="16200000" flipH="1">
                <a:off x="2773" y="459"/>
                <a:ext cx="558" cy="423"/>
              </a:xfrm>
              <a:prstGeom prst="bentConnector3">
                <a:avLst>
                  <a:gd name="adj1" fmla="val 972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499" name="AutoShape 10"/>
              <p:cNvCxnSpPr>
                <a:cxnSpLocks noChangeShapeType="1"/>
                <a:endCxn id="20497" idx="0"/>
              </p:cNvCxnSpPr>
              <p:nvPr/>
            </p:nvCxnSpPr>
            <p:spPr bwMode="auto">
              <a:xfrm>
                <a:off x="3263" y="671"/>
                <a:ext cx="1412" cy="976"/>
              </a:xfrm>
              <a:prstGeom prst="bentConnector2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500" name="Line 11"/>
              <p:cNvSpPr>
                <a:spLocks noChangeShapeType="1"/>
              </p:cNvSpPr>
              <p:nvPr/>
            </p:nvSpPr>
            <p:spPr bwMode="auto">
              <a:xfrm>
                <a:off x="3687" y="1368"/>
                <a:ext cx="1412" cy="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cxnSp>
            <p:nvCxnSpPr>
              <p:cNvPr id="20501" name="AutoShape 12"/>
              <p:cNvCxnSpPr>
                <a:cxnSpLocks noChangeShapeType="1"/>
                <a:stCxn id="20496" idx="3"/>
                <a:endCxn id="20497" idx="1"/>
              </p:cNvCxnSpPr>
              <p:nvPr/>
            </p:nvCxnSpPr>
            <p:spPr bwMode="auto">
              <a:xfrm>
                <a:off x="3687" y="1228"/>
                <a:ext cx="564" cy="696"/>
              </a:xfrm>
              <a:prstGeom prst="bentConnector3">
                <a:avLst>
                  <a:gd name="adj1" fmla="val 49931"/>
                </a:avLst>
              </a:prstGeom>
              <a:noFill/>
              <a:ln w="9525">
                <a:solidFill>
                  <a:srgbClr val="0000CC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502" name="Line 13"/>
              <p:cNvSpPr>
                <a:spLocks noChangeShapeType="1"/>
              </p:cNvSpPr>
              <p:nvPr/>
            </p:nvSpPr>
            <p:spPr bwMode="auto">
              <a:xfrm>
                <a:off x="2557" y="1786"/>
                <a:ext cx="169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0487" name="Group 14"/>
            <p:cNvGrpSpPr>
              <a:grpSpLocks/>
            </p:cNvGrpSpPr>
            <p:nvPr/>
          </p:nvGrpSpPr>
          <p:grpSpPr bwMode="auto">
            <a:xfrm>
              <a:off x="6651" y="532"/>
              <a:ext cx="2404" cy="1672"/>
              <a:chOff x="5804" y="2065"/>
              <a:chExt cx="2403" cy="1673"/>
            </a:xfrm>
          </p:grpSpPr>
          <p:sp>
            <p:nvSpPr>
              <p:cNvPr id="20489" name="Rectangle 15"/>
              <p:cNvSpPr>
                <a:spLocks noChangeArrowheads="1"/>
              </p:cNvSpPr>
              <p:nvPr/>
            </p:nvSpPr>
            <p:spPr bwMode="auto">
              <a:xfrm>
                <a:off x="5804" y="2483"/>
                <a:ext cx="849" cy="5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490" name="Rectangle 16"/>
              <p:cNvSpPr>
                <a:spLocks noChangeArrowheads="1"/>
              </p:cNvSpPr>
              <p:nvPr/>
            </p:nvSpPr>
            <p:spPr bwMode="auto">
              <a:xfrm>
                <a:off x="7357" y="3179"/>
                <a:ext cx="850" cy="55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cxnSp>
            <p:nvCxnSpPr>
              <p:cNvPr id="20491" name="AutoShape 17"/>
              <p:cNvCxnSpPr>
                <a:cxnSpLocks noChangeShapeType="1"/>
                <a:endCxn id="20489" idx="0"/>
              </p:cNvCxnSpPr>
              <p:nvPr/>
            </p:nvCxnSpPr>
            <p:spPr bwMode="auto">
              <a:xfrm rot="16200000" flipH="1">
                <a:off x="6020" y="2273"/>
                <a:ext cx="418" cy="1"/>
              </a:xfrm>
              <a:prstGeom prst="bentConnector3">
                <a:avLst>
                  <a:gd name="adj1" fmla="val 49907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492" name="AutoShape 18"/>
              <p:cNvCxnSpPr>
                <a:cxnSpLocks noChangeShapeType="1"/>
                <a:endCxn id="20490" idx="0"/>
              </p:cNvCxnSpPr>
              <p:nvPr/>
            </p:nvCxnSpPr>
            <p:spPr bwMode="auto">
              <a:xfrm>
                <a:off x="6231" y="2065"/>
                <a:ext cx="1551" cy="1114"/>
              </a:xfrm>
              <a:prstGeom prst="bentConnector2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493" name="Line 19"/>
              <p:cNvSpPr>
                <a:spLocks noChangeShapeType="1"/>
              </p:cNvSpPr>
              <p:nvPr/>
            </p:nvSpPr>
            <p:spPr bwMode="auto">
              <a:xfrm>
                <a:off x="5804" y="3598"/>
                <a:ext cx="155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cxnSp>
            <p:nvCxnSpPr>
              <p:cNvPr id="20494" name="AutoShape 20"/>
              <p:cNvCxnSpPr>
                <a:cxnSpLocks noChangeShapeType="1"/>
                <a:stCxn id="20489" idx="3"/>
                <a:endCxn id="20490" idx="1"/>
              </p:cNvCxnSpPr>
              <p:nvPr/>
            </p:nvCxnSpPr>
            <p:spPr bwMode="auto">
              <a:xfrm>
                <a:off x="6653" y="2761"/>
                <a:ext cx="704" cy="697"/>
              </a:xfrm>
              <a:prstGeom prst="bentConnector3">
                <a:avLst>
                  <a:gd name="adj1" fmla="val 49889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495" name="Line 21"/>
              <p:cNvSpPr>
                <a:spLocks noChangeShapeType="1"/>
              </p:cNvSpPr>
              <p:nvPr/>
            </p:nvSpPr>
            <p:spPr bwMode="auto">
              <a:xfrm>
                <a:off x="6651" y="2622"/>
                <a:ext cx="155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20488" name="AutoShape 22"/>
            <p:cNvSpPr>
              <a:spLocks noChangeArrowheads="1"/>
            </p:cNvSpPr>
            <p:nvPr/>
          </p:nvSpPr>
          <p:spPr bwMode="auto">
            <a:xfrm>
              <a:off x="5522" y="1228"/>
              <a:ext cx="847" cy="279"/>
            </a:xfrm>
            <a:prstGeom prst="rightArrow">
              <a:avLst>
                <a:gd name="adj1" fmla="val 50000"/>
                <a:gd name="adj2" fmla="val 75896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Прямокутник 1"/>
          <p:cNvSpPr/>
          <p:nvPr/>
        </p:nvSpPr>
        <p:spPr>
          <a:xfrm>
            <a:off x="492369" y="1045042"/>
            <a:ext cx="79295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Arial" pitchFamily="34" charset="0"/>
                <a:cs typeface="Arial" pitchFamily="34" charset="0"/>
              </a:rPr>
              <a:t>1.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рекомендується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малювати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3 до 6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блоків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Інакше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буде погано читаною.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2.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Функціональні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блоки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повинні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розташовуватися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зліва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направо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зверху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вниз в порядку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домінування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3.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Слід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уникати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зайвого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перетину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стрілок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8809" y="949770"/>
            <a:ext cx="8745415" cy="1008062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 smtClean="0"/>
              <a:t>4. </a:t>
            </a:r>
            <a:r>
              <a:rPr lang="ru-RU" sz="2400" dirty="0" err="1"/>
              <a:t>Вихід</a:t>
            </a:r>
            <a:r>
              <a:rPr lang="ru-RU" sz="2400" dirty="0"/>
              <a:t> одного блоку </a:t>
            </a:r>
            <a:r>
              <a:rPr lang="ru-RU" sz="2400" dirty="0" err="1"/>
              <a:t>може</a:t>
            </a:r>
            <a:r>
              <a:rPr lang="ru-RU" sz="2400" dirty="0"/>
              <a:t> бути входом (</a:t>
            </a:r>
            <a:r>
              <a:rPr lang="ru-RU" sz="2400" dirty="0" err="1"/>
              <a:t>управлінням</a:t>
            </a:r>
            <a:r>
              <a:rPr lang="ru-RU" sz="2400" dirty="0"/>
              <a:t>) для </a:t>
            </a:r>
            <a:r>
              <a:rPr lang="ru-RU" sz="2400" dirty="0" err="1"/>
              <a:t>іншого</a:t>
            </a:r>
            <a:r>
              <a:rPr lang="ru-RU" sz="2400" dirty="0"/>
              <a:t>. </a:t>
            </a:r>
            <a:r>
              <a:rPr lang="ru-RU" sz="2400" dirty="0" err="1"/>
              <a:t>Можуть</a:t>
            </a:r>
            <a:r>
              <a:rPr lang="ru-RU" sz="2400" dirty="0"/>
              <a:t> бути і </a:t>
            </a:r>
            <a:r>
              <a:rPr lang="ru-RU" sz="2400" dirty="0" err="1"/>
              <a:t>зворотні</a:t>
            </a:r>
            <a:r>
              <a:rPr lang="ru-RU" sz="2400" dirty="0"/>
              <a:t> </a:t>
            </a:r>
            <a:r>
              <a:rPr lang="ru-RU" sz="2400" dirty="0" err="1"/>
              <a:t>зв'язки</a:t>
            </a:r>
            <a:r>
              <a:rPr lang="ru-RU" sz="2400" dirty="0"/>
              <a:t> по входу і </a:t>
            </a:r>
            <a:r>
              <a:rPr lang="ru-RU" sz="2400" dirty="0" err="1"/>
              <a:t>управлінню</a:t>
            </a:r>
            <a:r>
              <a:rPr lang="ru-RU" sz="2400" dirty="0"/>
              <a:t>.</a:t>
            </a:r>
          </a:p>
        </p:txBody>
      </p:sp>
      <p:sp>
        <p:nvSpPr>
          <p:cNvPr id="21508" name="Rectangle 13"/>
          <p:cNvSpPr>
            <a:spLocks noChangeArrowheads="1"/>
          </p:cNvSpPr>
          <p:nvPr/>
        </p:nvSpPr>
        <p:spPr bwMode="auto">
          <a:xfrm>
            <a:off x="0" y="2647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pSp>
        <p:nvGrpSpPr>
          <p:cNvPr id="21509" name="Group 29"/>
          <p:cNvGrpSpPr>
            <a:grpSpLocks/>
          </p:cNvGrpSpPr>
          <p:nvPr/>
        </p:nvGrpSpPr>
        <p:grpSpPr bwMode="auto">
          <a:xfrm>
            <a:off x="1547813" y="3068639"/>
            <a:ext cx="6751279" cy="2745123"/>
            <a:chOff x="1111" y="1842"/>
            <a:chExt cx="4020" cy="1540"/>
          </a:xfrm>
        </p:grpSpPr>
        <p:grpSp>
          <p:nvGrpSpPr>
            <p:cNvPr id="21510" name="Group 15"/>
            <p:cNvGrpSpPr>
              <a:grpSpLocks noChangeAspect="1"/>
            </p:cNvGrpSpPr>
            <p:nvPr/>
          </p:nvGrpSpPr>
          <p:grpSpPr bwMode="auto">
            <a:xfrm>
              <a:off x="1111" y="1979"/>
              <a:ext cx="3402" cy="1208"/>
              <a:chOff x="2275" y="2106"/>
              <a:chExt cx="4376" cy="1534"/>
            </a:xfrm>
          </p:grpSpPr>
          <p:sp>
            <p:nvSpPr>
              <p:cNvPr id="21515" name="AutoShape 16"/>
              <p:cNvSpPr>
                <a:spLocks noChangeAspect="1" noChangeArrowheads="1"/>
              </p:cNvSpPr>
              <p:nvPr/>
            </p:nvSpPr>
            <p:spPr bwMode="auto">
              <a:xfrm>
                <a:off x="2275" y="2106"/>
                <a:ext cx="4376" cy="1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21516" name="Group 17"/>
              <p:cNvGrpSpPr>
                <a:grpSpLocks/>
              </p:cNvGrpSpPr>
              <p:nvPr/>
            </p:nvGrpSpPr>
            <p:grpSpPr bwMode="auto">
              <a:xfrm>
                <a:off x="2699" y="2245"/>
                <a:ext cx="3670" cy="1253"/>
                <a:chOff x="2699" y="2245"/>
                <a:chExt cx="3951" cy="1253"/>
              </a:xfrm>
            </p:grpSpPr>
            <p:sp>
              <p:nvSpPr>
                <p:cNvPr id="215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699" y="2245"/>
                  <a:ext cx="988" cy="418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1518" name="Rectangle 19"/>
                <p:cNvSpPr>
                  <a:spLocks noChangeArrowheads="1"/>
                </p:cNvSpPr>
                <p:nvPr/>
              </p:nvSpPr>
              <p:spPr bwMode="auto">
                <a:xfrm>
                  <a:off x="4110" y="2663"/>
                  <a:ext cx="987" cy="417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1519" name="Rectangle 20"/>
                <p:cNvSpPr>
                  <a:spLocks noChangeArrowheads="1"/>
                </p:cNvSpPr>
                <p:nvPr/>
              </p:nvSpPr>
              <p:spPr bwMode="auto">
                <a:xfrm>
                  <a:off x="5663" y="3081"/>
                  <a:ext cx="987" cy="417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cxnSp>
              <p:nvCxnSpPr>
                <p:cNvPr id="21520" name="AutoShape 21"/>
                <p:cNvCxnSpPr>
                  <a:cxnSpLocks noChangeShapeType="1"/>
                  <a:stCxn id="21517" idx="3"/>
                  <a:endCxn id="21518" idx="1"/>
                </p:cNvCxnSpPr>
                <p:nvPr/>
              </p:nvCxnSpPr>
              <p:spPr bwMode="auto">
                <a:xfrm>
                  <a:off x="3687" y="2454"/>
                  <a:ext cx="423" cy="418"/>
                </a:xfrm>
                <a:prstGeom prst="bentConnector3">
                  <a:avLst>
                    <a:gd name="adj1" fmla="val 49815"/>
                  </a:avLst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521" name="AutoShape 22"/>
                <p:cNvCxnSpPr>
                  <a:cxnSpLocks noChangeShapeType="1"/>
                  <a:stCxn id="21517" idx="3"/>
                  <a:endCxn id="21519" idx="1"/>
                </p:cNvCxnSpPr>
                <p:nvPr/>
              </p:nvCxnSpPr>
              <p:spPr bwMode="auto">
                <a:xfrm>
                  <a:off x="3687" y="2454"/>
                  <a:ext cx="1976" cy="836"/>
                </a:xfrm>
                <a:prstGeom prst="bentConnector3">
                  <a:avLst>
                    <a:gd name="adj1" fmla="val 10477"/>
                  </a:avLst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522" name="AutoShape 23"/>
                <p:cNvCxnSpPr>
                  <a:cxnSpLocks noChangeShapeType="1"/>
                  <a:stCxn id="21517" idx="3"/>
                  <a:endCxn id="21519" idx="0"/>
                </p:cNvCxnSpPr>
                <p:nvPr/>
              </p:nvCxnSpPr>
              <p:spPr bwMode="auto">
                <a:xfrm>
                  <a:off x="3687" y="2454"/>
                  <a:ext cx="2470" cy="627"/>
                </a:xfrm>
                <a:prstGeom prst="bentConnector2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24601" name="Text Box 25"/>
            <p:cNvSpPr txBox="1">
              <a:spLocks noChangeArrowheads="1"/>
            </p:cNvSpPr>
            <p:nvPr/>
          </p:nvSpPr>
          <p:spPr bwMode="auto">
            <a:xfrm>
              <a:off x="1256" y="3158"/>
              <a:ext cx="1393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ru-RU" sz="2000" b="1" dirty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Зв</a:t>
              </a:r>
              <a:r>
                <a:rPr lang="en-US" sz="2000" b="1" dirty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’</a:t>
              </a:r>
              <a:r>
                <a:rPr lang="uk-UA" sz="2000" b="1" dirty="0" err="1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язок</a:t>
              </a:r>
              <a:r>
                <a:rPr lang="ru-RU" sz="2000" b="1" dirty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по входу</a:t>
              </a:r>
            </a:p>
          </p:txBody>
        </p:sp>
        <p:sp>
          <p:nvSpPr>
            <p:cNvPr id="24602" name="Text Box 26"/>
            <p:cNvSpPr txBox="1">
              <a:spLocks noChangeArrowheads="1"/>
            </p:cNvSpPr>
            <p:nvPr/>
          </p:nvSpPr>
          <p:spPr bwMode="auto">
            <a:xfrm>
              <a:off x="3286" y="1842"/>
              <a:ext cx="1845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ru-RU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Зв</a:t>
              </a:r>
              <a:r>
                <a:rPr lang="en-US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’</a:t>
              </a:r>
              <a:r>
                <a:rPr lang="uk-UA" sz="2000" b="1" dirty="0" err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язок</a:t>
              </a:r>
              <a:r>
                <a:rPr lang="ru-RU" sz="2000" b="1" dirty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 </a:t>
              </a:r>
              <a:r>
                <a:rPr lang="ru-RU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по </a:t>
              </a:r>
              <a:r>
                <a:rPr lang="ru-RU" sz="2000" b="1" dirty="0" err="1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cs typeface="Arial" pitchFamily="34" charset="0"/>
                </a:rPr>
                <a:t>управлінню</a:t>
              </a:r>
              <a:endParaRPr lang="ru-RU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13" name="Line 27"/>
            <p:cNvSpPr>
              <a:spLocks noChangeShapeType="1"/>
            </p:cNvSpPr>
            <p:nvPr/>
          </p:nvSpPr>
          <p:spPr bwMode="auto">
            <a:xfrm flipV="1">
              <a:off x="2064" y="2931"/>
              <a:ext cx="408" cy="22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514" name="Line 28"/>
            <p:cNvSpPr>
              <a:spLocks noChangeShapeType="1"/>
            </p:cNvSpPr>
            <p:nvPr/>
          </p:nvSpPr>
          <p:spPr bwMode="auto">
            <a:xfrm flipH="1">
              <a:off x="3379" y="2024"/>
              <a:ext cx="544" cy="22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69492" y="139126"/>
            <a:ext cx="8229600" cy="595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600" b="1" dirty="0" err="1" smtClean="0">
                <a:solidFill>
                  <a:schemeClr val="bg1"/>
                </a:solidFill>
              </a:rPr>
              <a:t>Основні</a:t>
            </a:r>
            <a:r>
              <a:rPr lang="ru-RU" sz="3600" b="1" dirty="0" smtClean="0">
                <a:solidFill>
                  <a:schemeClr val="bg1"/>
                </a:solidFill>
              </a:rPr>
              <a:t> правила </a:t>
            </a:r>
            <a:r>
              <a:rPr lang="ru-RU" sz="3600" b="1" dirty="0" err="1" smtClean="0">
                <a:solidFill>
                  <a:schemeClr val="bg1"/>
                </a:solidFill>
              </a:rPr>
              <a:t>побудови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діаграм</a:t>
            </a:r>
            <a:endParaRPr lang="ru-RU" sz="36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17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1" name="Group 7"/>
          <p:cNvGrpSpPr>
            <a:grpSpLocks/>
          </p:cNvGrpSpPr>
          <p:nvPr/>
        </p:nvGrpSpPr>
        <p:grpSpPr bwMode="auto">
          <a:xfrm>
            <a:off x="578095" y="803676"/>
            <a:ext cx="4319587" cy="1693116"/>
            <a:chOff x="3122" y="6900"/>
            <a:chExt cx="3953" cy="1700"/>
          </a:xfrm>
        </p:grpSpPr>
        <p:sp>
          <p:nvSpPr>
            <p:cNvPr id="22553" name="Rectangle 8"/>
            <p:cNvSpPr>
              <a:spLocks noChangeArrowheads="1"/>
            </p:cNvSpPr>
            <p:nvPr/>
          </p:nvSpPr>
          <p:spPr bwMode="auto">
            <a:xfrm>
              <a:off x="3122" y="7346"/>
              <a:ext cx="988" cy="4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4" name="Rectangle 9"/>
            <p:cNvSpPr>
              <a:spLocks noChangeArrowheads="1"/>
            </p:cNvSpPr>
            <p:nvPr/>
          </p:nvSpPr>
          <p:spPr bwMode="auto">
            <a:xfrm>
              <a:off x="4534" y="7764"/>
              <a:ext cx="988" cy="4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22555" name="AutoShape 10"/>
            <p:cNvCxnSpPr>
              <a:cxnSpLocks noChangeShapeType="1"/>
              <a:stCxn id="22553" idx="3"/>
              <a:endCxn id="22554" idx="1"/>
            </p:cNvCxnSpPr>
            <p:nvPr/>
          </p:nvCxnSpPr>
          <p:spPr bwMode="auto">
            <a:xfrm>
              <a:off x="4110" y="7555"/>
              <a:ext cx="424" cy="41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6" name="Rectangle 11"/>
            <p:cNvSpPr>
              <a:spLocks noChangeArrowheads="1"/>
            </p:cNvSpPr>
            <p:nvPr/>
          </p:nvSpPr>
          <p:spPr bwMode="auto">
            <a:xfrm>
              <a:off x="6087" y="8182"/>
              <a:ext cx="988" cy="4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22557" name="AutoShape 12"/>
            <p:cNvCxnSpPr>
              <a:cxnSpLocks noChangeShapeType="1"/>
              <a:stCxn id="22554" idx="3"/>
              <a:endCxn id="22556" idx="1"/>
            </p:cNvCxnSpPr>
            <p:nvPr/>
          </p:nvCxnSpPr>
          <p:spPr bwMode="auto">
            <a:xfrm>
              <a:off x="5522" y="7973"/>
              <a:ext cx="565" cy="41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8" name="AutoShape 13"/>
            <p:cNvCxnSpPr>
              <a:cxnSpLocks noChangeShapeType="1"/>
              <a:stCxn id="22556" idx="3"/>
              <a:endCxn id="22553" idx="1"/>
            </p:cNvCxnSpPr>
            <p:nvPr/>
          </p:nvCxnSpPr>
          <p:spPr bwMode="auto">
            <a:xfrm flipH="1" flipV="1">
              <a:off x="3122" y="7555"/>
              <a:ext cx="3953" cy="836"/>
            </a:xfrm>
            <a:prstGeom prst="bentConnector5">
              <a:avLst>
                <a:gd name="adj1" fmla="val -7144"/>
                <a:gd name="adj2" fmla="val -45741"/>
                <a:gd name="adj3" fmla="val 10714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14" name="Text Box 14"/>
            <p:cNvSpPr txBox="1">
              <a:spLocks noChangeArrowheads="1"/>
            </p:cNvSpPr>
            <p:nvPr/>
          </p:nvSpPr>
          <p:spPr bwMode="auto">
            <a:xfrm>
              <a:off x="3461" y="6900"/>
              <a:ext cx="3133" cy="4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ru-RU" sz="16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а) </a:t>
              </a:r>
              <a:r>
                <a:rPr lang="ru-RU" sz="1600" i="1" dirty="0" err="1"/>
                <a:t>Зворотний</a:t>
              </a:r>
              <a:r>
                <a:rPr lang="ru-RU" sz="1600" i="1" dirty="0"/>
                <a:t> </a:t>
              </a:r>
              <a:r>
                <a:rPr lang="ru-RU" sz="1600" i="1" dirty="0" err="1"/>
                <a:t>зв'язок</a:t>
              </a:r>
              <a:r>
                <a:rPr lang="ru-RU" sz="1600" i="1" dirty="0"/>
                <a:t> по входу</a:t>
              </a:r>
              <a:endParaRPr lang="ru-RU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22532" name="Group 15"/>
          <p:cNvGrpSpPr>
            <a:grpSpLocks/>
          </p:cNvGrpSpPr>
          <p:nvPr/>
        </p:nvGrpSpPr>
        <p:grpSpPr bwMode="auto">
          <a:xfrm>
            <a:off x="634011" y="2741141"/>
            <a:ext cx="4105275" cy="1618935"/>
            <a:chOff x="3404" y="9059"/>
            <a:chExt cx="3953" cy="1770"/>
          </a:xfrm>
        </p:grpSpPr>
        <p:sp>
          <p:nvSpPr>
            <p:cNvPr id="22546" name="Rectangle 16"/>
            <p:cNvSpPr>
              <a:spLocks noChangeArrowheads="1"/>
            </p:cNvSpPr>
            <p:nvPr/>
          </p:nvSpPr>
          <p:spPr bwMode="auto">
            <a:xfrm>
              <a:off x="3404" y="9575"/>
              <a:ext cx="989" cy="4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7" name="Rectangle 17"/>
            <p:cNvSpPr>
              <a:spLocks noChangeArrowheads="1"/>
            </p:cNvSpPr>
            <p:nvPr/>
          </p:nvSpPr>
          <p:spPr bwMode="auto">
            <a:xfrm>
              <a:off x="4816" y="9993"/>
              <a:ext cx="988" cy="4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22548" name="AutoShape 18"/>
            <p:cNvCxnSpPr>
              <a:cxnSpLocks noChangeShapeType="1"/>
            </p:cNvCxnSpPr>
            <p:nvPr/>
          </p:nvCxnSpPr>
          <p:spPr bwMode="auto">
            <a:xfrm>
              <a:off x="4393" y="9784"/>
              <a:ext cx="423" cy="41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9" name="Rectangle 19"/>
            <p:cNvSpPr>
              <a:spLocks noChangeArrowheads="1"/>
            </p:cNvSpPr>
            <p:nvPr/>
          </p:nvSpPr>
          <p:spPr bwMode="auto">
            <a:xfrm>
              <a:off x="6369" y="10411"/>
              <a:ext cx="988" cy="4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22550" name="AutoShape 20"/>
            <p:cNvCxnSpPr>
              <a:cxnSpLocks noChangeShapeType="1"/>
            </p:cNvCxnSpPr>
            <p:nvPr/>
          </p:nvCxnSpPr>
          <p:spPr bwMode="auto">
            <a:xfrm>
              <a:off x="5804" y="10202"/>
              <a:ext cx="565" cy="41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1" name="AutoShape 21"/>
            <p:cNvCxnSpPr>
              <a:cxnSpLocks noChangeShapeType="1"/>
              <a:stCxn id="22549" idx="3"/>
              <a:endCxn id="22547" idx="0"/>
            </p:cNvCxnSpPr>
            <p:nvPr/>
          </p:nvCxnSpPr>
          <p:spPr bwMode="auto">
            <a:xfrm flipH="1" flipV="1">
              <a:off x="5310" y="9993"/>
              <a:ext cx="2047" cy="627"/>
            </a:xfrm>
            <a:prstGeom prst="bentConnector4">
              <a:avLst>
                <a:gd name="adj1" fmla="val -13792"/>
                <a:gd name="adj2" fmla="val 14444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22" name="Text Box 22"/>
            <p:cNvSpPr txBox="1">
              <a:spLocks noChangeArrowheads="1"/>
            </p:cNvSpPr>
            <p:nvPr/>
          </p:nvSpPr>
          <p:spPr bwMode="auto">
            <a:xfrm>
              <a:off x="3594" y="9059"/>
              <a:ext cx="3672" cy="4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ru-RU" sz="16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б) </a:t>
              </a:r>
              <a:r>
                <a:rPr lang="ru-RU" sz="1600" i="1" dirty="0" err="1"/>
                <a:t>Зворотний</a:t>
              </a:r>
              <a:r>
                <a:rPr lang="ru-RU" sz="1600" i="1" dirty="0"/>
                <a:t> </a:t>
              </a:r>
              <a:r>
                <a:rPr lang="ru-RU" sz="1600" i="1" dirty="0" err="1"/>
                <a:t>зв'язок</a:t>
              </a:r>
              <a:r>
                <a:rPr lang="ru-RU" sz="1600" i="1" dirty="0"/>
                <a:t> по </a:t>
              </a:r>
              <a:r>
                <a:rPr lang="ru-RU" sz="1600" i="1" dirty="0" err="1"/>
                <a:t>управлінню</a:t>
              </a:r>
              <a:r>
                <a:rPr lang="ru-RU" sz="1600" i="1" dirty="0"/>
                <a:t> </a:t>
              </a:r>
              <a:endParaRPr lang="ru-RU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2533" name="Text Box 36"/>
          <p:cNvSpPr txBox="1">
            <a:spLocks noChangeArrowheads="1"/>
          </p:cNvSpPr>
          <p:nvPr/>
        </p:nvSpPr>
        <p:spPr bwMode="auto">
          <a:xfrm>
            <a:off x="5580064" y="1308554"/>
            <a:ext cx="3240087" cy="1200329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ru-RU" i="1" dirty="0" err="1">
                <a:solidFill>
                  <a:srgbClr val="0000CC"/>
                </a:solidFill>
              </a:rPr>
              <a:t>Зворотний</a:t>
            </a:r>
            <a:r>
              <a:rPr lang="ru-RU" i="1" dirty="0">
                <a:solidFill>
                  <a:srgbClr val="0000CC"/>
                </a:solidFill>
              </a:rPr>
              <a:t> </a:t>
            </a:r>
            <a:r>
              <a:rPr lang="ru-RU" i="1" dirty="0" err="1">
                <a:solidFill>
                  <a:srgbClr val="0000CC"/>
                </a:solidFill>
              </a:rPr>
              <a:t>зв'язок</a:t>
            </a:r>
            <a:r>
              <a:rPr lang="ru-RU" i="1" dirty="0">
                <a:solidFill>
                  <a:srgbClr val="0000CC"/>
                </a:solidFill>
              </a:rPr>
              <a:t> по входу</a:t>
            </a:r>
            <a:r>
              <a:rPr lang="ru-RU" i="1" dirty="0"/>
              <a:t>, </a:t>
            </a:r>
            <a:r>
              <a:rPr lang="ru-RU" dirty="0"/>
              <a:t>як правило,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опису</a:t>
            </a:r>
            <a:r>
              <a:rPr lang="ru-RU" dirty="0"/>
              <a:t> </a:t>
            </a:r>
            <a:r>
              <a:rPr lang="ru-RU" dirty="0" err="1"/>
              <a:t>циклів</a:t>
            </a:r>
            <a:r>
              <a:rPr lang="ru-RU" i="1" dirty="0"/>
              <a:t>. </a:t>
            </a:r>
            <a:endParaRPr lang="ru-RU" dirty="0"/>
          </a:p>
        </p:txBody>
      </p:sp>
      <p:sp>
        <p:nvSpPr>
          <p:cNvPr id="22534" name="Text Box 37"/>
          <p:cNvSpPr txBox="1">
            <a:spLocks noChangeArrowheads="1"/>
          </p:cNvSpPr>
          <p:nvPr/>
        </p:nvSpPr>
        <p:spPr bwMode="auto">
          <a:xfrm>
            <a:off x="5615782" y="2856761"/>
            <a:ext cx="3168650" cy="147732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i="1" dirty="0" err="1">
                <a:solidFill>
                  <a:srgbClr val="0000CC"/>
                </a:solidFill>
              </a:rPr>
              <a:t>Зворотний</a:t>
            </a:r>
            <a:r>
              <a:rPr lang="ru-RU" i="1" dirty="0">
                <a:solidFill>
                  <a:srgbClr val="0000CC"/>
                </a:solidFill>
              </a:rPr>
              <a:t> </a:t>
            </a:r>
            <a:r>
              <a:rPr lang="ru-RU" i="1" dirty="0" err="1">
                <a:solidFill>
                  <a:srgbClr val="0000CC"/>
                </a:solidFill>
              </a:rPr>
              <a:t>зв'язок</a:t>
            </a:r>
            <a:r>
              <a:rPr lang="ru-RU" i="1" dirty="0">
                <a:solidFill>
                  <a:srgbClr val="0000CC"/>
                </a:solidFill>
              </a:rPr>
              <a:t> по </a:t>
            </a:r>
            <a:r>
              <a:rPr lang="ru-RU" i="1" dirty="0" err="1">
                <a:solidFill>
                  <a:srgbClr val="0000CC"/>
                </a:solidFill>
              </a:rPr>
              <a:t>управлінню</a:t>
            </a:r>
            <a:r>
              <a:rPr lang="ru-RU" i="1" dirty="0">
                <a:solidFill>
                  <a:srgbClr val="0000CC"/>
                </a:solidFill>
              </a:rPr>
              <a:t> </a:t>
            </a:r>
            <a:r>
              <a:rPr lang="ru-RU" i="1" dirty="0"/>
              <a:t>- </a:t>
            </a:r>
            <a:r>
              <a:rPr lang="ru-RU" dirty="0" err="1"/>
              <a:t>вихід</a:t>
            </a:r>
            <a:r>
              <a:rPr lang="ru-RU" dirty="0"/>
              <a:t> </a:t>
            </a:r>
            <a:r>
              <a:rPr lang="ru-RU" dirty="0" err="1"/>
              <a:t>нижчестоячої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передається</a:t>
            </a:r>
            <a:r>
              <a:rPr lang="ru-RU" dirty="0"/>
              <a:t> на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 smtClean="0"/>
              <a:t>вищестоячій</a:t>
            </a:r>
            <a:r>
              <a:rPr lang="ru-RU" dirty="0" smtClean="0"/>
              <a:t> </a:t>
            </a:r>
            <a:endParaRPr lang="ru-RU" dirty="0">
              <a:solidFill>
                <a:schemeClr val="hlink"/>
              </a:solidFill>
            </a:endParaRPr>
          </a:p>
        </p:txBody>
      </p:sp>
      <p:sp>
        <p:nvSpPr>
          <p:cNvPr id="22535" name="Text Box 38"/>
          <p:cNvSpPr txBox="1">
            <a:spLocks noChangeArrowheads="1"/>
          </p:cNvSpPr>
          <p:nvPr/>
        </p:nvSpPr>
        <p:spPr bwMode="auto">
          <a:xfrm>
            <a:off x="5219701" y="4855300"/>
            <a:ext cx="3600450" cy="1200329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ru-RU" i="1" dirty="0" err="1">
                <a:solidFill>
                  <a:srgbClr val="0000CC"/>
                </a:solidFill>
              </a:rPr>
              <a:t>Зворотний</a:t>
            </a:r>
            <a:r>
              <a:rPr lang="ru-RU" i="1" dirty="0">
                <a:solidFill>
                  <a:srgbClr val="0000CC"/>
                </a:solidFill>
              </a:rPr>
              <a:t> </a:t>
            </a:r>
            <a:r>
              <a:rPr lang="ru-RU" i="1" dirty="0" err="1">
                <a:solidFill>
                  <a:srgbClr val="0000CC"/>
                </a:solidFill>
              </a:rPr>
              <a:t>зв'язок</a:t>
            </a:r>
            <a:r>
              <a:rPr lang="ru-RU" i="1" dirty="0">
                <a:solidFill>
                  <a:srgbClr val="0000CC"/>
                </a:solidFill>
              </a:rPr>
              <a:t> по </a:t>
            </a:r>
            <a:r>
              <a:rPr lang="ru-RU" i="1" dirty="0" err="1">
                <a:solidFill>
                  <a:srgbClr val="0000CC"/>
                </a:solidFill>
              </a:rPr>
              <a:t>механізму</a:t>
            </a:r>
            <a:r>
              <a:rPr lang="ru-RU" i="1" dirty="0">
                <a:solidFill>
                  <a:srgbClr val="0000CC"/>
                </a:solidFill>
              </a:rPr>
              <a:t> </a:t>
            </a:r>
            <a:r>
              <a:rPr lang="ru-RU" i="1" dirty="0"/>
              <a:t>- </a:t>
            </a:r>
            <a:r>
              <a:rPr lang="ru-RU" dirty="0" err="1"/>
              <a:t>вихід</a:t>
            </a:r>
            <a:r>
              <a:rPr lang="ru-RU" dirty="0"/>
              <a:t> </a:t>
            </a:r>
            <a:r>
              <a:rPr lang="ru-RU" dirty="0" err="1"/>
              <a:t>нижчестоячої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виконують</a:t>
            </a:r>
            <a:r>
              <a:rPr lang="ru-RU" dirty="0"/>
              <a:t> </a:t>
            </a:r>
            <a:r>
              <a:rPr lang="ru-RU" dirty="0" err="1" smtClean="0"/>
              <a:t>вищестоячу</a:t>
            </a:r>
            <a:r>
              <a:rPr lang="ru-RU" dirty="0" smtClean="0"/>
              <a:t> </a:t>
            </a:r>
            <a:r>
              <a:rPr lang="ru-RU" dirty="0"/>
              <a:t>роботу</a:t>
            </a:r>
          </a:p>
        </p:txBody>
      </p:sp>
      <p:sp>
        <p:nvSpPr>
          <p:cNvPr id="22537" name="Line 45"/>
          <p:cNvSpPr>
            <a:spLocks noChangeShapeType="1"/>
          </p:cNvSpPr>
          <p:nvPr/>
        </p:nvSpPr>
        <p:spPr bwMode="auto">
          <a:xfrm>
            <a:off x="323850" y="1628775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8" name="Line 46"/>
          <p:cNvSpPr>
            <a:spLocks noChangeShapeType="1"/>
          </p:cNvSpPr>
          <p:nvPr/>
        </p:nvSpPr>
        <p:spPr bwMode="auto">
          <a:xfrm>
            <a:off x="395288" y="3716338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2540" name="Group 52"/>
          <p:cNvGrpSpPr>
            <a:grpSpLocks/>
          </p:cNvGrpSpPr>
          <p:nvPr/>
        </p:nvGrpSpPr>
        <p:grpSpPr bwMode="auto">
          <a:xfrm>
            <a:off x="716895" y="4946113"/>
            <a:ext cx="2808287" cy="720725"/>
            <a:chOff x="476" y="3430"/>
            <a:chExt cx="1769" cy="454"/>
          </a:xfrm>
        </p:grpSpPr>
        <p:sp>
          <p:nvSpPr>
            <p:cNvPr id="22542" name="Rectangle 48"/>
            <p:cNvSpPr>
              <a:spLocks noChangeArrowheads="1"/>
            </p:cNvSpPr>
            <p:nvPr/>
          </p:nvSpPr>
          <p:spPr bwMode="auto">
            <a:xfrm>
              <a:off x="476" y="3430"/>
              <a:ext cx="726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543" name="Rectangle 49"/>
            <p:cNvSpPr>
              <a:spLocks noChangeArrowheads="1"/>
            </p:cNvSpPr>
            <p:nvPr/>
          </p:nvSpPr>
          <p:spPr bwMode="auto">
            <a:xfrm>
              <a:off x="1474" y="3612"/>
              <a:ext cx="771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22544" name="AutoShape 50"/>
            <p:cNvCxnSpPr>
              <a:cxnSpLocks noChangeShapeType="1"/>
              <a:stCxn id="22542" idx="3"/>
              <a:endCxn id="22543" idx="1"/>
            </p:cNvCxnSpPr>
            <p:nvPr/>
          </p:nvCxnSpPr>
          <p:spPr bwMode="auto">
            <a:xfrm>
              <a:off x="1202" y="3566"/>
              <a:ext cx="272" cy="18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AutoShape 51"/>
            <p:cNvCxnSpPr>
              <a:cxnSpLocks noChangeShapeType="1"/>
              <a:stCxn id="22543" idx="3"/>
              <a:endCxn id="22542" idx="2"/>
            </p:cNvCxnSpPr>
            <p:nvPr/>
          </p:nvCxnSpPr>
          <p:spPr bwMode="auto">
            <a:xfrm flipH="1" flipV="1">
              <a:off x="839" y="3702"/>
              <a:ext cx="1406" cy="46"/>
            </a:xfrm>
            <a:prstGeom prst="bentConnector4">
              <a:avLst>
                <a:gd name="adj1" fmla="val -10171"/>
                <a:gd name="adj2" fmla="val -60869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53" name="Text Box 53"/>
          <p:cNvSpPr txBox="1">
            <a:spLocks noChangeArrowheads="1"/>
          </p:cNvSpPr>
          <p:nvPr/>
        </p:nvSpPr>
        <p:spPr bwMode="auto">
          <a:xfrm>
            <a:off x="671652" y="4479973"/>
            <a:ext cx="41036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в) </a:t>
            </a:r>
            <a:r>
              <a:rPr lang="ru-RU" sz="1600" i="1" dirty="0" err="1"/>
              <a:t>Зворотний</a:t>
            </a:r>
            <a:r>
              <a:rPr lang="ru-RU" sz="1600" i="1" dirty="0"/>
              <a:t> </a:t>
            </a:r>
            <a:r>
              <a:rPr lang="ru-RU" sz="1600" i="1" dirty="0" err="1"/>
              <a:t>зв'язок</a:t>
            </a:r>
            <a:r>
              <a:rPr lang="ru-RU" sz="1600" i="1" dirty="0"/>
              <a:t> по </a:t>
            </a:r>
            <a:r>
              <a:rPr lang="ru-RU" sz="1600" i="1" dirty="0" err="1"/>
              <a:t>механізму</a:t>
            </a:r>
            <a:endParaRPr lang="ru-RU" sz="16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111456" y="118086"/>
            <a:ext cx="8229600" cy="595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600" b="1" dirty="0" err="1" smtClean="0">
                <a:solidFill>
                  <a:schemeClr val="bg1"/>
                </a:solidFill>
              </a:rPr>
              <a:t>Основні</a:t>
            </a:r>
            <a:r>
              <a:rPr lang="ru-RU" sz="3600" b="1" dirty="0" smtClean="0">
                <a:solidFill>
                  <a:schemeClr val="bg1"/>
                </a:solidFill>
              </a:rPr>
              <a:t> правила </a:t>
            </a:r>
            <a:r>
              <a:rPr lang="ru-RU" sz="3600" b="1" dirty="0" err="1" smtClean="0">
                <a:solidFill>
                  <a:schemeClr val="bg1"/>
                </a:solidFill>
              </a:rPr>
              <a:t>побудови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діаграм</a:t>
            </a:r>
            <a:endParaRPr lang="ru-RU" sz="3600" b="1" dirty="0" smtClean="0">
              <a:solidFill>
                <a:schemeClr val="bg1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6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0303" y="1103448"/>
            <a:ext cx="8229600" cy="1014413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sz="2000" dirty="0" smtClean="0"/>
              <a:t>5. </a:t>
            </a:r>
            <a:r>
              <a:rPr lang="ru-RU" sz="2000" dirty="0" err="1" smtClean="0"/>
              <a:t>Стрілки</a:t>
            </a:r>
            <a:r>
              <a:rPr lang="ru-RU" sz="2000" dirty="0" smtClean="0"/>
              <a:t> </a:t>
            </a:r>
            <a:r>
              <a:rPr lang="ru-RU" sz="2000" dirty="0" err="1" smtClean="0"/>
              <a:t>можуть</a:t>
            </a:r>
            <a:r>
              <a:rPr lang="ru-RU" sz="2000" dirty="0" smtClean="0"/>
              <a:t> </a:t>
            </a:r>
            <a:r>
              <a:rPr lang="ru-RU" sz="2000" dirty="0" err="1" smtClean="0"/>
              <a:t>зливатися</a:t>
            </a:r>
            <a:r>
              <a:rPr lang="ru-RU" sz="2000" dirty="0" smtClean="0"/>
              <a:t> та </a:t>
            </a:r>
            <a:r>
              <a:rPr lang="ru-RU" sz="2000" dirty="0" err="1" smtClean="0"/>
              <a:t>розгалуживатися</a:t>
            </a:r>
            <a:endParaRPr lang="ru-RU" sz="2000" dirty="0" smtClean="0"/>
          </a:p>
        </p:txBody>
      </p:sp>
      <p:grpSp>
        <p:nvGrpSpPr>
          <p:cNvPr id="23556" name="Group 5"/>
          <p:cNvGrpSpPr>
            <a:grpSpLocks noChangeAspect="1"/>
          </p:cNvGrpSpPr>
          <p:nvPr/>
        </p:nvGrpSpPr>
        <p:grpSpPr bwMode="auto">
          <a:xfrm>
            <a:off x="468313" y="2654300"/>
            <a:ext cx="8278812" cy="3652838"/>
            <a:chOff x="2275" y="1626"/>
            <a:chExt cx="4800" cy="2090"/>
          </a:xfrm>
        </p:grpSpPr>
        <p:sp>
          <p:nvSpPr>
            <p:cNvPr id="23557" name="AutoShape 6"/>
            <p:cNvSpPr>
              <a:spLocks noChangeAspect="1" noChangeArrowheads="1"/>
            </p:cNvSpPr>
            <p:nvPr/>
          </p:nvSpPr>
          <p:spPr bwMode="auto">
            <a:xfrm>
              <a:off x="2275" y="1626"/>
              <a:ext cx="4800" cy="2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58" name="Rectangle 7"/>
            <p:cNvSpPr>
              <a:spLocks noChangeArrowheads="1"/>
            </p:cNvSpPr>
            <p:nvPr/>
          </p:nvSpPr>
          <p:spPr bwMode="auto">
            <a:xfrm>
              <a:off x="2699" y="1765"/>
              <a:ext cx="705" cy="41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559" name="Rectangle 8"/>
            <p:cNvSpPr>
              <a:spLocks noChangeArrowheads="1"/>
            </p:cNvSpPr>
            <p:nvPr/>
          </p:nvSpPr>
          <p:spPr bwMode="auto">
            <a:xfrm>
              <a:off x="3687" y="2183"/>
              <a:ext cx="703" cy="41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560" name="Rectangle 9"/>
            <p:cNvSpPr>
              <a:spLocks noChangeArrowheads="1"/>
            </p:cNvSpPr>
            <p:nvPr/>
          </p:nvSpPr>
          <p:spPr bwMode="auto">
            <a:xfrm>
              <a:off x="4675" y="2601"/>
              <a:ext cx="704" cy="41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23561" name="Group 10"/>
            <p:cNvGrpSpPr>
              <a:grpSpLocks/>
            </p:cNvGrpSpPr>
            <p:nvPr/>
          </p:nvGrpSpPr>
          <p:grpSpPr bwMode="auto">
            <a:xfrm>
              <a:off x="3404" y="1974"/>
              <a:ext cx="1271" cy="836"/>
              <a:chOff x="3404" y="1974"/>
              <a:chExt cx="1271" cy="836"/>
            </a:xfrm>
          </p:grpSpPr>
          <p:cxnSp>
            <p:nvCxnSpPr>
              <p:cNvPr id="23571" name="AutoShape 11"/>
              <p:cNvCxnSpPr>
                <a:cxnSpLocks noChangeShapeType="1"/>
                <a:stCxn id="23558" idx="3"/>
                <a:endCxn id="23559" idx="1"/>
              </p:cNvCxnSpPr>
              <p:nvPr/>
            </p:nvCxnSpPr>
            <p:spPr bwMode="auto">
              <a:xfrm>
                <a:off x="3404" y="1974"/>
                <a:ext cx="283" cy="418"/>
              </a:xfrm>
              <a:prstGeom prst="bentConnector3">
                <a:avLst>
                  <a:gd name="adj1" fmla="val 49861"/>
                </a:avLst>
              </a:prstGeom>
              <a:noFill/>
              <a:ln w="19050">
                <a:solidFill>
                  <a:srgbClr val="8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72" name="AutoShape 12"/>
              <p:cNvCxnSpPr>
                <a:cxnSpLocks noChangeShapeType="1"/>
                <a:endCxn id="23560" idx="1"/>
              </p:cNvCxnSpPr>
              <p:nvPr/>
            </p:nvCxnSpPr>
            <p:spPr bwMode="auto">
              <a:xfrm>
                <a:off x="3546" y="2322"/>
                <a:ext cx="1129" cy="488"/>
              </a:xfrm>
              <a:prstGeom prst="bentConnector3">
                <a:avLst>
                  <a:gd name="adj1" fmla="val -69"/>
                </a:avLst>
              </a:prstGeom>
              <a:noFill/>
              <a:ln w="19050">
                <a:solidFill>
                  <a:srgbClr val="8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562" name="Group 13"/>
            <p:cNvGrpSpPr>
              <a:grpSpLocks/>
            </p:cNvGrpSpPr>
            <p:nvPr/>
          </p:nvGrpSpPr>
          <p:grpSpPr bwMode="auto">
            <a:xfrm>
              <a:off x="3404" y="1904"/>
              <a:ext cx="2965" cy="837"/>
              <a:chOff x="3404" y="1904"/>
              <a:chExt cx="2965" cy="837"/>
            </a:xfrm>
          </p:grpSpPr>
          <p:sp>
            <p:nvSpPr>
              <p:cNvPr id="23567" name="Line 14"/>
              <p:cNvSpPr>
                <a:spLocks noChangeShapeType="1"/>
              </p:cNvSpPr>
              <p:nvPr/>
            </p:nvSpPr>
            <p:spPr bwMode="auto">
              <a:xfrm>
                <a:off x="5381" y="2741"/>
                <a:ext cx="988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568" name="Line 15"/>
              <p:cNvSpPr>
                <a:spLocks noChangeShapeType="1"/>
              </p:cNvSpPr>
              <p:nvPr/>
            </p:nvSpPr>
            <p:spPr bwMode="auto">
              <a:xfrm>
                <a:off x="3404" y="1904"/>
                <a:ext cx="240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569" name="Line 16"/>
              <p:cNvSpPr>
                <a:spLocks noChangeShapeType="1"/>
              </p:cNvSpPr>
              <p:nvPr/>
            </p:nvSpPr>
            <p:spPr bwMode="auto">
              <a:xfrm>
                <a:off x="5804" y="1904"/>
                <a:ext cx="0" cy="83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570" name="Line 17"/>
              <p:cNvSpPr>
                <a:spLocks noChangeShapeType="1"/>
              </p:cNvSpPr>
              <p:nvPr/>
            </p:nvSpPr>
            <p:spPr bwMode="auto">
              <a:xfrm>
                <a:off x="4393" y="2322"/>
                <a:ext cx="1411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3563" name="Group 18"/>
            <p:cNvGrpSpPr>
              <a:grpSpLocks/>
            </p:cNvGrpSpPr>
            <p:nvPr/>
          </p:nvGrpSpPr>
          <p:grpSpPr bwMode="auto">
            <a:xfrm>
              <a:off x="2699" y="3159"/>
              <a:ext cx="3105" cy="557"/>
              <a:chOff x="2699" y="3159"/>
              <a:chExt cx="3105" cy="557"/>
            </a:xfrm>
          </p:grpSpPr>
          <p:sp>
            <p:nvSpPr>
              <p:cNvPr id="23564" name="Line 19"/>
              <p:cNvSpPr>
                <a:spLocks noChangeShapeType="1"/>
              </p:cNvSpPr>
              <p:nvPr/>
            </p:nvSpPr>
            <p:spPr bwMode="auto">
              <a:xfrm>
                <a:off x="2699" y="3298"/>
                <a:ext cx="42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565" name="Line 20"/>
              <p:cNvSpPr>
                <a:spLocks noChangeShapeType="1"/>
              </p:cNvSpPr>
              <p:nvPr/>
            </p:nvSpPr>
            <p:spPr bwMode="auto">
              <a:xfrm>
                <a:off x="2699" y="3577"/>
                <a:ext cx="423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566" name="Text Box 21"/>
              <p:cNvSpPr txBox="1">
                <a:spLocks noChangeArrowheads="1"/>
              </p:cNvSpPr>
              <p:nvPr/>
            </p:nvSpPr>
            <p:spPr bwMode="auto">
              <a:xfrm>
                <a:off x="3404" y="3159"/>
                <a:ext cx="2400" cy="55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dirty="0" err="1" smtClean="0"/>
                  <a:t>Злиття</a:t>
                </a:r>
                <a:r>
                  <a:rPr lang="ru-RU" dirty="0" smtClean="0"/>
                  <a:t> </a:t>
                </a:r>
                <a:r>
                  <a:rPr lang="ru-RU" dirty="0" err="1" smtClean="0"/>
                  <a:t>стрілок</a:t>
                </a:r>
                <a:endParaRPr lang="ru-RU" dirty="0"/>
              </a:p>
              <a:p>
                <a:pPr eaLnBrk="1" hangingPunct="1"/>
                <a:endParaRPr lang="ru-RU" dirty="0"/>
              </a:p>
              <a:p>
                <a:pPr eaLnBrk="1" hangingPunct="1"/>
                <a:r>
                  <a:rPr lang="ru-RU" dirty="0" err="1" smtClean="0"/>
                  <a:t>Розгалуження</a:t>
                </a:r>
                <a:r>
                  <a:rPr lang="ru-RU" dirty="0" smtClean="0"/>
                  <a:t> </a:t>
                </a:r>
                <a:r>
                  <a:rPr lang="ru-RU" dirty="0" err="1" smtClean="0"/>
                  <a:t>стрілок</a:t>
                </a:r>
                <a:endParaRPr lang="ru-RU" dirty="0"/>
              </a:p>
            </p:txBody>
          </p:sp>
        </p:grpSp>
      </p:grpSp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302840" y="163082"/>
            <a:ext cx="8229600" cy="595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600" b="1" dirty="0" err="1" smtClean="0">
                <a:solidFill>
                  <a:schemeClr val="bg1"/>
                </a:solidFill>
              </a:rPr>
              <a:t>Основні</a:t>
            </a:r>
            <a:r>
              <a:rPr lang="ru-RU" sz="3600" b="1" dirty="0" smtClean="0">
                <a:solidFill>
                  <a:schemeClr val="bg1"/>
                </a:solidFill>
              </a:rPr>
              <a:t> правила </a:t>
            </a:r>
            <a:r>
              <a:rPr lang="ru-RU" sz="3600" b="1" dirty="0" err="1" smtClean="0">
                <a:solidFill>
                  <a:schemeClr val="bg1"/>
                </a:solidFill>
              </a:rPr>
              <a:t>побудови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діаграм</a:t>
            </a:r>
            <a:endParaRPr lang="ru-RU" sz="36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8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323528" y="1124744"/>
            <a:ext cx="85689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Після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складу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взаємозв'язків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ними,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виникає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питання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про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правильну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композицію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об'єднання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модулі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При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цьому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увазі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кожна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окрема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функція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повинна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вирішувати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одну, строго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певну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задачу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Інакше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потрібна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подальша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декомпозиція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або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розподіл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При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об'єднанні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необхідно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прагнути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щоб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внутрішня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зв'язність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усередині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модуля)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була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як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можна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сильніше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зовнішня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входять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різні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модулі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), як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можна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слабкіше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Типи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приводяться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порядку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зменшення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значущості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сили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зв'язування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373881" y="133363"/>
            <a:ext cx="64682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Типи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зв'язків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між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роботами</a:t>
            </a:r>
          </a:p>
        </p:txBody>
      </p:sp>
    </p:spTree>
    <p:extLst>
      <p:ext uri="{BB962C8B-B14F-4D97-AF65-F5344CB8AC3E}">
        <p14:creationId xmlns:p14="http://schemas.microsoft.com/office/powerpoint/2010/main" val="365197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755576" y="1268760"/>
            <a:ext cx="76328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Ієрархічний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"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частина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" - "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ціле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")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місце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функцією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вона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складається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2192148" y="0"/>
            <a:ext cx="47597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Ієрархічний</a:t>
            </a:r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зв'язок</a:t>
            </a:r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Рисунок 4" descr="https://sites.google.com/site/anisimovkhv/_/rsrc/1392177694644/learning/pris/lecture/tema6/tema6_2/IDEF0_Relationship_Ierarx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282" y="2630487"/>
            <a:ext cx="5131435" cy="1597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52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72667" y="962837"/>
            <a:ext cx="8755665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Регламентуючий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(той,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управляє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підпорядкований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) 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зображує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залежність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однієї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іншої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вихід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однієї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прямує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іншій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виходить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слід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вважати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регламентуючою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управляючою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а в яку входить -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підпорядкованою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Розрізняють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прямий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по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управлінню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передається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з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вищестоячої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нижчестоячу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та </a:t>
            </a:r>
            <a:r>
              <a:rPr lang="ru-RU" sz="2000" b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зворотний</a:t>
            </a:r>
            <a:r>
              <a:rPr lang="ru-RU" sz="20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20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управлінню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передається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нижчестоячої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до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вищестоячої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6" y="4275533"/>
            <a:ext cx="319087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340" y="4104083"/>
            <a:ext cx="53625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кутник 3"/>
          <p:cNvSpPr/>
          <p:nvPr/>
        </p:nvSpPr>
        <p:spPr>
          <a:xfrm>
            <a:off x="959349" y="5966964"/>
            <a:ext cx="1833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Arial" pitchFamily="34" charset="0"/>
                <a:cs typeface="Arial" pitchFamily="34" charset="0"/>
              </a:rPr>
              <a:t>прямий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endParaRPr lang="ru-RU" dirty="0"/>
          </a:p>
        </p:txBody>
      </p:sp>
      <p:sp>
        <p:nvSpPr>
          <p:cNvPr id="7" name="Прямокутник 6"/>
          <p:cNvSpPr/>
          <p:nvPr/>
        </p:nvSpPr>
        <p:spPr>
          <a:xfrm>
            <a:off x="5364088" y="5986866"/>
            <a:ext cx="2139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зворотний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endParaRPr lang="ru-RU" dirty="0"/>
          </a:p>
        </p:txBody>
      </p:sp>
      <p:sp>
        <p:nvSpPr>
          <p:cNvPr id="5" name="Прямокутник 4"/>
          <p:cNvSpPr/>
          <p:nvPr/>
        </p:nvSpPr>
        <p:spPr>
          <a:xfrm>
            <a:off x="0" y="81576"/>
            <a:ext cx="84696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Регламентуючий</a:t>
            </a:r>
            <a:r>
              <a:rPr lang="ru-RU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управляючий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зв</a:t>
            </a:r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’</a:t>
            </a:r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язок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91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09" y="3399838"/>
            <a:ext cx="5676900" cy="2114550"/>
          </a:xfrm>
          <a:prstGeom prst="rect">
            <a:avLst/>
          </a:prstGeom>
        </p:spPr>
      </p:pic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141487" y="871995"/>
            <a:ext cx="856895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Функціональний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технологічний</a:t>
            </a:r>
            <a:r>
              <a:rPr lang="ru-RU" sz="20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місце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, коли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вихід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однієї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служить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вхідними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даними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наступної</a:t>
            </a:r>
            <a:r>
              <a:rPr lang="ru-RU" sz="20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З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точки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зору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потоку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матеріальних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об'єктів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цей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показує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технологію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послідовність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робіт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обробки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об'єктів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Виділяють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прямий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по входу,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вихід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передається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з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вищестоячої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на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нижчестоячую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і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зворотний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по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входу,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вихід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передається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нижчестоячою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до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вищестоячої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2128709" y="5112377"/>
            <a:ext cx="2588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прямий</a:t>
            </a:r>
            <a:r>
              <a:rPr lang="ru-RU" dirty="0"/>
              <a:t> </a:t>
            </a:r>
            <a:r>
              <a:rPr lang="ru-RU" dirty="0" err="1"/>
              <a:t>зв'язок</a:t>
            </a:r>
            <a:r>
              <a:rPr lang="ru-RU" dirty="0"/>
              <a:t> по входу</a:t>
            </a:r>
          </a:p>
        </p:txBody>
      </p:sp>
      <p:sp>
        <p:nvSpPr>
          <p:cNvPr id="5" name="Прямокутник 4"/>
          <p:cNvSpPr/>
          <p:nvPr/>
        </p:nvSpPr>
        <p:spPr>
          <a:xfrm>
            <a:off x="5335495" y="5641574"/>
            <a:ext cx="2867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зворотний</a:t>
            </a:r>
            <a:r>
              <a:rPr lang="ru-RU" dirty="0"/>
              <a:t> </a:t>
            </a:r>
            <a:r>
              <a:rPr lang="ru-RU" dirty="0" err="1"/>
              <a:t>зв'язок</a:t>
            </a:r>
            <a:r>
              <a:rPr lang="ru-RU" dirty="0"/>
              <a:t> по входу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8854" y="129256"/>
            <a:ext cx="907537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Функціональний</a:t>
            </a:r>
            <a:r>
              <a:rPr lang="ru-RU" sz="3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ru-RU" sz="34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технологічн</a:t>
            </a:r>
            <a:r>
              <a:rPr lang="uk-UA" sz="34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ий</a:t>
            </a:r>
            <a:r>
              <a:rPr lang="ru-RU" sz="3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ru-RU" sz="3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uk-UA" sz="3400" b="1" dirty="0">
              <a:solidFill>
                <a:schemeClr val="bg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3176954" y="4454769"/>
            <a:ext cx="914400" cy="657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 flipV="1">
            <a:off x="7785596" y="4699854"/>
            <a:ext cx="417672" cy="941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01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18866" y="986642"/>
            <a:ext cx="86633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Споживчий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місце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вихід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однієї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служить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механізмом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наступної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2000" dirty="0" smtClean="0">
                <a:latin typeface="Arial" pitchFamily="34" charset="0"/>
                <a:cs typeface="Arial" pitchFamily="34" charset="0"/>
              </a:rPr>
              <a:t>Таким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чином, одна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споживає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ресурси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виробляються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іншій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293" y="3068960"/>
            <a:ext cx="27305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218751" y="97248"/>
            <a:ext cx="4663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Споживчий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uk-UA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37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51520" y="1244550"/>
            <a:ext cx="8424936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Логічний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спостерігається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логічно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однорідними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Такі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як правило,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виконують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одну і ту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саму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роботу, але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різними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способами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або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використовуючи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різні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початкові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дані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матеріали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579" y="3431381"/>
            <a:ext cx="4529137" cy="142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297579" y="134936"/>
            <a:ext cx="41037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Логічний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uk-U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980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55714" y="841720"/>
            <a:ext cx="8572618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dirty="0" err="1">
                <a:latin typeface="Arial" pitchFamily="34" charset="0"/>
                <a:cs typeface="Arial" pitchFamily="34" charset="0"/>
              </a:rPr>
              <a:t>Колегіальний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методичний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місце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алгоритм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визначається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одним і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тим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самим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управлінням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Аналогом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такого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є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спільна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робота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співробітників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одного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відділу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колег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підкоряються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начальникові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віддає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вказівки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накази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сигнали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управляють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Такий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також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виникає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коли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алгоритми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визначаються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одним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тим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самим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методичним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забезпеченням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(СНИП, ГОСТ,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офіційними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нормативними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матеріалами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тощо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),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служить як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149080"/>
            <a:ext cx="5499100" cy="211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6185" y="58563"/>
            <a:ext cx="74588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Колегіальний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(</a:t>
            </a:r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методичний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) </a:t>
            </a:r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uk-UA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382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251520" y="1124744"/>
            <a:ext cx="8640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latin typeface="Arial" pitchFamily="34" charset="0"/>
                <a:cs typeface="Arial" pitchFamily="34" charset="0"/>
              </a:rPr>
              <a:t>Ресурсний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виникає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використовують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для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своєї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роботи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одні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ті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самі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ресурси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Ресурсно-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залежні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як правило, не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можуть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виконуватися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одночасно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850" y="2727325"/>
            <a:ext cx="4938713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91436" y="199271"/>
            <a:ext cx="45016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Ресурсний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uk-UA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52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323528" y="1268760"/>
            <a:ext cx="84969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latin typeface="Arial" pitchFamily="34" charset="0"/>
                <a:cs typeface="Arial" pitchFamily="34" charset="0"/>
              </a:rPr>
              <a:t>Інформаційний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місце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використовують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як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вхідні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дані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одну і ту ж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інформацію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2462213"/>
            <a:ext cx="46815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1086" y="56480"/>
            <a:ext cx="55602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Інформаційний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uk-UA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3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755576" y="1196752"/>
            <a:ext cx="7992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Часовий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виникає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між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функціями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повинні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виконуватися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одночасно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до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або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одночасно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після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іншої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2081213"/>
            <a:ext cx="5827713" cy="270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349805" y="138968"/>
            <a:ext cx="40332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Часовий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uk-UA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89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0" y="734208"/>
            <a:ext cx="914400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приведених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вище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типів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найбільш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сильним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є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ієрархічний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,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який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по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суті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визначає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об'єднання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модулі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підсистеми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Дещо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слабкіше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являються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регламентуючі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функціональні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споживчі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цими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зв'язками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зазвичай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реалізуються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підсистемі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Логічні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колегіальні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ресурсні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і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інформаційні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з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найслабкіших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що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мають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як правило,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реалізують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різних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підсистемах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за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винятком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логічно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однорідних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пов'язаних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логічним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зв'язком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).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b="1" dirty="0" err="1" smtClean="0">
                <a:latin typeface="Arial" pitchFamily="34" charset="0"/>
                <a:cs typeface="Arial" pitchFamily="34" charset="0"/>
              </a:rPr>
              <a:t>Часовий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b="1" dirty="0" err="1">
                <a:latin typeface="Arial" pitchFamily="34" charset="0"/>
                <a:cs typeface="Arial" pitchFamily="34" charset="0"/>
              </a:rPr>
              <a:t>зв'язок</a:t>
            </a:r>
            <a:r>
              <a:rPr lang="ru-RU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свідчить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слабку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залежність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один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від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одного і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вимагає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їх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реалізації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окремих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модулях.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Таким чином, при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об'єднанні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функцій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модулі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найбільш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бажаними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є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перші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п'ять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видів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зв'язків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.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q"/>
            </a:pP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Функції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пов'язані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останніми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п'ятьма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зв'язками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краще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реалізовувати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в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окремих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модулях.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5786" y="34498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Аналіз типів </a:t>
            </a:r>
            <a:r>
              <a:rPr lang="uk-UA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зв</a:t>
            </a:r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uk-UA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язків</a:t>
            </a:r>
            <a:endParaRPr lang="uk-UA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943073" y="1180910"/>
            <a:ext cx="65212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Приклади 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IDEF0 </a:t>
            </a:r>
            <a:r>
              <a:rPr lang="uk-UA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діаграм </a:t>
            </a:r>
            <a:endParaRPr lang="uk-UA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uk-UA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57046" y="2504349"/>
            <a:ext cx="5591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dirty="0" smtClean="0"/>
              <a:t>ІС виробничого підприємства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4347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288925"/>
            <a:ext cx="9134475" cy="62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66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8" y="279400"/>
            <a:ext cx="9363076" cy="630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196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284163"/>
            <a:ext cx="9058275" cy="629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14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384175"/>
            <a:ext cx="9096375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905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265113"/>
            <a:ext cx="9020175" cy="633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17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46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5754" y="1430216"/>
            <a:ext cx="6951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/>
              <a:t>Приклад </a:t>
            </a:r>
          </a:p>
          <a:p>
            <a:pPr algn="ctr"/>
            <a:r>
              <a:rPr lang="en-US" sz="3600" b="1" dirty="0" smtClean="0"/>
              <a:t>IDEF0</a:t>
            </a:r>
            <a:r>
              <a:rPr lang="uk-UA" sz="3600" b="1" dirty="0" smtClean="0"/>
              <a:t> діаграм процесів «Визначення вимог до ІС»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0958960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47</a:t>
            </a:fld>
            <a:endParaRPr lang="uk-UA" dirty="0">
              <a:solidFill>
                <a:srgbClr val="FFFFFF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30"/>
            <a:ext cx="9124224" cy="67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34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48</a:t>
            </a:fld>
            <a:endParaRPr lang="uk-UA" dirty="0">
              <a:solidFill>
                <a:srgbClr val="FFFFFF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24224" cy="675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33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49</a:t>
            </a:fld>
            <a:endParaRPr lang="uk-UA" dirty="0">
              <a:solidFill>
                <a:srgbClr val="FFFFFF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9062"/>
            <a:ext cx="9144001" cy="673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8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2E928D-F6AD-4585-86C7-24457011D92F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  <p:sp>
        <p:nvSpPr>
          <p:cNvPr id="3" name="Прямокутник 2"/>
          <p:cNvSpPr/>
          <p:nvPr/>
        </p:nvSpPr>
        <p:spPr>
          <a:xfrm>
            <a:off x="363415" y="1101189"/>
            <a:ext cx="8169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https://sites.google.com/site/anisimovkhv/learning/pris/lecture/tema6/tema6_2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41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ua1">
  <a:themeElements>
    <a:clrScheme name="ua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ua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a1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2181</Words>
  <Application>Microsoft Office PowerPoint</Application>
  <PresentationFormat>Экран (4:3)</PresentationFormat>
  <Paragraphs>360</Paragraphs>
  <Slides>50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5" baseType="lpstr">
      <vt:lpstr>Arial</vt:lpstr>
      <vt:lpstr>Times New Roman</vt:lpstr>
      <vt:lpstr>Wingdings</vt:lpstr>
      <vt:lpstr>1_ua1</vt:lpstr>
      <vt:lpstr>Фотография Photo Editor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Функціональний блок</vt:lpstr>
      <vt:lpstr>Інтерфейсна дуга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Декомпозиція</vt:lpstr>
      <vt:lpstr>Презентация PowerPoint</vt:lpstr>
      <vt:lpstr>Нумерація робіт та діаграм</vt:lpstr>
      <vt:lpstr>Основні правила побудови діаграм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12</cp:revision>
  <dcterms:created xsi:type="dcterms:W3CDTF">2019-02-28T04:30:17Z</dcterms:created>
  <dcterms:modified xsi:type="dcterms:W3CDTF">2019-02-28T06:56:57Z</dcterms:modified>
</cp:coreProperties>
</file>