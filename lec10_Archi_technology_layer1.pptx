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80" r:id="rId3"/>
    <p:sldId id="259" r:id="rId4"/>
    <p:sldId id="353" r:id="rId5"/>
    <p:sldId id="355" r:id="rId6"/>
    <p:sldId id="354" r:id="rId7"/>
    <p:sldId id="356" r:id="rId8"/>
    <p:sldId id="306" r:id="rId9"/>
    <p:sldId id="308" r:id="rId10"/>
    <p:sldId id="309" r:id="rId11"/>
    <p:sldId id="311" r:id="rId12"/>
    <p:sldId id="377" r:id="rId13"/>
    <p:sldId id="312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57" r:id="rId32"/>
    <p:sldId id="352" r:id="rId33"/>
    <p:sldId id="359" r:id="rId34"/>
    <p:sldId id="358" r:id="rId35"/>
    <p:sldId id="378" r:id="rId36"/>
    <p:sldId id="379" r:id="rId37"/>
    <p:sldId id="277" r:id="rId38"/>
    <p:sldId id="281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6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2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65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70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87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5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8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22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2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67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>
                <a:solidFill>
                  <a:prstClr val="black"/>
                </a:solidFill>
              </a:rPr>
              <a:t>Kovaliuk</a:t>
            </a:r>
            <a:r>
              <a:rPr lang="en-US" sz="1200" dirty="0" smtClean="0">
                <a:solidFill>
                  <a:prstClr val="black"/>
                </a:solidFill>
              </a:rPr>
              <a:t> </a:t>
            </a:r>
            <a:r>
              <a:rPr lang="en-US" sz="1200" dirty="0" err="1" smtClean="0">
                <a:solidFill>
                  <a:prstClr val="black"/>
                </a:solidFill>
              </a:rPr>
              <a:t>Tetiana</a:t>
            </a:r>
            <a:r>
              <a:rPr lang="en-US" sz="1200" dirty="0" smtClean="0">
                <a:solidFill>
                  <a:prstClr val="black"/>
                </a:solidFill>
              </a:rPr>
              <a:t>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FAD5-467E-4D66-9EC0-636D02A42B3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8516" y="6424363"/>
            <a:ext cx="451184" cy="365125"/>
          </a:xfrm>
        </p:spPr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4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”Enterprise Architecture Management”. 2018</a:t>
            </a:r>
            <a:endParaRPr lang="ru-RU" sz="1200" dirty="0">
              <a:solidFill>
                <a:prstClr val="black"/>
              </a:solidFill>
            </a:endParaRPr>
          </a:p>
        </p:txBody>
      </p:sp>
      <p:pic>
        <p:nvPicPr>
          <p:cNvPr id="11" name="Image 6" descr="mastislogo-colo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9" y="6264251"/>
            <a:ext cx="1232762" cy="54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3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1D195-C47D-47A1-9475-BD7F2F476CCA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15.05.2019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2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pda.cnews.ru/reviews/index.shtml?2012/06/21/493807" TargetMode="External"/><Relationship Id="rId3" Type="http://schemas.openxmlformats.org/officeDocument/2006/relationships/hyperlink" Target="http://www.archimatetool.com/" TargetMode="External"/><Relationship Id="rId7" Type="http://schemas.openxmlformats.org/officeDocument/2006/relationships/hyperlink" Target="http://club.cnews.ru/blogs/entry/kratkij_obzor_produkta_archi_" TargetMode="External"/><Relationship Id="rId2" Type="http://schemas.openxmlformats.org/officeDocument/2006/relationships/hyperlink" Target="http://www.archimatetool.com/downloads/latest/Archi%20User%20Guide.pdf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ailev.livejournal.com/987391.html" TargetMode="External"/><Relationship Id="rId5" Type="http://schemas.openxmlformats.org/officeDocument/2006/relationships/hyperlink" Target="http://www.opengroup.org/togaf/" TargetMode="External"/><Relationship Id="rId10" Type="http://schemas.openxmlformats.org/officeDocument/2006/relationships/hyperlink" Target="https://www.cfin.ru/itm/EA_ArchiMate.shtml" TargetMode="External"/><Relationship Id="rId4" Type="http://schemas.openxmlformats.org/officeDocument/2006/relationships/hyperlink" Target="https://www2.opengroup.org/ogsys/catalog/c13L" TargetMode="External"/><Relationship Id="rId9" Type="http://schemas.openxmlformats.org/officeDocument/2006/relationships/hyperlink" Target="https://ailev.livejournal.com/988360.html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77053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6600" b="1" cap="none" spc="0" smtClean="0">
                <a:ln/>
                <a:solidFill>
                  <a:srgbClr val="FFFF00"/>
                </a:solidFill>
                <a:effectLst/>
              </a:rPr>
              <a:t>10</a:t>
            </a:r>
            <a:endParaRPr lang="uk-UA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6600" b="1" dirty="0" err="1" smtClean="0">
                <a:ln/>
                <a:solidFill>
                  <a:srgbClr val="FFFF00"/>
                </a:solidFill>
              </a:rPr>
              <a:t>ArchiMate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 Mastering.</a:t>
            </a:r>
            <a:endParaRPr lang="uk-UA" sz="66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Technology layer</a:t>
            </a:r>
          </a:p>
          <a:p>
            <a:pPr algn="ctr"/>
            <a:endParaRPr lang="en-US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4000" b="1" dirty="0" smtClean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 smtClean="0">
                <a:ln/>
                <a:solidFill>
                  <a:srgbClr val="FFFF00"/>
                </a:solidFill>
              </a:rPr>
              <a:t>Kovaliuk</a:t>
            </a:r>
            <a:endParaRPr lang="ru-RU" sz="4000" b="1" cap="none" spc="0" dirty="0">
              <a:ln/>
              <a:solidFill>
                <a:srgbClr val="FFFF00"/>
              </a:solidFill>
              <a:effectLst/>
            </a:endParaRPr>
          </a:p>
        </p:txBody>
      </p:sp>
      <p:pic>
        <p:nvPicPr>
          <p:cNvPr id="5" name="Image 6" descr="mastislogo-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60849" cy="113109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7" name="Рисунок 8" descr="eu_flag_co_funded_pos_[rgb]_right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849" y="0"/>
            <a:ext cx="4583149" cy="113109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schemeClr val="bg1">
                    <a:lumMod val="85000"/>
                  </a:scheme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-1" y="119743"/>
            <a:ext cx="901337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Співвідношення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шарів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,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аспектів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мови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і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функціональних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/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предметних</a:t>
            </a:r>
            <a:r>
              <a:rPr lang="ru-RU" sz="20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ru-RU" sz="2000" b="1" dirty="0" err="1">
                <a:solidFill>
                  <a:srgbClr val="00339A"/>
                </a:solidFill>
                <a:latin typeface="Arial-BoldMT"/>
              </a:rPr>
              <a:t>доменів</a:t>
            </a:r>
            <a:endParaRPr lang="ru-RU" sz="2000" dirty="0">
              <a:solidFill>
                <a:prstClr val="black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06" y="1059008"/>
            <a:ext cx="83534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0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141477"/>
            <a:ext cx="8077201" cy="508800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68602" y="110842"/>
            <a:ext cx="7257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Ієрархія верхнього рівня </a:t>
            </a:r>
            <a:r>
              <a:rPr lang="uk-UA" sz="2800" b="1" dirty="0" smtClean="0"/>
              <a:t>концепції </a:t>
            </a:r>
            <a:r>
              <a:rPr lang="uk-UA" sz="2800" b="1" dirty="0" err="1" smtClean="0"/>
              <a:t>ArchiMate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76774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06" y="1011092"/>
            <a:ext cx="7439025" cy="584690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50854" y="0"/>
            <a:ext cx="77600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Ієрархія поведінки та структурні елементи</a:t>
            </a:r>
          </a:p>
        </p:txBody>
      </p:sp>
    </p:spTree>
    <p:extLst>
      <p:ext uri="{BB962C8B-B14F-4D97-AF65-F5344CB8AC3E}">
        <p14:creationId xmlns:p14="http://schemas.microsoft.com/office/powerpoint/2010/main" val="273655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97" y="1092820"/>
            <a:ext cx="8140334" cy="535188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152311" y="121992"/>
            <a:ext cx="503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Огляд </a:t>
            </a:r>
            <a:r>
              <a:rPr lang="uk-UA" sz="2800" b="1" dirty="0" smtClean="0"/>
              <a:t>відношень з </a:t>
            </a:r>
            <a:r>
              <a:rPr lang="uk-UA" sz="2800" b="1" dirty="0" err="1" smtClean="0"/>
              <a:t>ArchiMate</a:t>
            </a:r>
            <a:r>
              <a:rPr lang="uk-UA" sz="2800" b="1" dirty="0" smtClean="0"/>
              <a:t> 3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345524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94" y="1035157"/>
            <a:ext cx="5882269" cy="104738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44" y="2505947"/>
            <a:ext cx="6609056" cy="40993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138350"/>
            <a:ext cx="2534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Choose the modeling component (sheet and pen icon)</a:t>
            </a:r>
          </a:p>
          <a:p>
            <a:r>
              <a:rPr lang="en-US" dirty="0">
                <a:latin typeface="Arial Narrow" panose="020B0606020202030204" pitchFamily="34" charset="0"/>
              </a:rPr>
              <a:t>• Model -&gt; </a:t>
            </a:r>
            <a:r>
              <a:rPr lang="en-US" dirty="0" smtClean="0">
                <a:latin typeface="Arial Narrow" panose="020B0606020202030204" pitchFamily="34" charset="0"/>
              </a:rPr>
              <a:t>new</a:t>
            </a:r>
          </a:p>
          <a:p>
            <a:r>
              <a:rPr lang="en-US" dirty="0"/>
              <a:t>• Choose the model type</a:t>
            </a:r>
          </a:p>
          <a:p>
            <a:r>
              <a:rPr lang="en-US" dirty="0"/>
              <a:t>• Choose a name</a:t>
            </a:r>
          </a:p>
          <a:p>
            <a:r>
              <a:rPr lang="en-US" dirty="0"/>
              <a:t>• Choose a folder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101309" y="26975"/>
            <a:ext cx="47083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Arial Narrow" panose="020B0606020202030204" pitchFamily="34" charset="0"/>
              </a:rPr>
              <a:t>How to create a new model?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269677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60811" y="1031709"/>
            <a:ext cx="6177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</a:t>
            </a:r>
            <a:r>
              <a:rPr lang="uk-UA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технологічного шару</a:t>
            </a:r>
            <a:endParaRPr lang="uk-U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0339" y="169934"/>
            <a:ext cx="84587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Моделювання </a:t>
            </a: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технологічної архітектури</a:t>
            </a:r>
            <a:endParaRPr lang="uk-U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9" y="1962614"/>
            <a:ext cx="8790864" cy="409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8539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="1" dirty="0" err="1">
                <a:solidFill>
                  <a:srgbClr val="00339A"/>
                </a:solidFill>
                <a:latin typeface="Arial-BoldMT"/>
              </a:rPr>
              <a:t>Метамодель</a:t>
            </a:r>
            <a:r>
              <a:rPr lang="uk-UA" sz="2800" b="1" dirty="0">
                <a:solidFill>
                  <a:srgbClr val="00339A"/>
                </a:solidFill>
                <a:latin typeface="Arial-BoldMT"/>
              </a:rPr>
              <a:t> </a:t>
            </a:r>
            <a:r>
              <a:rPr lang="uk-UA" sz="2800" b="1" dirty="0" smtClean="0">
                <a:solidFill>
                  <a:srgbClr val="00339A"/>
                </a:solidFill>
                <a:latin typeface="Arial-BoldMT"/>
              </a:rPr>
              <a:t>технологічного шару</a:t>
            </a:r>
            <a:endParaRPr lang="uk-UA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839"/>
            <a:ext cx="9144000" cy="544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9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79499" y="67794"/>
            <a:ext cx="62490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Базовий </a:t>
            </a:r>
            <a:r>
              <a:rPr lang="uk-UA" sz="2800" b="1" dirty="0" smtClean="0"/>
              <a:t>шаблон </a:t>
            </a:r>
            <a:r>
              <a:rPr lang="uk-UA" sz="2800" b="1" dirty="0"/>
              <a:t>в </a:t>
            </a:r>
            <a:r>
              <a:rPr lang="uk-UA" sz="2800" b="1" dirty="0" smtClean="0"/>
              <a:t>технологічний шарі </a:t>
            </a:r>
            <a:endParaRPr lang="uk-UA" sz="2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45474" y="951856"/>
            <a:ext cx="86755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Базовий шаблон в технологічному шарі також включає наступні 5 елементів:</a:t>
            </a:r>
          </a:p>
          <a:p>
            <a:r>
              <a:rPr lang="uk-UA" b="1" dirty="0"/>
              <a:t>Виконавець - Функціонал - Інтерфейс - Сервіс - Об'єкт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51" y="1722712"/>
            <a:ext cx="8341112" cy="293531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0" y="4782556"/>
            <a:ext cx="9144000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технологічному шарі </a:t>
            </a:r>
            <a:r>
              <a:rPr lang="uk-UA" b="1" dirty="0"/>
              <a:t>Виконавцем</a:t>
            </a:r>
            <a:r>
              <a:rPr lang="uk-UA" dirty="0"/>
              <a:t> є вузол, </a:t>
            </a:r>
            <a:endParaRPr lang="uk-UA" dirty="0" smtClean="0"/>
          </a:p>
          <a:p>
            <a:r>
              <a:rPr lang="uk-UA" b="1" dirty="0" smtClean="0"/>
              <a:t>Функціоналом</a:t>
            </a:r>
            <a:r>
              <a:rPr lang="uk-UA" dirty="0" smtClean="0"/>
              <a:t> - інфраструктурний </a:t>
            </a:r>
            <a:r>
              <a:rPr lang="uk-UA" dirty="0"/>
              <a:t>функціонал (</a:t>
            </a:r>
            <a:r>
              <a:rPr lang="uk-UA" dirty="0" smtClean="0"/>
              <a:t>внутрішня поведінка </a:t>
            </a:r>
            <a:r>
              <a:rPr lang="uk-UA" dirty="0"/>
              <a:t>вузла</a:t>
            </a:r>
            <a:r>
              <a:rPr lang="uk-UA" dirty="0" smtClean="0"/>
              <a:t>),</a:t>
            </a:r>
          </a:p>
          <a:p>
            <a:r>
              <a:rPr lang="uk-UA" sz="1700" b="1" dirty="0" smtClean="0"/>
              <a:t>Інтерфейсом</a:t>
            </a:r>
            <a:r>
              <a:rPr lang="uk-UA" sz="1700" dirty="0" smtClean="0"/>
              <a:t> є </a:t>
            </a:r>
            <a:r>
              <a:rPr lang="uk-UA" sz="1700" dirty="0"/>
              <a:t>інфраструктурний інтерфейс (спосіб, за допомогою якого </a:t>
            </a:r>
            <a:r>
              <a:rPr lang="uk-UA" sz="1700" dirty="0" smtClean="0"/>
              <a:t>вузол пропонує </a:t>
            </a:r>
            <a:r>
              <a:rPr lang="uk-UA" sz="1700" dirty="0"/>
              <a:t>себе), </a:t>
            </a:r>
            <a:endParaRPr lang="uk-UA" sz="1700" dirty="0" smtClean="0"/>
          </a:p>
          <a:p>
            <a:r>
              <a:rPr lang="uk-UA" b="1" dirty="0" smtClean="0"/>
              <a:t>Сервісом</a:t>
            </a:r>
            <a:r>
              <a:rPr lang="uk-UA" dirty="0" smtClean="0"/>
              <a:t> </a:t>
            </a:r>
            <a:r>
              <a:rPr lang="uk-UA" dirty="0"/>
              <a:t>- інфраструктурний сервіс (</a:t>
            </a:r>
            <a:r>
              <a:rPr lang="uk-UA" dirty="0" smtClean="0"/>
              <a:t>видима поведінка вузла</a:t>
            </a:r>
            <a:r>
              <a:rPr lang="uk-UA" dirty="0"/>
              <a:t>) </a:t>
            </a:r>
            <a:endParaRPr lang="uk-UA" dirty="0" smtClean="0"/>
          </a:p>
          <a:p>
            <a:r>
              <a:rPr lang="uk-UA" b="1" dirty="0" smtClean="0"/>
              <a:t>Об'єктом</a:t>
            </a:r>
            <a:r>
              <a:rPr lang="uk-UA" dirty="0" smtClean="0"/>
              <a:t> </a:t>
            </a:r>
            <a:r>
              <a:rPr lang="uk-UA" dirty="0"/>
              <a:t>- артефакт (сутність, над якою виконується </a:t>
            </a:r>
            <a:r>
              <a:rPr lang="uk-UA" dirty="0" smtClean="0"/>
              <a:t>поведінка (Файл</a:t>
            </a:r>
            <a:r>
              <a:rPr lang="uk-UA" dirty="0"/>
              <a:t>, </a:t>
            </a:r>
            <a:r>
              <a:rPr lang="uk-UA" dirty="0" smtClean="0"/>
              <a:t>БД)).</a:t>
            </a:r>
            <a:endParaRPr lang="uk-UA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V="1">
            <a:off x="3211551" y="4549698"/>
            <a:ext cx="3434576" cy="3568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4360127" y="2687444"/>
            <a:ext cx="3568390" cy="2553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1137424" y="4382430"/>
            <a:ext cx="2598235" cy="1048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355078" y="4270917"/>
            <a:ext cx="637381" cy="1795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56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805508" y="166916"/>
            <a:ext cx="48517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/>
              <a:t>Активні структурні </a:t>
            </a:r>
            <a:r>
              <a:rPr lang="uk-UA" sz="2800" b="1" dirty="0" smtClean="0"/>
              <a:t>елементи</a:t>
            </a:r>
            <a:endParaRPr lang="uk-UA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639229" y="1059367"/>
            <a:ext cx="5318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До складу активних структурних елементів входять: </a:t>
            </a:r>
            <a:endParaRPr lang="uk-UA" dirty="0"/>
          </a:p>
        </p:txBody>
      </p:sp>
      <p:sp>
        <p:nvSpPr>
          <p:cNvPr id="12" name="TextBox 11"/>
          <p:cNvSpPr txBox="1"/>
          <p:nvPr/>
        </p:nvSpPr>
        <p:spPr>
          <a:xfrm>
            <a:off x="2252547" y="1797930"/>
            <a:ext cx="34790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Вузол</a:t>
            </a:r>
          </a:p>
          <a:p>
            <a:pPr marL="800100" lvl="1" indent="-342900">
              <a:buFont typeface="+mj-lt"/>
              <a:buAutoNum type="alphaLcParenR"/>
            </a:pPr>
            <a:r>
              <a:rPr lang="uk-UA" dirty="0" smtClean="0"/>
              <a:t>Пристрій</a:t>
            </a:r>
          </a:p>
          <a:p>
            <a:pPr marL="800100" lvl="1" indent="-342900">
              <a:buFont typeface="+mj-lt"/>
              <a:buAutoNum type="alphaLcParenR"/>
            </a:pPr>
            <a:r>
              <a:rPr lang="uk-UA" dirty="0" smtClean="0"/>
              <a:t>Системне ПЗ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Інфраструктурний інтерфейс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Мережа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Комунікаційне з</a:t>
            </a:r>
            <a:r>
              <a:rPr lang="en-US" dirty="0" smtClean="0"/>
              <a:t>’</a:t>
            </a:r>
            <a:r>
              <a:rPr lang="uk-UA" dirty="0" smtClean="0"/>
              <a:t>єднання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Інфраструктурний функціонал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Інфраструктурний сервіс</a:t>
            </a:r>
          </a:p>
        </p:txBody>
      </p:sp>
    </p:spTree>
    <p:extLst>
      <p:ext uri="{BB962C8B-B14F-4D97-AF65-F5344CB8AC3E}">
        <p14:creationId xmlns:p14="http://schemas.microsoft.com/office/powerpoint/2010/main" val="175917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18826" y="166916"/>
            <a:ext cx="32124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smtClean="0"/>
              <a:t>Виконавець - вузол</a:t>
            </a:r>
            <a:endParaRPr lang="uk-UA" sz="28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615" y="1237784"/>
            <a:ext cx="3665385" cy="96045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33814" y="973247"/>
            <a:ext cx="515186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Вузол визначається як обчислювальний ресурс, на якому артефакти можуть бути збережені або розгорнуті для виконання.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Вузли </a:t>
            </a:r>
            <a:r>
              <a:rPr lang="uk-UA" dirty="0"/>
              <a:t>є активними обробними елементами. Наприклад, вузли використовуються для моделювання серверів додатків, серверів БД або клієнтських станцій</a:t>
            </a:r>
            <a:r>
              <a:rPr lang="uk-UA" dirty="0" smtClean="0"/>
              <a:t>.</a:t>
            </a:r>
            <a:endParaRPr lang="uk-UA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3814" y="3004572"/>
            <a:ext cx="90101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Вузол може складатися з підсистем.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Часто вузол є комбінацією технічного пристрою і системного ПЗ, забезпечуючи таким чином середу виконання. Ці </a:t>
            </a:r>
            <a:r>
              <a:rPr lang="uk-UA" dirty="0" err="1"/>
              <a:t>підвузли</a:t>
            </a:r>
            <a:r>
              <a:rPr lang="uk-UA" dirty="0"/>
              <a:t> можуть зазначатися явно, а можуть і не вказуватися.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Вузли можуть бути пов'язані комунікаційними з'єднаннями.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Вузлам </a:t>
            </a:r>
            <a:r>
              <a:rPr lang="uk-UA" dirty="0"/>
              <a:t>можуть бути призначені артефакти (розгорнуті на вузлах).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Артефакти</a:t>
            </a:r>
            <a:r>
              <a:rPr lang="uk-UA" dirty="0"/>
              <a:t>, розгорнуті на </a:t>
            </a:r>
            <a:r>
              <a:rPr lang="uk-UA" dirty="0" err="1"/>
              <a:t>вузлі</a:t>
            </a:r>
            <a:r>
              <a:rPr lang="uk-UA" dirty="0"/>
              <a:t>, можуть бути або зображені усередині вузла, або пов'язані з ним </a:t>
            </a:r>
            <a:r>
              <a:rPr lang="uk-UA" dirty="0" smtClean="0"/>
              <a:t>відношенням призначення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</a:t>
            </a:r>
          </a:p>
        </p:txBody>
      </p:sp>
    </p:spTree>
    <p:extLst>
      <p:ext uri="{BB962C8B-B14F-4D97-AF65-F5344CB8AC3E}">
        <p14:creationId xmlns:p14="http://schemas.microsoft.com/office/powerpoint/2010/main" val="49271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78358" y="200051"/>
            <a:ext cx="52283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/>
              <a:t>Вузол-виконавець. Приклад</a:t>
            </a:r>
            <a:endParaRPr lang="uk-UA" sz="3200" b="1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238" y="1083179"/>
            <a:ext cx="6172200" cy="223837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59726" y="3759071"/>
            <a:ext cx="73040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Вузол  </a:t>
            </a:r>
            <a:r>
              <a:rPr lang="uk-UA" dirty="0"/>
              <a:t>«Сервер додатків» складається з пристрою «</a:t>
            </a:r>
            <a:r>
              <a:rPr lang="uk-UA" dirty="0" err="1"/>
              <a:t>Блейд</a:t>
            </a:r>
            <a:r>
              <a:rPr lang="uk-UA" dirty="0"/>
              <a:t>-сервер» і системного ПО «Сервер додатків </a:t>
            </a:r>
            <a:r>
              <a:rPr lang="uk-UA" dirty="0" err="1"/>
              <a:t>Java</a:t>
            </a:r>
            <a:r>
              <a:rPr lang="uk-UA" dirty="0"/>
              <a:t> EE»</a:t>
            </a:r>
          </a:p>
        </p:txBody>
      </p:sp>
    </p:spTree>
    <p:extLst>
      <p:ext uri="{BB962C8B-B14F-4D97-AF65-F5344CB8AC3E}">
        <p14:creationId xmlns:p14="http://schemas.microsoft.com/office/powerpoint/2010/main" val="356054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063" y="1193179"/>
            <a:ext cx="4592368" cy="97411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064040"/>
            <a:ext cx="433506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Пристрій визначається як ресурс технічного забезпечення, на якому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артефакти можуть бути збережені або розгорнуті для виконання.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Пристрій </a:t>
            </a:r>
            <a:r>
              <a:rPr lang="uk-UA" dirty="0"/>
              <a:t>є спеціалізацією елемента «вузол» і представляє фізичний ресурс з можливостями обробки.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224504"/>
            <a:ext cx="88047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Зазвичай пристрій використовується для моделювання технічного забезпечення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систем (</a:t>
            </a:r>
            <a:r>
              <a:rPr lang="uk-UA" dirty="0" err="1"/>
              <a:t>мейнфреймів</a:t>
            </a:r>
            <a:r>
              <a:rPr lang="uk-UA" dirty="0"/>
              <a:t>, ПК або </a:t>
            </a:r>
            <a:r>
              <a:rPr lang="uk-UA" dirty="0" err="1"/>
              <a:t>роутерів</a:t>
            </a:r>
            <a:r>
              <a:rPr lang="uk-UA" dirty="0"/>
              <a:t>) і є частиною вузла разом з елементом «Системне </a:t>
            </a:r>
            <a:r>
              <a:rPr lang="uk-UA" dirty="0" smtClean="0"/>
              <a:t>ПЗ».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Вузол може включати </a:t>
            </a:r>
            <a:r>
              <a:rPr lang="uk-UA" dirty="0" smtClean="0"/>
              <a:t>один </a:t>
            </a:r>
            <a:r>
              <a:rPr lang="uk-UA" dirty="0"/>
              <a:t>або більше пристроїв, тобто складатися з </a:t>
            </a:r>
            <a:r>
              <a:rPr lang="uk-UA" dirty="0" err="1" smtClean="0"/>
              <a:t>підпристроїв</a:t>
            </a:r>
            <a:r>
              <a:rPr lang="uk-UA" dirty="0" smtClean="0"/>
              <a:t>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Пристрої можуть бути взаємопов'язані за допомогою мереж.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Артефакти можуть бути призначені </a:t>
            </a:r>
            <a:r>
              <a:rPr lang="uk-UA" dirty="0" smtClean="0"/>
              <a:t>пристроям </a:t>
            </a:r>
            <a:r>
              <a:rPr lang="uk-UA" dirty="0"/>
              <a:t>(розгорнуті на пристроях).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Системне </a:t>
            </a:r>
            <a:r>
              <a:rPr lang="uk-UA" dirty="0" smtClean="0"/>
              <a:t>ПЗ </a:t>
            </a:r>
            <a:r>
              <a:rPr lang="uk-UA" dirty="0"/>
              <a:t>може бути призначено пристрою.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іменник, що посилається на </a:t>
            </a:r>
            <a:r>
              <a:rPr lang="uk-UA" dirty="0" smtClean="0"/>
              <a:t>тип технічного </a:t>
            </a:r>
            <a:r>
              <a:rPr lang="uk-UA" dirty="0"/>
              <a:t>забезпечення. Наприклад, </a:t>
            </a:r>
            <a:r>
              <a:rPr lang="uk-UA" dirty="0" err="1"/>
              <a:t>мейнфрейм</a:t>
            </a:r>
            <a:r>
              <a:rPr lang="uk-UA" dirty="0"/>
              <a:t> IBM </a:t>
            </a:r>
            <a:r>
              <a:rPr lang="uk-UA" dirty="0" err="1"/>
              <a:t>System</a:t>
            </a:r>
            <a:r>
              <a:rPr lang="uk-UA" dirty="0"/>
              <a:t> Z.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64279" y="74503"/>
            <a:ext cx="20762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/>
              <a:t>Пристрій </a:t>
            </a:r>
          </a:p>
        </p:txBody>
      </p:sp>
    </p:spTree>
    <p:extLst>
      <p:ext uri="{BB962C8B-B14F-4D97-AF65-F5344CB8AC3E}">
        <p14:creationId xmlns:p14="http://schemas.microsoft.com/office/powerpoint/2010/main" val="1930424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587" y="1215482"/>
            <a:ext cx="5118844" cy="426618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940532" y="0"/>
            <a:ext cx="40655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smtClean="0"/>
              <a:t>Пристрій. Приклад </a:t>
            </a:r>
            <a:endParaRPr lang="uk-UA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0361" y="1294652"/>
            <a:ext cx="3880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ряд серверів, які моделюються пристроями та</a:t>
            </a:r>
          </a:p>
          <a:p>
            <a:r>
              <a:rPr lang="uk-UA" dirty="0"/>
              <a:t>пов'язані за допомогою локальної мережі.</a:t>
            </a:r>
          </a:p>
        </p:txBody>
      </p:sp>
    </p:spTree>
    <p:extLst>
      <p:ext uri="{BB962C8B-B14F-4D97-AF65-F5344CB8AC3E}">
        <p14:creationId xmlns:p14="http://schemas.microsoft.com/office/powerpoint/2010/main" val="1820830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385" y="1037065"/>
            <a:ext cx="4248615" cy="75828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56118" y="103706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dirty="0"/>
              <a:t>Системне </a:t>
            </a:r>
            <a:r>
              <a:rPr lang="uk-UA" dirty="0" smtClean="0"/>
              <a:t>ПЗ </a:t>
            </a:r>
            <a:r>
              <a:rPr lang="uk-UA" dirty="0"/>
              <a:t>являє програмне середовище для певних типів компонентів і об'єктів, які розгорнуті в цьому середовищі у формі артефактів.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34178" y="2237394"/>
            <a:ext cx="88206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Системне ПЗ є спеціалізацією елемента «вузол» і використовується для моделювання програмного середовища, в </a:t>
            </a:r>
            <a:r>
              <a:rPr lang="uk-UA" dirty="0" smtClean="0"/>
              <a:t>якому </a:t>
            </a:r>
            <a:r>
              <a:rPr lang="uk-UA" dirty="0"/>
              <a:t>виконуються </a:t>
            </a:r>
            <a:r>
              <a:rPr lang="uk-UA" dirty="0" smtClean="0"/>
              <a:t>артефакти. Це </a:t>
            </a:r>
            <a:r>
              <a:rPr lang="uk-UA" dirty="0"/>
              <a:t>може бути, наприклад, операційна система, сервер додатків JEE, </a:t>
            </a:r>
            <a:r>
              <a:rPr lang="uk-UA" dirty="0" smtClean="0"/>
              <a:t>БД або </a:t>
            </a:r>
            <a:r>
              <a:rPr lang="uk-UA" dirty="0"/>
              <a:t>движок </a:t>
            </a:r>
            <a:r>
              <a:rPr lang="uk-UA" dirty="0" err="1"/>
              <a:t>workflow</a:t>
            </a:r>
            <a:r>
              <a:rPr lang="uk-UA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Системне ПЗ також може бути використано для уявлення комунікаційного </a:t>
            </a:r>
            <a:r>
              <a:rPr lang="uk-UA" dirty="0" err="1"/>
              <a:t>middleware</a:t>
            </a:r>
            <a:r>
              <a:rPr lang="uk-UA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Зазвичай системне </a:t>
            </a:r>
            <a:r>
              <a:rPr lang="uk-UA" dirty="0" smtClean="0"/>
              <a:t>ПЗ </a:t>
            </a:r>
            <a:r>
              <a:rPr lang="uk-UA" dirty="0"/>
              <a:t>об'єднується з пристроєм, що представляє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технічне забезпечення, щоб сформувати вузол.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Системне </a:t>
            </a:r>
            <a:r>
              <a:rPr lang="uk-UA" dirty="0" smtClean="0"/>
              <a:t>ПЗ </a:t>
            </a:r>
            <a:r>
              <a:rPr lang="uk-UA" dirty="0"/>
              <a:t>може бути призначено пристрою.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Артефакти можуть бути призначені системному </a:t>
            </a:r>
            <a:r>
              <a:rPr lang="uk-UA" dirty="0" smtClean="0"/>
              <a:t>ПЗ.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Системне </a:t>
            </a:r>
            <a:r>
              <a:rPr lang="uk-UA" dirty="0" smtClean="0"/>
              <a:t>ПЗ </a:t>
            </a:r>
            <a:r>
              <a:rPr lang="uk-UA" dirty="0"/>
              <a:t>може включати інше системне </a:t>
            </a:r>
            <a:r>
              <a:rPr lang="uk-UA" dirty="0" smtClean="0"/>
              <a:t>ПЗ. </a:t>
            </a:r>
            <a:r>
              <a:rPr lang="uk-UA" dirty="0"/>
              <a:t>Наприклад, </a:t>
            </a:r>
            <a:r>
              <a:rPr lang="uk-UA" dirty="0" smtClean="0"/>
              <a:t>операційна система</a:t>
            </a:r>
            <a:r>
              <a:rPr lang="uk-UA" dirty="0"/>
              <a:t>, що містить </a:t>
            </a:r>
            <a:r>
              <a:rPr lang="uk-UA" dirty="0" smtClean="0"/>
              <a:t>файлову систему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іменник, що посилається на </a:t>
            </a:r>
            <a:r>
              <a:rPr lang="uk-UA" dirty="0" smtClean="0"/>
              <a:t>тип середовища </a:t>
            </a:r>
            <a:r>
              <a:rPr lang="uk-UA" dirty="0"/>
              <a:t>виконання, наприклад, «сервер JEE».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249080" y="144513"/>
            <a:ext cx="2530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Системне ПЗ </a:t>
            </a:r>
          </a:p>
        </p:txBody>
      </p:sp>
    </p:spTree>
    <p:extLst>
      <p:ext uri="{BB962C8B-B14F-4D97-AF65-F5344CB8AC3E}">
        <p14:creationId xmlns:p14="http://schemas.microsoft.com/office/powerpoint/2010/main" val="1721510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58" y="1289070"/>
            <a:ext cx="7620001" cy="11575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791880" y="88757"/>
            <a:ext cx="43003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Системне </a:t>
            </a:r>
            <a:r>
              <a:rPr lang="uk-UA" sz="3200" b="1" dirty="0" smtClean="0"/>
              <a:t>ПЗ. Приклад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86882" y="3141070"/>
            <a:ext cx="73263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 пристрій типу </a:t>
            </a:r>
            <a:r>
              <a:rPr lang="uk-UA" dirty="0" err="1"/>
              <a:t>мейнфрейм</a:t>
            </a:r>
            <a:r>
              <a:rPr lang="uk-UA" dirty="0"/>
              <a:t>, на якому розгорнуто </a:t>
            </a:r>
            <a:r>
              <a:rPr lang="uk-UA" dirty="0" smtClean="0"/>
              <a:t>два середовища </a:t>
            </a:r>
            <a:r>
              <a:rPr lang="uk-UA" dirty="0"/>
              <a:t>системного </a:t>
            </a:r>
            <a:r>
              <a:rPr lang="uk-UA" dirty="0" smtClean="0"/>
              <a:t>ПЗ: </a:t>
            </a:r>
            <a:r>
              <a:rPr lang="uk-UA" dirty="0"/>
              <a:t>сервер </a:t>
            </a:r>
            <a:r>
              <a:rPr lang="uk-UA" dirty="0" smtClean="0"/>
              <a:t>користувацьких </a:t>
            </a:r>
            <a:r>
              <a:rPr lang="uk-UA" dirty="0"/>
              <a:t>транзакцій і СУБД.</a:t>
            </a:r>
          </a:p>
        </p:txBody>
      </p:sp>
    </p:spTree>
    <p:extLst>
      <p:ext uri="{BB962C8B-B14F-4D97-AF65-F5344CB8AC3E}">
        <p14:creationId xmlns:p14="http://schemas.microsoft.com/office/powerpoint/2010/main" val="2933063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098" y="1139660"/>
            <a:ext cx="4701062" cy="99485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828" y="2262103"/>
            <a:ext cx="91321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інтерфейс визначається як точка доступу, в якій інфраструктурні сервіси, пропоновані вузлом, можуть бути доступні іншим вузлам і </a:t>
            </a:r>
            <a:r>
              <a:rPr lang="uk-UA" dirty="0" smtClean="0"/>
              <a:t>компонентам </a:t>
            </a:r>
            <a:r>
              <a:rPr lang="uk-UA" dirty="0"/>
              <a:t>додатків.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Інфраструктурний </a:t>
            </a:r>
            <a:r>
              <a:rPr lang="uk-UA" dirty="0"/>
              <a:t>інтерфейс можна розглядати як свого роду </a:t>
            </a:r>
            <a:r>
              <a:rPr lang="uk-UA" dirty="0" smtClean="0"/>
              <a:t>контракт, який </a:t>
            </a:r>
            <a:r>
              <a:rPr lang="uk-UA" dirty="0"/>
              <a:t>елемент інфраструктури, </a:t>
            </a:r>
            <a:r>
              <a:rPr lang="uk-UA" dirty="0" smtClean="0"/>
              <a:t>що реалізує </a:t>
            </a:r>
            <a:r>
              <a:rPr lang="uk-UA" dirty="0"/>
              <a:t>цей інтерфейс, </a:t>
            </a:r>
            <a:r>
              <a:rPr lang="uk-UA" dirty="0" smtClean="0"/>
              <a:t>повинен виконувати</a:t>
            </a:r>
            <a:r>
              <a:rPr lang="uk-UA" dirty="0"/>
              <a:t>. Він може включати певні параметри, </a:t>
            </a:r>
            <a:r>
              <a:rPr lang="uk-UA" dirty="0" smtClean="0"/>
              <a:t>протоколи, що використовуються, </a:t>
            </a:r>
            <a:r>
              <a:rPr lang="uk-UA" dirty="0"/>
              <a:t>перед- і пост-умови, формат даних.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інтерфейс визначає, яким чином </a:t>
            </a:r>
            <a:r>
              <a:rPr lang="uk-UA" dirty="0" smtClean="0"/>
              <a:t>інфраструктурні сервіси </a:t>
            </a:r>
            <a:r>
              <a:rPr lang="uk-UA" dirty="0"/>
              <a:t>вузла можуть бути доступні іншим вузлам </a:t>
            </a:r>
            <a:r>
              <a:rPr lang="uk-UA" dirty="0" smtClean="0"/>
              <a:t>(</a:t>
            </a:r>
            <a:r>
              <a:rPr lang="uk-UA" b="1" dirty="0" smtClean="0"/>
              <a:t>інтерфейс, що надається</a:t>
            </a:r>
            <a:r>
              <a:rPr lang="uk-UA" dirty="0" smtClean="0"/>
              <a:t>) </a:t>
            </a:r>
            <a:r>
              <a:rPr lang="uk-UA" dirty="0"/>
              <a:t>або яку функціональність вузол запитує від свого </a:t>
            </a:r>
            <a:r>
              <a:rPr lang="uk-UA" dirty="0" smtClean="0"/>
              <a:t>оточення (</a:t>
            </a:r>
            <a:r>
              <a:rPr lang="uk-UA" b="1" dirty="0" smtClean="0"/>
              <a:t>Запитуваний </a:t>
            </a:r>
            <a:r>
              <a:rPr lang="uk-UA" b="1" dirty="0"/>
              <a:t>інтерфейс</a:t>
            </a:r>
            <a:r>
              <a:rPr lang="uk-UA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може бути призначений інфраструктурного </a:t>
            </a:r>
            <a:r>
              <a:rPr lang="uk-UA" dirty="0" smtClean="0"/>
              <a:t>інтерфейсу, який </a:t>
            </a:r>
            <a:r>
              <a:rPr lang="uk-UA" dirty="0"/>
              <a:t>розкриває сервіс оточенню.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Інфраструктурний </a:t>
            </a:r>
            <a:r>
              <a:rPr lang="uk-UA" dirty="0"/>
              <a:t>сервіс може </a:t>
            </a:r>
            <a:r>
              <a:rPr lang="uk-UA" dirty="0" smtClean="0"/>
              <a:t>бути доступним </a:t>
            </a:r>
            <a:r>
              <a:rPr lang="uk-UA" dirty="0"/>
              <a:t>через різні інтерфейси.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іменник.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69980" y="99690"/>
            <a:ext cx="53987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інтерфейс 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4716966" y="1951463"/>
            <a:ext cx="423746" cy="24086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6188927" y="1951463"/>
            <a:ext cx="89210" cy="27097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246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078" y="947156"/>
            <a:ext cx="3200400" cy="344712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289756" y="0"/>
            <a:ext cx="7259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</a:t>
            </a:r>
            <a:r>
              <a:rPr lang="uk-UA" sz="3200" b="1" dirty="0" smtClean="0"/>
              <a:t>інтерфейс. Приклад 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68712" y="4495052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клієнтський інфраструктурний інтерфейс, який є частиною клієнт-серверного </a:t>
            </a:r>
            <a:r>
              <a:rPr lang="uk-UA" dirty="0" smtClean="0"/>
              <a:t>ПЗ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52903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328" y="1126272"/>
            <a:ext cx="4506271" cy="90407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00361" y="2166889"/>
            <a:ext cx="88986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Мережа визначається як комунікаційне середовище між двома або </a:t>
            </a:r>
            <a:r>
              <a:rPr lang="uk-UA" dirty="0" smtClean="0"/>
              <a:t>більше пристроями</a:t>
            </a:r>
            <a:r>
              <a:rPr lang="uk-UA" dirty="0"/>
              <a:t>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Мережа </a:t>
            </a:r>
            <a:r>
              <a:rPr lang="uk-UA" dirty="0"/>
              <a:t>втілює фізичну реалізацію комунікаційних з'єднань </a:t>
            </a:r>
            <a:r>
              <a:rPr lang="uk-UA" dirty="0" smtClean="0"/>
              <a:t>між вузлами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Базовою елементарною </a:t>
            </a:r>
            <a:r>
              <a:rPr lang="uk-UA" dirty="0"/>
              <a:t>мережею є єдине з'єднання між </a:t>
            </a:r>
            <a:r>
              <a:rPr lang="uk-UA" dirty="0" smtClean="0"/>
              <a:t>двома пристроями</a:t>
            </a:r>
            <a:r>
              <a:rPr lang="uk-UA" dirty="0"/>
              <a:t>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Властивості </a:t>
            </a:r>
            <a:r>
              <a:rPr lang="uk-UA" dirty="0"/>
              <a:t>мережі - це смуга пропускання і час очікування (затримка).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Мережа реалізує одну чи більше комунікаційних з'єднань.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Мережа може складатися з </a:t>
            </a:r>
            <a:r>
              <a:rPr lang="uk-UA" dirty="0" smtClean="0"/>
              <a:t>підмереж.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128116" y="0"/>
            <a:ext cx="17636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Мережа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22" y="4586865"/>
            <a:ext cx="5687122" cy="125389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021659" y="4586865"/>
            <a:ext cx="29773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локальна мережа продуктивністю 100 Мбіт / </a:t>
            </a:r>
            <a:r>
              <a:rPr lang="uk-UA" dirty="0" err="1"/>
              <a:t>сек</a:t>
            </a:r>
            <a:r>
              <a:rPr lang="uk-UA" dirty="0"/>
              <a:t> з'єднує</a:t>
            </a:r>
          </a:p>
          <a:p>
            <a:r>
              <a:rPr lang="uk-UA" dirty="0" err="1"/>
              <a:t>мейнфрейм</a:t>
            </a:r>
            <a:r>
              <a:rPr lang="uk-UA" dirty="0"/>
              <a:t> і настільний </a:t>
            </a:r>
            <a:r>
              <a:rPr lang="uk-UA" dirty="0" smtClean="0"/>
              <a:t>комп'ютер.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7715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800" y="1148575"/>
            <a:ext cx="4635659" cy="95503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22152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Комунікаційне з'єднання визначається </a:t>
            </a:r>
            <a:r>
              <a:rPr lang="uk-UA" dirty="0" smtClean="0"/>
              <a:t>як з'єднання між двома або </a:t>
            </a:r>
            <a:r>
              <a:rPr lang="uk-UA" dirty="0"/>
              <a:t>більш вузлами, за яким ці вузли можуть обмінюватися даними. </a:t>
            </a:r>
            <a:endParaRPr lang="uk-UA" dirty="0" smtClean="0"/>
          </a:p>
          <a:p>
            <a:r>
              <a:rPr lang="uk-UA" dirty="0" smtClean="0"/>
              <a:t>Комунікаційне </a:t>
            </a:r>
            <a:r>
              <a:rPr lang="uk-UA" dirty="0"/>
              <a:t>з'єднання використовується для моделювання відносин логічного зв'язку (комунікацій) між вузлами. </a:t>
            </a:r>
            <a:endParaRPr lang="uk-UA" dirty="0" smtClean="0"/>
          </a:p>
          <a:p>
            <a:r>
              <a:rPr lang="uk-UA" dirty="0" smtClean="0"/>
              <a:t>Комунікаційне </a:t>
            </a:r>
            <a:r>
              <a:rPr lang="uk-UA" dirty="0"/>
              <a:t>з'єднання реалізується однією або більше мережами, які представляють фізичні з'єднання.</a:t>
            </a:r>
          </a:p>
          <a:p>
            <a:r>
              <a:rPr lang="uk-UA" dirty="0"/>
              <a:t>Комунікаційні властивості (наприклад, смуга пропускання і час очікування)</a:t>
            </a:r>
          </a:p>
          <a:p>
            <a:r>
              <a:rPr lang="uk-UA" dirty="0"/>
              <a:t>комунікаційного з'єднання зазвичай є об'єднанням </a:t>
            </a:r>
            <a:r>
              <a:rPr lang="uk-UA" dirty="0" smtClean="0"/>
              <a:t>властивостей, що лежать </a:t>
            </a:r>
            <a:r>
              <a:rPr lang="uk-UA" dirty="0"/>
              <a:t>в їх основі мереж.</a:t>
            </a:r>
          </a:p>
          <a:p>
            <a:r>
              <a:rPr lang="uk-UA" dirty="0"/>
              <a:t>Комунікаційне з'єднання пов'язує два або більше вузлів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45584" y="130646"/>
            <a:ext cx="47888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Комунікаційне з'єднання </a:t>
            </a:r>
          </a:p>
        </p:txBody>
      </p:sp>
    </p:spTree>
    <p:extLst>
      <p:ext uri="{BB962C8B-B14F-4D97-AF65-F5344CB8AC3E}">
        <p14:creationId xmlns:p14="http://schemas.microsoft.com/office/powerpoint/2010/main" val="2949307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88384" y="0"/>
            <a:ext cx="65585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Комунікаційне </a:t>
            </a:r>
            <a:r>
              <a:rPr lang="uk-UA" sz="3200" b="1" dirty="0" smtClean="0"/>
              <a:t>з'єднання. Приклад 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41" y="1382752"/>
            <a:ext cx="7300676" cy="144965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15077" y="3307221"/>
            <a:ext cx="80957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 комунікаційне з'єднання «Черга повідомлень» між</a:t>
            </a:r>
          </a:p>
          <a:p>
            <a:r>
              <a:rPr lang="uk-UA" dirty="0"/>
              <a:t>вузлом «Сервер додатків» і вузлом «Клієнт»</a:t>
            </a:r>
          </a:p>
        </p:txBody>
      </p:sp>
    </p:spTree>
    <p:extLst>
      <p:ext uri="{BB962C8B-B14F-4D97-AF65-F5344CB8AC3E}">
        <p14:creationId xmlns:p14="http://schemas.microsoft.com/office/powerpoint/2010/main" val="1496066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02887" y="1355753"/>
            <a:ext cx="765149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Елементи </a:t>
            </a:r>
            <a:r>
              <a:rPr lang="uk-UA" dirty="0"/>
              <a:t>поведінки на технологічному рівні схожі на елементи поведінки</a:t>
            </a:r>
          </a:p>
          <a:p>
            <a:r>
              <a:rPr lang="uk-UA" dirty="0"/>
              <a:t>двох інших рівнів.</a:t>
            </a:r>
          </a:p>
          <a:p>
            <a:r>
              <a:rPr lang="uk-UA" dirty="0"/>
              <a:t>І тут розрізняють зовнішню поведінку вузлів у вигляді інфраструктурних </a:t>
            </a:r>
            <a:r>
              <a:rPr lang="uk-UA" dirty="0" smtClean="0"/>
              <a:t>сервісів і </a:t>
            </a:r>
            <a:r>
              <a:rPr lang="uk-UA" dirty="0"/>
              <a:t>внутрішнє поведінку цих вузлів у вигляді інфраструктурних </a:t>
            </a:r>
            <a:r>
              <a:rPr lang="uk-UA" dirty="0" smtClean="0"/>
              <a:t>функціоналів, які </a:t>
            </a:r>
            <a:r>
              <a:rPr lang="uk-UA" dirty="0"/>
              <a:t>реалізують ці сервіси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71325" y="137558"/>
            <a:ext cx="3851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Елементи поведінки</a:t>
            </a:r>
          </a:p>
        </p:txBody>
      </p:sp>
    </p:spTree>
    <p:extLst>
      <p:ext uri="{BB962C8B-B14F-4D97-AF65-F5344CB8AC3E}">
        <p14:creationId xmlns:p14="http://schemas.microsoft.com/office/powerpoint/2010/main" val="1385271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42" y="1003609"/>
            <a:ext cx="4337174" cy="124654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18721" y="2417417"/>
            <a:ext cx="865334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Інфраструктурний функціонал </a:t>
            </a:r>
            <a:r>
              <a:rPr lang="uk-UA" dirty="0" smtClean="0"/>
              <a:t>визначається </a:t>
            </a:r>
            <a:r>
              <a:rPr lang="uk-UA" dirty="0"/>
              <a:t>як елемент, </a:t>
            </a:r>
            <a:r>
              <a:rPr lang="uk-UA" dirty="0" smtClean="0"/>
              <a:t>що групує інфраструктурну </a:t>
            </a:r>
            <a:r>
              <a:rPr lang="uk-UA" dirty="0"/>
              <a:t>поведінку, </a:t>
            </a:r>
            <a:r>
              <a:rPr lang="uk-UA" dirty="0" smtClean="0"/>
              <a:t>яка </a:t>
            </a:r>
            <a:r>
              <a:rPr lang="uk-UA" dirty="0"/>
              <a:t>може бути </a:t>
            </a:r>
            <a:r>
              <a:rPr lang="uk-UA" dirty="0" smtClean="0"/>
              <a:t>виконана </a:t>
            </a:r>
            <a:r>
              <a:rPr lang="uk-UA" dirty="0"/>
              <a:t>вузлом.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Інфраструктурний </a:t>
            </a:r>
            <a:r>
              <a:rPr lang="uk-UA" dirty="0"/>
              <a:t>функціонал описує </a:t>
            </a:r>
            <a:r>
              <a:rPr lang="uk-UA" dirty="0" smtClean="0"/>
              <a:t>внутрішню </a:t>
            </a:r>
            <a:r>
              <a:rPr lang="uk-UA" dirty="0"/>
              <a:t>поведінку вузла.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Якщо це поведінка розкривається зовні, то це здійснюється через один </a:t>
            </a:r>
            <a:r>
              <a:rPr lang="uk-UA" dirty="0" smtClean="0"/>
              <a:t>або більше </a:t>
            </a:r>
            <a:r>
              <a:rPr lang="uk-UA" dirty="0"/>
              <a:t>інфраструктурних сервісів.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Інфраструктурний функціонал може реалізувати інфраструктурні сервіси.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Інфраструктурні сервіси інших інфраструктурних функціоналів можуть бути використані інфраструктурним функціоналом.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Інфраструктурний функціонал може мати доступ до артефактів.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/>
              <a:t>Вузол може бути призначений інфраструктурного функціоналу.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Бажана назва </a:t>
            </a:r>
            <a:r>
              <a:rPr lang="uk-UA" dirty="0"/>
              <a:t>елемента - віддієслівний іменник.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53247" y="42813"/>
            <a:ext cx="56949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функціонал </a:t>
            </a:r>
          </a:p>
        </p:txBody>
      </p:sp>
    </p:spTree>
    <p:extLst>
      <p:ext uri="{BB962C8B-B14F-4D97-AF65-F5344CB8AC3E}">
        <p14:creationId xmlns:p14="http://schemas.microsoft.com/office/powerpoint/2010/main" val="4279984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052" y="1003610"/>
            <a:ext cx="5763379" cy="384494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1513" y="1276579"/>
            <a:ext cx="305253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вузол «СУБД», який виконує два інфраструктурних</a:t>
            </a:r>
          </a:p>
          <a:p>
            <a:r>
              <a:rPr lang="uk-UA" dirty="0" smtClean="0"/>
              <a:t>функціонали: </a:t>
            </a:r>
          </a:p>
          <a:p>
            <a:r>
              <a:rPr lang="uk-UA" dirty="0" smtClean="0"/>
              <a:t>«</a:t>
            </a:r>
            <a:r>
              <a:rPr lang="uk-UA" dirty="0"/>
              <a:t>Забезпечення доступу до даних» і «Управління даними». </a:t>
            </a:r>
            <a:endParaRPr lang="uk-UA" dirty="0" smtClean="0"/>
          </a:p>
          <a:p>
            <a:r>
              <a:rPr lang="uk-UA" dirty="0" smtClean="0"/>
              <a:t>Ці </a:t>
            </a:r>
            <a:r>
              <a:rPr lang="uk-UA" dirty="0"/>
              <a:t>інфраструктурні функціонали реалізують два інфраструктурних </a:t>
            </a:r>
            <a:r>
              <a:rPr lang="uk-UA" dirty="0" smtClean="0"/>
              <a:t>сервісів:</a:t>
            </a:r>
            <a:endParaRPr lang="uk-UA" dirty="0"/>
          </a:p>
          <a:p>
            <a:r>
              <a:rPr lang="uk-UA" dirty="0"/>
              <a:t>«Сервіс доступу до даних» (для прикладного </a:t>
            </a:r>
            <a:r>
              <a:rPr lang="uk-UA" dirty="0" smtClean="0"/>
              <a:t>ПЗ) </a:t>
            </a:r>
            <a:r>
              <a:rPr lang="uk-UA" dirty="0"/>
              <a:t>і «Сервіс управління</a:t>
            </a:r>
          </a:p>
          <a:p>
            <a:r>
              <a:rPr lang="uk-UA" dirty="0" smtClean="0"/>
              <a:t>даними» (</a:t>
            </a:r>
            <a:r>
              <a:rPr lang="uk-UA" dirty="0"/>
              <a:t>для адміністрування БД).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7335" y="35876"/>
            <a:ext cx="75576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</a:t>
            </a:r>
            <a:r>
              <a:rPr lang="uk-UA" sz="3200" b="1" dirty="0" smtClean="0"/>
              <a:t>функціонал. Приклад 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3069398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66" y="1061438"/>
            <a:ext cx="4960687" cy="1055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11683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визначається як зовні видима </a:t>
            </a:r>
            <a:r>
              <a:rPr lang="uk-UA" dirty="0" smtClean="0"/>
              <a:t>одиниця функціональності</a:t>
            </a:r>
            <a:r>
              <a:rPr lang="uk-UA" dirty="0"/>
              <a:t>, забезпечена одним або більше вузлами, доступна через </a:t>
            </a:r>
            <a:r>
              <a:rPr lang="uk-UA" dirty="0" smtClean="0"/>
              <a:t>чітко визначені інтерфейси </a:t>
            </a:r>
            <a:r>
              <a:rPr lang="uk-UA" dirty="0"/>
              <a:t>і значуща для оточення.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Інфраструктурний </a:t>
            </a:r>
            <a:r>
              <a:rPr lang="uk-UA" dirty="0"/>
              <a:t>сервіс розкриває функціональність вузла його оточенню.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Ця функціональність доступна за допомогою одного або </a:t>
            </a:r>
            <a:r>
              <a:rPr lang="uk-UA" dirty="0" smtClean="0"/>
              <a:t>більше інфраструктурних </a:t>
            </a:r>
            <a:r>
              <a:rPr lang="uk-UA" dirty="0"/>
              <a:t>інтерфейсів.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надає одиницю функціональності, </a:t>
            </a:r>
            <a:r>
              <a:rPr lang="uk-UA" dirty="0" smtClean="0"/>
              <a:t>яка сама </a:t>
            </a:r>
            <a:r>
              <a:rPr lang="uk-UA" dirty="0"/>
              <a:t>по собі є корисною для користувачів, таких як, </a:t>
            </a:r>
            <a:r>
              <a:rPr lang="uk-UA" dirty="0" smtClean="0"/>
              <a:t>компоненти додатків </a:t>
            </a:r>
            <a:r>
              <a:rPr lang="uk-UA" dirty="0"/>
              <a:t>або вузли.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може бути використаний компонентами </a:t>
            </a:r>
            <a:r>
              <a:rPr lang="uk-UA" dirty="0" smtClean="0"/>
              <a:t>додатків або </a:t>
            </a:r>
            <a:r>
              <a:rPr lang="uk-UA" dirty="0"/>
              <a:t>вузлами.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Типові інфраструктурні сервіси можуть включати, наприклад, </a:t>
            </a:r>
            <a:r>
              <a:rPr lang="uk-UA" dirty="0" smtClean="0"/>
              <a:t>передачу повідомлень</a:t>
            </a:r>
            <a:r>
              <a:rPr lang="uk-UA" dirty="0"/>
              <a:t>, зберігання, іменування, службу каталогів.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може мати доступ до артефактів.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Інфраструктурний сервіс може складатися з </a:t>
            </a:r>
            <a:r>
              <a:rPr lang="uk-UA" dirty="0" err="1" smtClean="0"/>
              <a:t>підсервісів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віддієслівний іменник.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Також назва може явно містити слово «сервіс».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319835" y="86347"/>
            <a:ext cx="4678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сервіс </a:t>
            </a:r>
          </a:p>
        </p:txBody>
      </p:sp>
    </p:spTree>
    <p:extLst>
      <p:ext uri="{BB962C8B-B14F-4D97-AF65-F5344CB8AC3E}">
        <p14:creationId xmlns:p14="http://schemas.microsoft.com/office/powerpoint/2010/main" val="3847823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606157" y="133144"/>
            <a:ext cx="64481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Інфраструктурний </a:t>
            </a:r>
            <a:r>
              <a:rPr lang="uk-UA" sz="3200" b="1" dirty="0" smtClean="0"/>
              <a:t>сервіс. Приклад </a:t>
            </a:r>
            <a:endParaRPr lang="uk-UA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1025911"/>
            <a:ext cx="3046468" cy="35664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3991" y="1836378"/>
            <a:ext cx="41361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показано, що інфраструктурний сервіс «Сервіс повідомлень» реалізується системним </a:t>
            </a:r>
            <a:r>
              <a:rPr lang="uk-UA" dirty="0" smtClean="0"/>
              <a:t>ПЗ </a:t>
            </a:r>
            <a:r>
              <a:rPr lang="uk-UA" dirty="0"/>
              <a:t>«Сполучне </a:t>
            </a:r>
            <a:r>
              <a:rPr lang="uk-UA" dirty="0" smtClean="0"/>
              <a:t>ПЗ </a:t>
            </a:r>
            <a:r>
              <a:rPr lang="uk-UA" dirty="0"/>
              <a:t>передачі повідомлень» </a:t>
            </a:r>
          </a:p>
        </p:txBody>
      </p:sp>
    </p:spTree>
    <p:extLst>
      <p:ext uri="{BB962C8B-B14F-4D97-AF65-F5344CB8AC3E}">
        <p14:creationId xmlns:p14="http://schemas.microsoft.com/office/powerpoint/2010/main" val="4123780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638" y="1159726"/>
            <a:ext cx="4672361" cy="123216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269078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Артефакт </a:t>
            </a:r>
            <a:r>
              <a:rPr lang="uk-UA" dirty="0"/>
              <a:t>являє реальний, конкретний елемент у фізичному світі.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Він зазвичай використовується для моделювання таких сутностей реального світу, як вихідні і виконувані файли, таблиці БД, повідомлення, документи, специфікації і файли моделей.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Екземпляр артефакту </a:t>
            </a:r>
            <a:r>
              <a:rPr lang="uk-UA" dirty="0"/>
              <a:t>може бути розгорнутий на </a:t>
            </a:r>
            <a:r>
              <a:rPr lang="uk-UA" dirty="0" err="1"/>
              <a:t>вузлі</a:t>
            </a:r>
            <a:r>
              <a:rPr lang="uk-UA" dirty="0"/>
              <a:t>. </a:t>
            </a: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Вузол </a:t>
            </a:r>
            <a:r>
              <a:rPr lang="uk-UA" dirty="0"/>
              <a:t>може бути призначений артефакту.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Артефакт може складатися з </a:t>
            </a:r>
            <a:r>
              <a:rPr lang="uk-UA" dirty="0" err="1" smtClean="0"/>
              <a:t>підартефактів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Одним або більше </a:t>
            </a:r>
            <a:r>
              <a:rPr lang="uk-UA" dirty="0" smtClean="0"/>
              <a:t>артефактами </a:t>
            </a:r>
            <a:r>
              <a:rPr lang="uk-UA" dirty="0"/>
              <a:t>можуть бути реалізовані компонент додатків,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/>
              <a:t>системне </a:t>
            </a:r>
            <a:r>
              <a:rPr lang="uk-UA" dirty="0" smtClean="0"/>
              <a:t>ПЗ </a:t>
            </a:r>
            <a:r>
              <a:rPr lang="uk-UA" dirty="0"/>
              <a:t>або об'єкт даних.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uk-UA" dirty="0" smtClean="0"/>
              <a:t>Бажана назва </a:t>
            </a:r>
            <a:r>
              <a:rPr lang="uk-UA" dirty="0"/>
              <a:t>елемента - назва файлу, який він представляє, наприклад, «order.jar»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63342" y="107499"/>
            <a:ext cx="72165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/>
              <a:t>Пасивні структурні </a:t>
            </a:r>
            <a:r>
              <a:rPr lang="uk-UA" sz="3200" b="1" dirty="0" smtClean="0"/>
              <a:t>елементи. Артефакт</a:t>
            </a:r>
            <a:endParaRPr lang="uk-UA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032" y="103941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dirty="0"/>
              <a:t>Артефакт визначається як фізичний екземпляр даних, </a:t>
            </a:r>
            <a:r>
              <a:rPr lang="uk-UA" dirty="0" smtClean="0"/>
              <a:t>який використовується </a:t>
            </a:r>
            <a:r>
              <a:rPr lang="uk-UA" dirty="0"/>
              <a:t>або створюється в процесі розробки програмного забезпечення, </a:t>
            </a:r>
            <a:r>
              <a:rPr lang="uk-UA" dirty="0" smtClean="0"/>
              <a:t>а також </a:t>
            </a:r>
            <a:r>
              <a:rPr lang="uk-UA" dirty="0"/>
              <a:t>при розгортанні та функціонуванні системи</a:t>
            </a:r>
          </a:p>
        </p:txBody>
      </p:sp>
    </p:spTree>
    <p:extLst>
      <p:ext uri="{BB962C8B-B14F-4D97-AF65-F5344CB8AC3E}">
        <p14:creationId xmlns:p14="http://schemas.microsoft.com/office/powerpoint/2010/main" val="3628671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436" y="1739589"/>
            <a:ext cx="5198111" cy="123695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891323" y="110842"/>
            <a:ext cx="37080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smtClean="0"/>
              <a:t>Артефакт. Приклад 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14761" y="3509061"/>
            <a:ext cx="78058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прикладі показаний артефакт у вигляді виконуваного файлу «</a:t>
            </a:r>
            <a:r>
              <a:rPr lang="uk-UA" dirty="0" smtClean="0"/>
              <a:t>Ризик-менеджмент EJB </a:t>
            </a:r>
            <a:r>
              <a:rPr lang="uk-UA" dirty="0"/>
              <a:t>», який </a:t>
            </a:r>
            <a:r>
              <a:rPr lang="uk-UA" dirty="0" smtClean="0"/>
              <a:t>розгорнутий </a:t>
            </a:r>
            <a:r>
              <a:rPr lang="uk-UA" dirty="0"/>
              <a:t>на сервері додатків </a:t>
            </a:r>
            <a:r>
              <a:rPr lang="uk-UA" dirty="0" err="1"/>
              <a:t>Java</a:t>
            </a:r>
            <a:r>
              <a:rPr lang="uk-UA" dirty="0"/>
              <a:t> EE</a:t>
            </a:r>
          </a:p>
        </p:txBody>
      </p:sp>
    </p:spTree>
    <p:extLst>
      <p:ext uri="{BB962C8B-B14F-4D97-AF65-F5344CB8AC3E}">
        <p14:creationId xmlns:p14="http://schemas.microsoft.com/office/powerpoint/2010/main" val="2735981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894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6497" y="122663"/>
            <a:ext cx="5148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Case study</a:t>
            </a:r>
            <a:r>
              <a:rPr lang="uk-UA" sz="3200" b="1" dirty="0" smtClean="0"/>
              <a:t> для бізнес шару</a:t>
            </a:r>
            <a:endParaRPr lang="uk-UA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07438"/>
            <a:ext cx="9144000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600" dirty="0" smtClean="0"/>
              <a:t>Іван пропонує </a:t>
            </a:r>
            <a:r>
              <a:rPr lang="uk-UA" sz="1600" dirty="0"/>
              <a:t>екскурсійні </a:t>
            </a:r>
            <a:r>
              <a:rPr lang="uk-UA" sz="1600" dirty="0" smtClean="0"/>
              <a:t>рейси вертольотами </a:t>
            </a:r>
            <a:r>
              <a:rPr lang="uk-UA" sz="1600" dirty="0"/>
              <a:t>та плавзасобами для туристів, а також для зацікавлених місцевих </a:t>
            </a:r>
            <a:r>
              <a:rPr lang="uk-UA" sz="1600" dirty="0" smtClean="0"/>
              <a:t>жителів. Для цього він має парк літаків та обслуговуючий персонал. Він </a:t>
            </a:r>
            <a:r>
              <a:rPr lang="uk-UA" sz="1600" dirty="0"/>
              <a:t>побудував </a:t>
            </a:r>
            <a:r>
              <a:rPr lang="uk-UA" sz="1600" dirty="0" smtClean="0"/>
              <a:t>клієнтську базу, </a:t>
            </a:r>
            <a:r>
              <a:rPr lang="uk-UA" sz="1600" dirty="0"/>
              <a:t>має хороший </a:t>
            </a:r>
            <a:r>
              <a:rPr lang="uk-UA" sz="1600" dirty="0" smtClean="0"/>
              <a:t>запас інвентаря </a:t>
            </a:r>
            <a:r>
              <a:rPr lang="uk-UA" sz="1600" dirty="0"/>
              <a:t>та добре </a:t>
            </a:r>
            <a:r>
              <a:rPr lang="uk-UA" sz="1600" dirty="0" smtClean="0"/>
              <a:t>функціонуючу </a:t>
            </a:r>
            <a:r>
              <a:rPr lang="uk-UA" sz="1600" dirty="0"/>
              <a:t>організація з 20 працівниками </a:t>
            </a:r>
            <a:r>
              <a:rPr lang="uk-UA" sz="1600" dirty="0" smtClean="0"/>
              <a:t>(5 </a:t>
            </a:r>
            <a:r>
              <a:rPr lang="uk-UA" sz="1600" dirty="0"/>
              <a:t>механіків + 10 льотчиків + </a:t>
            </a:r>
            <a:r>
              <a:rPr lang="uk-UA" sz="1600" dirty="0" smtClean="0"/>
              <a:t>4 службовці </a:t>
            </a:r>
            <a:r>
              <a:rPr lang="uk-UA" sz="1600" dirty="0"/>
              <a:t>для роботи в офісі).</a:t>
            </a:r>
          </a:p>
          <a:p>
            <a:r>
              <a:rPr lang="uk-UA" sz="1600" dirty="0" smtClean="0"/>
              <a:t>Іван планує передати свій </a:t>
            </a:r>
            <a:r>
              <a:rPr lang="uk-UA" sz="1600" dirty="0"/>
              <a:t>бізнес </a:t>
            </a:r>
            <a:r>
              <a:rPr lang="uk-UA" sz="1600" dirty="0" smtClean="0"/>
              <a:t>сину Петру, який є випускником бізнес-школи. Петро </a:t>
            </a:r>
            <a:r>
              <a:rPr lang="uk-UA" sz="1600" dirty="0"/>
              <a:t>мріє керувати великою </a:t>
            </a:r>
            <a:r>
              <a:rPr lang="uk-UA" sz="1600" dirty="0" smtClean="0"/>
              <a:t>компанією. Після ретельного </a:t>
            </a:r>
            <a:r>
              <a:rPr lang="uk-UA" sz="1600" dirty="0"/>
              <a:t>вивчення бізнесу </a:t>
            </a:r>
            <a:r>
              <a:rPr lang="uk-UA" sz="1600" dirty="0" smtClean="0"/>
              <a:t>батька Петро вирішує розширити </a:t>
            </a:r>
            <a:r>
              <a:rPr lang="uk-UA" sz="1600" dirty="0"/>
              <a:t>бізнес і </a:t>
            </a:r>
            <a:r>
              <a:rPr lang="uk-UA" sz="1600" dirty="0" smtClean="0"/>
              <a:t>впровадити </a:t>
            </a:r>
            <a:r>
              <a:rPr lang="uk-UA" sz="1600" dirty="0"/>
              <a:t>нові </a:t>
            </a:r>
            <a:r>
              <a:rPr lang="uk-UA" sz="1600" dirty="0" smtClean="0"/>
              <a:t>послуги: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Екскурсійні рейси </a:t>
            </a:r>
            <a:r>
              <a:rPr lang="uk-UA" sz="1600" dirty="0"/>
              <a:t>залишаються з невеликими змінами.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Багатомовний </a:t>
            </a:r>
            <a:r>
              <a:rPr lang="uk-UA" sz="1600" dirty="0"/>
              <a:t>туристичний гід повинен покращити спілкування з туристами з-за кордону.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Замість </a:t>
            </a:r>
            <a:r>
              <a:rPr lang="uk-UA" sz="1600" dirty="0"/>
              <a:t>того, щоб ремонтувати тільки літаки, що належать компанії, Петро орендує ремонтний </a:t>
            </a:r>
            <a:r>
              <a:rPr lang="uk-UA" sz="1600" dirty="0" smtClean="0"/>
              <a:t>центр для тих ентузіастів, </a:t>
            </a:r>
            <a:r>
              <a:rPr lang="uk-UA" sz="1600" dirty="0"/>
              <a:t>які хочуть самостійно ремонтувати свої літаки.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Петро зосередиться </a:t>
            </a:r>
            <a:r>
              <a:rPr lang="uk-UA" sz="1600" dirty="0"/>
              <a:t>на старих літаках і </a:t>
            </a:r>
            <a:r>
              <a:rPr lang="uk-UA" sz="1600" dirty="0" smtClean="0"/>
              <a:t>запропонує посередницьке </a:t>
            </a:r>
            <a:r>
              <a:rPr lang="uk-UA" sz="1600" dirty="0"/>
              <a:t>обслуговування рідкісних деталей</a:t>
            </a:r>
            <a:r>
              <a:rPr lang="uk-UA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Буде </a:t>
            </a:r>
            <a:r>
              <a:rPr lang="uk-UA" sz="1600" dirty="0"/>
              <a:t>запропоновано три сервісні пакети (</a:t>
            </a:r>
            <a:r>
              <a:rPr lang="uk-UA" sz="1600" dirty="0" smtClean="0"/>
              <a:t>основний, «срібло», «золото») </a:t>
            </a:r>
            <a:r>
              <a:rPr lang="uk-UA" sz="1600" dirty="0"/>
              <a:t>для клієнтів з власними літаками.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Як </a:t>
            </a:r>
            <a:r>
              <a:rPr lang="uk-UA" sz="1600" dirty="0"/>
              <a:t>сервіс для клієнтів він забезпечить простір, машини та інструменти, а також експертизу двох механіків щогодини.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Нові </a:t>
            </a:r>
            <a:r>
              <a:rPr lang="uk-UA" sz="1600" dirty="0"/>
              <a:t>місця для зберігання забезпечать місце для зовнішніх літаків.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За </a:t>
            </a:r>
            <a:r>
              <a:rPr lang="uk-UA" sz="1600" dirty="0"/>
              <a:t>окрему плату приватні літальні апарати можуть бути залишені на складах компанії, що належать компанії. Ці клієнти також можуть використовувати </a:t>
            </a:r>
            <a:r>
              <a:rPr lang="uk-UA" sz="1600" dirty="0" smtClean="0"/>
              <a:t>злітно-посадкову </a:t>
            </a:r>
            <a:r>
              <a:rPr lang="uk-UA" sz="1600" dirty="0"/>
              <a:t>смугу для зльоту і посадки за зниженою ціною. </a:t>
            </a:r>
            <a:endParaRPr lang="uk-UA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Крім </a:t>
            </a:r>
            <a:r>
              <a:rPr lang="uk-UA" sz="1600" dirty="0"/>
              <a:t>того, пакет послуг розширюється за рахунок </a:t>
            </a:r>
            <a:r>
              <a:rPr lang="uk-UA" sz="1600" dirty="0" smtClean="0"/>
              <a:t>уроків польотів. Учителя, </a:t>
            </a:r>
            <a:r>
              <a:rPr lang="uk-UA" sz="1600" dirty="0"/>
              <a:t>який пояснює технологію літальних апаратів, а також правила дорожнього руху та проводить короткі навчальні польоти, можна щоденно забронювати.</a:t>
            </a:r>
          </a:p>
        </p:txBody>
      </p:sp>
    </p:spTree>
    <p:extLst>
      <p:ext uri="{BB962C8B-B14F-4D97-AF65-F5344CB8AC3E}">
        <p14:creationId xmlns:p14="http://schemas.microsoft.com/office/powerpoint/2010/main" val="170576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5337" y="0"/>
            <a:ext cx="52517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>
                <a:latin typeface="Arial Narrow" panose="020B0606020202030204" pitchFamily="34" charset="0"/>
              </a:rPr>
              <a:t>Задачі </a:t>
            </a:r>
            <a:r>
              <a:rPr lang="en-US" sz="3200" b="1" dirty="0" smtClean="0">
                <a:latin typeface="Arial Narrow" panose="020B0606020202030204" pitchFamily="34" charset="0"/>
              </a:rPr>
              <a:t>Case Study: </a:t>
            </a:r>
            <a:r>
              <a:rPr lang="uk-UA" sz="3200" b="1" dirty="0" smtClean="0">
                <a:latin typeface="Arial Narrow" panose="020B0606020202030204" pitchFamily="34" charset="0"/>
              </a:rPr>
              <a:t>Бізнес шар</a:t>
            </a:r>
            <a:endParaRPr lang="uk-UA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25191" y="1225502"/>
            <a:ext cx="733750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dirty="0" smtClean="0"/>
              <a:t>Створити бізнес-модель.</a:t>
            </a:r>
          </a:p>
          <a:p>
            <a:r>
              <a:rPr lang="uk-UA" dirty="0" smtClean="0"/>
              <a:t>1.1 Визначити бізнес-елементи</a:t>
            </a:r>
            <a:endParaRPr lang="uk-UA" dirty="0"/>
          </a:p>
          <a:p>
            <a:pPr marL="285750" indent="-285750">
              <a:buFontTx/>
              <a:buChar char="-"/>
            </a:pPr>
            <a:r>
              <a:rPr lang="uk-UA" dirty="0" smtClean="0"/>
              <a:t>актор,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Роль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Співпраця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Процес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Функція (функціонал)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Взаємодія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Подія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Сервіс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Продукт</a:t>
            </a:r>
          </a:p>
          <a:p>
            <a:r>
              <a:rPr lang="uk-UA" dirty="0" smtClean="0"/>
              <a:t>1.2 Здійснити моделювання бізнес-елементів.</a:t>
            </a:r>
            <a:endParaRPr lang="uk-UA" dirty="0"/>
          </a:p>
          <a:p>
            <a:r>
              <a:rPr lang="uk-UA" dirty="0" smtClean="0"/>
              <a:t>2. Визначити відношення між елементами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265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5666" y="983475"/>
            <a:ext cx="87314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 err="1"/>
              <a:t>Білінг</a:t>
            </a:r>
            <a:r>
              <a:rPr lang="uk-UA" sz="1600" dirty="0"/>
              <a:t> проводиться в межах організації співробітниками офісу. Існують різні способи для</a:t>
            </a:r>
          </a:p>
          <a:p>
            <a:r>
              <a:rPr lang="uk-UA" sz="1600" dirty="0"/>
              <a:t>фінансові операції. Загалом рахунки, створені організацією, надсилаються електронною поштою </a:t>
            </a:r>
            <a:r>
              <a:rPr lang="uk-UA" sz="1600" dirty="0" smtClean="0"/>
              <a:t>за цифровим підписом у форматі </a:t>
            </a:r>
            <a:r>
              <a:rPr lang="en-US" sz="1600" dirty="0" smtClean="0"/>
              <a:t>pdf</a:t>
            </a:r>
            <a:r>
              <a:rPr lang="uk-UA" sz="1600" dirty="0" smtClean="0"/>
              <a:t> </a:t>
            </a:r>
            <a:r>
              <a:rPr lang="uk-UA" sz="1600" dirty="0"/>
              <a:t>або поштовим способом із поштовим штемпелем. </a:t>
            </a:r>
            <a:endParaRPr lang="uk-UA" sz="1600" dirty="0" smtClean="0"/>
          </a:p>
          <a:p>
            <a:r>
              <a:rPr lang="uk-UA" sz="1600" dirty="0" smtClean="0"/>
              <a:t>Прямі </a:t>
            </a:r>
            <a:r>
              <a:rPr lang="uk-UA" sz="1600" dirty="0" err="1"/>
              <a:t>дебетування</a:t>
            </a:r>
            <a:r>
              <a:rPr lang="uk-UA" sz="1600" dirty="0"/>
              <a:t> використовуються для </a:t>
            </a:r>
            <a:r>
              <a:rPr lang="uk-UA" sz="1600" dirty="0" smtClean="0"/>
              <a:t>транзакцій між </a:t>
            </a:r>
            <a:r>
              <a:rPr lang="uk-UA" sz="1600" dirty="0"/>
              <a:t>компанією та постачальниками. </a:t>
            </a:r>
            <a:endParaRPr lang="uk-UA" sz="1600" dirty="0" smtClean="0"/>
          </a:p>
          <a:p>
            <a:r>
              <a:rPr lang="uk-UA" sz="1600" dirty="0" smtClean="0"/>
              <a:t>Клієнти </a:t>
            </a:r>
            <a:r>
              <a:rPr lang="uk-UA" sz="1600" dirty="0"/>
              <a:t>можуть або платити безпосередньо в </a:t>
            </a:r>
            <a:r>
              <a:rPr lang="uk-UA" sz="1600" dirty="0" smtClean="0"/>
              <a:t>офісі, який знаходиться </a:t>
            </a:r>
            <a:r>
              <a:rPr lang="uk-UA" sz="1600" dirty="0"/>
              <a:t>на території </a:t>
            </a:r>
            <a:r>
              <a:rPr lang="uk-UA" sz="1600" dirty="0" smtClean="0"/>
              <a:t>компанії, </a:t>
            </a:r>
            <a:r>
              <a:rPr lang="uk-UA" sz="1600" dirty="0"/>
              <a:t>або після отримання рахунку.</a:t>
            </a:r>
          </a:p>
          <a:p>
            <a:r>
              <a:rPr lang="uk-UA" sz="1600" dirty="0"/>
              <a:t>Компанія володіє веб-сайтом, який призначений переважно для рекламних цілей. </a:t>
            </a:r>
            <a:endParaRPr lang="uk-UA" sz="1600" dirty="0" smtClean="0"/>
          </a:p>
          <a:p>
            <a:r>
              <a:rPr lang="uk-UA" sz="1600" dirty="0" smtClean="0"/>
              <a:t>Петро хоче ввести </a:t>
            </a:r>
            <a:r>
              <a:rPr lang="uk-UA" sz="1600" dirty="0"/>
              <a:t>деякі розширення та </a:t>
            </a:r>
            <a:r>
              <a:rPr lang="uk-UA" sz="1600" dirty="0" smtClean="0"/>
              <a:t>нові функції</a:t>
            </a:r>
            <a:r>
              <a:rPr lang="uk-UA" sz="1600" dirty="0"/>
              <a:t>. </a:t>
            </a:r>
            <a:endParaRPr lang="uk-UA" sz="1600" dirty="0" smtClean="0"/>
          </a:p>
          <a:p>
            <a:r>
              <a:rPr lang="uk-UA" sz="1600" dirty="0" smtClean="0"/>
              <a:t>Веб-сайт </a:t>
            </a:r>
            <a:r>
              <a:rPr lang="uk-UA" sz="1600" dirty="0"/>
              <a:t>містить велику кількість інформації. </a:t>
            </a:r>
            <a:r>
              <a:rPr lang="uk-UA" sz="1600" dirty="0" smtClean="0"/>
              <a:t>Існує інформаційний </a:t>
            </a:r>
            <a:r>
              <a:rPr lang="uk-UA" sz="1600" dirty="0"/>
              <a:t>матеріал про компанію, пропоновані пакети та </a:t>
            </a:r>
            <a:r>
              <a:rPr lang="uk-UA" sz="1600" dirty="0" smtClean="0"/>
              <a:t>працівників. Петро хоче ввести система оцінювання клієнтами якість отриманих послуг.</a:t>
            </a:r>
            <a:endParaRPr lang="uk-UA" sz="1600" dirty="0"/>
          </a:p>
          <a:p>
            <a:r>
              <a:rPr lang="uk-UA" sz="1600" dirty="0" smtClean="0"/>
              <a:t>Існує </a:t>
            </a:r>
            <a:r>
              <a:rPr lang="uk-UA" sz="1600" dirty="0"/>
              <a:t>чотири способи замовити </a:t>
            </a:r>
            <a:r>
              <a:rPr lang="uk-UA" sz="1600" dirty="0" smtClean="0"/>
              <a:t>одну послугу </a:t>
            </a:r>
            <a:r>
              <a:rPr lang="uk-UA" sz="1600" dirty="0"/>
              <a:t>або запропонований пакет. </a:t>
            </a:r>
            <a:endParaRPr lang="uk-UA" sz="1600" dirty="0" smtClean="0"/>
          </a:p>
          <a:p>
            <a:pPr marL="342900" indent="-342900">
              <a:buAutoNum type="arabicPeriod"/>
            </a:pPr>
            <a:r>
              <a:rPr lang="uk-UA" sz="1600" dirty="0" smtClean="0"/>
              <a:t>Веб-сайт </a:t>
            </a:r>
            <a:r>
              <a:rPr lang="uk-UA" sz="1600" dirty="0"/>
              <a:t>пропонує онлайн-форму бронювання. </a:t>
            </a:r>
            <a:endParaRPr lang="uk-UA" sz="1600" dirty="0" smtClean="0"/>
          </a:p>
          <a:p>
            <a:pPr marL="342900" indent="-342900">
              <a:buAutoNum type="arabicPeriod"/>
            </a:pPr>
            <a:r>
              <a:rPr lang="uk-UA" sz="1600" dirty="0" smtClean="0"/>
              <a:t>Повідомлення поштою </a:t>
            </a:r>
            <a:r>
              <a:rPr lang="uk-UA" sz="1600" dirty="0"/>
              <a:t>може бути </a:t>
            </a:r>
            <a:r>
              <a:rPr lang="uk-UA" sz="1600" dirty="0" smtClean="0"/>
              <a:t>відправлене </a:t>
            </a:r>
            <a:r>
              <a:rPr lang="uk-UA" sz="1600" dirty="0"/>
              <a:t>​​</a:t>
            </a:r>
            <a:r>
              <a:rPr lang="uk-UA" sz="1600" dirty="0" smtClean="0"/>
              <a:t>компанії. 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Клієнти </a:t>
            </a:r>
            <a:r>
              <a:rPr lang="uk-UA" sz="1600" dirty="0"/>
              <a:t>можуть телефонувати по </a:t>
            </a:r>
            <a:r>
              <a:rPr lang="uk-UA" sz="1600" dirty="0" smtClean="0"/>
              <a:t>телефону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600" dirty="0" smtClean="0"/>
              <a:t>Клієнт </a:t>
            </a:r>
            <a:r>
              <a:rPr lang="uk-UA" sz="1600" dirty="0"/>
              <a:t>може відвідати офіс і отримати </a:t>
            </a:r>
            <a:r>
              <a:rPr lang="uk-UA" sz="1600" dirty="0" smtClean="0"/>
              <a:t>пораду для </a:t>
            </a:r>
            <a:r>
              <a:rPr lang="uk-UA" sz="1600" dirty="0"/>
              <a:t>вибору потрібного пакету безпосередньо </a:t>
            </a:r>
            <a:r>
              <a:rPr lang="uk-UA" sz="1600" dirty="0" smtClean="0"/>
              <a:t>у </a:t>
            </a:r>
            <a:r>
              <a:rPr lang="uk-UA" sz="1600" dirty="0"/>
              <a:t>персоналу.</a:t>
            </a:r>
          </a:p>
          <a:p>
            <a:r>
              <a:rPr lang="uk-UA" sz="1600" dirty="0"/>
              <a:t>Відносини з клієнтами були дуже важливими для </a:t>
            </a:r>
            <a:r>
              <a:rPr lang="uk-UA" sz="1600" dirty="0" smtClean="0"/>
              <a:t>Івана. </a:t>
            </a:r>
            <a:r>
              <a:rPr lang="uk-UA" sz="1600" dirty="0"/>
              <a:t>Тому у нього </a:t>
            </a:r>
            <a:r>
              <a:rPr lang="uk-UA" sz="1600" dirty="0" smtClean="0"/>
              <a:t>була картка клієнта для </a:t>
            </a:r>
            <a:r>
              <a:rPr lang="uk-UA" sz="1600" dirty="0"/>
              <a:t>кожного постійного клієнта. Петро хоче використати ці </a:t>
            </a:r>
            <a:r>
              <a:rPr lang="uk-UA" sz="1600" dirty="0" smtClean="0"/>
              <a:t>картки </a:t>
            </a:r>
            <a:r>
              <a:rPr lang="uk-UA" sz="1600" dirty="0"/>
              <a:t>для реклами та залишатися на </a:t>
            </a:r>
            <a:r>
              <a:rPr lang="uk-UA" sz="1600" dirty="0" smtClean="0"/>
              <a:t>зв'язку з клієнтами регулярно</a:t>
            </a:r>
            <a:r>
              <a:rPr lang="uk-UA" sz="1600" dirty="0"/>
              <a:t>. Щоб полегшити процес відправки реклами на кожну пошту або публікацію, </a:t>
            </a:r>
            <a:r>
              <a:rPr lang="uk-UA" sz="1600" dirty="0" smtClean="0"/>
              <a:t>картки клієнтів </a:t>
            </a:r>
            <a:r>
              <a:rPr lang="uk-UA" sz="1600" dirty="0" err="1" smtClean="0"/>
              <a:t>оцифруються</a:t>
            </a:r>
            <a:r>
              <a:rPr lang="uk-UA" sz="1600" dirty="0" smtClean="0"/>
              <a:t> </a:t>
            </a:r>
            <a:r>
              <a:rPr lang="uk-UA" sz="1600" dirty="0"/>
              <a:t>і дані </a:t>
            </a:r>
            <a:r>
              <a:rPr lang="uk-UA" sz="1600" dirty="0" smtClean="0"/>
              <a:t>розмістяться </a:t>
            </a:r>
            <a:r>
              <a:rPr lang="uk-UA" sz="1600" dirty="0"/>
              <a:t>в базі даних </a:t>
            </a:r>
            <a:r>
              <a:rPr lang="uk-UA" sz="1600" dirty="0" smtClean="0"/>
              <a:t>клієнтів.</a:t>
            </a:r>
            <a:endParaRPr lang="uk-UA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806497" y="122663"/>
            <a:ext cx="6310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Case study</a:t>
            </a:r>
            <a:r>
              <a:rPr lang="uk-UA" sz="3200" b="1" dirty="0" smtClean="0"/>
              <a:t>  для шару застосування</a:t>
            </a: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216524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5337" y="0"/>
            <a:ext cx="64556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 smtClean="0">
                <a:latin typeface="Arial Narrow" panose="020B0606020202030204" pitchFamily="34" charset="0"/>
              </a:rPr>
              <a:t>Задачі </a:t>
            </a:r>
            <a:r>
              <a:rPr lang="en-US" sz="3200" b="1" dirty="0" smtClean="0">
                <a:latin typeface="Arial Narrow" panose="020B0606020202030204" pitchFamily="34" charset="0"/>
              </a:rPr>
              <a:t>Case Study: </a:t>
            </a:r>
            <a:r>
              <a:rPr lang="uk-UA" sz="3200" b="1" dirty="0" smtClean="0">
                <a:latin typeface="Arial Narrow" panose="020B0606020202030204" pitchFamily="34" charset="0"/>
              </a:rPr>
              <a:t>шар застосування</a:t>
            </a:r>
            <a:endParaRPr lang="uk-UA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73043" y="1324081"/>
            <a:ext cx="64454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Створіть нову модель </a:t>
            </a:r>
            <a:r>
              <a:rPr lang="uk-UA" dirty="0" smtClean="0"/>
              <a:t>програми.</a:t>
            </a:r>
            <a:endParaRPr lang="uk-UA" dirty="0"/>
          </a:p>
          <a:p>
            <a:r>
              <a:rPr lang="uk-UA" dirty="0"/>
              <a:t>• </a:t>
            </a:r>
            <a:r>
              <a:rPr lang="uk-UA" dirty="0" smtClean="0"/>
              <a:t>Визначте елементи </a:t>
            </a:r>
            <a:r>
              <a:rPr lang="uk-UA" dirty="0"/>
              <a:t>програми: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співпраця,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Функція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Взаємодія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подія</a:t>
            </a:r>
            <a:endParaRPr lang="uk-UA" dirty="0"/>
          </a:p>
          <a:p>
            <a:pPr marL="285750" indent="-285750">
              <a:buFontTx/>
              <a:buChar char="-"/>
            </a:pPr>
            <a:r>
              <a:rPr lang="uk-UA" dirty="0" smtClean="0"/>
              <a:t>Сервіс </a:t>
            </a:r>
          </a:p>
          <a:p>
            <a:pPr marL="285750" indent="-285750">
              <a:buFontTx/>
              <a:buChar char="-"/>
            </a:pPr>
            <a:r>
              <a:rPr lang="uk-UA" dirty="0" smtClean="0"/>
              <a:t>об'єкт </a:t>
            </a:r>
            <a:r>
              <a:rPr lang="uk-UA" dirty="0"/>
              <a:t>даних, </a:t>
            </a:r>
            <a:endParaRPr lang="uk-UA" dirty="0" smtClean="0"/>
          </a:p>
          <a:p>
            <a:pPr marL="285750" indent="-285750">
              <a:buFontTx/>
              <a:buChar char="-"/>
            </a:pPr>
            <a:r>
              <a:rPr lang="uk-UA" dirty="0" smtClean="0"/>
              <a:t>Здійснити моделювання елементів програми.</a:t>
            </a:r>
            <a:endParaRPr lang="uk-UA" dirty="0"/>
          </a:p>
          <a:p>
            <a:r>
              <a:rPr lang="uk-UA" dirty="0"/>
              <a:t>• </a:t>
            </a:r>
            <a:r>
              <a:rPr lang="uk-UA" dirty="0" smtClean="0"/>
              <a:t>Визначте відношення між елементами програми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3614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9794" y="111511"/>
            <a:ext cx="6938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Case study</a:t>
            </a:r>
            <a:r>
              <a:rPr lang="uk-UA" sz="3200" b="1" dirty="0" smtClean="0"/>
              <a:t>  для технологічного шару </a:t>
            </a:r>
            <a:endParaRPr lang="uk-UA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" y="101739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Петро визначив </a:t>
            </a:r>
            <a:r>
              <a:rPr lang="uk-UA" dirty="0"/>
              <a:t>три бізнес-процеси, для яких він хотів би запропонувати </a:t>
            </a:r>
            <a:r>
              <a:rPr lang="uk-UA" dirty="0" smtClean="0"/>
              <a:t>три технологічні </a:t>
            </a:r>
            <a:r>
              <a:rPr lang="uk-UA" dirty="0"/>
              <a:t>послуги, а також необхідну ІТ-інфраструктуру (пристрої):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Використати </a:t>
            </a:r>
            <a:r>
              <a:rPr lang="uk-UA" dirty="0"/>
              <a:t>сервісну службу технології оплати (для того, щоб замовити або орендувати </a:t>
            </a:r>
            <a:r>
              <a:rPr lang="uk-UA" dirty="0" smtClean="0"/>
              <a:t>простір, машини </a:t>
            </a:r>
            <a:r>
              <a:rPr lang="uk-UA" dirty="0"/>
              <a:t>та персонал, а також випуск необхідних рахунків). </a:t>
            </a:r>
            <a:r>
              <a:rPr lang="uk-UA" dirty="0" smtClean="0"/>
              <a:t>Необхідна Інфраструктура </a:t>
            </a:r>
            <a:r>
              <a:rPr lang="uk-UA" dirty="0"/>
              <a:t>включає в себе 1 сервер, 2 тонких клієнтських комп'ютера, 1 ліцензія клієнт-сервер </a:t>
            </a:r>
            <a:r>
              <a:rPr lang="uk-UA" dirty="0" smtClean="0"/>
              <a:t>на технологічний </a:t>
            </a:r>
            <a:r>
              <a:rPr lang="uk-UA" dirty="0"/>
              <a:t>додаток з 1 сервером і 3 користувачами. Крім того, є </a:t>
            </a:r>
            <a:r>
              <a:rPr lang="uk-UA" dirty="0" smtClean="0"/>
              <a:t>потреба для </a:t>
            </a:r>
            <a:r>
              <a:rPr lang="uk-UA" dirty="0"/>
              <a:t>мережевого принтера.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Використати </a:t>
            </a:r>
            <a:r>
              <a:rPr lang="uk-UA" dirty="0"/>
              <a:t>робочу станцію </a:t>
            </a:r>
            <a:r>
              <a:rPr lang="uk-UA" dirty="0" smtClean="0"/>
              <a:t>у операційно-рахунковому підрозділі для </a:t>
            </a:r>
            <a:r>
              <a:rPr lang="uk-UA" dirty="0"/>
              <a:t>ведення </a:t>
            </a:r>
            <a:r>
              <a:rPr lang="uk-UA" dirty="0" smtClean="0"/>
              <a:t>бухгалтерського </a:t>
            </a:r>
            <a:r>
              <a:rPr lang="uk-UA" dirty="0"/>
              <a:t>обліку з </a:t>
            </a:r>
            <a:r>
              <a:rPr lang="uk-UA" dirty="0" smtClean="0"/>
              <a:t>відповідним технологічним сервісом. </a:t>
            </a:r>
            <a:r>
              <a:rPr lang="uk-UA" dirty="0"/>
              <a:t>Робоча станція має до нього приєднаний мережевий принтер.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Оформлення </a:t>
            </a:r>
            <a:r>
              <a:rPr lang="uk-UA" dirty="0"/>
              <a:t>рахунків та </a:t>
            </a:r>
            <a:r>
              <a:rPr lang="uk-UA" dirty="0" smtClean="0"/>
              <a:t>обмін </a:t>
            </a:r>
            <a:r>
              <a:rPr lang="uk-UA" dirty="0"/>
              <a:t>даними через інтерфейс.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У </a:t>
            </a:r>
            <a:r>
              <a:rPr lang="uk-UA" dirty="0"/>
              <a:t>сервісному центрі </a:t>
            </a:r>
            <a:r>
              <a:rPr lang="uk-UA" dirty="0" smtClean="0"/>
              <a:t>є </a:t>
            </a:r>
            <a:r>
              <a:rPr lang="uk-UA" dirty="0"/>
              <a:t>3 робочих місця, де </a:t>
            </a:r>
            <a:r>
              <a:rPr lang="uk-UA" dirty="0" smtClean="0"/>
              <a:t>працює система діагностики. </a:t>
            </a:r>
            <a:r>
              <a:rPr lang="uk-UA" dirty="0"/>
              <a:t>Вони мають 1 центральний принтер, де клієнти можуть надрукувати діагноз </a:t>
            </a:r>
            <a:r>
              <a:rPr lang="uk-UA" dirty="0" smtClean="0"/>
              <a:t>та обговорити його </a:t>
            </a:r>
            <a:r>
              <a:rPr lang="uk-UA" dirty="0"/>
              <a:t>з </a:t>
            </a:r>
            <a:r>
              <a:rPr lang="uk-UA" dirty="0" smtClean="0"/>
              <a:t>механіком. </a:t>
            </a:r>
            <a:r>
              <a:rPr lang="uk-UA" dirty="0"/>
              <a:t>Система діагностики використовується </a:t>
            </a:r>
            <a:r>
              <a:rPr lang="uk-UA" dirty="0" smtClean="0"/>
              <a:t>механіком і в якості самообслуговування для клієнтів.</a:t>
            </a:r>
            <a:endParaRPr lang="uk-UA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На </a:t>
            </a:r>
            <a:r>
              <a:rPr lang="uk-UA" dirty="0"/>
              <a:t>всіх робочих станціях можна використовувати базовий набір програм: офісні програми, </a:t>
            </a:r>
            <a:r>
              <a:rPr lang="uk-UA" dirty="0" smtClean="0"/>
              <a:t>планувальник, веб-браузер </a:t>
            </a:r>
            <a:r>
              <a:rPr lang="uk-UA" dirty="0"/>
              <a:t>і </a:t>
            </a:r>
            <a:r>
              <a:rPr lang="uk-UA" dirty="0" smtClean="0"/>
              <a:t>поштовий клієнт</a:t>
            </a:r>
            <a:r>
              <a:rPr lang="uk-UA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uk-UA" dirty="0" smtClean="0"/>
              <a:t>Використовуються </a:t>
            </a:r>
            <a:r>
              <a:rPr lang="uk-UA" dirty="0"/>
              <a:t>веб-технології маркетингу, </a:t>
            </a:r>
            <a:r>
              <a:rPr lang="uk-UA" dirty="0" smtClean="0"/>
              <a:t>наприклад, </a:t>
            </a:r>
            <a:r>
              <a:rPr lang="uk-UA" dirty="0"/>
              <a:t>веб-сайт. </a:t>
            </a:r>
            <a:r>
              <a:rPr lang="uk-UA" dirty="0" smtClean="0"/>
              <a:t>Забезпечуються необхідна інфраструктура </a:t>
            </a:r>
            <a:r>
              <a:rPr lang="uk-UA" dirty="0"/>
              <a:t>та </a:t>
            </a:r>
            <a:r>
              <a:rPr lang="uk-UA" dirty="0" smtClean="0"/>
              <a:t>веб-технології.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79328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84329" y="133144"/>
            <a:ext cx="64454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smtClean="0">
                <a:latin typeface="Arial Narrow" panose="020B0606020202030204" pitchFamily="34" charset="0"/>
              </a:rPr>
              <a:t>Задачі </a:t>
            </a:r>
            <a:r>
              <a:rPr lang="en-US" sz="3200" b="1" smtClean="0">
                <a:latin typeface="Arial Narrow" panose="020B0606020202030204" pitchFamily="34" charset="0"/>
              </a:rPr>
              <a:t>Case Study: Technology Layer</a:t>
            </a:r>
            <a:endParaRPr lang="uk-UA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82750" y="1263640"/>
            <a:ext cx="68580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• Створіть нову модель технології </a:t>
            </a:r>
          </a:p>
          <a:p>
            <a:r>
              <a:rPr lang="uk-UA" dirty="0" smtClean="0"/>
              <a:t>• Визначте </a:t>
            </a:r>
            <a:r>
              <a:rPr lang="uk-UA" dirty="0"/>
              <a:t>елементи технології:</a:t>
            </a:r>
          </a:p>
          <a:p>
            <a:r>
              <a:rPr lang="uk-UA" dirty="0"/>
              <a:t>- співпраця,</a:t>
            </a:r>
          </a:p>
          <a:p>
            <a:r>
              <a:rPr lang="uk-UA" dirty="0"/>
              <a:t>- функція</a:t>
            </a:r>
          </a:p>
          <a:p>
            <a:r>
              <a:rPr lang="uk-UA" dirty="0"/>
              <a:t>- взаємодія</a:t>
            </a:r>
          </a:p>
          <a:p>
            <a:r>
              <a:rPr lang="uk-UA" dirty="0"/>
              <a:t>- подія</a:t>
            </a:r>
          </a:p>
          <a:p>
            <a:r>
              <a:rPr lang="uk-UA" dirty="0"/>
              <a:t>- сервіс,</a:t>
            </a:r>
          </a:p>
          <a:p>
            <a:r>
              <a:rPr lang="uk-UA" dirty="0"/>
              <a:t>- пристрій</a:t>
            </a:r>
          </a:p>
          <a:p>
            <a:r>
              <a:rPr lang="uk-UA" dirty="0"/>
              <a:t>- </a:t>
            </a:r>
            <a:r>
              <a:rPr lang="uk-UA" dirty="0" smtClean="0"/>
              <a:t>шлях,.</a:t>
            </a:r>
            <a:endParaRPr lang="uk-UA" dirty="0"/>
          </a:p>
          <a:p>
            <a:r>
              <a:rPr lang="uk-UA" dirty="0"/>
              <a:t>• </a:t>
            </a:r>
            <a:r>
              <a:rPr lang="uk-UA" dirty="0" smtClean="0"/>
              <a:t>Визначте </a:t>
            </a:r>
            <a:r>
              <a:rPr lang="uk-UA" dirty="0"/>
              <a:t>відношення між елементами </a:t>
            </a:r>
            <a:r>
              <a:rPr lang="uk-UA" dirty="0" smtClean="0"/>
              <a:t>технологічного шару.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2455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388250"/>
            <a:ext cx="9143999" cy="70173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Dietz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Jan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Enterprise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ontology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pc="25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Springer</a:t>
            </a:r>
            <a:r>
              <a:rPr lang="uk-UA" spc="2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2006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Tool. </a:t>
            </a:r>
            <a:r>
              <a:rPr lang="en-US" dirty="0" err="1">
                <a:solidFill>
                  <a:prstClr val="black"/>
                </a:solidFill>
              </a:rPr>
              <a:t>Virsion</a:t>
            </a:r>
            <a:r>
              <a:rPr lang="en-US" dirty="0">
                <a:solidFill>
                  <a:prstClr val="black"/>
                </a:solidFill>
              </a:rPr>
              <a:t> 3.0. User Guide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 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2"/>
              </a:rPr>
              <a:t>http://www.archimatetool.com/downloads/latest/Archi%20User%20Guide.pdf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Archi – The Free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Modelling Tool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Phillip Beauvoir,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3"/>
              </a:rPr>
              <a:t>http://www.archimatetool.com/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2.1 Specification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4"/>
              </a:rPr>
              <a:t>https://www2.opengroup.org/ogsys/catalog/c13L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Welcome to TOGAF Version 9.1 Enterprise Edition  [</a:t>
            </a:r>
            <a:r>
              <a:rPr lang="ru-RU" dirty="0">
                <a:solidFill>
                  <a:prstClr val="black"/>
                </a:solidFill>
              </a:rPr>
              <a:t>Электронный ресурс] – </a:t>
            </a:r>
            <a:r>
              <a:rPr lang="en-US" dirty="0">
                <a:solidFill>
                  <a:prstClr val="black"/>
                </a:solidFill>
              </a:rPr>
              <a:t>The Open Group, 2014.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5"/>
              </a:rPr>
              <a:t>http://www.opengroup.org/togaf/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Левенчук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ru-RU" dirty="0" err="1">
                <a:solidFill>
                  <a:prstClr val="black"/>
                </a:solidFill>
              </a:rPr>
              <a:t>Архимейт</a:t>
            </a:r>
            <a:r>
              <a:rPr lang="ru-RU" dirty="0">
                <a:solidFill>
                  <a:prstClr val="black"/>
                </a:solidFill>
              </a:rPr>
              <a:t> по-русски. Организация работ людей, программ, оборудования.  [Электронный ресурс] – </a:t>
            </a:r>
            <a:r>
              <a:rPr lang="en-US" dirty="0">
                <a:solidFill>
                  <a:prstClr val="black"/>
                </a:solidFill>
              </a:rPr>
              <a:t>LiveJournal, </a:t>
            </a:r>
            <a:r>
              <a:rPr lang="en-US" dirty="0" err="1">
                <a:solidFill>
                  <a:prstClr val="black"/>
                </a:solidFill>
              </a:rPr>
              <a:t>Inc</a:t>
            </a:r>
            <a:r>
              <a:rPr lang="en-US" dirty="0">
                <a:solidFill>
                  <a:prstClr val="black"/>
                </a:solidFill>
              </a:rPr>
              <a:t>, 2012. – </a:t>
            </a:r>
            <a:r>
              <a:rPr lang="ru-RU" dirty="0">
                <a:solidFill>
                  <a:prstClr val="black"/>
                </a:solidFill>
              </a:rPr>
              <a:t>Режим доступа: </a:t>
            </a:r>
            <a:r>
              <a:rPr lang="en-US" u="sng" dirty="0">
                <a:solidFill>
                  <a:prstClr val="black"/>
                </a:solidFill>
                <a:hlinkClick r:id="rId6"/>
              </a:rPr>
              <a:t>http://ailev.livejournal.com/987391.html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uk-UA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Краткий обзор продукта </a:t>
            </a:r>
            <a:r>
              <a:rPr lang="en-US" dirty="0">
                <a:solidFill>
                  <a:prstClr val="black"/>
                </a:solidFill>
              </a:rPr>
              <a:t>Archi – </a:t>
            </a:r>
            <a:r>
              <a:rPr lang="en-US" dirty="0" err="1">
                <a:solidFill>
                  <a:prstClr val="black"/>
                </a:solidFill>
              </a:rPr>
              <a:t>ArchiMate</a:t>
            </a:r>
            <a:r>
              <a:rPr lang="en-US" dirty="0">
                <a:solidFill>
                  <a:prstClr val="black"/>
                </a:solidFill>
              </a:rPr>
              <a:t> [</a:t>
            </a:r>
            <a:r>
              <a:rPr lang="ru-RU" dirty="0">
                <a:solidFill>
                  <a:prstClr val="black"/>
                </a:solidFill>
              </a:rPr>
              <a:t>Электронный ресурс] – Холдинг РБК, 2012. – Режим доступа:  </a:t>
            </a:r>
            <a:r>
              <a:rPr lang="en-US" u="sng" dirty="0">
                <a:solidFill>
                  <a:prstClr val="black"/>
                </a:solidFill>
                <a:hlinkClick r:id="rId7"/>
              </a:rPr>
              <a:t>http://club.cnews.ru/blogs/entry/kratkij_obzor_produkta_archi_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А. </a:t>
            </a:r>
            <a:r>
              <a:rPr lang="ru-RU" dirty="0" err="1">
                <a:solidFill>
                  <a:prstClr val="black"/>
                </a:solidFill>
              </a:rPr>
              <a:t>Коптелов</a:t>
            </a:r>
            <a:r>
              <a:rPr lang="ru-RU" dirty="0">
                <a:solidFill>
                  <a:prstClr val="black"/>
                </a:solidFill>
              </a:rPr>
              <a:t>. Инструменты </a:t>
            </a:r>
            <a:r>
              <a:rPr lang="en-US" dirty="0">
                <a:solidFill>
                  <a:prstClr val="black"/>
                </a:solidFill>
              </a:rPr>
              <a:t>Enterprise Architecture: </a:t>
            </a:r>
            <a:r>
              <a:rPr lang="ru-RU" dirty="0">
                <a:solidFill>
                  <a:prstClr val="black"/>
                </a:solidFill>
              </a:rPr>
              <a:t>что пригодно для России? [Электронный ресурс] – Холдинг РБК, 2012. – Режим доступа:     </a:t>
            </a:r>
            <a:br>
              <a:rPr lang="ru-RU" dirty="0">
                <a:solidFill>
                  <a:prstClr val="black"/>
                </a:solidFill>
              </a:rPr>
            </a:br>
            <a:r>
              <a:rPr lang="en-US" u="sng" dirty="0">
                <a:solidFill>
                  <a:prstClr val="black"/>
                </a:solidFill>
                <a:hlinkClick r:id="rId8"/>
              </a:rPr>
              <a:t>http://pda.cnews.ru/reviews/index.shtml?2012/06/21/493807</a:t>
            </a:r>
            <a:r>
              <a:rPr lang="en-US" dirty="0">
                <a:solidFill>
                  <a:prstClr val="black"/>
                </a:solidFill>
              </a:rPr>
              <a:t> 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err="1">
                <a:solidFill>
                  <a:srgbClr val="242F33"/>
                </a:solidFill>
              </a:rPr>
              <a:t>Архимейт</a:t>
            </a:r>
            <a:r>
              <a:rPr lang="ru-RU" dirty="0">
                <a:solidFill>
                  <a:srgbClr val="242F33"/>
                </a:solidFill>
              </a:rPr>
              <a:t> по-русски: опубликована русификация </a:t>
            </a:r>
            <a:r>
              <a:rPr lang="ru-RU" dirty="0" err="1">
                <a:solidFill>
                  <a:srgbClr val="242F33"/>
                </a:solidFill>
              </a:rPr>
              <a:t>Archi</a:t>
            </a:r>
            <a:r>
              <a:rPr lang="ru-RU" dirty="0">
                <a:solidFill>
                  <a:srgbClr val="242F33"/>
                </a:solidFill>
              </a:rPr>
              <a:t>. </a:t>
            </a:r>
            <a:r>
              <a:rPr lang="en-US" dirty="0">
                <a:solidFill>
                  <a:srgbClr val="242F33"/>
                </a:solidFill>
                <a:hlinkClick r:id="rId9"/>
              </a:rPr>
              <a:t>https://ailev.livejournal.com/988360.html</a:t>
            </a:r>
            <a:endParaRPr lang="uk-UA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prstClr val="black"/>
                </a:solidFill>
              </a:rPr>
              <a:t>Основы языка моделирования архитектуры предприятия </a:t>
            </a:r>
            <a:r>
              <a:rPr lang="ru-RU" dirty="0" err="1">
                <a:solidFill>
                  <a:prstClr val="black"/>
                </a:solidFill>
              </a:rPr>
              <a:t>ArchiMate</a:t>
            </a:r>
            <a:r>
              <a:rPr lang="ru-RU" dirty="0">
                <a:solidFill>
                  <a:prstClr val="black"/>
                </a:solidFill>
              </a:rPr>
              <a:t>. </a:t>
            </a:r>
            <a:r>
              <a:rPr lang="en-US" dirty="0">
                <a:solidFill>
                  <a:prstClr val="black"/>
                </a:solidFill>
                <a:hlinkClick r:id="rId10"/>
              </a:rPr>
              <a:t>https://www.cfin.ru/itm/EA_ArchiMate.shtml</a:t>
            </a:r>
            <a:r>
              <a:rPr lang="uk-UA" dirty="0">
                <a:solidFill>
                  <a:prstClr val="black"/>
                </a:solidFill>
              </a:rPr>
              <a:t> </a:t>
            </a:r>
            <a:endParaRPr lang="ru-RU" dirty="0">
              <a:solidFill>
                <a:prstClr val="black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ru-RU" dirty="0">
              <a:solidFill>
                <a:srgbClr val="242F33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endParaRPr lang="uk-UA" spc="25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8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61005" y="1452110"/>
            <a:ext cx="446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https://www.cfin.ru/itm/EA_ArchiMate.shtml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61005" y="1959787"/>
            <a:ext cx="5626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https://www.cfin.ru/itm/EA_ArchiMate-lecture_4.pdf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1005" y="2467464"/>
            <a:ext cx="4107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https://ailev.livejournal.com/988360.html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61005" y="3195566"/>
            <a:ext cx="330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https://www.archimatetool.com/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8047" y="3776395"/>
            <a:ext cx="8402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http://dthomas-software.co.uk/course/online-archimate-training-introduction-to-archimate/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8046" y="4550509"/>
            <a:ext cx="8738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https://zapdoc.tips/togaf-framework-and-archimate-modeling-language-harmonizatio.html</a:t>
            </a:r>
            <a:endParaRPr lang="uk-UA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45008" y="5058186"/>
            <a:ext cx="8430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https</a:t>
            </a:r>
            <a:r>
              <a:rPr lang="uk-UA" smtClean="0"/>
              <a:t>://play.google.com/books/reader?id=SHBZDwAAQBAJ&amp;hl=uk&amp;printsec=frontcover&amp;pg=GBS.PA1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497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1061</TotalTime>
  <Words>2307</Words>
  <Application>Microsoft Office PowerPoint</Application>
  <PresentationFormat>Экран (4:3)</PresentationFormat>
  <Paragraphs>271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37</vt:i4>
      </vt:variant>
    </vt:vector>
  </HeadingPairs>
  <TitlesOfParts>
    <vt:vector size="46" baseType="lpstr">
      <vt:lpstr>Arial</vt:lpstr>
      <vt:lpstr>Arial Narrow</vt:lpstr>
      <vt:lpstr>Arial-BoldMT</vt:lpstr>
      <vt:lpstr>Calibri</vt:lpstr>
      <vt:lpstr>Calibri Light</vt:lpstr>
      <vt:lpstr>Times New Roman</vt:lpstr>
      <vt:lpstr>Wingdings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77</cp:revision>
  <dcterms:created xsi:type="dcterms:W3CDTF">2018-10-07T16:38:26Z</dcterms:created>
  <dcterms:modified xsi:type="dcterms:W3CDTF">2019-05-15T06:40:45Z</dcterms:modified>
</cp:coreProperties>
</file>