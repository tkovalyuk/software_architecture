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  <p:sldMasterId id="2147483727" r:id="rId2"/>
  </p:sldMasterIdLst>
  <p:sldIdLst>
    <p:sldId id="293" r:id="rId3"/>
    <p:sldId id="294" r:id="rId4"/>
    <p:sldId id="286" r:id="rId5"/>
    <p:sldId id="295" r:id="rId6"/>
    <p:sldId id="296" r:id="rId7"/>
    <p:sldId id="263" r:id="rId8"/>
    <p:sldId id="264" r:id="rId9"/>
    <p:sldId id="297" r:id="rId10"/>
    <p:sldId id="298" r:id="rId11"/>
    <p:sldId id="260" r:id="rId12"/>
    <p:sldId id="265" r:id="rId13"/>
    <p:sldId id="257" r:id="rId14"/>
    <p:sldId id="258" r:id="rId15"/>
    <p:sldId id="259" r:id="rId16"/>
    <p:sldId id="261" r:id="rId17"/>
    <p:sldId id="299" r:id="rId18"/>
    <p:sldId id="274" r:id="rId19"/>
    <p:sldId id="273" r:id="rId20"/>
    <p:sldId id="300" r:id="rId21"/>
    <p:sldId id="276" r:id="rId22"/>
    <p:sldId id="277" r:id="rId23"/>
    <p:sldId id="279" r:id="rId24"/>
    <p:sldId id="280" r:id="rId25"/>
    <p:sldId id="281" r:id="rId26"/>
    <p:sldId id="282" r:id="rId27"/>
    <p:sldId id="301" r:id="rId28"/>
    <p:sldId id="283" r:id="rId29"/>
    <p:sldId id="284" r:id="rId30"/>
    <p:sldId id="278" r:id="rId31"/>
    <p:sldId id="302" r:id="rId32"/>
  </p:sldIdLst>
  <p:sldSz cx="9144000" cy="6858000" type="screen4x3"/>
  <p:notesSz cx="6858000" cy="9144000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41" autoAdjust="0"/>
    <p:restoredTop sz="94660"/>
  </p:normalViewPr>
  <p:slideViewPr>
    <p:cSldViewPr>
      <p:cViewPr varScale="1">
        <p:scale>
          <a:sx n="75" d="100"/>
          <a:sy n="75" d="100"/>
        </p:scale>
        <p:origin x="108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71" name="Picture 1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175" y="-28575"/>
            <a:ext cx="9150175" cy="688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" name="Місце для номера слайда 5"/>
          <p:cNvSpPr txBox="1">
            <a:spLocks/>
          </p:cNvSpPr>
          <p:nvPr userDrawn="1"/>
        </p:nvSpPr>
        <p:spPr>
          <a:xfrm>
            <a:off x="8413576" y="6489612"/>
            <a:ext cx="730424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eaLnBrk="1" hangingPunct="1"/>
            <a:fld id="{12F9CDCF-F794-4D81-8381-19EA34B04F24}" type="slidenum">
              <a:rPr lang="ru-RU" sz="1600" smtClean="0">
                <a:solidFill>
                  <a:srgbClr val="000000"/>
                </a:solidFill>
              </a:rPr>
              <a:pPr eaLnBrk="1" hangingPunct="1"/>
              <a:t>‹#›</a:t>
            </a:fld>
            <a:endParaRPr lang="ru-RU" sz="1600" dirty="0">
              <a:solidFill>
                <a:srgbClr val="000000"/>
              </a:solidFill>
            </a:endParaRPr>
          </a:p>
        </p:txBody>
      </p:sp>
      <p:sp>
        <p:nvSpPr>
          <p:cNvPr id="33" name="TextBox 58"/>
          <p:cNvSpPr txBox="1">
            <a:spLocks noChangeArrowheads="1"/>
          </p:cNvSpPr>
          <p:nvPr userDrawn="1"/>
        </p:nvSpPr>
        <p:spPr bwMode="auto">
          <a:xfrm flipH="1">
            <a:off x="5364088" y="6534855"/>
            <a:ext cx="272097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uk-UA" sz="1200" dirty="0">
                <a:solidFill>
                  <a:srgbClr val="000000"/>
                </a:solidFill>
                <a:latin typeface="Arial" charset="0"/>
              </a:rPr>
              <a:t>Т.В. Ковалюк Проектування ПЗ</a:t>
            </a:r>
            <a:endParaRPr lang="ru-RU" sz="1200" dirty="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4357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71" name="Picture 1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175" y="-28575"/>
            <a:ext cx="9150175" cy="688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" name="Місце для номера слайда 5"/>
          <p:cNvSpPr txBox="1">
            <a:spLocks/>
          </p:cNvSpPr>
          <p:nvPr userDrawn="1"/>
        </p:nvSpPr>
        <p:spPr>
          <a:xfrm>
            <a:off x="8413576" y="6489612"/>
            <a:ext cx="730424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eaLnBrk="1" hangingPunct="1"/>
            <a:fld id="{12F9CDCF-F794-4D81-8381-19EA34B04F24}" type="slidenum">
              <a:rPr lang="ru-RU" sz="1600" smtClean="0">
                <a:solidFill>
                  <a:srgbClr val="000000"/>
                </a:solidFill>
              </a:rPr>
              <a:pPr eaLnBrk="1" hangingPunct="1"/>
              <a:t>‹#›</a:t>
            </a:fld>
            <a:endParaRPr lang="ru-RU" sz="1600" dirty="0">
              <a:solidFill>
                <a:srgbClr val="000000"/>
              </a:solidFill>
            </a:endParaRPr>
          </a:p>
        </p:txBody>
      </p:sp>
      <p:sp>
        <p:nvSpPr>
          <p:cNvPr id="33" name="TextBox 58"/>
          <p:cNvSpPr txBox="1">
            <a:spLocks noChangeArrowheads="1"/>
          </p:cNvSpPr>
          <p:nvPr userDrawn="1"/>
        </p:nvSpPr>
        <p:spPr bwMode="auto">
          <a:xfrm flipH="1">
            <a:off x="5364088" y="6534855"/>
            <a:ext cx="272097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uk-UA" sz="1200" dirty="0">
                <a:solidFill>
                  <a:srgbClr val="000000"/>
                </a:solidFill>
                <a:latin typeface="Arial" charset="0"/>
              </a:rPr>
              <a:t>Т.В. Ковалюк Проектування ПЗ</a:t>
            </a:r>
            <a:endParaRPr lang="ru-RU" sz="1200" dirty="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8598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1.v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2.vm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oleObject" Target="../embeddings/oleObject2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45"/>
          <p:cNvGraphicFramePr>
            <a:graphicFrameLocks noChangeAspect="1"/>
          </p:cNvGraphicFramePr>
          <p:nvPr/>
        </p:nvGraphicFramePr>
        <p:xfrm>
          <a:off x="0" y="6381750"/>
          <a:ext cx="91440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2" name="Фотография Photo Editor" r:id="rId4" imgW="1828571" imgH="1047619" progId="">
                  <p:embed/>
                </p:oleObj>
              </mc:Choice>
              <mc:Fallback>
                <p:oleObj name="Фотография Photo Editor" r:id="rId4" imgW="1828571" imgH="1047619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81750"/>
                        <a:ext cx="914400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7" name="Группа 6"/>
          <p:cNvGrpSpPr>
            <a:grpSpLocks/>
          </p:cNvGrpSpPr>
          <p:nvPr/>
        </p:nvGrpSpPr>
        <p:grpSpPr bwMode="auto">
          <a:xfrm>
            <a:off x="0" y="0"/>
            <a:ext cx="9144000" cy="2078038"/>
            <a:chOff x="-4" y="0"/>
            <a:chExt cx="9144003" cy="2078019"/>
          </a:xfrm>
        </p:grpSpPr>
        <p:grpSp>
          <p:nvGrpSpPr>
            <p:cNvPr id="1033" name="Группа 66"/>
            <p:cNvGrpSpPr>
              <a:grpSpLocks/>
            </p:cNvGrpSpPr>
            <p:nvPr/>
          </p:nvGrpSpPr>
          <p:grpSpPr bwMode="auto">
            <a:xfrm>
              <a:off x="-4" y="0"/>
              <a:ext cx="3111501" cy="1384272"/>
              <a:chOff x="-4" y="0"/>
              <a:chExt cx="3111501" cy="1384272"/>
            </a:xfrm>
          </p:grpSpPr>
          <p:sp>
            <p:nvSpPr>
              <p:cNvPr id="24" name="Прямоугольник 23"/>
              <p:cNvSpPr/>
              <p:nvPr/>
            </p:nvSpPr>
            <p:spPr>
              <a:xfrm flipH="1">
                <a:off x="-4" y="0"/>
                <a:ext cx="3111501" cy="687382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  <a:alpha val="27000"/>
                    </a:schemeClr>
                  </a:gs>
                  <a:gs pos="100000">
                    <a:schemeClr val="accent1">
                      <a:tint val="23500"/>
                      <a:satMod val="160000"/>
                      <a:alpha val="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uk-UA">
                  <a:solidFill>
                    <a:srgbClr val="FFFFFF"/>
                  </a:solidFill>
                </a:endParaRPr>
              </a:p>
            </p:txBody>
          </p:sp>
          <p:sp>
            <p:nvSpPr>
              <p:cNvPr id="25" name="Прямоугольник 24"/>
              <p:cNvSpPr/>
              <p:nvPr/>
            </p:nvSpPr>
            <p:spPr>
              <a:xfrm flipH="1">
                <a:off x="-4" y="681897"/>
                <a:ext cx="3020162" cy="702375"/>
              </a:xfrm>
              <a:prstGeom prst="rect">
                <a:avLst/>
              </a:prstGeom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  <a:alpha val="48000"/>
                    </a:srgbClr>
                  </a:gs>
                  <a:gs pos="100000">
                    <a:srgbClr val="FFFF00">
                      <a:tint val="23500"/>
                      <a:satMod val="160000"/>
                      <a:alpha val="0"/>
                    </a:srgbClr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uk-UA">
                  <a:solidFill>
                    <a:srgbClr val="FFFFFF"/>
                  </a:solidFill>
                </a:endParaRPr>
              </a:p>
            </p:txBody>
          </p:sp>
          <p:sp>
            <p:nvSpPr>
              <p:cNvPr id="26" name="Прямоугольник 25"/>
              <p:cNvSpPr/>
              <p:nvPr/>
            </p:nvSpPr>
            <p:spPr>
              <a:xfrm flipH="1">
                <a:off x="500059" y="0"/>
                <a:ext cx="487362" cy="1362062"/>
              </a:xfrm>
              <a:prstGeom prst="rect">
                <a:avLst/>
              </a:prstGeom>
              <a:gradFill flip="none" rotWithShape="1">
                <a:gsLst>
                  <a:gs pos="0">
                    <a:schemeClr val="tx1">
                      <a:alpha val="0"/>
                    </a:schemeClr>
                  </a:gs>
                  <a:gs pos="50000">
                    <a:schemeClr val="tx1">
                      <a:alpha val="7000"/>
                    </a:schemeClr>
                  </a:gs>
                  <a:gs pos="100000">
                    <a:schemeClr val="tx1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uk-UA">
                  <a:solidFill>
                    <a:srgbClr val="FFFFFF"/>
                  </a:solidFill>
                </a:endParaRPr>
              </a:p>
            </p:txBody>
          </p:sp>
          <p:sp>
            <p:nvSpPr>
              <p:cNvPr id="27" name="Прямоугольник 26"/>
              <p:cNvSpPr/>
              <p:nvPr/>
            </p:nvSpPr>
            <p:spPr>
              <a:xfrm flipH="1">
                <a:off x="706434" y="0"/>
                <a:ext cx="579437" cy="1362062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alpha val="0"/>
                    </a:schemeClr>
                  </a:gs>
                  <a:gs pos="50000">
                    <a:schemeClr val="bg1">
                      <a:alpha val="46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uk-UA">
                  <a:solidFill>
                    <a:srgbClr val="FFFFFF"/>
                  </a:solidFill>
                </a:endParaRPr>
              </a:p>
            </p:txBody>
          </p:sp>
          <p:sp>
            <p:nvSpPr>
              <p:cNvPr id="28" name="Прямоугольник 27"/>
              <p:cNvSpPr/>
              <p:nvPr/>
            </p:nvSpPr>
            <p:spPr>
              <a:xfrm flipH="1">
                <a:off x="2076447" y="0"/>
                <a:ext cx="487363" cy="1362062"/>
              </a:xfrm>
              <a:prstGeom prst="rect">
                <a:avLst/>
              </a:prstGeom>
              <a:gradFill flip="none" rotWithShape="1">
                <a:gsLst>
                  <a:gs pos="0">
                    <a:schemeClr val="tx1">
                      <a:alpha val="0"/>
                    </a:schemeClr>
                  </a:gs>
                  <a:gs pos="50000">
                    <a:schemeClr val="tx1">
                      <a:alpha val="2000"/>
                    </a:schemeClr>
                  </a:gs>
                  <a:gs pos="100000">
                    <a:schemeClr val="tx1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uk-UA">
                  <a:solidFill>
                    <a:srgbClr val="FFFFFF"/>
                  </a:solidFill>
                </a:endParaRPr>
              </a:p>
            </p:txBody>
          </p:sp>
          <p:sp>
            <p:nvSpPr>
              <p:cNvPr id="29" name="Прямоугольник 28"/>
              <p:cNvSpPr/>
              <p:nvPr/>
            </p:nvSpPr>
            <p:spPr>
              <a:xfrm flipH="1">
                <a:off x="1741485" y="0"/>
                <a:ext cx="577850" cy="1362062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alpha val="0"/>
                    </a:schemeClr>
                  </a:gs>
                  <a:gs pos="50000">
                    <a:schemeClr val="bg1">
                      <a:alpha val="35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uk-UA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9" name="Прямоугольник с двумя скругленными противолежащими углами 8"/>
            <p:cNvSpPr/>
            <p:nvPr/>
          </p:nvSpPr>
          <p:spPr>
            <a:xfrm>
              <a:off x="1504946" y="288922"/>
              <a:ext cx="7639053" cy="1789097"/>
            </a:xfrm>
            <a:prstGeom prst="round2DiagRect">
              <a:avLst>
                <a:gd name="adj1" fmla="val 37223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uk-UA">
                <a:solidFill>
                  <a:srgbClr val="FFFFFF"/>
                </a:solidFill>
              </a:endParaRPr>
            </a:p>
          </p:txBody>
        </p:sp>
        <p:grpSp>
          <p:nvGrpSpPr>
            <p:cNvPr id="1035" name="Группа 55"/>
            <p:cNvGrpSpPr>
              <a:grpSpLocks/>
            </p:cNvGrpSpPr>
            <p:nvPr/>
          </p:nvGrpSpPr>
          <p:grpSpPr bwMode="auto">
            <a:xfrm>
              <a:off x="1700173" y="473034"/>
              <a:ext cx="1000132" cy="1000132"/>
              <a:chOff x="282516" y="190456"/>
              <a:chExt cx="1000132" cy="1000132"/>
            </a:xfrm>
          </p:grpSpPr>
          <p:sp>
            <p:nvSpPr>
              <p:cNvPr id="13" name="Хорда 12"/>
              <p:cNvSpPr/>
              <p:nvPr/>
            </p:nvSpPr>
            <p:spPr>
              <a:xfrm>
                <a:off x="339703" y="219068"/>
                <a:ext cx="928687" cy="928680"/>
              </a:xfrm>
              <a:prstGeom prst="chord">
                <a:avLst>
                  <a:gd name="adj1" fmla="val 7131849"/>
                  <a:gd name="adj2" fmla="val 4448976"/>
                </a:avLst>
              </a:prstGeom>
              <a:gradFill flip="none" rotWithShape="1">
                <a:gsLst>
                  <a:gs pos="0">
                    <a:srgbClr val="006699">
                      <a:shade val="30000"/>
                      <a:satMod val="115000"/>
                    </a:srgbClr>
                  </a:gs>
                  <a:gs pos="50000">
                    <a:srgbClr val="006699">
                      <a:shade val="67500"/>
                      <a:satMod val="115000"/>
                    </a:srgbClr>
                  </a:gs>
                  <a:gs pos="100000">
                    <a:srgbClr val="006699">
                      <a:shade val="100000"/>
                      <a:satMod val="115000"/>
                    </a:srgbClr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uk-UA">
                  <a:solidFill>
                    <a:srgbClr val="FFFFFF"/>
                  </a:solidFill>
                </a:endParaRPr>
              </a:p>
            </p:txBody>
          </p:sp>
          <p:sp>
            <p:nvSpPr>
              <p:cNvPr id="14" name="Кольцо 13"/>
              <p:cNvSpPr/>
              <p:nvPr/>
            </p:nvSpPr>
            <p:spPr>
              <a:xfrm>
                <a:off x="282553" y="190493"/>
                <a:ext cx="1000125" cy="1000116"/>
              </a:xfrm>
              <a:prstGeom prst="donut">
                <a:avLst>
                  <a:gd name="adj" fmla="val 14198"/>
                </a:avLst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50000">
                    <a:schemeClr val="bg1"/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uk-UA">
                  <a:solidFill>
                    <a:srgbClr val="000000"/>
                  </a:solidFill>
                </a:endParaRPr>
              </a:p>
            </p:txBody>
          </p:sp>
          <p:sp>
            <p:nvSpPr>
              <p:cNvPr id="15" name="Овал 14"/>
              <p:cNvSpPr/>
              <p:nvPr/>
            </p:nvSpPr>
            <p:spPr>
              <a:xfrm>
                <a:off x="482578" y="361941"/>
                <a:ext cx="500062" cy="428621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50000">
                    <a:schemeClr val="bg1">
                      <a:alpha val="12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uk-UA">
                  <a:solidFill>
                    <a:srgbClr val="FFFFFF"/>
                  </a:solidFill>
                </a:endParaRPr>
              </a:p>
            </p:txBody>
          </p:sp>
          <p:sp>
            <p:nvSpPr>
              <p:cNvPr id="16" name="Кольцо 15"/>
              <p:cNvSpPr/>
              <p:nvPr/>
            </p:nvSpPr>
            <p:spPr>
              <a:xfrm>
                <a:off x="398440" y="301617"/>
                <a:ext cx="754063" cy="766756"/>
              </a:xfrm>
              <a:prstGeom prst="donut">
                <a:avLst>
                  <a:gd name="adj" fmla="val 5909"/>
                </a:avLst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50000">
                    <a:schemeClr val="bg1">
                      <a:lumMod val="95000"/>
                    </a:schemeClr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uk-UA">
                  <a:solidFill>
                    <a:srgbClr val="000000"/>
                  </a:solidFill>
                </a:endParaRPr>
              </a:p>
            </p:txBody>
          </p:sp>
          <p:sp>
            <p:nvSpPr>
              <p:cNvPr id="17" name="Овал 16"/>
              <p:cNvSpPr/>
              <p:nvPr/>
            </p:nvSpPr>
            <p:spPr>
              <a:xfrm rot="19570648">
                <a:off x="471465" y="328605"/>
                <a:ext cx="292100" cy="219073"/>
              </a:xfrm>
              <a:prstGeom prst="ellipse">
                <a:avLst/>
              </a:prstGeom>
              <a:solidFill>
                <a:schemeClr val="bg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uk-UA">
                  <a:solidFill>
                    <a:srgbClr val="FFFFFF"/>
                  </a:solidFill>
                </a:endParaRPr>
              </a:p>
            </p:txBody>
          </p:sp>
          <p:sp>
            <p:nvSpPr>
              <p:cNvPr id="18" name="Овал 17"/>
              <p:cNvSpPr/>
              <p:nvPr/>
            </p:nvSpPr>
            <p:spPr>
              <a:xfrm rot="19038152">
                <a:off x="492103" y="357179"/>
                <a:ext cx="219075" cy="146049"/>
              </a:xfrm>
              <a:prstGeom prst="ellipse">
                <a:avLst/>
              </a:prstGeom>
              <a:solidFill>
                <a:schemeClr val="bg1">
                  <a:alpha val="3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uk-UA">
                  <a:solidFill>
                    <a:srgbClr val="FFFFFF"/>
                  </a:solidFill>
                </a:endParaRPr>
              </a:p>
            </p:txBody>
          </p:sp>
          <p:sp>
            <p:nvSpPr>
              <p:cNvPr id="19" name="Овал 18"/>
              <p:cNvSpPr/>
              <p:nvPr/>
            </p:nvSpPr>
            <p:spPr>
              <a:xfrm rot="19038152">
                <a:off x="536553" y="369879"/>
                <a:ext cx="103187" cy="92074"/>
              </a:xfrm>
              <a:prstGeom prst="ellipse">
                <a:avLst/>
              </a:prstGeom>
              <a:solidFill>
                <a:schemeClr val="bg1">
                  <a:alpha val="8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uk-UA">
                  <a:solidFill>
                    <a:srgbClr val="FFFFFF"/>
                  </a:solidFill>
                </a:endParaRPr>
              </a:p>
            </p:txBody>
          </p:sp>
          <p:sp>
            <p:nvSpPr>
              <p:cNvPr id="20" name="Овал 19"/>
              <p:cNvSpPr/>
              <p:nvPr/>
            </p:nvSpPr>
            <p:spPr>
              <a:xfrm rot="19038152">
                <a:off x="515915" y="360354"/>
                <a:ext cx="153988" cy="119061"/>
              </a:xfrm>
              <a:prstGeom prst="ellipse">
                <a:avLst/>
              </a:prstGeom>
              <a:solidFill>
                <a:schemeClr val="bg1">
                  <a:alpha val="3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uk-UA">
                  <a:solidFill>
                    <a:srgbClr val="FFFFFF"/>
                  </a:solidFill>
                </a:endParaRPr>
              </a:p>
            </p:txBody>
          </p:sp>
          <p:pic>
            <p:nvPicPr>
              <p:cNvPr id="21" name="Picture 2"/>
              <p:cNvPicPr>
                <a:picLocks noChangeAspect="1" noChangeArrowheads="1"/>
              </p:cNvPicPr>
              <p:nvPr/>
            </p:nvPicPr>
            <p:blipFill>
              <a:blip r:embed="rId6" cstate="email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</a:blip>
              <a:srcRect/>
              <a:stretch>
                <a:fillRect/>
              </a:stretch>
            </p:blipFill>
            <p:spPr bwMode="auto">
              <a:xfrm>
                <a:off x="544432" y="374590"/>
                <a:ext cx="445300" cy="6207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047" name="Picture 2"/>
              <p:cNvPicPr>
                <a:picLocks noChangeAspect="1" noChangeArrowheads="1"/>
              </p:cNvPicPr>
              <p:nvPr/>
            </p:nvPicPr>
            <p:blipFill>
              <a:blip r:embed="rId6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  <a:lum bright="70000" contrast="-70000"/>
              </a:blip>
              <a:srcRect/>
              <a:stretch>
                <a:fillRect/>
              </a:stretch>
            </p:blipFill>
            <p:spPr bwMode="auto">
              <a:xfrm>
                <a:off x="544432" y="374590"/>
                <a:ext cx="445300" cy="6207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3" name="Месяц 22"/>
              <p:cNvSpPr/>
              <p:nvPr/>
            </p:nvSpPr>
            <p:spPr>
              <a:xfrm rot="15681566">
                <a:off x="617517" y="506400"/>
                <a:ext cx="365122" cy="615950"/>
              </a:xfrm>
              <a:prstGeom prst="moon">
                <a:avLst>
                  <a:gd name="adj" fmla="val 59019"/>
                </a:avLst>
              </a:prstGeom>
              <a:solidFill>
                <a:schemeClr val="tx1">
                  <a:alpha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uk-UA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1" name="Прямоугольник с двумя скругленными противолежащими углами 10"/>
            <p:cNvSpPr/>
            <p:nvPr/>
          </p:nvSpPr>
          <p:spPr>
            <a:xfrm>
              <a:off x="2819397" y="836605"/>
              <a:ext cx="6061077" cy="474658"/>
            </a:xfrm>
            <a:prstGeom prst="round2DiagRect">
              <a:avLst>
                <a:gd name="adj1" fmla="val 50000"/>
                <a:gd name="adj2" fmla="val 0"/>
              </a:avLst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50000">
                  <a:schemeClr val="bg1">
                    <a:lumMod val="85000"/>
                    <a:shade val="67500"/>
                    <a:satMod val="115000"/>
                    <a:alpha val="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uk-UA">
                <a:solidFill>
                  <a:srgbClr val="FFFFFF"/>
                </a:solidFill>
              </a:endParaRPr>
            </a:p>
          </p:txBody>
        </p:sp>
        <p:sp>
          <p:nvSpPr>
            <p:cNvPr id="12" name="Прямоугольник с двумя скругленными противолежащими углами 11"/>
            <p:cNvSpPr/>
            <p:nvPr/>
          </p:nvSpPr>
          <p:spPr>
            <a:xfrm>
              <a:off x="2819397" y="434971"/>
              <a:ext cx="803275" cy="876292"/>
            </a:xfrm>
            <a:prstGeom prst="round2DiagRect">
              <a:avLst>
                <a:gd name="adj1" fmla="val 50000"/>
                <a:gd name="adj2" fmla="val 0"/>
              </a:avLst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50000">
                  <a:schemeClr val="bg1">
                    <a:lumMod val="85000"/>
                    <a:shade val="67500"/>
                    <a:satMod val="115000"/>
                    <a:alpha val="0"/>
                  </a:schemeClr>
                </a:gs>
                <a:gs pos="100000">
                  <a:schemeClr val="bg1">
                    <a:lumMod val="85000"/>
                    <a:shade val="100000"/>
                    <a:satMod val="115000"/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uk-UA">
                <a:solidFill>
                  <a:srgbClr val="FFFFFF"/>
                </a:solidFill>
              </a:endParaRPr>
            </a:p>
          </p:txBody>
        </p:sp>
      </p:grpSp>
      <p:sp>
        <p:nvSpPr>
          <p:cNvPr id="1028" name="Заголовок 1"/>
          <p:cNvSpPr>
            <a:spLocks noGrp="1"/>
          </p:cNvSpPr>
          <p:nvPr>
            <p:ph type="title"/>
          </p:nvPr>
        </p:nvSpPr>
        <p:spPr bwMode="auto">
          <a:xfrm>
            <a:off x="2819400" y="398463"/>
            <a:ext cx="6061075" cy="912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uk-UA" smtClean="0"/>
          </a:p>
        </p:txBody>
      </p:sp>
      <p:sp>
        <p:nvSpPr>
          <p:cNvPr id="1029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/>
            <a:endParaRPr lang="uk-UA" smtClean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eaLnBrk="1" hangingPunct="1">
              <a:defRPr/>
            </a:pPr>
            <a:endParaRPr lang="uk-UA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eaLnBrk="1" hangingPunct="1">
              <a:defRPr/>
            </a:pPr>
            <a:endParaRPr lang="uk-UA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032" name="Text Box 32"/>
          <p:cNvSpPr txBox="1">
            <a:spLocks noChangeArrowheads="1"/>
          </p:cNvSpPr>
          <p:nvPr/>
        </p:nvSpPr>
        <p:spPr bwMode="auto">
          <a:xfrm>
            <a:off x="7631113" y="6583363"/>
            <a:ext cx="1262062" cy="2746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uk-UA" sz="1200">
                <a:solidFill>
                  <a:srgbClr val="000000"/>
                </a:solidFill>
              </a:rPr>
              <a:t>Листопад 2011</a:t>
            </a:r>
            <a:endParaRPr lang="ru-RU" sz="12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8420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000" b="1" i="1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000" b="1" i="1">
          <a:solidFill>
            <a:schemeClr val="tx1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000" b="1" i="1">
          <a:solidFill>
            <a:schemeClr val="tx1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000" b="1" i="1">
          <a:solidFill>
            <a:schemeClr val="tx1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000" b="1" i="1">
          <a:solidFill>
            <a:schemeClr val="tx1"/>
          </a:solidFill>
          <a:latin typeface="Arial" charset="0"/>
          <a:cs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2000" b="1" i="1">
          <a:solidFill>
            <a:schemeClr val="tx1"/>
          </a:solidFill>
          <a:latin typeface="Arial" charset="0"/>
          <a:cs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2000" b="1" i="1">
          <a:solidFill>
            <a:schemeClr val="tx1"/>
          </a:solidFill>
          <a:latin typeface="Arial" charset="0"/>
          <a:cs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2000" b="1" i="1">
          <a:solidFill>
            <a:schemeClr val="tx1"/>
          </a:solidFill>
          <a:latin typeface="Arial" charset="0"/>
          <a:cs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2000" b="1" i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defRPr sz="20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45"/>
          <p:cNvGraphicFramePr>
            <a:graphicFrameLocks noChangeAspect="1"/>
          </p:cNvGraphicFramePr>
          <p:nvPr/>
        </p:nvGraphicFramePr>
        <p:xfrm>
          <a:off x="0" y="6381750"/>
          <a:ext cx="91440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6" name="Фотография Photo Editor" r:id="rId4" imgW="1828571" imgH="1047619" progId="">
                  <p:embed/>
                </p:oleObj>
              </mc:Choice>
              <mc:Fallback>
                <p:oleObj name="Фотография Photo Editor" r:id="rId4" imgW="1828571" imgH="1047619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81750"/>
                        <a:ext cx="914400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7" name="Группа 6"/>
          <p:cNvGrpSpPr>
            <a:grpSpLocks/>
          </p:cNvGrpSpPr>
          <p:nvPr/>
        </p:nvGrpSpPr>
        <p:grpSpPr bwMode="auto">
          <a:xfrm>
            <a:off x="0" y="0"/>
            <a:ext cx="9144000" cy="2078038"/>
            <a:chOff x="-4" y="0"/>
            <a:chExt cx="9144003" cy="2078019"/>
          </a:xfrm>
        </p:grpSpPr>
        <p:grpSp>
          <p:nvGrpSpPr>
            <p:cNvPr id="1033" name="Группа 66"/>
            <p:cNvGrpSpPr>
              <a:grpSpLocks/>
            </p:cNvGrpSpPr>
            <p:nvPr/>
          </p:nvGrpSpPr>
          <p:grpSpPr bwMode="auto">
            <a:xfrm>
              <a:off x="-4" y="0"/>
              <a:ext cx="3111501" cy="1384272"/>
              <a:chOff x="-4" y="0"/>
              <a:chExt cx="3111501" cy="1384272"/>
            </a:xfrm>
          </p:grpSpPr>
          <p:sp>
            <p:nvSpPr>
              <p:cNvPr id="24" name="Прямоугольник 23"/>
              <p:cNvSpPr/>
              <p:nvPr/>
            </p:nvSpPr>
            <p:spPr>
              <a:xfrm flipH="1">
                <a:off x="-4" y="0"/>
                <a:ext cx="3111501" cy="687382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  <a:alpha val="27000"/>
                    </a:schemeClr>
                  </a:gs>
                  <a:gs pos="100000">
                    <a:schemeClr val="accent1">
                      <a:tint val="23500"/>
                      <a:satMod val="160000"/>
                      <a:alpha val="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uk-UA">
                  <a:solidFill>
                    <a:srgbClr val="FFFFFF"/>
                  </a:solidFill>
                </a:endParaRPr>
              </a:p>
            </p:txBody>
          </p:sp>
          <p:sp>
            <p:nvSpPr>
              <p:cNvPr id="25" name="Прямоугольник 24"/>
              <p:cNvSpPr/>
              <p:nvPr/>
            </p:nvSpPr>
            <p:spPr>
              <a:xfrm flipH="1">
                <a:off x="-4" y="681897"/>
                <a:ext cx="3020162" cy="702375"/>
              </a:xfrm>
              <a:prstGeom prst="rect">
                <a:avLst/>
              </a:prstGeom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  <a:alpha val="48000"/>
                    </a:srgbClr>
                  </a:gs>
                  <a:gs pos="100000">
                    <a:srgbClr val="FFFF00">
                      <a:tint val="23500"/>
                      <a:satMod val="160000"/>
                      <a:alpha val="0"/>
                    </a:srgbClr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uk-UA">
                  <a:solidFill>
                    <a:srgbClr val="FFFFFF"/>
                  </a:solidFill>
                </a:endParaRPr>
              </a:p>
            </p:txBody>
          </p:sp>
          <p:sp>
            <p:nvSpPr>
              <p:cNvPr id="26" name="Прямоугольник 25"/>
              <p:cNvSpPr/>
              <p:nvPr/>
            </p:nvSpPr>
            <p:spPr>
              <a:xfrm flipH="1">
                <a:off x="500059" y="0"/>
                <a:ext cx="487362" cy="1362062"/>
              </a:xfrm>
              <a:prstGeom prst="rect">
                <a:avLst/>
              </a:prstGeom>
              <a:gradFill flip="none" rotWithShape="1">
                <a:gsLst>
                  <a:gs pos="0">
                    <a:schemeClr val="tx1">
                      <a:alpha val="0"/>
                    </a:schemeClr>
                  </a:gs>
                  <a:gs pos="50000">
                    <a:schemeClr val="tx1">
                      <a:alpha val="7000"/>
                    </a:schemeClr>
                  </a:gs>
                  <a:gs pos="100000">
                    <a:schemeClr val="tx1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uk-UA">
                  <a:solidFill>
                    <a:srgbClr val="FFFFFF"/>
                  </a:solidFill>
                </a:endParaRPr>
              </a:p>
            </p:txBody>
          </p:sp>
          <p:sp>
            <p:nvSpPr>
              <p:cNvPr id="27" name="Прямоугольник 26"/>
              <p:cNvSpPr/>
              <p:nvPr/>
            </p:nvSpPr>
            <p:spPr>
              <a:xfrm flipH="1">
                <a:off x="706434" y="0"/>
                <a:ext cx="579437" cy="1362062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alpha val="0"/>
                    </a:schemeClr>
                  </a:gs>
                  <a:gs pos="50000">
                    <a:schemeClr val="bg1">
                      <a:alpha val="46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uk-UA">
                  <a:solidFill>
                    <a:srgbClr val="FFFFFF"/>
                  </a:solidFill>
                </a:endParaRPr>
              </a:p>
            </p:txBody>
          </p:sp>
          <p:sp>
            <p:nvSpPr>
              <p:cNvPr id="28" name="Прямоугольник 27"/>
              <p:cNvSpPr/>
              <p:nvPr/>
            </p:nvSpPr>
            <p:spPr>
              <a:xfrm flipH="1">
                <a:off x="2076447" y="0"/>
                <a:ext cx="487363" cy="1362062"/>
              </a:xfrm>
              <a:prstGeom prst="rect">
                <a:avLst/>
              </a:prstGeom>
              <a:gradFill flip="none" rotWithShape="1">
                <a:gsLst>
                  <a:gs pos="0">
                    <a:schemeClr val="tx1">
                      <a:alpha val="0"/>
                    </a:schemeClr>
                  </a:gs>
                  <a:gs pos="50000">
                    <a:schemeClr val="tx1">
                      <a:alpha val="2000"/>
                    </a:schemeClr>
                  </a:gs>
                  <a:gs pos="100000">
                    <a:schemeClr val="tx1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uk-UA">
                  <a:solidFill>
                    <a:srgbClr val="FFFFFF"/>
                  </a:solidFill>
                </a:endParaRPr>
              </a:p>
            </p:txBody>
          </p:sp>
          <p:sp>
            <p:nvSpPr>
              <p:cNvPr id="29" name="Прямоугольник 28"/>
              <p:cNvSpPr/>
              <p:nvPr/>
            </p:nvSpPr>
            <p:spPr>
              <a:xfrm flipH="1">
                <a:off x="1741485" y="0"/>
                <a:ext cx="577850" cy="1362062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alpha val="0"/>
                    </a:schemeClr>
                  </a:gs>
                  <a:gs pos="50000">
                    <a:schemeClr val="bg1">
                      <a:alpha val="35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uk-UA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9" name="Прямоугольник с двумя скругленными противолежащими углами 8"/>
            <p:cNvSpPr/>
            <p:nvPr/>
          </p:nvSpPr>
          <p:spPr>
            <a:xfrm>
              <a:off x="1504946" y="288922"/>
              <a:ext cx="7639053" cy="1789097"/>
            </a:xfrm>
            <a:prstGeom prst="round2DiagRect">
              <a:avLst>
                <a:gd name="adj1" fmla="val 37223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uk-UA">
                <a:solidFill>
                  <a:srgbClr val="FFFFFF"/>
                </a:solidFill>
              </a:endParaRPr>
            </a:p>
          </p:txBody>
        </p:sp>
        <p:grpSp>
          <p:nvGrpSpPr>
            <p:cNvPr id="1035" name="Группа 55"/>
            <p:cNvGrpSpPr>
              <a:grpSpLocks/>
            </p:cNvGrpSpPr>
            <p:nvPr/>
          </p:nvGrpSpPr>
          <p:grpSpPr bwMode="auto">
            <a:xfrm>
              <a:off x="1700173" y="473034"/>
              <a:ext cx="1000132" cy="1000132"/>
              <a:chOff x="282516" y="190456"/>
              <a:chExt cx="1000132" cy="1000132"/>
            </a:xfrm>
          </p:grpSpPr>
          <p:sp>
            <p:nvSpPr>
              <p:cNvPr id="13" name="Хорда 12"/>
              <p:cNvSpPr/>
              <p:nvPr/>
            </p:nvSpPr>
            <p:spPr>
              <a:xfrm>
                <a:off x="339703" y="219068"/>
                <a:ext cx="928687" cy="928680"/>
              </a:xfrm>
              <a:prstGeom prst="chord">
                <a:avLst>
                  <a:gd name="adj1" fmla="val 7131849"/>
                  <a:gd name="adj2" fmla="val 4448976"/>
                </a:avLst>
              </a:prstGeom>
              <a:gradFill flip="none" rotWithShape="1">
                <a:gsLst>
                  <a:gs pos="0">
                    <a:srgbClr val="006699">
                      <a:shade val="30000"/>
                      <a:satMod val="115000"/>
                    </a:srgbClr>
                  </a:gs>
                  <a:gs pos="50000">
                    <a:srgbClr val="006699">
                      <a:shade val="67500"/>
                      <a:satMod val="115000"/>
                    </a:srgbClr>
                  </a:gs>
                  <a:gs pos="100000">
                    <a:srgbClr val="006699">
                      <a:shade val="100000"/>
                      <a:satMod val="115000"/>
                    </a:srgbClr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uk-UA">
                  <a:solidFill>
                    <a:srgbClr val="FFFFFF"/>
                  </a:solidFill>
                </a:endParaRPr>
              </a:p>
            </p:txBody>
          </p:sp>
          <p:sp>
            <p:nvSpPr>
              <p:cNvPr id="14" name="Кольцо 13"/>
              <p:cNvSpPr/>
              <p:nvPr/>
            </p:nvSpPr>
            <p:spPr>
              <a:xfrm>
                <a:off x="282553" y="190493"/>
                <a:ext cx="1000125" cy="1000116"/>
              </a:xfrm>
              <a:prstGeom prst="donut">
                <a:avLst>
                  <a:gd name="adj" fmla="val 14198"/>
                </a:avLst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50000">
                    <a:schemeClr val="bg1"/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uk-UA">
                  <a:solidFill>
                    <a:srgbClr val="000000"/>
                  </a:solidFill>
                </a:endParaRPr>
              </a:p>
            </p:txBody>
          </p:sp>
          <p:sp>
            <p:nvSpPr>
              <p:cNvPr id="15" name="Овал 14"/>
              <p:cNvSpPr/>
              <p:nvPr/>
            </p:nvSpPr>
            <p:spPr>
              <a:xfrm>
                <a:off x="482578" y="361941"/>
                <a:ext cx="500062" cy="428621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50000">
                    <a:schemeClr val="bg1">
                      <a:alpha val="12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uk-UA">
                  <a:solidFill>
                    <a:srgbClr val="FFFFFF"/>
                  </a:solidFill>
                </a:endParaRPr>
              </a:p>
            </p:txBody>
          </p:sp>
          <p:sp>
            <p:nvSpPr>
              <p:cNvPr id="16" name="Кольцо 15"/>
              <p:cNvSpPr/>
              <p:nvPr/>
            </p:nvSpPr>
            <p:spPr>
              <a:xfrm>
                <a:off x="398440" y="301617"/>
                <a:ext cx="754063" cy="766756"/>
              </a:xfrm>
              <a:prstGeom prst="donut">
                <a:avLst>
                  <a:gd name="adj" fmla="val 5909"/>
                </a:avLst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50000">
                    <a:schemeClr val="bg1">
                      <a:lumMod val="95000"/>
                    </a:schemeClr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uk-UA">
                  <a:solidFill>
                    <a:srgbClr val="000000"/>
                  </a:solidFill>
                </a:endParaRPr>
              </a:p>
            </p:txBody>
          </p:sp>
          <p:sp>
            <p:nvSpPr>
              <p:cNvPr id="17" name="Овал 16"/>
              <p:cNvSpPr/>
              <p:nvPr/>
            </p:nvSpPr>
            <p:spPr>
              <a:xfrm rot="19570648">
                <a:off x="471465" y="328605"/>
                <a:ext cx="292100" cy="219073"/>
              </a:xfrm>
              <a:prstGeom prst="ellipse">
                <a:avLst/>
              </a:prstGeom>
              <a:solidFill>
                <a:schemeClr val="bg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uk-UA">
                  <a:solidFill>
                    <a:srgbClr val="FFFFFF"/>
                  </a:solidFill>
                </a:endParaRPr>
              </a:p>
            </p:txBody>
          </p:sp>
          <p:sp>
            <p:nvSpPr>
              <p:cNvPr id="18" name="Овал 17"/>
              <p:cNvSpPr/>
              <p:nvPr/>
            </p:nvSpPr>
            <p:spPr>
              <a:xfrm rot="19038152">
                <a:off x="492103" y="357179"/>
                <a:ext cx="219075" cy="146049"/>
              </a:xfrm>
              <a:prstGeom prst="ellipse">
                <a:avLst/>
              </a:prstGeom>
              <a:solidFill>
                <a:schemeClr val="bg1">
                  <a:alpha val="3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uk-UA">
                  <a:solidFill>
                    <a:srgbClr val="FFFFFF"/>
                  </a:solidFill>
                </a:endParaRPr>
              </a:p>
            </p:txBody>
          </p:sp>
          <p:sp>
            <p:nvSpPr>
              <p:cNvPr id="19" name="Овал 18"/>
              <p:cNvSpPr/>
              <p:nvPr/>
            </p:nvSpPr>
            <p:spPr>
              <a:xfrm rot="19038152">
                <a:off x="536553" y="369879"/>
                <a:ext cx="103187" cy="92074"/>
              </a:xfrm>
              <a:prstGeom prst="ellipse">
                <a:avLst/>
              </a:prstGeom>
              <a:solidFill>
                <a:schemeClr val="bg1">
                  <a:alpha val="8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uk-UA">
                  <a:solidFill>
                    <a:srgbClr val="FFFFFF"/>
                  </a:solidFill>
                </a:endParaRPr>
              </a:p>
            </p:txBody>
          </p:sp>
          <p:sp>
            <p:nvSpPr>
              <p:cNvPr id="20" name="Овал 19"/>
              <p:cNvSpPr/>
              <p:nvPr/>
            </p:nvSpPr>
            <p:spPr>
              <a:xfrm rot="19038152">
                <a:off x="515915" y="360354"/>
                <a:ext cx="153988" cy="119061"/>
              </a:xfrm>
              <a:prstGeom prst="ellipse">
                <a:avLst/>
              </a:prstGeom>
              <a:solidFill>
                <a:schemeClr val="bg1">
                  <a:alpha val="3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uk-UA">
                  <a:solidFill>
                    <a:srgbClr val="FFFFFF"/>
                  </a:solidFill>
                </a:endParaRPr>
              </a:p>
            </p:txBody>
          </p:sp>
          <p:pic>
            <p:nvPicPr>
              <p:cNvPr id="21" name="Picture 2"/>
              <p:cNvPicPr>
                <a:picLocks noChangeAspect="1" noChangeArrowheads="1"/>
              </p:cNvPicPr>
              <p:nvPr/>
            </p:nvPicPr>
            <p:blipFill>
              <a:blip r:embed="rId6" cstate="email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</a:blip>
              <a:srcRect/>
              <a:stretch>
                <a:fillRect/>
              </a:stretch>
            </p:blipFill>
            <p:spPr bwMode="auto">
              <a:xfrm>
                <a:off x="544432" y="374590"/>
                <a:ext cx="445300" cy="6207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047" name="Picture 2"/>
              <p:cNvPicPr>
                <a:picLocks noChangeAspect="1" noChangeArrowheads="1"/>
              </p:cNvPicPr>
              <p:nvPr/>
            </p:nvPicPr>
            <p:blipFill>
              <a:blip r:embed="rId6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  <a:lum bright="70000" contrast="-70000"/>
              </a:blip>
              <a:srcRect/>
              <a:stretch>
                <a:fillRect/>
              </a:stretch>
            </p:blipFill>
            <p:spPr bwMode="auto">
              <a:xfrm>
                <a:off x="544432" y="374590"/>
                <a:ext cx="445300" cy="6207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3" name="Месяц 22"/>
              <p:cNvSpPr/>
              <p:nvPr/>
            </p:nvSpPr>
            <p:spPr>
              <a:xfrm rot="15681566">
                <a:off x="617517" y="506400"/>
                <a:ext cx="365122" cy="615950"/>
              </a:xfrm>
              <a:prstGeom prst="moon">
                <a:avLst>
                  <a:gd name="adj" fmla="val 59019"/>
                </a:avLst>
              </a:prstGeom>
              <a:solidFill>
                <a:schemeClr val="tx1">
                  <a:alpha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uk-UA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1" name="Прямоугольник с двумя скругленными противолежащими углами 10"/>
            <p:cNvSpPr/>
            <p:nvPr/>
          </p:nvSpPr>
          <p:spPr>
            <a:xfrm>
              <a:off x="2819397" y="836605"/>
              <a:ext cx="6061077" cy="474658"/>
            </a:xfrm>
            <a:prstGeom prst="round2DiagRect">
              <a:avLst>
                <a:gd name="adj1" fmla="val 50000"/>
                <a:gd name="adj2" fmla="val 0"/>
              </a:avLst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50000">
                  <a:schemeClr val="bg1">
                    <a:lumMod val="85000"/>
                    <a:shade val="67500"/>
                    <a:satMod val="115000"/>
                    <a:alpha val="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uk-UA">
                <a:solidFill>
                  <a:srgbClr val="FFFFFF"/>
                </a:solidFill>
              </a:endParaRPr>
            </a:p>
          </p:txBody>
        </p:sp>
        <p:sp>
          <p:nvSpPr>
            <p:cNvPr id="12" name="Прямоугольник с двумя скругленными противолежащими углами 11"/>
            <p:cNvSpPr/>
            <p:nvPr/>
          </p:nvSpPr>
          <p:spPr>
            <a:xfrm>
              <a:off x="2819397" y="434971"/>
              <a:ext cx="803275" cy="876292"/>
            </a:xfrm>
            <a:prstGeom prst="round2DiagRect">
              <a:avLst>
                <a:gd name="adj1" fmla="val 50000"/>
                <a:gd name="adj2" fmla="val 0"/>
              </a:avLst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50000">
                  <a:schemeClr val="bg1">
                    <a:lumMod val="85000"/>
                    <a:shade val="67500"/>
                    <a:satMod val="115000"/>
                    <a:alpha val="0"/>
                  </a:schemeClr>
                </a:gs>
                <a:gs pos="100000">
                  <a:schemeClr val="bg1">
                    <a:lumMod val="85000"/>
                    <a:shade val="100000"/>
                    <a:satMod val="115000"/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uk-UA">
                <a:solidFill>
                  <a:srgbClr val="FFFFFF"/>
                </a:solidFill>
              </a:endParaRPr>
            </a:p>
          </p:txBody>
        </p:sp>
      </p:grpSp>
      <p:sp>
        <p:nvSpPr>
          <p:cNvPr id="1028" name="Заголовок 1"/>
          <p:cNvSpPr>
            <a:spLocks noGrp="1"/>
          </p:cNvSpPr>
          <p:nvPr>
            <p:ph type="title"/>
          </p:nvPr>
        </p:nvSpPr>
        <p:spPr bwMode="auto">
          <a:xfrm>
            <a:off x="2819400" y="398463"/>
            <a:ext cx="6061075" cy="912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uk-UA" smtClean="0"/>
          </a:p>
        </p:txBody>
      </p:sp>
      <p:sp>
        <p:nvSpPr>
          <p:cNvPr id="1029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/>
            <a:endParaRPr lang="uk-UA" smtClean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eaLnBrk="1" hangingPunct="1">
              <a:defRPr/>
            </a:pPr>
            <a:endParaRPr lang="uk-UA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eaLnBrk="1" hangingPunct="1">
              <a:defRPr/>
            </a:pPr>
            <a:endParaRPr lang="uk-UA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032" name="Text Box 32"/>
          <p:cNvSpPr txBox="1">
            <a:spLocks noChangeArrowheads="1"/>
          </p:cNvSpPr>
          <p:nvPr/>
        </p:nvSpPr>
        <p:spPr bwMode="auto">
          <a:xfrm>
            <a:off x="7631113" y="6583363"/>
            <a:ext cx="1262062" cy="2746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uk-UA" sz="1200">
                <a:solidFill>
                  <a:srgbClr val="000000"/>
                </a:solidFill>
              </a:rPr>
              <a:t>Листопад 2011</a:t>
            </a:r>
            <a:endParaRPr lang="ru-RU" sz="12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2960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000" b="1" i="1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000" b="1" i="1">
          <a:solidFill>
            <a:schemeClr val="tx1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000" b="1" i="1">
          <a:solidFill>
            <a:schemeClr val="tx1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000" b="1" i="1">
          <a:solidFill>
            <a:schemeClr val="tx1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000" b="1" i="1">
          <a:solidFill>
            <a:schemeClr val="tx1"/>
          </a:solidFill>
          <a:latin typeface="Arial" charset="0"/>
          <a:cs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2000" b="1" i="1">
          <a:solidFill>
            <a:schemeClr val="tx1"/>
          </a:solidFill>
          <a:latin typeface="Arial" charset="0"/>
          <a:cs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2000" b="1" i="1">
          <a:solidFill>
            <a:schemeClr val="tx1"/>
          </a:solidFill>
          <a:latin typeface="Arial" charset="0"/>
          <a:cs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2000" b="1" i="1">
          <a:solidFill>
            <a:schemeClr val="tx1"/>
          </a:solidFill>
          <a:latin typeface="Arial" charset="0"/>
          <a:cs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2000" b="1" i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defRPr sz="20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3.e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WordArt 5"/>
          <p:cNvSpPr>
            <a:spLocks noChangeArrowheads="1" noChangeShapeType="1" noTextEdit="1"/>
          </p:cNvSpPr>
          <p:nvPr/>
        </p:nvSpPr>
        <p:spPr bwMode="auto">
          <a:xfrm>
            <a:off x="395288" y="1412875"/>
            <a:ext cx="8280400" cy="30956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1" hangingPunct="1"/>
            <a:r>
              <a:rPr lang="uk-UA" sz="3600" b="1" kern="10" dirty="0">
                <a:ln w="9525">
                  <a:noFill/>
                  <a:round/>
                  <a:headEnd/>
                  <a:tailEnd/>
                </a:ln>
                <a:solidFill>
                  <a:srgbClr val="0000CC"/>
                </a:solidFill>
                <a:effectLst>
                  <a:outerShdw dist="68392" dir="1308085" algn="ctr" rotWithShape="0">
                    <a:srgbClr val="F6FB17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Архітектура і </a:t>
            </a:r>
          </a:p>
          <a:p>
            <a:pPr algn="ctr" eaLnBrk="1" hangingPunct="1"/>
            <a:r>
              <a:rPr lang="uk-UA" sz="3600" b="1" kern="10" dirty="0">
                <a:ln w="9525">
                  <a:noFill/>
                  <a:round/>
                  <a:headEnd/>
                  <a:tailEnd/>
                </a:ln>
                <a:solidFill>
                  <a:srgbClr val="0000CC"/>
                </a:solidFill>
                <a:effectLst>
                  <a:outerShdw dist="68392" dir="1308085" algn="ctr" rotWithShape="0">
                    <a:srgbClr val="F6FB17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Проектування </a:t>
            </a:r>
            <a:endParaRPr lang="uk-UA" sz="3600" b="1" kern="10" dirty="0">
              <a:ln w="9525">
                <a:noFill/>
                <a:round/>
                <a:headEnd/>
                <a:tailEnd/>
              </a:ln>
              <a:solidFill>
                <a:srgbClr val="0000CC"/>
              </a:solidFill>
              <a:effectLst>
                <a:outerShdw dist="68392" dir="1308085" algn="ctr" rotWithShape="0">
                  <a:srgbClr val="F6FB17">
                    <a:alpha val="79999"/>
                  </a:srgbClr>
                </a:outerShdw>
              </a:effectLst>
              <a:latin typeface="Times New Roman"/>
              <a:cs typeface="Times New Roman"/>
            </a:endParaRPr>
          </a:p>
          <a:p>
            <a:pPr algn="ctr" eaLnBrk="1" hangingPunct="1"/>
            <a:r>
              <a:rPr lang="uk-UA" sz="3600" b="1" kern="10" dirty="0">
                <a:ln w="9525">
                  <a:noFill/>
                  <a:round/>
                  <a:headEnd/>
                  <a:tailEnd/>
                </a:ln>
                <a:solidFill>
                  <a:srgbClr val="0000CC"/>
                </a:solidFill>
                <a:effectLst>
                  <a:outerShdw dist="68392" dir="1308085" algn="ctr" rotWithShape="0">
                    <a:srgbClr val="F6FB17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 програмного забезпечення</a:t>
            </a:r>
          </a:p>
        </p:txBody>
      </p:sp>
      <p:sp>
        <p:nvSpPr>
          <p:cNvPr id="15363" name="WordArt 6"/>
          <p:cNvSpPr>
            <a:spLocks noChangeArrowheads="1" noChangeShapeType="1" noTextEdit="1"/>
          </p:cNvSpPr>
          <p:nvPr/>
        </p:nvSpPr>
        <p:spPr bwMode="auto">
          <a:xfrm>
            <a:off x="2771775" y="5084763"/>
            <a:ext cx="4464050" cy="68738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1" hangingPunct="1"/>
            <a:r>
              <a:rPr lang="ru-RU" sz="3600" i="1" kern="10">
                <a:ln w="9525">
                  <a:solidFill>
                    <a:srgbClr val="1F497D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0000CC"/>
                    </a:gs>
                    <a:gs pos="100000">
                      <a:srgbClr val="00005E"/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  <a:latin typeface="Arial"/>
              </a:rPr>
              <a:t>Ковалюк Т.В. к.т.н., доцент </a:t>
            </a:r>
          </a:p>
          <a:p>
            <a:pPr algn="ctr" eaLnBrk="1" hangingPunct="1"/>
            <a:r>
              <a:rPr lang="ru-RU" sz="3600" i="1" kern="10">
                <a:ln w="9525">
                  <a:solidFill>
                    <a:srgbClr val="1F497D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0000CC"/>
                    </a:gs>
                    <a:gs pos="100000">
                      <a:srgbClr val="00005E"/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  <a:latin typeface="Arial"/>
              </a:rPr>
              <a:t>tkovalyuk@ukr.net</a:t>
            </a:r>
            <a:endParaRPr lang="uk-UA" sz="3600" i="1" kern="10">
              <a:ln w="9525">
                <a:solidFill>
                  <a:srgbClr val="1F497D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0000CC"/>
                  </a:gs>
                  <a:gs pos="100000">
                    <a:srgbClr val="00005E"/>
                  </a:gs>
                </a:gsLst>
                <a:lin ang="5400000" scaled="1"/>
              </a:gradFill>
              <a:effectLst>
                <a:outerShdw dist="35921" dir="2700000" algn="ctr" rotWithShape="0">
                  <a:srgbClr val="808080">
                    <a:alpha val="79999"/>
                  </a:srgbClr>
                </a:outerShdw>
              </a:effectLst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684122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46096" y="1556792"/>
            <a:ext cx="7766805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/>
            <a:r>
              <a:rPr lang="ru-RU" altLang="ru-RU" sz="4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Компоненти</a:t>
            </a:r>
            <a:r>
              <a:rPr lang="ru-RU" altLang="ru-RU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та </a:t>
            </a:r>
            <a:r>
              <a:rPr lang="ru-RU" altLang="ru-RU" sz="4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стилі</a:t>
            </a:r>
            <a:r>
              <a:rPr lang="ru-RU" altLang="ru-RU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algn="ctr" eaLnBrk="1" hangingPunct="1"/>
            <a:r>
              <a:rPr lang="ru-RU" altLang="ru-RU" sz="4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архітектури</a:t>
            </a:r>
            <a:r>
              <a:rPr lang="ru-RU" altLang="ru-RU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algn="ctr" eaLnBrk="1" hangingPunct="1"/>
            <a:r>
              <a:rPr lang="ru-RU" altLang="ru-RU" sz="4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програмного</a:t>
            </a:r>
            <a:r>
              <a:rPr lang="ru-RU" altLang="ru-RU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altLang="ru-RU" sz="4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забезпечення</a:t>
            </a:r>
            <a:endParaRPr lang="ru-RU" altLang="ru-RU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55465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Содержимое 2"/>
          <p:cNvSpPr>
            <a:spLocks noGrp="1"/>
          </p:cNvSpPr>
          <p:nvPr>
            <p:ph idx="4294967295"/>
          </p:nvPr>
        </p:nvSpPr>
        <p:spPr>
          <a:xfrm>
            <a:off x="101279" y="908720"/>
            <a:ext cx="3102569" cy="834603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ru-RU" altLang="ru-RU" sz="2000" dirty="0" smtClean="0"/>
              <a:t>Л. </a:t>
            </a:r>
            <a:r>
              <a:rPr lang="ru-RU" altLang="ru-RU" sz="2000" dirty="0" err="1" smtClean="0"/>
              <a:t>Басс</a:t>
            </a:r>
            <a:r>
              <a:rPr lang="ru-RU" altLang="ru-RU" sz="2000" dirty="0" smtClean="0"/>
              <a:t>, П. </a:t>
            </a:r>
            <a:r>
              <a:rPr lang="ru-RU" altLang="ru-RU" sz="2000" dirty="0" err="1" smtClean="0"/>
              <a:t>Клементс</a:t>
            </a:r>
            <a:r>
              <a:rPr lang="ru-RU" altLang="ru-RU" sz="2000" dirty="0" smtClean="0"/>
              <a:t>, Р. </a:t>
            </a:r>
            <a:r>
              <a:rPr lang="ru-RU" altLang="ru-RU" sz="2000" dirty="0" err="1" smtClean="0"/>
              <a:t>Кацман</a:t>
            </a:r>
            <a:r>
              <a:rPr lang="ru-RU" altLang="ru-RU" sz="2000" dirty="0" smtClean="0"/>
              <a:t> - Архитектура программного обеспечения на </a:t>
            </a:r>
            <a:r>
              <a:rPr lang="ru-RU" altLang="ru-RU" sz="2000" dirty="0" smtClean="0"/>
              <a:t>практике. 2006 </a:t>
            </a:r>
            <a:r>
              <a:rPr lang="ru-RU" altLang="ru-RU" sz="2000" dirty="0" smtClean="0"/>
              <a:t>год, 576 стр., </a:t>
            </a:r>
            <a:endParaRPr lang="ru-RU" altLang="ru-RU" sz="2000" dirty="0" smtClean="0"/>
          </a:p>
          <a:p>
            <a:pPr>
              <a:buFont typeface="+mj-lt"/>
              <a:buAutoNum type="arabicPeriod"/>
            </a:pPr>
            <a:endParaRPr lang="ru-RU" altLang="ru-RU" sz="2000" dirty="0" smtClean="0"/>
          </a:p>
        </p:txBody>
      </p:sp>
      <p:pic>
        <p:nvPicPr>
          <p:cNvPr id="4100" name="Picture 2" descr="Л. Басс, П. Клементс, Р. Кацман Архитектура программного обеспечения на практике Software Architecture in Practi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682" y="3212976"/>
            <a:ext cx="1888566" cy="266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3400477" y="-127552"/>
            <a:ext cx="240322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altLang="ru-RU" sz="3200" b="1" dirty="0" err="1" smtClean="0">
                <a:solidFill>
                  <a:schemeClr val="bg1"/>
                </a:solidFill>
              </a:rPr>
              <a:t>Література</a:t>
            </a:r>
            <a:endParaRPr lang="ru-RU" altLang="ru-RU" sz="3200" b="1" dirty="0" smtClean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851920" y="908720"/>
            <a:ext cx="288032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ru-RU" sz="2000" dirty="0" smtClean="0"/>
              <a:t>2. М. </a:t>
            </a:r>
            <a:r>
              <a:rPr lang="ru-RU" altLang="ru-RU" sz="2000" dirty="0" err="1" smtClean="0"/>
              <a:t>Фаулер</a:t>
            </a:r>
            <a:r>
              <a:rPr lang="ru-RU" altLang="ru-RU" sz="2000" dirty="0" smtClean="0"/>
              <a:t>- Архитектура корпоративных программных приложений – Вильямс,2006</a:t>
            </a:r>
            <a:endParaRPr lang="ru-RU" altLang="ru-RU" sz="2000" dirty="0"/>
          </a:p>
        </p:txBody>
      </p:sp>
      <p:pic>
        <p:nvPicPr>
          <p:cNvPr id="8" name="Picture 2" descr="Архитектура корпоративных программных приложений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1858" y="2996952"/>
            <a:ext cx="1928812" cy="2690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Содержимое 2"/>
          <p:cNvSpPr txBox="1">
            <a:spLocks/>
          </p:cNvSpPr>
          <p:nvPr/>
        </p:nvSpPr>
        <p:spPr bwMode="auto">
          <a:xfrm>
            <a:off x="6300193" y="927786"/>
            <a:ext cx="2736304" cy="1637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defRPr sz="20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buNone/>
            </a:pPr>
            <a:r>
              <a:rPr lang="ru-RU" altLang="ru-RU" sz="2000" kern="0" dirty="0" smtClean="0"/>
              <a:t>3. Л. </a:t>
            </a:r>
            <a:r>
              <a:rPr lang="ru-RU" altLang="ru-RU" sz="2000" kern="0" dirty="0" err="1" smtClean="0"/>
              <a:t>Константайн</a:t>
            </a:r>
            <a:r>
              <a:rPr lang="ru-RU" altLang="ru-RU" sz="2000" kern="0" dirty="0" smtClean="0"/>
              <a:t>, Л. </a:t>
            </a:r>
            <a:r>
              <a:rPr lang="ru-RU" altLang="ru-RU" sz="2000" kern="0" dirty="0" err="1" smtClean="0"/>
              <a:t>Локвуд</a:t>
            </a:r>
            <a:r>
              <a:rPr lang="ru-RU" altLang="ru-RU" sz="2000" kern="0" dirty="0" smtClean="0"/>
              <a:t> – Разработка программного обеспечения  - Питер, 2004</a:t>
            </a:r>
          </a:p>
          <a:p>
            <a:pPr>
              <a:buFont typeface="Wingdings" panose="05000000000000000000" pitchFamily="2" charset="2"/>
              <a:buNone/>
            </a:pPr>
            <a:endParaRPr lang="ru-RU" altLang="ru-RU" sz="2000" kern="0" dirty="0" smtClean="0"/>
          </a:p>
        </p:txBody>
      </p:sp>
      <p:pic>
        <p:nvPicPr>
          <p:cNvPr id="10" name="Picture 2" descr="Разработка программного обеспечения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40" y="2847712"/>
            <a:ext cx="1928812" cy="2840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400477" y="-127552"/>
            <a:ext cx="240322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altLang="ru-RU" sz="3200" b="1" dirty="0" err="1" smtClean="0">
                <a:solidFill>
                  <a:schemeClr val="bg1"/>
                </a:solidFill>
              </a:rPr>
              <a:t>Література</a:t>
            </a:r>
            <a:endParaRPr lang="ru-RU" altLang="ru-RU" sz="3200" b="1" dirty="0" smtClean="0">
              <a:solidFill>
                <a:schemeClr val="bg1"/>
              </a:solidFill>
            </a:endParaRPr>
          </a:p>
        </p:txBody>
      </p:sp>
      <p:sp>
        <p:nvSpPr>
          <p:cNvPr id="7" name="Содержимое 2"/>
          <p:cNvSpPr txBox="1">
            <a:spLocks/>
          </p:cNvSpPr>
          <p:nvPr/>
        </p:nvSpPr>
        <p:spPr bwMode="auto">
          <a:xfrm>
            <a:off x="251521" y="1052737"/>
            <a:ext cx="3456383" cy="5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defRPr sz="20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buNone/>
            </a:pPr>
            <a:r>
              <a:rPr lang="ru-RU" altLang="ru-RU" sz="2000" kern="0" dirty="0" smtClean="0"/>
              <a:t>4. </a:t>
            </a:r>
            <a:r>
              <a:rPr lang="ru-RU" altLang="ru-RU" sz="2000" kern="0" dirty="0" err="1" smtClean="0"/>
              <a:t>М.Фаулер</a:t>
            </a:r>
            <a:r>
              <a:rPr lang="ru-RU" altLang="ru-RU" sz="2000" kern="0" dirty="0" smtClean="0"/>
              <a:t> – </a:t>
            </a:r>
            <a:r>
              <a:rPr lang="en-US" altLang="ru-RU" sz="2000" kern="0" dirty="0" smtClean="0"/>
              <a:t>UML </a:t>
            </a:r>
            <a:r>
              <a:rPr lang="ru-RU" altLang="ru-RU" sz="2000" kern="0" dirty="0" smtClean="0"/>
              <a:t>основы – Символ-Плюс, Питер, 2002.</a:t>
            </a:r>
          </a:p>
          <a:p>
            <a:endParaRPr lang="ru-RU" altLang="ru-RU" sz="2000" kern="0" dirty="0" smtClean="0"/>
          </a:p>
        </p:txBody>
      </p:sp>
      <p:pic>
        <p:nvPicPr>
          <p:cNvPr id="9" name="Picture 2" descr="UML. Основы. Краткое руководство по стандартному языку объектного моделирования. Мартин Фаулер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357" y="2224315"/>
            <a:ext cx="1928812" cy="269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Содержимое 2"/>
          <p:cNvSpPr txBox="1">
            <a:spLocks/>
          </p:cNvSpPr>
          <p:nvPr/>
        </p:nvSpPr>
        <p:spPr bwMode="auto">
          <a:xfrm>
            <a:off x="4644008" y="1052737"/>
            <a:ext cx="4320480" cy="120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defRPr sz="20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buNone/>
            </a:pPr>
            <a:r>
              <a:rPr lang="ru-RU" altLang="ru-RU" sz="2000" kern="0" dirty="0" smtClean="0"/>
              <a:t>5. Лешек </a:t>
            </a:r>
            <a:r>
              <a:rPr lang="ru-RU" altLang="ru-RU" sz="2000" kern="0" dirty="0" err="1" smtClean="0"/>
              <a:t>Мацяшек</a:t>
            </a:r>
            <a:r>
              <a:rPr lang="ru-RU" altLang="ru-RU" sz="2000" kern="0" dirty="0" smtClean="0"/>
              <a:t> - Анализ требований и проектирование систем – Вильямс,2002</a:t>
            </a:r>
            <a:endParaRPr lang="ru-RU" altLang="ru-RU" sz="2000" kern="0" dirty="0" smtClean="0"/>
          </a:p>
        </p:txBody>
      </p:sp>
      <p:pic>
        <p:nvPicPr>
          <p:cNvPr id="11" name="Picture 2" descr="книга Анализ требований и проектирование систем. Разработка информационных систем с использованием UM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2292635"/>
            <a:ext cx="1944216" cy="271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73552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95536" y="980728"/>
            <a:ext cx="8568952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err="1" smtClean="0"/>
              <a:t>Архітектура</a:t>
            </a:r>
            <a:r>
              <a:rPr lang="ru-RU" sz="2000" dirty="0" smtClean="0"/>
              <a:t> [IEEE 1471] - </a:t>
            </a:r>
            <a:r>
              <a:rPr lang="ru-RU" sz="2000" dirty="0" err="1" smtClean="0"/>
              <a:t>базова</a:t>
            </a:r>
            <a:r>
              <a:rPr lang="ru-RU" sz="2000" dirty="0" smtClean="0"/>
              <a:t> </a:t>
            </a:r>
            <a:r>
              <a:rPr lang="ru-RU" sz="2000" dirty="0" err="1" smtClean="0"/>
              <a:t>організація</a:t>
            </a:r>
            <a:r>
              <a:rPr lang="en-US" sz="2000" dirty="0" smtClean="0"/>
              <a:t> </a:t>
            </a:r>
            <a:r>
              <a:rPr lang="ru-RU" sz="2000" dirty="0" err="1" smtClean="0"/>
              <a:t>системи</a:t>
            </a:r>
            <a:r>
              <a:rPr lang="ru-RU" sz="2000" dirty="0" smtClean="0"/>
              <a:t>, </a:t>
            </a:r>
            <a:r>
              <a:rPr lang="ru-RU" sz="2000" dirty="0" err="1" smtClean="0"/>
              <a:t>втілена</a:t>
            </a:r>
            <a:r>
              <a:rPr lang="ru-RU" sz="2000" dirty="0" smtClean="0"/>
              <a:t> в </a:t>
            </a:r>
            <a:r>
              <a:rPr lang="ru-RU" sz="2000" dirty="0" err="1" smtClean="0"/>
              <a:t>її</a:t>
            </a:r>
            <a:endParaRPr lang="ru-RU" sz="2000" dirty="0" smtClean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 smtClean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000" b="1" dirty="0" smtClean="0">
                <a:solidFill>
                  <a:srgbClr val="0000CC"/>
                </a:solidFill>
              </a:rPr>
              <a:t>компонентах</a:t>
            </a:r>
            <a:r>
              <a:rPr lang="ru-RU" sz="2000" dirty="0" smtClean="0"/>
              <a:t>, </a:t>
            </a:r>
            <a:r>
              <a:rPr lang="ru-RU" sz="2000" dirty="0" err="1" smtClean="0"/>
              <a:t>об'єднаних</a:t>
            </a:r>
            <a:r>
              <a:rPr lang="ru-RU" sz="2000" dirty="0" smtClean="0"/>
              <a:t> для </a:t>
            </a:r>
            <a:r>
              <a:rPr lang="ru-RU" sz="2000" dirty="0" err="1" smtClean="0"/>
              <a:t>виконання</a:t>
            </a:r>
            <a:r>
              <a:rPr lang="ru-RU" sz="2000" dirty="0" smtClean="0"/>
              <a:t> </a:t>
            </a:r>
            <a:r>
              <a:rPr lang="ru-RU" sz="2000" dirty="0" err="1" smtClean="0"/>
              <a:t>певних</a:t>
            </a:r>
            <a:r>
              <a:rPr lang="ru-RU" sz="2000" dirty="0" smtClean="0"/>
              <a:t> </a:t>
            </a:r>
            <a:r>
              <a:rPr lang="ru-RU" sz="2000" dirty="0" err="1" smtClean="0"/>
              <a:t>функцій</a:t>
            </a:r>
            <a:r>
              <a:rPr lang="ru-RU" sz="2000" dirty="0" smtClean="0"/>
              <a:t>,</a:t>
            </a:r>
            <a:endParaRPr lang="en-US" sz="2000" dirty="0" smtClean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ru-RU" sz="2000" dirty="0" smtClean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000" dirty="0" err="1" smtClean="0"/>
              <a:t>їх</a:t>
            </a:r>
            <a:r>
              <a:rPr lang="ru-RU" sz="2000" dirty="0" smtClean="0"/>
              <a:t> </a:t>
            </a:r>
            <a:r>
              <a:rPr lang="ru-RU" sz="2000" b="1" dirty="0" err="1" smtClean="0">
                <a:solidFill>
                  <a:srgbClr val="0000CC"/>
                </a:solidFill>
              </a:rPr>
              <a:t>відносинах</a:t>
            </a:r>
            <a:r>
              <a:rPr lang="ru-RU" sz="2000" dirty="0" smtClean="0">
                <a:solidFill>
                  <a:srgbClr val="0000CC"/>
                </a:solidFill>
              </a:rPr>
              <a:t> </a:t>
            </a:r>
            <a:r>
              <a:rPr lang="ru-RU" sz="2000" dirty="0" err="1" smtClean="0"/>
              <a:t>між</a:t>
            </a:r>
            <a:r>
              <a:rPr lang="ru-RU" sz="2000" dirty="0" smtClean="0"/>
              <a:t> собою і з </a:t>
            </a:r>
            <a:r>
              <a:rPr lang="ru-RU" sz="2000" dirty="0" err="1" smtClean="0"/>
              <a:t>оточенням</a:t>
            </a:r>
            <a:r>
              <a:rPr lang="ru-RU" sz="2000" dirty="0" smtClean="0"/>
              <a:t>, </a:t>
            </a:r>
            <a:r>
              <a:rPr lang="uk-UA" sz="2000" dirty="0" smtClean="0"/>
              <a:t>що </a:t>
            </a:r>
            <a:r>
              <a:rPr lang="ru-RU" sz="2000" dirty="0" err="1" smtClean="0"/>
              <a:t>визначають</a:t>
            </a:r>
            <a:r>
              <a:rPr lang="ru-RU" sz="2000" dirty="0" smtClean="0"/>
              <a:t> </a:t>
            </a:r>
            <a:r>
              <a:rPr lang="ru-RU" sz="2000" dirty="0" err="1" smtClean="0"/>
              <a:t>хід</a:t>
            </a:r>
            <a:r>
              <a:rPr lang="ru-RU" sz="2000" dirty="0" smtClean="0"/>
              <a:t> і </a:t>
            </a:r>
            <a:r>
              <a:rPr lang="ru-RU" sz="2000" dirty="0" err="1" smtClean="0"/>
              <a:t>обставини</a:t>
            </a:r>
            <a:r>
              <a:rPr lang="ru-RU" sz="2000" dirty="0" smtClean="0"/>
              <a:t> </a:t>
            </a:r>
            <a:r>
              <a:rPr lang="ru-RU" sz="2000" dirty="0" err="1" smtClean="0"/>
              <a:t>впливів</a:t>
            </a:r>
            <a:r>
              <a:rPr lang="ru-RU" sz="2000" dirty="0" smtClean="0"/>
              <a:t> на систему, а </a:t>
            </a:r>
            <a:r>
              <a:rPr lang="ru-RU" sz="2000" dirty="0" err="1" smtClean="0"/>
              <a:t>також</a:t>
            </a:r>
            <a:endParaRPr lang="ru-RU" sz="2000" dirty="0" smtClean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ru-RU" sz="2000" dirty="0" smtClean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000" b="1" dirty="0" err="1" smtClean="0">
                <a:solidFill>
                  <a:srgbClr val="0000CC"/>
                </a:solidFill>
              </a:rPr>
              <a:t>принципи</a:t>
            </a:r>
            <a:r>
              <a:rPr lang="ru-RU" sz="2000" dirty="0" smtClean="0"/>
              <a:t>, </a:t>
            </a:r>
            <a:r>
              <a:rPr lang="ru-RU" sz="2000" dirty="0" err="1" smtClean="0"/>
              <a:t>що</a:t>
            </a:r>
            <a:r>
              <a:rPr lang="ru-RU" sz="2000" dirty="0" smtClean="0"/>
              <a:t> </a:t>
            </a:r>
            <a:r>
              <a:rPr lang="ru-RU" sz="2000" dirty="0" err="1" smtClean="0"/>
              <a:t>визначають</a:t>
            </a:r>
            <a:r>
              <a:rPr lang="ru-RU" sz="2000" dirty="0" smtClean="0"/>
              <a:t> </a:t>
            </a:r>
            <a:r>
              <a:rPr lang="ru-RU" sz="2000" dirty="0" err="1" smtClean="0"/>
              <a:t>проектування</a:t>
            </a:r>
            <a:r>
              <a:rPr lang="ru-RU" sz="2000" dirty="0" smtClean="0"/>
              <a:t> і </a:t>
            </a:r>
            <a:r>
              <a:rPr lang="ru-RU" sz="2000" dirty="0" err="1" smtClean="0"/>
              <a:t>розвиток</a:t>
            </a:r>
            <a:r>
              <a:rPr lang="ru-RU" sz="2000" dirty="0" smtClean="0"/>
              <a:t> </a:t>
            </a:r>
            <a:r>
              <a:rPr lang="ru-RU" sz="2000" dirty="0" err="1" smtClean="0"/>
              <a:t>системи</a:t>
            </a:r>
            <a:r>
              <a:rPr lang="ru-RU" sz="2000" dirty="0" smtClean="0"/>
              <a:t>.</a:t>
            </a:r>
          </a:p>
          <a:p>
            <a:endParaRPr lang="ru-RU" sz="2000" dirty="0" smtClean="0"/>
          </a:p>
          <a:p>
            <a:r>
              <a:rPr lang="ru-RU" sz="2000" dirty="0" smtClean="0">
                <a:solidFill>
                  <a:srgbClr val="C00000"/>
                </a:solidFill>
              </a:rPr>
              <a:t>Є </a:t>
            </a:r>
            <a:r>
              <a:rPr lang="ru-RU" sz="2000" dirty="0" err="1" smtClean="0">
                <a:solidFill>
                  <a:srgbClr val="C00000"/>
                </a:solidFill>
              </a:rPr>
              <a:t>реалізацією</a:t>
            </a:r>
            <a:r>
              <a:rPr lang="ru-RU" sz="2000" dirty="0" smtClean="0">
                <a:solidFill>
                  <a:srgbClr val="C00000"/>
                </a:solidFill>
              </a:rPr>
              <a:t> </a:t>
            </a:r>
            <a:r>
              <a:rPr lang="ru-RU" sz="2000" dirty="0" err="1" smtClean="0">
                <a:solidFill>
                  <a:srgbClr val="C00000"/>
                </a:solidFill>
              </a:rPr>
              <a:t>нефункціональних</a:t>
            </a:r>
            <a:r>
              <a:rPr lang="ru-RU" sz="2000" dirty="0" smtClean="0">
                <a:solidFill>
                  <a:srgbClr val="C00000"/>
                </a:solidFill>
              </a:rPr>
              <a:t> </a:t>
            </a:r>
            <a:r>
              <a:rPr lang="ru-RU" sz="2000" dirty="0" err="1" smtClean="0">
                <a:solidFill>
                  <a:srgbClr val="C00000"/>
                </a:solidFill>
              </a:rPr>
              <a:t>вимог</a:t>
            </a:r>
            <a:r>
              <a:rPr lang="ru-RU" sz="2000" dirty="0" smtClean="0">
                <a:solidFill>
                  <a:srgbClr val="C00000"/>
                </a:solidFill>
              </a:rPr>
              <a:t> до </a:t>
            </a:r>
            <a:r>
              <a:rPr lang="ru-RU" sz="2000" dirty="0" err="1" smtClean="0">
                <a:solidFill>
                  <a:srgbClr val="C00000"/>
                </a:solidFill>
              </a:rPr>
              <a:t>системи</a:t>
            </a:r>
            <a:r>
              <a:rPr lang="ru-RU" sz="2000" dirty="0" smtClean="0">
                <a:solidFill>
                  <a:srgbClr val="C00000"/>
                </a:solidFill>
              </a:rPr>
              <a:t>, в той час як </a:t>
            </a:r>
            <a:r>
              <a:rPr lang="ru-RU" sz="2000" dirty="0" err="1" smtClean="0">
                <a:solidFill>
                  <a:srgbClr val="C00000"/>
                </a:solidFill>
              </a:rPr>
              <a:t>проектування</a:t>
            </a:r>
            <a:r>
              <a:rPr lang="ru-RU" sz="2000" dirty="0" smtClean="0">
                <a:solidFill>
                  <a:srgbClr val="C00000"/>
                </a:solidFill>
              </a:rPr>
              <a:t> ПО - </a:t>
            </a:r>
            <a:r>
              <a:rPr lang="ru-RU" sz="2000" dirty="0" err="1" smtClean="0">
                <a:solidFill>
                  <a:srgbClr val="C00000"/>
                </a:solidFill>
              </a:rPr>
              <a:t>реалізація</a:t>
            </a:r>
            <a:r>
              <a:rPr lang="ru-RU" sz="2000" dirty="0" smtClean="0">
                <a:solidFill>
                  <a:srgbClr val="C00000"/>
                </a:solidFill>
              </a:rPr>
              <a:t> </a:t>
            </a:r>
            <a:r>
              <a:rPr lang="ru-RU" sz="2000" dirty="0" err="1" smtClean="0">
                <a:solidFill>
                  <a:srgbClr val="C00000"/>
                </a:solidFill>
              </a:rPr>
              <a:t>функціональних</a:t>
            </a:r>
            <a:r>
              <a:rPr lang="ru-RU" sz="2000" dirty="0" smtClean="0">
                <a:solidFill>
                  <a:srgbClr val="C00000"/>
                </a:solidFill>
              </a:rPr>
              <a:t> </a:t>
            </a:r>
            <a:r>
              <a:rPr lang="ru-RU" sz="2000" dirty="0" err="1" smtClean="0">
                <a:solidFill>
                  <a:srgbClr val="C00000"/>
                </a:solidFill>
              </a:rPr>
              <a:t>вимог</a:t>
            </a:r>
            <a:r>
              <a:rPr lang="ru-RU" sz="2000" dirty="0" smtClean="0">
                <a:solidFill>
                  <a:srgbClr val="C00000"/>
                </a:solidFill>
              </a:rPr>
              <a:t>.</a:t>
            </a:r>
            <a:endParaRPr lang="ru-RU" sz="2000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-108520" y="-13216"/>
            <a:ext cx="92525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sz="3200" b="1" dirty="0" smtClean="0">
                <a:solidFill>
                  <a:schemeClr val="bg1"/>
                </a:solidFill>
              </a:rPr>
              <a:t>Визначення архітектури ПЗ</a:t>
            </a:r>
            <a:endParaRPr lang="uk-UA" sz="32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3244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79512" y="980728"/>
            <a:ext cx="8784976" cy="466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uk-UA" b="1" dirty="0" smtClean="0"/>
              <a:t>Архітектура</a:t>
            </a:r>
            <a:r>
              <a:rPr lang="uk-UA" dirty="0" smtClean="0"/>
              <a:t> – це: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uk-UA" dirty="0" smtClean="0"/>
              <a:t> набір значущих рішень з приводу організації системи програмного забезпечення, 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uk-UA" dirty="0" smtClean="0"/>
              <a:t>набір структурних елементів і їх інтерфейсів, за допомогою яких компонується система, 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uk-UA" dirty="0" smtClean="0"/>
              <a:t>їх поведінка, обумовлена у взаємодії між цими елементами, 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uk-UA" dirty="0" smtClean="0"/>
              <a:t>компонування елементів в </a:t>
            </a:r>
            <a:r>
              <a:rPr lang="uk-UA" dirty="0" smtClean="0"/>
              <a:t>підсистеми, що </a:t>
            </a:r>
            <a:r>
              <a:rPr lang="uk-UA" dirty="0" smtClean="0"/>
              <a:t>поступово укрупнюються, 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uk-UA" dirty="0" smtClean="0"/>
              <a:t>а також стиль архітектури який направляє цю організацію - елементи та їх інтерфейси, взаємодії і компоновку.</a:t>
            </a:r>
          </a:p>
          <a:p>
            <a:pPr>
              <a:spcBef>
                <a:spcPts val="600"/>
              </a:spcBef>
            </a:pPr>
            <a:r>
              <a:rPr lang="uk-UA" b="1" dirty="0" smtClean="0"/>
              <a:t>Архітектура програми або комп'ютерної системи </a:t>
            </a:r>
            <a:r>
              <a:rPr lang="uk-UA" dirty="0" smtClean="0"/>
              <a:t>- це структура або структури системи, які включають 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uk-UA" dirty="0" smtClean="0"/>
              <a:t>елементи програми, 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uk-UA" dirty="0" smtClean="0"/>
              <a:t>видимі ззовні властивості цих елементів 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uk-UA" dirty="0" smtClean="0"/>
              <a:t>і зв'язки між ними.</a:t>
            </a:r>
            <a:endParaRPr lang="uk-UA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-108520" y="-13216"/>
            <a:ext cx="92525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sz="3200" b="1" dirty="0" smtClean="0">
                <a:solidFill>
                  <a:schemeClr val="bg1"/>
                </a:solidFill>
              </a:rPr>
              <a:t>Визначення архітектури ПЗ</a:t>
            </a:r>
            <a:endParaRPr lang="uk-UA" sz="32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-108520" y="-13216"/>
            <a:ext cx="92525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sz="3200" b="1" dirty="0" smtClean="0">
                <a:solidFill>
                  <a:schemeClr val="bg1"/>
                </a:solidFill>
              </a:rPr>
              <a:t>Визначення архітектури ПЗ</a:t>
            </a:r>
            <a:endParaRPr lang="uk-UA" sz="3200" b="1" dirty="0" smtClean="0">
              <a:solidFill>
                <a:schemeClr val="bg1"/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23528" y="836712"/>
            <a:ext cx="864096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sz="2000" b="1" dirty="0" smtClean="0"/>
              <a:t>Архітектура</a:t>
            </a:r>
            <a:r>
              <a:rPr lang="uk-UA" sz="2000" dirty="0" smtClean="0"/>
              <a:t> - це структура організації та пов'язане з нею поводження системи. </a:t>
            </a:r>
          </a:p>
          <a:p>
            <a:r>
              <a:rPr lang="uk-UA" sz="2000" dirty="0" smtClean="0"/>
              <a:t>Архітектуру можна рекурсивно розібрати на частини, які взаємодіють за допомогою інтерфейсів, зв'язку, які з'єднують частини, і умови складання частин. </a:t>
            </a:r>
          </a:p>
          <a:p>
            <a:r>
              <a:rPr lang="uk-UA" sz="2000" dirty="0" smtClean="0"/>
              <a:t>Частини, які взаємодіють через інтерфейси, включають класи, компоненти і підсистеми. [5]</a:t>
            </a:r>
          </a:p>
          <a:p>
            <a:endParaRPr lang="uk-UA" sz="2000" dirty="0" smtClean="0"/>
          </a:p>
          <a:p>
            <a:r>
              <a:rPr lang="uk-UA" sz="2000" b="1" dirty="0" smtClean="0"/>
              <a:t>Архітектура програмного забезпечення системи </a:t>
            </a:r>
            <a:r>
              <a:rPr lang="uk-UA" sz="2000" dirty="0" smtClean="0"/>
              <a:t>або набору систем складається з усіх важливих проектних рішень з приводу структур програми і взаємодій між цими структурами, які складають системи. </a:t>
            </a:r>
          </a:p>
          <a:p>
            <a:endParaRPr lang="uk-UA" sz="2000" dirty="0" smtClean="0"/>
          </a:p>
          <a:p>
            <a:r>
              <a:rPr lang="uk-UA" sz="2000" dirty="0" smtClean="0"/>
              <a:t>Проектні рішення забезпечують бажаний набір властивостей, які повинна підтримувати система, щоб бути успішною. </a:t>
            </a:r>
          </a:p>
          <a:p>
            <a:r>
              <a:rPr lang="uk-UA" sz="2000" dirty="0" smtClean="0"/>
              <a:t>Проектні рішення надають концептуальну основу для розробки системи, її підтримки та обслуговування.</a:t>
            </a:r>
            <a:endParaRPr lang="uk-UA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51520" y="1124744"/>
            <a:ext cx="8568952" cy="46320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ru-RU" sz="2000" dirty="0" err="1" smtClean="0">
                <a:solidFill>
                  <a:srgbClr val="0000CC"/>
                </a:solidFill>
              </a:rPr>
              <a:t>Учасник</a:t>
            </a:r>
            <a:r>
              <a:rPr lang="ru-RU" sz="2000" dirty="0" smtClean="0">
                <a:solidFill>
                  <a:srgbClr val="0000CC"/>
                </a:solidFill>
              </a:rPr>
              <a:t> (</a:t>
            </a:r>
            <a:r>
              <a:rPr lang="ru-RU" sz="2000" dirty="0" err="1" smtClean="0">
                <a:solidFill>
                  <a:srgbClr val="0000CC"/>
                </a:solidFill>
              </a:rPr>
              <a:t>зацікавлена</a:t>
            </a:r>
            <a:r>
              <a:rPr lang="ru-RU" sz="2000" dirty="0" smtClean="0">
                <a:solidFill>
                  <a:srgbClr val="0000CC"/>
                </a:solidFill>
              </a:rPr>
              <a:t> ​​сторона</a:t>
            </a:r>
            <a:r>
              <a:rPr lang="ru-RU" sz="2000" dirty="0" smtClean="0"/>
              <a:t>) - будь-яка </a:t>
            </a:r>
            <a:r>
              <a:rPr lang="ru-RU" sz="2000" dirty="0" err="1" smtClean="0"/>
              <a:t>людина</a:t>
            </a:r>
            <a:r>
              <a:rPr lang="ru-RU" sz="2000" dirty="0" smtClean="0"/>
              <a:t>, </a:t>
            </a:r>
            <a:r>
              <a:rPr lang="ru-RU" sz="2000" dirty="0" err="1" smtClean="0"/>
              <a:t>має</a:t>
            </a:r>
            <a:r>
              <a:rPr lang="ru-RU" sz="2000" dirty="0" smtClean="0"/>
              <a:t> </a:t>
            </a:r>
            <a:r>
              <a:rPr lang="ru-RU" sz="2000" dirty="0" err="1" smtClean="0"/>
              <a:t>повноваження</a:t>
            </a:r>
            <a:r>
              <a:rPr lang="ru-RU" sz="2000" dirty="0" smtClean="0"/>
              <a:t> </a:t>
            </a:r>
            <a:r>
              <a:rPr lang="ru-RU" sz="2000" dirty="0" err="1" smtClean="0"/>
              <a:t>зацікавлений</a:t>
            </a:r>
            <a:r>
              <a:rPr lang="ru-RU" sz="2000" dirty="0" smtClean="0"/>
              <a:t> в </a:t>
            </a:r>
            <a:r>
              <a:rPr lang="ru-RU" sz="2000" dirty="0" err="1" smtClean="0"/>
              <a:t>проекті</a:t>
            </a:r>
            <a:r>
              <a:rPr lang="ru-RU" sz="2000" dirty="0" smtClean="0"/>
              <a:t>. </a:t>
            </a:r>
            <a:r>
              <a:rPr lang="ru-RU" sz="2000" dirty="0" err="1" smtClean="0"/>
              <a:t>Наприклад</a:t>
            </a:r>
            <a:r>
              <a:rPr lang="ru-RU" sz="2000" dirty="0" smtClean="0"/>
              <a:t>, </a:t>
            </a:r>
            <a:r>
              <a:rPr lang="ru-RU" sz="2000" dirty="0" err="1" smtClean="0"/>
              <a:t>замовники</a:t>
            </a:r>
            <a:r>
              <a:rPr lang="ru-RU" sz="2000" dirty="0" smtClean="0"/>
              <a:t>, </a:t>
            </a:r>
            <a:r>
              <a:rPr lang="ru-RU" sz="2000" dirty="0" err="1" smtClean="0"/>
              <a:t>розробники</a:t>
            </a:r>
            <a:r>
              <a:rPr lang="ru-RU" sz="2000" dirty="0" smtClean="0"/>
              <a:t>, </a:t>
            </a:r>
            <a:r>
              <a:rPr lang="ru-RU" sz="2000" dirty="0" err="1" smtClean="0"/>
              <a:t>обслуговуючий</a:t>
            </a:r>
            <a:r>
              <a:rPr lang="ru-RU" sz="2000" dirty="0" smtClean="0"/>
              <a:t> персонал, </a:t>
            </a:r>
            <a:r>
              <a:rPr lang="ru-RU" sz="2000" dirty="0" err="1" smtClean="0"/>
              <a:t>керівництво</a:t>
            </a:r>
            <a:r>
              <a:rPr lang="ru-RU" sz="2000" dirty="0" smtClean="0"/>
              <a:t>.</a:t>
            </a:r>
          </a:p>
          <a:p>
            <a:pPr>
              <a:spcBef>
                <a:spcPts val="600"/>
              </a:spcBef>
            </a:pPr>
            <a:r>
              <a:rPr lang="ru-RU" sz="2000" dirty="0" smtClean="0">
                <a:solidFill>
                  <a:srgbClr val="0000CC"/>
                </a:solidFill>
              </a:rPr>
              <a:t>Точка </a:t>
            </a:r>
            <a:r>
              <a:rPr lang="ru-RU" sz="2000" dirty="0" err="1" smtClean="0">
                <a:solidFill>
                  <a:srgbClr val="0000CC"/>
                </a:solidFill>
              </a:rPr>
              <a:t>зору</a:t>
            </a:r>
            <a:r>
              <a:rPr lang="ru-RU" sz="2000" dirty="0" smtClean="0">
                <a:solidFill>
                  <a:srgbClr val="0000CC"/>
                </a:solidFill>
              </a:rPr>
              <a:t> (</a:t>
            </a:r>
            <a:r>
              <a:rPr lang="ru-RU" sz="2000" dirty="0" err="1" smtClean="0">
                <a:solidFill>
                  <a:srgbClr val="0000CC"/>
                </a:solidFill>
              </a:rPr>
              <a:t>разер</a:t>
            </a:r>
            <a:r>
              <a:rPr lang="ru-RU" sz="2000" dirty="0" smtClean="0"/>
              <a:t>) - шаблон </a:t>
            </a:r>
            <a:r>
              <a:rPr lang="ru-RU" sz="2000" dirty="0" err="1" smtClean="0"/>
              <a:t>або</a:t>
            </a:r>
            <a:r>
              <a:rPr lang="ru-RU" sz="2000" dirty="0" smtClean="0"/>
              <a:t> </a:t>
            </a:r>
            <a:r>
              <a:rPr lang="ru-RU" sz="2000" dirty="0" err="1" smtClean="0"/>
              <a:t>узагальнення</a:t>
            </a:r>
            <a:r>
              <a:rPr lang="ru-RU" sz="2000" dirty="0" smtClean="0"/>
              <a:t> </a:t>
            </a:r>
            <a:r>
              <a:rPr lang="ru-RU" sz="2000" dirty="0" err="1" smtClean="0"/>
              <a:t>уявлення</a:t>
            </a:r>
            <a:r>
              <a:rPr lang="ru-RU" sz="2000" dirty="0" smtClean="0"/>
              <a:t>, </a:t>
            </a:r>
            <a:r>
              <a:rPr lang="ru-RU" sz="2000" dirty="0" err="1" smtClean="0"/>
              <a:t>задає</a:t>
            </a:r>
            <a:r>
              <a:rPr lang="ru-RU" sz="2000" dirty="0" smtClean="0"/>
              <a:t> правила для </a:t>
            </a:r>
            <a:r>
              <a:rPr lang="ru-RU" sz="2000" dirty="0" err="1" smtClean="0"/>
              <a:t>уявлень</a:t>
            </a:r>
            <a:r>
              <a:rPr lang="ru-RU" sz="2000" dirty="0" smtClean="0"/>
              <a:t>. Точки </a:t>
            </a:r>
            <a:r>
              <a:rPr lang="ru-RU" sz="2000" dirty="0" err="1" smtClean="0"/>
              <a:t>зору</a:t>
            </a:r>
            <a:r>
              <a:rPr lang="ru-RU" sz="2000" dirty="0" smtClean="0"/>
              <a:t> </a:t>
            </a:r>
            <a:r>
              <a:rPr lang="ru-RU" sz="2000" dirty="0" err="1" smtClean="0"/>
              <a:t>підбираються</a:t>
            </a:r>
            <a:r>
              <a:rPr lang="ru-RU" sz="2000" dirty="0" smtClean="0"/>
              <a:t> </a:t>
            </a:r>
            <a:r>
              <a:rPr lang="ru-RU" sz="2000" dirty="0" err="1" smtClean="0"/>
              <a:t>відповідно</a:t>
            </a:r>
            <a:r>
              <a:rPr lang="ru-RU" sz="2000" dirty="0" smtClean="0"/>
              <a:t> до </a:t>
            </a:r>
            <a:r>
              <a:rPr lang="ru-RU" sz="2000" dirty="0" err="1" smtClean="0"/>
              <a:t>міркуваннями</a:t>
            </a:r>
            <a:r>
              <a:rPr lang="ru-RU" sz="2000" dirty="0" smtClean="0"/>
              <a:t> </a:t>
            </a:r>
            <a:r>
              <a:rPr lang="ru-RU" sz="2000" dirty="0" err="1" smtClean="0"/>
              <a:t>учасників</a:t>
            </a:r>
            <a:r>
              <a:rPr lang="ru-RU" sz="2000" dirty="0" smtClean="0"/>
              <a:t>. </a:t>
            </a:r>
            <a:r>
              <a:rPr lang="ru-RU" sz="2000" dirty="0" err="1" smtClean="0"/>
              <a:t>Наприклад</a:t>
            </a:r>
            <a:r>
              <a:rPr lang="ru-RU" sz="2000" dirty="0" smtClean="0"/>
              <a:t>, точка </a:t>
            </a:r>
            <a:r>
              <a:rPr lang="ru-RU" sz="2000" dirty="0" err="1" smtClean="0"/>
              <a:t>зору</a:t>
            </a:r>
            <a:r>
              <a:rPr lang="ru-RU" sz="2000" dirty="0" smtClean="0"/>
              <a:t> </a:t>
            </a:r>
            <a:r>
              <a:rPr lang="ru-RU" sz="2000" dirty="0" err="1" smtClean="0"/>
              <a:t>розгортання</a:t>
            </a:r>
            <a:r>
              <a:rPr lang="ru-RU" sz="2000" dirty="0" smtClean="0"/>
              <a:t>, точка </a:t>
            </a:r>
            <a:r>
              <a:rPr lang="ru-RU" sz="2000" dirty="0" err="1" smtClean="0"/>
              <a:t>зору</a:t>
            </a:r>
            <a:r>
              <a:rPr lang="ru-RU" sz="2000" dirty="0" smtClean="0"/>
              <a:t> </a:t>
            </a:r>
            <a:r>
              <a:rPr lang="ru-RU" sz="2000" dirty="0" err="1" smtClean="0"/>
              <a:t>захисту</a:t>
            </a:r>
            <a:r>
              <a:rPr lang="ru-RU" sz="2000" dirty="0" smtClean="0"/>
              <a:t> </a:t>
            </a:r>
            <a:r>
              <a:rPr lang="ru-RU" sz="2000" dirty="0" err="1" smtClean="0"/>
              <a:t>безпеки</a:t>
            </a:r>
            <a:r>
              <a:rPr lang="ru-RU" sz="2000" dirty="0" smtClean="0"/>
              <a:t>, точка </a:t>
            </a:r>
            <a:r>
              <a:rPr lang="ru-RU" sz="2000" dirty="0" err="1" smtClean="0"/>
              <a:t>зору</a:t>
            </a:r>
            <a:r>
              <a:rPr lang="ru-RU" sz="2000" dirty="0" smtClean="0"/>
              <a:t> </a:t>
            </a:r>
            <a:r>
              <a:rPr lang="ru-RU" sz="2000" dirty="0" err="1" smtClean="0"/>
              <a:t>надійності</a:t>
            </a:r>
            <a:r>
              <a:rPr lang="ru-RU" sz="2000" dirty="0" smtClean="0"/>
              <a:t>.</a:t>
            </a:r>
          </a:p>
          <a:p>
            <a:pPr>
              <a:spcBef>
                <a:spcPts val="600"/>
              </a:spcBef>
            </a:pPr>
            <a:r>
              <a:rPr lang="ru-RU" sz="2000" dirty="0" err="1" smtClean="0">
                <a:solidFill>
                  <a:srgbClr val="0000CC"/>
                </a:solidFill>
              </a:rPr>
              <a:t>Уявлення</a:t>
            </a:r>
            <a:r>
              <a:rPr lang="ru-RU" sz="2000" dirty="0" smtClean="0">
                <a:solidFill>
                  <a:srgbClr val="0000CC"/>
                </a:solidFill>
              </a:rPr>
              <a:t> </a:t>
            </a:r>
            <a:r>
              <a:rPr lang="ru-RU" sz="2000" dirty="0" smtClean="0"/>
              <a:t>- </a:t>
            </a:r>
            <a:r>
              <a:rPr lang="ru-RU" sz="2000" dirty="0" err="1" smtClean="0"/>
              <a:t>це</a:t>
            </a:r>
            <a:r>
              <a:rPr lang="ru-RU" sz="2000" dirty="0" smtClean="0"/>
              <a:t> </a:t>
            </a:r>
            <a:r>
              <a:rPr lang="ru-RU" sz="2000" dirty="0" err="1" smtClean="0"/>
              <a:t>відображення</a:t>
            </a:r>
            <a:r>
              <a:rPr lang="ru-RU" sz="2000" dirty="0" smtClean="0"/>
              <a:t> </a:t>
            </a:r>
            <a:r>
              <a:rPr lang="ru-RU" sz="2000" dirty="0" err="1" smtClean="0"/>
              <a:t>цілої</a:t>
            </a:r>
            <a:r>
              <a:rPr lang="ru-RU" sz="2000" dirty="0" smtClean="0"/>
              <a:t> </a:t>
            </a:r>
            <a:r>
              <a:rPr lang="ru-RU" sz="2000" dirty="0" err="1" smtClean="0"/>
              <a:t>системи</a:t>
            </a:r>
            <a:r>
              <a:rPr lang="ru-RU" sz="2000" dirty="0" smtClean="0"/>
              <a:t> через призму </a:t>
            </a:r>
            <a:r>
              <a:rPr lang="ru-RU" sz="2000" dirty="0" err="1" smtClean="0"/>
              <a:t>певних</a:t>
            </a:r>
            <a:r>
              <a:rPr lang="ru-RU" sz="2000" dirty="0" smtClean="0"/>
              <a:t> </a:t>
            </a:r>
            <a:r>
              <a:rPr lang="ru-RU" sz="2000" dirty="0" err="1" smtClean="0"/>
              <a:t>поглядів</a:t>
            </a:r>
            <a:r>
              <a:rPr lang="ru-RU" sz="2000" dirty="0" smtClean="0"/>
              <a:t>. </a:t>
            </a:r>
            <a:r>
              <a:rPr lang="ru-RU" sz="2000" dirty="0" err="1" smtClean="0"/>
              <a:t>Подання</a:t>
            </a:r>
            <a:r>
              <a:rPr lang="ru-RU" sz="2000" dirty="0" smtClean="0"/>
              <a:t> </a:t>
            </a:r>
            <a:r>
              <a:rPr lang="ru-RU" sz="2000" dirty="0" err="1" smtClean="0"/>
              <a:t>можна</a:t>
            </a:r>
            <a:r>
              <a:rPr lang="ru-RU" sz="2000" dirty="0" smtClean="0"/>
              <a:t> </a:t>
            </a:r>
            <a:r>
              <a:rPr lang="ru-RU" sz="2000" dirty="0" err="1" smtClean="0"/>
              <a:t>розглядати</a:t>
            </a:r>
            <a:r>
              <a:rPr lang="ru-RU" sz="2000" dirty="0" smtClean="0"/>
              <a:t> як </a:t>
            </a:r>
            <a:r>
              <a:rPr lang="ru-RU" sz="2000" dirty="0" err="1" smtClean="0"/>
              <a:t>екземпляр</a:t>
            </a:r>
            <a:r>
              <a:rPr lang="ru-RU" sz="2000" dirty="0" smtClean="0"/>
              <a:t> точки </a:t>
            </a:r>
            <a:r>
              <a:rPr lang="ru-RU" sz="2000" dirty="0" err="1" smtClean="0"/>
              <a:t>зору</a:t>
            </a:r>
            <a:r>
              <a:rPr lang="ru-RU" sz="2000" dirty="0" smtClean="0"/>
              <a:t>. </a:t>
            </a:r>
            <a:r>
              <a:rPr lang="ru-RU" sz="2000" dirty="0" err="1" smtClean="0"/>
              <a:t>Подання</a:t>
            </a:r>
            <a:r>
              <a:rPr lang="ru-RU" sz="2000" dirty="0" smtClean="0"/>
              <a:t> </a:t>
            </a:r>
            <a:r>
              <a:rPr lang="ru-RU" sz="2000" dirty="0" err="1" smtClean="0"/>
              <a:t>складається</a:t>
            </a:r>
            <a:r>
              <a:rPr lang="ru-RU" sz="2000" dirty="0" smtClean="0"/>
              <a:t> з </a:t>
            </a:r>
            <a:r>
              <a:rPr lang="ru-RU" sz="2000" dirty="0" err="1" smtClean="0"/>
              <a:t>однієї</a:t>
            </a:r>
            <a:r>
              <a:rPr lang="ru-RU" sz="2000" dirty="0" smtClean="0"/>
              <a:t> </a:t>
            </a:r>
            <a:r>
              <a:rPr lang="ru-RU" sz="2000" dirty="0" err="1" smtClean="0"/>
              <a:t>або</a:t>
            </a:r>
            <a:r>
              <a:rPr lang="ru-RU" sz="2000" dirty="0" smtClean="0"/>
              <a:t> </a:t>
            </a:r>
            <a:r>
              <a:rPr lang="ru-RU" sz="2000" dirty="0" err="1" smtClean="0"/>
              <a:t>декількох</a:t>
            </a:r>
            <a:r>
              <a:rPr lang="ru-RU" sz="2000" dirty="0" smtClean="0"/>
              <a:t> моделей.</a:t>
            </a:r>
          </a:p>
          <a:p>
            <a:pPr>
              <a:spcBef>
                <a:spcPts val="600"/>
              </a:spcBef>
            </a:pPr>
            <a:r>
              <a:rPr lang="ru-RU" sz="2000" dirty="0" smtClean="0">
                <a:solidFill>
                  <a:srgbClr val="0000CC"/>
                </a:solidFill>
              </a:rPr>
              <a:t>Модель</a:t>
            </a:r>
            <a:r>
              <a:rPr lang="ru-RU" sz="2000" dirty="0" smtClean="0"/>
              <a:t> - </a:t>
            </a:r>
            <a:r>
              <a:rPr lang="ru-RU" sz="2000" dirty="0" err="1" smtClean="0"/>
              <a:t>це</a:t>
            </a:r>
            <a:r>
              <a:rPr lang="ru-RU" sz="2000" dirty="0" smtClean="0"/>
              <a:t> </a:t>
            </a:r>
            <a:r>
              <a:rPr lang="ru-RU" sz="2000" dirty="0" err="1" smtClean="0"/>
              <a:t>абстракція</a:t>
            </a:r>
            <a:r>
              <a:rPr lang="ru-RU" sz="2000" dirty="0" smtClean="0"/>
              <a:t> </a:t>
            </a:r>
            <a:r>
              <a:rPr lang="ru-RU" sz="2000" dirty="0" err="1" smtClean="0"/>
              <a:t>або</a:t>
            </a:r>
            <a:r>
              <a:rPr lang="ru-RU" sz="2000" dirty="0" smtClean="0"/>
              <a:t> </a:t>
            </a:r>
            <a:r>
              <a:rPr lang="ru-RU" sz="2000" dirty="0" err="1" smtClean="0"/>
              <a:t>спрощене</a:t>
            </a:r>
            <a:r>
              <a:rPr lang="ru-RU" sz="2000" dirty="0" smtClean="0"/>
              <a:t> </a:t>
            </a:r>
            <a:r>
              <a:rPr lang="ru-RU" sz="2000" dirty="0" err="1" smtClean="0"/>
              <a:t>відображення</a:t>
            </a:r>
            <a:r>
              <a:rPr lang="ru-RU" sz="2000" dirty="0" smtClean="0"/>
              <a:t> </a:t>
            </a:r>
            <a:r>
              <a:rPr lang="ru-RU" sz="2000" dirty="0" err="1" smtClean="0"/>
              <a:t>системи</a:t>
            </a:r>
            <a:r>
              <a:rPr lang="ru-RU" sz="2000" dirty="0" smtClean="0"/>
              <a:t> </a:t>
            </a:r>
            <a:r>
              <a:rPr lang="ru-RU" sz="2000" dirty="0" err="1" smtClean="0"/>
              <a:t>або</a:t>
            </a:r>
            <a:r>
              <a:rPr lang="ru-RU" sz="2000" dirty="0" smtClean="0"/>
              <a:t> </a:t>
            </a:r>
            <a:r>
              <a:rPr lang="ru-RU" sz="2000" dirty="0" err="1" smtClean="0"/>
              <a:t>її</a:t>
            </a:r>
            <a:r>
              <a:rPr lang="ru-RU" sz="2000" dirty="0" smtClean="0"/>
              <a:t> </a:t>
            </a:r>
            <a:r>
              <a:rPr lang="ru-RU" sz="2000" dirty="0" err="1" smtClean="0"/>
              <a:t>частини</a:t>
            </a:r>
            <a:r>
              <a:rPr lang="ru-RU" sz="2000" dirty="0" smtClean="0"/>
              <a:t>: UML (</a:t>
            </a:r>
            <a:r>
              <a:rPr lang="ru-RU" sz="2000" dirty="0" err="1" smtClean="0"/>
              <a:t>універсальна</a:t>
            </a:r>
            <a:r>
              <a:rPr lang="ru-RU" sz="2000" dirty="0" smtClean="0"/>
              <a:t> </a:t>
            </a:r>
            <a:r>
              <a:rPr lang="ru-RU" sz="2000" dirty="0" err="1" smtClean="0"/>
              <a:t>мова</a:t>
            </a:r>
            <a:r>
              <a:rPr lang="ru-RU" sz="2000" dirty="0" smtClean="0"/>
              <a:t> </a:t>
            </a:r>
            <a:r>
              <a:rPr lang="ru-RU" sz="2000" dirty="0" err="1" smtClean="0"/>
              <a:t>моделювання</a:t>
            </a:r>
            <a:r>
              <a:rPr lang="ru-RU" sz="2000" dirty="0" smtClean="0"/>
              <a:t>), </a:t>
            </a:r>
            <a:r>
              <a:rPr lang="ru-RU" sz="2000" dirty="0" err="1" smtClean="0"/>
              <a:t>діаграми</a:t>
            </a:r>
            <a:r>
              <a:rPr lang="ru-RU" sz="2000" dirty="0" smtClean="0"/>
              <a:t> </a:t>
            </a:r>
            <a:r>
              <a:rPr lang="ru-RU" sz="2000" dirty="0" err="1" smtClean="0"/>
              <a:t>сутностей</a:t>
            </a:r>
            <a:r>
              <a:rPr lang="ru-RU" sz="2000" dirty="0" smtClean="0"/>
              <a:t> і </a:t>
            </a:r>
            <a:r>
              <a:rPr lang="ru-RU" sz="2000" dirty="0" err="1" smtClean="0"/>
              <a:t>зв'язків</a:t>
            </a:r>
            <a:r>
              <a:rPr lang="ru-RU" sz="2000" dirty="0" smtClean="0"/>
              <a:t> (ER-</a:t>
            </a:r>
            <a:r>
              <a:rPr lang="ru-RU" sz="2000" dirty="0" err="1" smtClean="0"/>
              <a:t>діаграми</a:t>
            </a:r>
            <a:r>
              <a:rPr lang="ru-RU" sz="2000" dirty="0" smtClean="0"/>
              <a:t>), </a:t>
            </a:r>
            <a:r>
              <a:rPr lang="ru-RU" sz="2000" dirty="0" err="1" smtClean="0"/>
              <a:t>нестандартизо</a:t>
            </a:r>
            <a:r>
              <a:rPr lang="ru-RU" sz="2000" dirty="0" smtClean="0"/>
              <a:t> </a:t>
            </a:r>
            <a:r>
              <a:rPr lang="ru-RU" sz="2000" dirty="0" err="1" smtClean="0"/>
              <a:t>системи</a:t>
            </a:r>
            <a:r>
              <a:rPr lang="ru-RU" sz="2000" dirty="0" smtClean="0"/>
              <a:t> </a:t>
            </a:r>
            <a:r>
              <a:rPr lang="ru-RU" sz="2000" dirty="0" err="1" smtClean="0"/>
              <a:t>позначень</a:t>
            </a:r>
            <a:r>
              <a:rPr lang="ru-RU" sz="2000" dirty="0" smtClean="0"/>
              <a:t> (блок-</a:t>
            </a:r>
            <a:r>
              <a:rPr lang="ru-RU" sz="2000" dirty="0" err="1" smtClean="0"/>
              <a:t>схеми</a:t>
            </a:r>
            <a:r>
              <a:rPr lang="ru-RU" sz="2000" dirty="0" smtClean="0"/>
              <a:t>, </a:t>
            </a:r>
            <a:r>
              <a:rPr lang="ru-RU" sz="2000" dirty="0" err="1" smtClean="0"/>
              <a:t>стрілочні</a:t>
            </a:r>
            <a:r>
              <a:rPr lang="ru-RU" sz="2000" dirty="0" smtClean="0"/>
              <a:t> </a:t>
            </a:r>
            <a:r>
              <a:rPr lang="ru-RU" sz="2000" dirty="0" err="1" smtClean="0"/>
              <a:t>діаграми</a:t>
            </a:r>
            <a:r>
              <a:rPr lang="ru-RU" sz="2000" dirty="0" smtClean="0"/>
              <a:t>).</a:t>
            </a:r>
            <a:endParaRPr lang="ru-RU" sz="20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-108520" y="-13216"/>
            <a:ext cx="9252520" cy="364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algn="ctr">
              <a:lnSpc>
                <a:spcPts val="2140"/>
              </a:lnSpc>
            </a:pPr>
            <a:r>
              <a:rPr lang="ru-RU" sz="2400" b="1" spc="-80" dirty="0" err="1" smtClean="0">
                <a:solidFill>
                  <a:schemeClr val="bg1"/>
                </a:solidFill>
                <a:latin typeface="Arial"/>
              </a:rPr>
              <a:t>Р</a:t>
            </a:r>
            <a:r>
              <a:rPr lang="ru-RU" sz="2400" b="1" spc="-15" dirty="0" err="1" smtClean="0">
                <a:solidFill>
                  <a:schemeClr val="bg1"/>
                </a:solidFill>
                <a:latin typeface="Arial"/>
              </a:rPr>
              <a:t>а</a:t>
            </a:r>
            <a:r>
              <a:rPr lang="ru-RU" sz="2400" b="1" spc="-25" dirty="0" err="1" smtClean="0">
                <a:solidFill>
                  <a:schemeClr val="bg1"/>
                </a:solidFill>
                <a:latin typeface="Arial"/>
              </a:rPr>
              <a:t>мкова</a:t>
            </a:r>
            <a:r>
              <a:rPr lang="ru-RU" sz="2400" b="1" dirty="0" smtClean="0">
                <a:solidFill>
                  <a:schemeClr val="bg1"/>
                </a:solidFill>
                <a:latin typeface="Arial"/>
              </a:rPr>
              <a:t> </a:t>
            </a:r>
            <a:r>
              <a:rPr lang="ru-RU" sz="2400" b="1" spc="-25" dirty="0">
                <a:solidFill>
                  <a:schemeClr val="bg1"/>
                </a:solidFill>
                <a:latin typeface="Arial"/>
              </a:rPr>
              <a:t>м</a:t>
            </a:r>
            <a:r>
              <a:rPr lang="ru-RU" sz="2400" b="1" spc="-45" dirty="0">
                <a:solidFill>
                  <a:schemeClr val="bg1"/>
                </a:solidFill>
                <a:latin typeface="Arial"/>
              </a:rPr>
              <a:t>о</a:t>
            </a:r>
            <a:r>
              <a:rPr lang="ru-RU" sz="2400" b="1" spc="5" dirty="0">
                <a:solidFill>
                  <a:schemeClr val="bg1"/>
                </a:solidFill>
                <a:latin typeface="Arial"/>
              </a:rPr>
              <a:t>д</a:t>
            </a:r>
            <a:r>
              <a:rPr lang="ru-RU" sz="2400" b="1" spc="-75" dirty="0">
                <a:solidFill>
                  <a:schemeClr val="bg1"/>
                </a:solidFill>
                <a:latin typeface="Arial"/>
              </a:rPr>
              <a:t>е</a:t>
            </a:r>
            <a:r>
              <a:rPr lang="ru-RU" sz="2400" b="1" spc="5" dirty="0">
                <a:solidFill>
                  <a:schemeClr val="bg1"/>
                </a:solidFill>
                <a:latin typeface="Arial"/>
              </a:rPr>
              <a:t>л</a:t>
            </a:r>
            <a:r>
              <a:rPr lang="ru-RU" sz="2400" b="1" spc="-10" dirty="0">
                <a:solidFill>
                  <a:schemeClr val="bg1"/>
                </a:solidFill>
                <a:latin typeface="Arial"/>
              </a:rPr>
              <a:t>ь</a:t>
            </a:r>
            <a:r>
              <a:rPr lang="ru-RU" sz="2400" b="1" spc="-5" dirty="0">
                <a:solidFill>
                  <a:schemeClr val="bg1"/>
                </a:solidFill>
                <a:latin typeface="Arial"/>
              </a:rPr>
              <a:t> </a:t>
            </a:r>
            <a:r>
              <a:rPr lang="ru-RU" sz="2400" b="1" spc="-15" dirty="0" err="1" smtClean="0">
                <a:solidFill>
                  <a:schemeClr val="bg1"/>
                </a:solidFill>
                <a:latin typeface="Arial"/>
              </a:rPr>
              <a:t>розробки</a:t>
            </a:r>
            <a:r>
              <a:rPr lang="ru-RU" sz="2400" b="1" dirty="0" smtClean="0">
                <a:solidFill>
                  <a:schemeClr val="bg1"/>
                </a:solidFill>
                <a:latin typeface="Arial"/>
              </a:rPr>
              <a:t> </a:t>
            </a:r>
            <a:r>
              <a:rPr lang="ru-RU" sz="2400" b="1" spc="-5" dirty="0" err="1" smtClean="0">
                <a:solidFill>
                  <a:schemeClr val="bg1"/>
                </a:solidFill>
                <a:latin typeface="Arial"/>
              </a:rPr>
              <a:t>а</a:t>
            </a:r>
            <a:r>
              <a:rPr lang="ru-RU" sz="2400" b="1" spc="-35" dirty="0" err="1" smtClean="0">
                <a:solidFill>
                  <a:schemeClr val="bg1"/>
                </a:solidFill>
                <a:latin typeface="Arial"/>
              </a:rPr>
              <a:t>р</a:t>
            </a:r>
            <a:r>
              <a:rPr lang="ru-RU" sz="2400" b="1" spc="-15" dirty="0" err="1" smtClean="0">
                <a:solidFill>
                  <a:schemeClr val="bg1"/>
                </a:solidFill>
                <a:latin typeface="Arial"/>
              </a:rPr>
              <a:t>хі</a:t>
            </a:r>
            <a:r>
              <a:rPr lang="ru-RU" sz="2400" b="1" spc="-30" dirty="0" err="1" smtClean="0">
                <a:solidFill>
                  <a:schemeClr val="bg1"/>
                </a:solidFill>
                <a:latin typeface="Arial"/>
              </a:rPr>
              <a:t>т</a:t>
            </a:r>
            <a:r>
              <a:rPr lang="ru-RU" sz="2400" b="1" spc="-15" dirty="0" err="1" smtClean="0">
                <a:solidFill>
                  <a:schemeClr val="bg1"/>
                </a:solidFill>
                <a:latin typeface="Arial"/>
              </a:rPr>
              <a:t>е</a:t>
            </a:r>
            <a:r>
              <a:rPr lang="ru-RU" sz="2400" b="1" spc="5" dirty="0" err="1" smtClean="0">
                <a:solidFill>
                  <a:schemeClr val="bg1"/>
                </a:solidFill>
                <a:latin typeface="Arial"/>
              </a:rPr>
              <a:t>к</a:t>
            </a:r>
            <a:r>
              <a:rPr lang="ru-RU" sz="2400" b="1" spc="20" dirty="0" err="1" smtClean="0">
                <a:solidFill>
                  <a:schemeClr val="bg1"/>
                </a:solidFill>
                <a:latin typeface="Arial"/>
              </a:rPr>
              <a:t>т</a:t>
            </a:r>
            <a:r>
              <a:rPr lang="ru-RU" sz="2400" b="1" spc="-40" dirty="0" err="1" smtClean="0">
                <a:solidFill>
                  <a:schemeClr val="bg1"/>
                </a:solidFill>
                <a:latin typeface="Arial"/>
              </a:rPr>
              <a:t>у</a:t>
            </a:r>
            <a:r>
              <a:rPr lang="ru-RU" sz="2400" b="1" spc="-15" dirty="0" err="1" smtClean="0">
                <a:solidFill>
                  <a:schemeClr val="bg1"/>
                </a:solidFill>
                <a:latin typeface="Arial"/>
              </a:rPr>
              <a:t>ри</a:t>
            </a:r>
            <a:r>
              <a:rPr lang="ru-RU" sz="2400" b="1" dirty="0" smtClean="0">
                <a:solidFill>
                  <a:schemeClr val="bg1"/>
                </a:solidFill>
                <a:latin typeface="Arial"/>
              </a:rPr>
              <a:t> </a:t>
            </a:r>
            <a:r>
              <a:rPr lang="ru-RU" sz="2400" b="1" spc="-15" dirty="0">
                <a:solidFill>
                  <a:schemeClr val="bg1"/>
                </a:solidFill>
                <a:latin typeface="Arial"/>
              </a:rPr>
              <a:t>п</a:t>
            </a:r>
            <a:r>
              <a:rPr lang="ru-RU" sz="2400" b="1" dirty="0">
                <a:solidFill>
                  <a:schemeClr val="bg1"/>
                </a:solidFill>
                <a:latin typeface="Arial"/>
              </a:rPr>
              <a:t>о</a:t>
            </a:r>
            <a:r>
              <a:rPr lang="ru-RU" sz="2400" b="1" spc="-5" dirty="0">
                <a:solidFill>
                  <a:schemeClr val="bg1"/>
                </a:solidFill>
                <a:latin typeface="Arial"/>
              </a:rPr>
              <a:t> </a:t>
            </a:r>
            <a:r>
              <a:rPr lang="ru-RU" sz="2400" b="1" dirty="0">
                <a:solidFill>
                  <a:schemeClr val="bg1"/>
                </a:solidFill>
                <a:latin typeface="Arial"/>
              </a:rPr>
              <a:t>I</a:t>
            </a:r>
            <a:r>
              <a:rPr lang="ru-RU" sz="2400" b="1" spc="-20" dirty="0">
                <a:solidFill>
                  <a:schemeClr val="bg1"/>
                </a:solidFill>
                <a:latin typeface="Arial"/>
              </a:rPr>
              <a:t>EE</a:t>
            </a:r>
            <a:r>
              <a:rPr lang="ru-RU" sz="2400" b="1" spc="-15" dirty="0">
                <a:solidFill>
                  <a:schemeClr val="bg1"/>
                </a:solidFill>
                <a:latin typeface="Arial"/>
              </a:rPr>
              <a:t>E</a:t>
            </a:r>
            <a:r>
              <a:rPr lang="ru-RU" sz="2400" b="1" dirty="0">
                <a:solidFill>
                  <a:schemeClr val="bg1"/>
                </a:solidFill>
                <a:latin typeface="Arial"/>
              </a:rPr>
              <a:t> </a:t>
            </a:r>
            <a:r>
              <a:rPr lang="ru-RU" sz="2400" b="1" spc="-5" dirty="0">
                <a:solidFill>
                  <a:schemeClr val="bg1"/>
                </a:solidFill>
                <a:latin typeface="Arial"/>
              </a:rPr>
              <a:t>1</a:t>
            </a:r>
            <a:r>
              <a:rPr lang="ru-RU" sz="2400" b="1" spc="-15" dirty="0">
                <a:solidFill>
                  <a:schemeClr val="bg1"/>
                </a:solidFill>
                <a:latin typeface="Arial"/>
              </a:rPr>
              <a:t>4</a:t>
            </a:r>
            <a:r>
              <a:rPr lang="ru-RU" sz="2400" b="1" spc="-5" dirty="0">
                <a:solidFill>
                  <a:schemeClr val="bg1"/>
                </a:solidFill>
                <a:latin typeface="Arial"/>
              </a:rPr>
              <a:t>71</a:t>
            </a:r>
            <a:endParaRPr lang="ru-RU" sz="2400" b="1" dirty="0">
              <a:solidFill>
                <a:schemeClr val="bg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5555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/>
          <p:cNvSpPr/>
          <p:nvPr/>
        </p:nvSpPr>
        <p:spPr>
          <a:xfrm>
            <a:off x="107504" y="1052736"/>
            <a:ext cx="9036496" cy="45365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Прямоугольник 4"/>
          <p:cNvSpPr/>
          <p:nvPr/>
        </p:nvSpPr>
        <p:spPr>
          <a:xfrm>
            <a:off x="-108520" y="-13216"/>
            <a:ext cx="9252520" cy="364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algn="ctr">
              <a:lnSpc>
                <a:spcPts val="2140"/>
              </a:lnSpc>
            </a:pPr>
            <a:r>
              <a:rPr lang="ru-RU" sz="2400" b="1" spc="-80" dirty="0" err="1" smtClean="0">
                <a:solidFill>
                  <a:schemeClr val="bg1"/>
                </a:solidFill>
                <a:latin typeface="Arial"/>
              </a:rPr>
              <a:t>Р</a:t>
            </a:r>
            <a:r>
              <a:rPr lang="ru-RU" sz="2400" b="1" spc="-15" dirty="0" err="1" smtClean="0">
                <a:solidFill>
                  <a:schemeClr val="bg1"/>
                </a:solidFill>
                <a:latin typeface="Arial"/>
              </a:rPr>
              <a:t>а</a:t>
            </a:r>
            <a:r>
              <a:rPr lang="ru-RU" sz="2400" b="1" spc="-25" dirty="0" err="1" smtClean="0">
                <a:solidFill>
                  <a:schemeClr val="bg1"/>
                </a:solidFill>
                <a:latin typeface="Arial"/>
              </a:rPr>
              <a:t>мкова</a:t>
            </a:r>
            <a:r>
              <a:rPr lang="ru-RU" sz="2400" b="1" dirty="0" smtClean="0">
                <a:solidFill>
                  <a:schemeClr val="bg1"/>
                </a:solidFill>
                <a:latin typeface="Arial"/>
              </a:rPr>
              <a:t> </a:t>
            </a:r>
            <a:r>
              <a:rPr lang="ru-RU" sz="2400" b="1" spc="-25" dirty="0">
                <a:solidFill>
                  <a:schemeClr val="bg1"/>
                </a:solidFill>
                <a:latin typeface="Arial"/>
              </a:rPr>
              <a:t>м</a:t>
            </a:r>
            <a:r>
              <a:rPr lang="ru-RU" sz="2400" b="1" spc="-45" dirty="0">
                <a:solidFill>
                  <a:schemeClr val="bg1"/>
                </a:solidFill>
                <a:latin typeface="Arial"/>
              </a:rPr>
              <a:t>о</a:t>
            </a:r>
            <a:r>
              <a:rPr lang="ru-RU" sz="2400" b="1" spc="5" dirty="0">
                <a:solidFill>
                  <a:schemeClr val="bg1"/>
                </a:solidFill>
                <a:latin typeface="Arial"/>
              </a:rPr>
              <a:t>д</a:t>
            </a:r>
            <a:r>
              <a:rPr lang="ru-RU" sz="2400" b="1" spc="-75" dirty="0">
                <a:solidFill>
                  <a:schemeClr val="bg1"/>
                </a:solidFill>
                <a:latin typeface="Arial"/>
              </a:rPr>
              <a:t>е</a:t>
            </a:r>
            <a:r>
              <a:rPr lang="ru-RU" sz="2400" b="1" spc="5" dirty="0">
                <a:solidFill>
                  <a:schemeClr val="bg1"/>
                </a:solidFill>
                <a:latin typeface="Arial"/>
              </a:rPr>
              <a:t>л</a:t>
            </a:r>
            <a:r>
              <a:rPr lang="ru-RU" sz="2400" b="1" spc="-10" dirty="0">
                <a:solidFill>
                  <a:schemeClr val="bg1"/>
                </a:solidFill>
                <a:latin typeface="Arial"/>
              </a:rPr>
              <a:t>ь</a:t>
            </a:r>
            <a:r>
              <a:rPr lang="ru-RU" sz="2400" b="1" spc="-5" dirty="0">
                <a:solidFill>
                  <a:schemeClr val="bg1"/>
                </a:solidFill>
                <a:latin typeface="Arial"/>
              </a:rPr>
              <a:t> </a:t>
            </a:r>
            <a:r>
              <a:rPr lang="ru-RU" sz="2400" b="1" spc="-15" dirty="0" err="1" smtClean="0">
                <a:solidFill>
                  <a:schemeClr val="bg1"/>
                </a:solidFill>
                <a:latin typeface="Arial"/>
              </a:rPr>
              <a:t>розробки</a:t>
            </a:r>
            <a:r>
              <a:rPr lang="ru-RU" sz="2400" b="1" dirty="0" smtClean="0">
                <a:solidFill>
                  <a:schemeClr val="bg1"/>
                </a:solidFill>
                <a:latin typeface="Arial"/>
              </a:rPr>
              <a:t> </a:t>
            </a:r>
            <a:r>
              <a:rPr lang="ru-RU" sz="2400" b="1" spc="-5" dirty="0" err="1" smtClean="0">
                <a:solidFill>
                  <a:schemeClr val="bg1"/>
                </a:solidFill>
                <a:latin typeface="Arial"/>
              </a:rPr>
              <a:t>а</a:t>
            </a:r>
            <a:r>
              <a:rPr lang="ru-RU" sz="2400" b="1" spc="-35" dirty="0" err="1" smtClean="0">
                <a:solidFill>
                  <a:schemeClr val="bg1"/>
                </a:solidFill>
                <a:latin typeface="Arial"/>
              </a:rPr>
              <a:t>р</a:t>
            </a:r>
            <a:r>
              <a:rPr lang="ru-RU" sz="2400" b="1" spc="-15" dirty="0" err="1" smtClean="0">
                <a:solidFill>
                  <a:schemeClr val="bg1"/>
                </a:solidFill>
                <a:latin typeface="Arial"/>
              </a:rPr>
              <a:t>хі</a:t>
            </a:r>
            <a:r>
              <a:rPr lang="ru-RU" sz="2400" b="1" spc="-30" dirty="0" err="1" smtClean="0">
                <a:solidFill>
                  <a:schemeClr val="bg1"/>
                </a:solidFill>
                <a:latin typeface="Arial"/>
              </a:rPr>
              <a:t>т</a:t>
            </a:r>
            <a:r>
              <a:rPr lang="ru-RU" sz="2400" b="1" spc="-15" dirty="0" err="1" smtClean="0">
                <a:solidFill>
                  <a:schemeClr val="bg1"/>
                </a:solidFill>
                <a:latin typeface="Arial"/>
              </a:rPr>
              <a:t>е</a:t>
            </a:r>
            <a:r>
              <a:rPr lang="ru-RU" sz="2400" b="1" spc="5" dirty="0" err="1" smtClean="0">
                <a:solidFill>
                  <a:schemeClr val="bg1"/>
                </a:solidFill>
                <a:latin typeface="Arial"/>
              </a:rPr>
              <a:t>к</a:t>
            </a:r>
            <a:r>
              <a:rPr lang="ru-RU" sz="2400" b="1" spc="20" dirty="0" err="1" smtClean="0">
                <a:solidFill>
                  <a:schemeClr val="bg1"/>
                </a:solidFill>
                <a:latin typeface="Arial"/>
              </a:rPr>
              <a:t>т</a:t>
            </a:r>
            <a:r>
              <a:rPr lang="ru-RU" sz="2400" b="1" spc="-40" dirty="0" err="1" smtClean="0">
                <a:solidFill>
                  <a:schemeClr val="bg1"/>
                </a:solidFill>
                <a:latin typeface="Arial"/>
              </a:rPr>
              <a:t>у</a:t>
            </a:r>
            <a:r>
              <a:rPr lang="ru-RU" sz="2400" b="1" spc="-15" dirty="0" err="1" smtClean="0">
                <a:solidFill>
                  <a:schemeClr val="bg1"/>
                </a:solidFill>
                <a:latin typeface="Arial"/>
              </a:rPr>
              <a:t>ри</a:t>
            </a:r>
            <a:r>
              <a:rPr lang="ru-RU" sz="2400" b="1" dirty="0" smtClean="0">
                <a:solidFill>
                  <a:schemeClr val="bg1"/>
                </a:solidFill>
                <a:latin typeface="Arial"/>
              </a:rPr>
              <a:t> </a:t>
            </a:r>
            <a:r>
              <a:rPr lang="ru-RU" sz="2400" b="1" spc="-15" dirty="0">
                <a:solidFill>
                  <a:schemeClr val="bg1"/>
                </a:solidFill>
                <a:latin typeface="Arial"/>
              </a:rPr>
              <a:t>п</a:t>
            </a:r>
            <a:r>
              <a:rPr lang="ru-RU" sz="2400" b="1" dirty="0">
                <a:solidFill>
                  <a:schemeClr val="bg1"/>
                </a:solidFill>
                <a:latin typeface="Arial"/>
              </a:rPr>
              <a:t>о</a:t>
            </a:r>
            <a:r>
              <a:rPr lang="ru-RU" sz="2400" b="1" spc="-5" dirty="0">
                <a:solidFill>
                  <a:schemeClr val="bg1"/>
                </a:solidFill>
                <a:latin typeface="Arial"/>
              </a:rPr>
              <a:t> </a:t>
            </a:r>
            <a:r>
              <a:rPr lang="ru-RU" sz="2400" b="1" dirty="0">
                <a:solidFill>
                  <a:schemeClr val="bg1"/>
                </a:solidFill>
                <a:latin typeface="Arial"/>
              </a:rPr>
              <a:t>I</a:t>
            </a:r>
            <a:r>
              <a:rPr lang="ru-RU" sz="2400" b="1" spc="-20" dirty="0">
                <a:solidFill>
                  <a:schemeClr val="bg1"/>
                </a:solidFill>
                <a:latin typeface="Arial"/>
              </a:rPr>
              <a:t>EE</a:t>
            </a:r>
            <a:r>
              <a:rPr lang="ru-RU" sz="2400" b="1" spc="-15" dirty="0">
                <a:solidFill>
                  <a:schemeClr val="bg1"/>
                </a:solidFill>
                <a:latin typeface="Arial"/>
              </a:rPr>
              <a:t>E</a:t>
            </a:r>
            <a:r>
              <a:rPr lang="ru-RU" sz="2400" b="1" dirty="0">
                <a:solidFill>
                  <a:schemeClr val="bg1"/>
                </a:solidFill>
                <a:latin typeface="Arial"/>
              </a:rPr>
              <a:t> </a:t>
            </a:r>
            <a:r>
              <a:rPr lang="ru-RU" sz="2400" b="1" spc="-5" dirty="0">
                <a:solidFill>
                  <a:schemeClr val="bg1"/>
                </a:solidFill>
                <a:latin typeface="Arial"/>
              </a:rPr>
              <a:t>1</a:t>
            </a:r>
            <a:r>
              <a:rPr lang="ru-RU" sz="2400" b="1" spc="-15" dirty="0">
                <a:solidFill>
                  <a:schemeClr val="bg1"/>
                </a:solidFill>
                <a:latin typeface="Arial"/>
              </a:rPr>
              <a:t>4</a:t>
            </a:r>
            <a:r>
              <a:rPr lang="ru-RU" sz="2400" b="1" spc="-5" dirty="0">
                <a:solidFill>
                  <a:schemeClr val="bg1"/>
                </a:solidFill>
                <a:latin typeface="Arial"/>
              </a:rPr>
              <a:t>71</a:t>
            </a:r>
            <a:endParaRPr lang="ru-RU" sz="2400" b="1" dirty="0">
              <a:solidFill>
                <a:schemeClr val="bg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7037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7" name="Picture 7" descr="http://www.piter.com/contents/978546900494/01/01_0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268760"/>
            <a:ext cx="8352928" cy="4415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0" y="29468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 err="1" smtClean="0">
                <a:solidFill>
                  <a:schemeClr val="bg1"/>
                </a:solidFill>
              </a:rPr>
              <a:t>Варіативність</a:t>
            </a:r>
            <a:r>
              <a:rPr lang="ru-RU" sz="2800" b="1" dirty="0" smtClean="0">
                <a:solidFill>
                  <a:schemeClr val="bg1"/>
                </a:solidFill>
              </a:rPr>
              <a:t> </a:t>
            </a:r>
            <a:r>
              <a:rPr lang="ru-RU" sz="2800" b="1" dirty="0" err="1" smtClean="0">
                <a:solidFill>
                  <a:schemeClr val="bg1"/>
                </a:solidFill>
              </a:rPr>
              <a:t>чинників</a:t>
            </a:r>
            <a:r>
              <a:rPr lang="ru-RU" sz="2800" b="1" dirty="0" smtClean="0">
                <a:solidFill>
                  <a:schemeClr val="bg1"/>
                </a:solidFill>
              </a:rPr>
              <a:t> </a:t>
            </a:r>
            <a:r>
              <a:rPr lang="ru-RU" sz="2800" b="1" dirty="0" err="1" smtClean="0">
                <a:solidFill>
                  <a:schemeClr val="bg1"/>
                </a:solidFill>
              </a:rPr>
              <a:t>впливу</a:t>
            </a:r>
            <a:r>
              <a:rPr lang="ru-RU" sz="2800" b="1" dirty="0" smtClean="0">
                <a:solidFill>
                  <a:schemeClr val="bg1"/>
                </a:solidFill>
              </a:rPr>
              <a:t> на </a:t>
            </a:r>
            <a:r>
              <a:rPr lang="ru-RU" sz="2800" b="1" dirty="0" err="1" smtClean="0">
                <a:solidFill>
                  <a:schemeClr val="bg1"/>
                </a:solidFill>
              </a:rPr>
              <a:t>архітектуру</a:t>
            </a:r>
            <a:endParaRPr lang="ru-RU" sz="2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1" name="Picture 5" descr="http://www.piter.com/contents/978546900494/01/01_0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638" y="1412776"/>
            <a:ext cx="7566778" cy="4841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2339752" y="-181988"/>
            <a:ext cx="510069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 smtClean="0">
                <a:solidFill>
                  <a:schemeClr val="bg1"/>
                </a:solidFill>
              </a:rPr>
              <a:t>Вплив</a:t>
            </a:r>
            <a:r>
              <a:rPr lang="ru-RU" sz="3600" b="1" dirty="0" smtClean="0">
                <a:solidFill>
                  <a:schemeClr val="bg1"/>
                </a:solidFill>
              </a:rPr>
              <a:t> на </a:t>
            </a:r>
            <a:r>
              <a:rPr lang="ru-RU" sz="3600" b="1" dirty="0" err="1" smtClean="0">
                <a:solidFill>
                  <a:schemeClr val="bg1"/>
                </a:solidFill>
              </a:rPr>
              <a:t>архітектуру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39552" y="836712"/>
            <a:ext cx="75239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err="1" smtClean="0"/>
              <a:t>Вплив</a:t>
            </a:r>
            <a:r>
              <a:rPr lang="ru-RU" sz="2000" dirty="0" smtClean="0"/>
              <a:t> на </a:t>
            </a:r>
            <a:r>
              <a:rPr lang="ru-RU" sz="2000" dirty="0" err="1" smtClean="0"/>
              <a:t>архітектуру</a:t>
            </a:r>
            <a:r>
              <a:rPr lang="ru-RU" sz="2000" dirty="0" smtClean="0"/>
              <a:t> </a:t>
            </a:r>
            <a:r>
              <a:rPr lang="ru-RU" sz="2000" dirty="0" err="1" smtClean="0"/>
              <a:t>надають</a:t>
            </a:r>
            <a:r>
              <a:rPr lang="ru-RU" sz="2000" dirty="0" smtClean="0"/>
              <a:t> </a:t>
            </a:r>
            <a:r>
              <a:rPr lang="ru-RU" sz="2000" dirty="0" err="1" smtClean="0"/>
              <a:t>зацікавлені</a:t>
            </a:r>
            <a:r>
              <a:rPr lang="ru-RU" sz="2000" dirty="0" smtClean="0"/>
              <a:t> в </a:t>
            </a:r>
            <a:r>
              <a:rPr lang="ru-RU" sz="2000" dirty="0" err="1" smtClean="0"/>
              <a:t>системі</a:t>
            </a:r>
            <a:r>
              <a:rPr lang="ru-RU" sz="2000" dirty="0" smtClean="0"/>
              <a:t> особи</a:t>
            </a:r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339752" y="-181988"/>
            <a:ext cx="510069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 smtClean="0">
                <a:solidFill>
                  <a:schemeClr val="bg1"/>
                </a:solidFill>
              </a:rPr>
              <a:t>Вплив</a:t>
            </a:r>
            <a:r>
              <a:rPr lang="ru-RU" sz="3600" b="1" dirty="0" smtClean="0">
                <a:solidFill>
                  <a:schemeClr val="bg1"/>
                </a:solidFill>
              </a:rPr>
              <a:t> на </a:t>
            </a:r>
            <a:r>
              <a:rPr lang="ru-RU" sz="3600" b="1" dirty="0" err="1" smtClean="0">
                <a:solidFill>
                  <a:schemeClr val="bg1"/>
                </a:solidFill>
              </a:rPr>
              <a:t>архітектуру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07504" y="980728"/>
            <a:ext cx="8712968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sz="2000" b="1" dirty="0" smtClean="0"/>
              <a:t>Вплив на архітектуру надає компанія-розробник</a:t>
            </a:r>
          </a:p>
          <a:p>
            <a:pPr algn="ctr"/>
            <a:endParaRPr lang="uk-UA" sz="2000" b="1" dirty="0" smtClean="0"/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uk-UA" sz="2000" dirty="0" smtClean="0"/>
              <a:t>Компанії роблять прямі інвестиції в різні активи - зокрема в існуючі варіанти архітектури і засновані на них продукти. 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uk-UA" sz="2000" dirty="0" smtClean="0"/>
              <a:t>Кожен наступний проект в такому випадку мислиться як продовження ряду схожих систем, а в його кошторисі закладено активне повторне використання наявних коштів.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uk-UA" sz="2000" dirty="0" smtClean="0"/>
              <a:t>Слідуючи своїм стратегічним завданням, компанії іноді роблять довгострокові інвестиції в інфраструктуру; в такому випадку передбачувана система мислиться як один із засобів фінансування і розширення цієї інфраструктури.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uk-UA" sz="2000" dirty="0" smtClean="0"/>
              <a:t>Певний вплив на програмну архітектуру надає організаційну структуру компанії-розробника.</a:t>
            </a:r>
            <a:endParaRPr lang="uk-UA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71600" y="1124744"/>
            <a:ext cx="7848872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ru-RU" sz="2000" b="1" dirty="0" err="1" smtClean="0"/>
              <a:t>Вплив</a:t>
            </a:r>
            <a:r>
              <a:rPr lang="ru-RU" sz="2000" b="1" dirty="0" smtClean="0"/>
              <a:t> на </a:t>
            </a:r>
            <a:r>
              <a:rPr lang="ru-RU" sz="2000" b="1" dirty="0" err="1" smtClean="0"/>
              <a:t>архітектуру</a:t>
            </a:r>
            <a:r>
              <a:rPr lang="ru-RU" sz="2000" b="1" dirty="0" smtClean="0"/>
              <a:t> </a:t>
            </a:r>
            <a:r>
              <a:rPr lang="ru-RU" sz="2000" b="1" dirty="0" err="1" smtClean="0"/>
              <a:t>надають</a:t>
            </a:r>
            <a:r>
              <a:rPr lang="ru-RU" sz="2000" b="1" dirty="0" smtClean="0"/>
              <a:t> </a:t>
            </a:r>
            <a:r>
              <a:rPr lang="ru-RU" sz="2000" b="1" dirty="0" err="1" smtClean="0"/>
              <a:t>досвід</a:t>
            </a:r>
            <a:r>
              <a:rPr lang="ru-RU" sz="2000" b="1" dirty="0" smtClean="0"/>
              <a:t> і </a:t>
            </a:r>
            <a:r>
              <a:rPr lang="ru-RU" sz="2000" b="1" err="1" smtClean="0"/>
              <a:t>звички</a:t>
            </a:r>
            <a:r>
              <a:rPr lang="ru-RU" sz="2000" b="1" smtClean="0"/>
              <a:t> архітекторів</a:t>
            </a:r>
            <a:endParaRPr lang="ru-RU" sz="2000" b="1" dirty="0" smtClean="0"/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000" dirty="0" err="1" smtClean="0"/>
              <a:t>Позитивний</a:t>
            </a:r>
            <a:r>
              <a:rPr lang="ru-RU" sz="2000" dirty="0" smtClean="0"/>
              <a:t> </a:t>
            </a:r>
            <a:r>
              <a:rPr lang="ru-RU" sz="2000" dirty="0" err="1" smtClean="0"/>
              <a:t>досвід</a:t>
            </a:r>
            <a:r>
              <a:rPr lang="ru-RU" sz="2000" dirty="0" smtClean="0"/>
              <a:t> - </a:t>
            </a:r>
            <a:r>
              <a:rPr lang="ru-RU" sz="2000" dirty="0" err="1" smtClean="0"/>
              <a:t>повторення</a:t>
            </a:r>
            <a:r>
              <a:rPr lang="ru-RU" sz="2000" dirty="0" smtClean="0"/>
              <a:t> </a:t>
            </a:r>
            <a:r>
              <a:rPr lang="ru-RU" sz="2000" dirty="0" err="1" smtClean="0"/>
              <a:t>його</a:t>
            </a:r>
            <a:r>
              <a:rPr lang="ru-RU" sz="2000" dirty="0" smtClean="0"/>
              <a:t> в </a:t>
            </a:r>
            <a:r>
              <a:rPr lang="ru-RU" sz="2000" dirty="0" err="1" smtClean="0"/>
              <a:t>наступних</a:t>
            </a:r>
            <a:r>
              <a:rPr lang="ru-RU" sz="2000" dirty="0" smtClean="0"/>
              <a:t> роботах.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000" dirty="0" err="1" smtClean="0"/>
              <a:t>Негативний</a:t>
            </a:r>
            <a:r>
              <a:rPr lang="ru-RU" sz="2000" dirty="0" smtClean="0"/>
              <a:t> </a:t>
            </a:r>
            <a:r>
              <a:rPr lang="ru-RU" sz="2000" dirty="0" err="1" smtClean="0"/>
              <a:t>досвід</a:t>
            </a:r>
            <a:r>
              <a:rPr lang="ru-RU" sz="2000" dirty="0" smtClean="0"/>
              <a:t> - </a:t>
            </a:r>
            <a:r>
              <a:rPr lang="ru-RU" sz="2000" dirty="0" err="1" smtClean="0"/>
              <a:t>відмова</a:t>
            </a:r>
            <a:r>
              <a:rPr lang="ru-RU" sz="2000" dirty="0" smtClean="0"/>
              <a:t> </a:t>
            </a:r>
            <a:r>
              <a:rPr lang="ru-RU" sz="2000" dirty="0" err="1" smtClean="0"/>
              <a:t>використовувати</a:t>
            </a:r>
            <a:r>
              <a:rPr lang="ru-RU" sz="2000" dirty="0" smtClean="0"/>
              <a:t> </a:t>
            </a:r>
            <a:r>
              <a:rPr lang="ru-RU" sz="2000" dirty="0" err="1" smtClean="0"/>
              <a:t>його</a:t>
            </a:r>
            <a:r>
              <a:rPr lang="ru-RU" sz="2000" dirty="0" smtClean="0"/>
              <a:t> в </a:t>
            </a:r>
            <a:r>
              <a:rPr lang="ru-RU" sz="2000" dirty="0" err="1" smtClean="0"/>
              <a:t>наступних</a:t>
            </a:r>
            <a:r>
              <a:rPr lang="ru-RU" sz="2000" dirty="0" smtClean="0"/>
              <a:t> роботах.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000" dirty="0" err="1" smtClean="0"/>
              <a:t>Архітектори</a:t>
            </a:r>
            <a:r>
              <a:rPr lang="ru-RU" sz="2000" dirty="0" smtClean="0"/>
              <a:t> </a:t>
            </a:r>
            <a:r>
              <a:rPr lang="ru-RU" sz="2000" dirty="0" err="1" smtClean="0"/>
              <a:t>люблять</a:t>
            </a:r>
            <a:r>
              <a:rPr lang="ru-RU" sz="2000" dirty="0" smtClean="0"/>
              <a:t> </a:t>
            </a:r>
            <a:r>
              <a:rPr lang="ru-RU" sz="2000" dirty="0" err="1" smtClean="0"/>
              <a:t>експериментувати</a:t>
            </a:r>
            <a:r>
              <a:rPr lang="ru-RU" sz="2000" dirty="0" smtClean="0"/>
              <a:t> з </a:t>
            </a:r>
            <a:r>
              <a:rPr lang="ru-RU" sz="2000" dirty="0" err="1" smtClean="0"/>
              <a:t>новими</a:t>
            </a:r>
            <a:r>
              <a:rPr lang="ru-RU" sz="2000" dirty="0" smtClean="0"/>
              <a:t> </a:t>
            </a:r>
            <a:r>
              <a:rPr lang="ru-RU" sz="2000" dirty="0" err="1" smtClean="0"/>
              <a:t>зразками</a:t>
            </a:r>
            <a:r>
              <a:rPr lang="ru-RU" sz="2000" dirty="0" smtClean="0"/>
              <a:t> (</a:t>
            </a:r>
            <a:r>
              <a:rPr lang="ru-RU" sz="2000" dirty="0" err="1" smtClean="0"/>
              <a:t>pattern</a:t>
            </a:r>
            <a:r>
              <a:rPr lang="ru-RU" sz="2000" dirty="0" smtClean="0"/>
              <a:t>) і методиками.</a:t>
            </a:r>
            <a:endParaRPr lang="ru-RU" sz="20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339752" y="-181988"/>
            <a:ext cx="510069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 smtClean="0">
                <a:solidFill>
                  <a:schemeClr val="bg1"/>
                </a:solidFill>
              </a:rPr>
              <a:t>Вплив</a:t>
            </a:r>
            <a:r>
              <a:rPr lang="ru-RU" sz="3600" b="1" dirty="0" smtClean="0">
                <a:solidFill>
                  <a:schemeClr val="bg1"/>
                </a:solidFill>
              </a:rPr>
              <a:t> на </a:t>
            </a:r>
            <a:r>
              <a:rPr lang="ru-RU" sz="3600" b="1" dirty="0" err="1" smtClean="0">
                <a:solidFill>
                  <a:schemeClr val="bg1"/>
                </a:solidFill>
              </a:rPr>
              <a:t>архітектуру</a:t>
            </a:r>
            <a:endParaRPr lang="ru-RU" sz="3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71600" y="1124744"/>
            <a:ext cx="756084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 err="1" smtClean="0"/>
              <a:t>Вплив</a:t>
            </a:r>
            <a:r>
              <a:rPr lang="ru-RU" sz="2000" b="1" dirty="0" smtClean="0"/>
              <a:t> на </a:t>
            </a:r>
            <a:r>
              <a:rPr lang="ru-RU" sz="2000" b="1" dirty="0" err="1" smtClean="0"/>
              <a:t>архітектуру</a:t>
            </a:r>
            <a:r>
              <a:rPr lang="ru-RU" sz="2000" b="1" dirty="0" smtClean="0"/>
              <a:t> </a:t>
            </a:r>
            <a:r>
              <a:rPr lang="ru-RU" sz="2000" b="1" dirty="0" err="1" smtClean="0"/>
              <a:t>надає</a:t>
            </a:r>
            <a:r>
              <a:rPr lang="ru-RU" sz="2000" b="1" dirty="0" smtClean="0"/>
              <a:t> </a:t>
            </a:r>
            <a:r>
              <a:rPr lang="ru-RU" sz="2000" b="1" dirty="0" err="1" smtClean="0"/>
              <a:t>технічна</a:t>
            </a:r>
            <a:r>
              <a:rPr lang="ru-RU" sz="2000" b="1" dirty="0" smtClean="0"/>
              <a:t> база</a:t>
            </a:r>
          </a:p>
          <a:p>
            <a:endParaRPr lang="ru-RU" sz="2000" dirty="0" smtClean="0"/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ru-RU" sz="2000" dirty="0" err="1" smtClean="0"/>
              <a:t>Підготовка</a:t>
            </a:r>
            <a:r>
              <a:rPr lang="ru-RU" sz="2000" dirty="0" smtClean="0"/>
              <a:t> та </a:t>
            </a:r>
            <a:r>
              <a:rPr lang="ru-RU" sz="2000" dirty="0" err="1" smtClean="0"/>
              <a:t>досвід</a:t>
            </a:r>
            <a:r>
              <a:rPr lang="ru-RU" sz="2000" dirty="0" smtClean="0"/>
              <a:t> </a:t>
            </a:r>
            <a:r>
              <a:rPr lang="ru-RU" sz="2000" dirty="0" err="1" smtClean="0"/>
              <a:t>архітектора</a:t>
            </a:r>
            <a:r>
              <a:rPr lang="ru-RU" sz="2000" dirty="0" smtClean="0"/>
              <a:t> </a:t>
            </a:r>
            <a:r>
              <a:rPr lang="ru-RU" sz="2000" dirty="0" err="1" smtClean="0"/>
              <a:t>проявляється</a:t>
            </a:r>
            <a:r>
              <a:rPr lang="ru-RU" sz="2000" dirty="0" smtClean="0"/>
              <a:t>, </a:t>
            </a:r>
            <a:r>
              <a:rPr lang="ru-RU" sz="2000" dirty="0" err="1" smtClean="0"/>
              <a:t>зокрема</a:t>
            </a:r>
            <a:r>
              <a:rPr lang="ru-RU" sz="2000" dirty="0" smtClean="0"/>
              <a:t>, в </a:t>
            </a:r>
            <a:r>
              <a:rPr lang="ru-RU" sz="2000" dirty="0" err="1" smtClean="0"/>
              <a:t>його</a:t>
            </a:r>
            <a:r>
              <a:rPr lang="ru-RU" sz="2000" dirty="0" smtClean="0"/>
              <a:t> </a:t>
            </a:r>
            <a:r>
              <a:rPr lang="ru-RU" sz="2000" dirty="0" err="1" smtClean="0"/>
              <a:t>роботі</a:t>
            </a:r>
            <a:r>
              <a:rPr lang="ru-RU" sz="2000" dirty="0" smtClean="0"/>
              <a:t> з </a:t>
            </a:r>
            <a:r>
              <a:rPr lang="ru-RU" sz="2000" dirty="0" err="1" smtClean="0"/>
              <a:t>технічною</a:t>
            </a:r>
            <a:r>
              <a:rPr lang="ru-RU" sz="2000" dirty="0" smtClean="0"/>
              <a:t> базою (</a:t>
            </a:r>
            <a:r>
              <a:rPr lang="ru-RU" sz="2000" dirty="0" err="1" smtClean="0"/>
              <a:t>technical</a:t>
            </a:r>
            <a:r>
              <a:rPr lang="ru-RU" sz="2000" dirty="0" smtClean="0"/>
              <a:t> </a:t>
            </a:r>
            <a:r>
              <a:rPr lang="ru-RU" sz="2000" dirty="0" err="1" smtClean="0"/>
              <a:t>environment</a:t>
            </a:r>
            <a:r>
              <a:rPr lang="ru-RU" sz="2000" dirty="0" smtClean="0"/>
              <a:t>).</a:t>
            </a:r>
          </a:p>
          <a:p>
            <a:pPr>
              <a:spcBef>
                <a:spcPts val="600"/>
              </a:spcBef>
            </a:pPr>
            <a:r>
              <a:rPr lang="ru-RU" sz="2000" dirty="0" smtClean="0"/>
              <a:t>До </a:t>
            </a:r>
            <a:r>
              <a:rPr lang="ru-RU" sz="2000" dirty="0" err="1" smtClean="0"/>
              <a:t>технічній</a:t>
            </a:r>
            <a:r>
              <a:rPr lang="ru-RU" sz="2000" dirty="0" smtClean="0"/>
              <a:t> </a:t>
            </a:r>
            <a:r>
              <a:rPr lang="ru-RU" sz="2000" dirty="0" err="1" smtClean="0"/>
              <a:t>базі</a:t>
            </a:r>
            <a:r>
              <a:rPr lang="ru-RU" sz="2000" dirty="0" smtClean="0"/>
              <a:t> </a:t>
            </a:r>
            <a:r>
              <a:rPr lang="ru-RU" sz="2000" dirty="0" err="1" smtClean="0"/>
              <a:t>можна</a:t>
            </a:r>
            <a:r>
              <a:rPr lang="ru-RU" sz="2000" dirty="0" smtClean="0"/>
              <a:t> </a:t>
            </a:r>
            <a:r>
              <a:rPr lang="ru-RU" sz="2000" dirty="0" err="1" smtClean="0"/>
              <a:t>віднести</a:t>
            </a:r>
            <a:r>
              <a:rPr lang="ru-RU" sz="2000" dirty="0" smtClean="0"/>
              <a:t>: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000" dirty="0" err="1" smtClean="0"/>
              <a:t>методи</a:t>
            </a:r>
            <a:r>
              <a:rPr lang="ru-RU" sz="2000" dirty="0" smtClean="0"/>
              <a:t> </a:t>
            </a:r>
            <a:r>
              <a:rPr lang="ru-RU" sz="2000" dirty="0" err="1" smtClean="0"/>
              <a:t>роботи</a:t>
            </a:r>
            <a:r>
              <a:rPr lang="ru-RU" sz="2000" dirty="0" smtClean="0"/>
              <a:t>, </a:t>
            </a:r>
            <a:r>
              <a:rPr lang="ru-RU" sz="2000" dirty="0" err="1" smtClean="0"/>
              <a:t>прийняті</a:t>
            </a:r>
            <a:r>
              <a:rPr lang="ru-RU" sz="2000" dirty="0" smtClean="0"/>
              <a:t> в </a:t>
            </a:r>
            <a:r>
              <a:rPr lang="ru-RU" sz="2000" dirty="0" err="1" smtClean="0"/>
              <a:t>даній</a:t>
            </a:r>
            <a:r>
              <a:rPr lang="ru-RU" sz="2000" dirty="0" smtClean="0"/>
              <a:t> </a:t>
            </a:r>
            <a:r>
              <a:rPr lang="ru-RU" sz="2000" dirty="0" err="1" smtClean="0"/>
              <a:t>галузі</a:t>
            </a:r>
            <a:endParaRPr lang="ru-RU" sz="2000" dirty="0" smtClean="0"/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000" dirty="0" err="1" smtClean="0"/>
              <a:t>прийоми</a:t>
            </a:r>
            <a:r>
              <a:rPr lang="ru-RU" sz="2000" dirty="0" smtClean="0"/>
              <a:t> </a:t>
            </a:r>
            <a:r>
              <a:rPr lang="ru-RU" sz="2000" dirty="0" err="1" smtClean="0"/>
              <a:t>програмної</a:t>
            </a:r>
            <a:r>
              <a:rPr lang="ru-RU" sz="2000" dirty="0" smtClean="0"/>
              <a:t> </a:t>
            </a:r>
            <a:r>
              <a:rPr lang="ru-RU" sz="2000" dirty="0" err="1" smtClean="0"/>
              <a:t>інженерії</a:t>
            </a:r>
            <a:r>
              <a:rPr lang="ru-RU" sz="2000" dirty="0" smtClean="0"/>
              <a:t>, </a:t>
            </a:r>
            <a:r>
              <a:rPr lang="ru-RU" sz="2000" dirty="0" err="1" smtClean="0"/>
              <a:t>поширені</a:t>
            </a:r>
            <a:r>
              <a:rPr lang="ru-RU" sz="2000" dirty="0" smtClean="0"/>
              <a:t> в </a:t>
            </a:r>
            <a:r>
              <a:rPr lang="ru-RU" sz="2000" dirty="0" err="1" smtClean="0"/>
              <a:t>професійному</a:t>
            </a:r>
            <a:r>
              <a:rPr lang="ru-RU" sz="2000" dirty="0" smtClean="0"/>
              <a:t> </a:t>
            </a:r>
            <a:r>
              <a:rPr lang="ru-RU" sz="2000" dirty="0" err="1" smtClean="0"/>
              <a:t>співтоваристві</a:t>
            </a:r>
            <a:r>
              <a:rPr lang="ru-RU" sz="2000" dirty="0" smtClean="0"/>
              <a:t>, в яке входить </a:t>
            </a:r>
            <a:r>
              <a:rPr lang="ru-RU" sz="2000" dirty="0" err="1" smtClean="0"/>
              <a:t>архітектор</a:t>
            </a:r>
            <a:r>
              <a:rPr lang="ru-RU" sz="2000" dirty="0" smtClean="0"/>
              <a:t>.</a:t>
            </a:r>
            <a:endParaRPr lang="ru-RU" sz="20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339752" y="-181988"/>
            <a:ext cx="510069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 smtClean="0">
                <a:solidFill>
                  <a:schemeClr val="bg1"/>
                </a:solidFill>
              </a:rPr>
              <a:t>Вплив</a:t>
            </a:r>
            <a:r>
              <a:rPr lang="ru-RU" sz="3600" b="1" dirty="0" smtClean="0">
                <a:solidFill>
                  <a:schemeClr val="bg1"/>
                </a:solidFill>
              </a:rPr>
              <a:t> на </a:t>
            </a:r>
            <a:r>
              <a:rPr lang="ru-RU" sz="3600" b="1" dirty="0" err="1" smtClean="0">
                <a:solidFill>
                  <a:schemeClr val="bg1"/>
                </a:solidFill>
              </a:rPr>
              <a:t>архітектуру</a:t>
            </a:r>
            <a:endParaRPr lang="ru-RU" sz="3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95536" y="-29840"/>
            <a:ext cx="87484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err="1" smtClean="0">
                <a:solidFill>
                  <a:schemeClr val="bg1"/>
                </a:solidFill>
              </a:rPr>
              <a:t>Архітектура</a:t>
            </a:r>
            <a:r>
              <a:rPr lang="ru-RU" sz="2400" b="1" dirty="0" smtClean="0">
                <a:solidFill>
                  <a:schemeClr val="bg1"/>
                </a:solidFill>
              </a:rPr>
              <a:t> </a:t>
            </a:r>
            <a:r>
              <a:rPr lang="ru-RU" sz="2400" b="1" dirty="0" err="1" smtClean="0">
                <a:solidFill>
                  <a:schemeClr val="bg1"/>
                </a:solidFill>
              </a:rPr>
              <a:t>надає</a:t>
            </a:r>
            <a:r>
              <a:rPr lang="ru-RU" sz="2400" b="1" dirty="0" smtClean="0">
                <a:solidFill>
                  <a:schemeClr val="bg1"/>
                </a:solidFill>
              </a:rPr>
              <a:t> </a:t>
            </a:r>
            <a:r>
              <a:rPr lang="ru-RU" sz="2400" b="1" dirty="0" err="1" smtClean="0">
                <a:solidFill>
                  <a:schemeClr val="bg1"/>
                </a:solidFill>
              </a:rPr>
              <a:t>зворотний</a:t>
            </a:r>
            <a:r>
              <a:rPr lang="ru-RU" sz="2400" b="1" dirty="0" smtClean="0">
                <a:solidFill>
                  <a:schemeClr val="bg1"/>
                </a:solidFill>
              </a:rPr>
              <a:t> </a:t>
            </a:r>
            <a:r>
              <a:rPr lang="ru-RU" sz="2400" b="1" dirty="0" err="1" smtClean="0">
                <a:solidFill>
                  <a:schemeClr val="bg1"/>
                </a:solidFill>
              </a:rPr>
              <a:t>вплив</a:t>
            </a:r>
            <a:r>
              <a:rPr lang="ru-RU" sz="2400" b="1" dirty="0" smtClean="0">
                <a:solidFill>
                  <a:schemeClr val="bg1"/>
                </a:solidFill>
              </a:rPr>
              <a:t> на </a:t>
            </a:r>
            <a:r>
              <a:rPr lang="ru-RU" sz="2400" b="1" dirty="0" err="1" smtClean="0">
                <a:solidFill>
                  <a:schemeClr val="bg1"/>
                </a:solidFill>
              </a:rPr>
              <a:t>фактори</a:t>
            </a:r>
            <a:r>
              <a:rPr lang="ru-RU" sz="2400" b="1" dirty="0" smtClean="0">
                <a:solidFill>
                  <a:schemeClr val="bg1"/>
                </a:solidFill>
              </a:rPr>
              <a:t> </a:t>
            </a:r>
            <a:r>
              <a:rPr lang="ru-RU" sz="2400" b="1" dirty="0" err="1" smtClean="0">
                <a:solidFill>
                  <a:schemeClr val="bg1"/>
                </a:solidFill>
              </a:rPr>
              <a:t>вплив</a:t>
            </a:r>
            <a:endParaRPr lang="ru-RU" sz="2400" b="1" dirty="0">
              <a:solidFill>
                <a:schemeClr val="bg1"/>
              </a:solidFill>
            </a:endParaRPr>
          </a:p>
        </p:txBody>
      </p:sp>
      <p:pic>
        <p:nvPicPr>
          <p:cNvPr id="5" name="Picture 7" descr="http://www.piter.com/contents/978546900494/01/01_0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908720"/>
            <a:ext cx="4752528" cy="3024336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1" name="Picture 5" descr="http://www.piter.com/contents/978546900494/01/01_0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0808" y="2924944"/>
            <a:ext cx="5579714" cy="361884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67545" y="1052736"/>
            <a:ext cx="820891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ru-RU" sz="2000" dirty="0" err="1" smtClean="0"/>
              <a:t>Програми</a:t>
            </a:r>
            <a:r>
              <a:rPr lang="ru-RU" sz="2000" dirty="0" smtClean="0"/>
              <a:t> читаю </a:t>
            </a:r>
            <a:r>
              <a:rPr lang="ru-RU" sz="2000" dirty="0" err="1" smtClean="0"/>
              <a:t>частіше</a:t>
            </a:r>
            <a:r>
              <a:rPr lang="ru-RU" sz="2000" dirty="0" smtClean="0"/>
              <a:t>, </a:t>
            </a:r>
            <a:r>
              <a:rPr lang="ru-RU" sz="2000" dirty="0" err="1" smtClean="0"/>
              <a:t>ніж</a:t>
            </a:r>
            <a:r>
              <a:rPr lang="ru-RU" sz="2000" dirty="0" smtClean="0"/>
              <a:t> </a:t>
            </a:r>
            <a:r>
              <a:rPr lang="ru-RU" sz="2000" dirty="0" err="1" smtClean="0"/>
              <a:t>пишуть</a:t>
            </a:r>
            <a:r>
              <a:rPr lang="ru-RU" sz="2000" dirty="0" smtClean="0"/>
              <a:t> 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ru-RU" sz="2000" dirty="0" err="1" smtClean="0"/>
              <a:t>Розробка</a:t>
            </a:r>
            <a:r>
              <a:rPr lang="ru-RU" sz="2000" dirty="0" smtClean="0"/>
              <a:t> не </a:t>
            </a:r>
            <a:r>
              <a:rPr lang="ru-RU" sz="2000" dirty="0" err="1" smtClean="0"/>
              <a:t>може</a:t>
            </a:r>
            <a:r>
              <a:rPr lang="ru-RU" sz="2000" dirty="0" smtClean="0"/>
              <a:t> бути </a:t>
            </a:r>
            <a:r>
              <a:rPr lang="ru-RU" sz="2000" dirty="0" err="1" smtClean="0"/>
              <a:t>остаточної</a:t>
            </a:r>
            <a:endParaRPr lang="ru-RU" sz="2000" dirty="0" smtClean="0"/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ru-RU" sz="2000" dirty="0" err="1" smtClean="0"/>
              <a:t>Розробнику</a:t>
            </a:r>
            <a:r>
              <a:rPr lang="ru-RU" sz="2000" dirty="0" smtClean="0"/>
              <a:t> </a:t>
            </a:r>
            <a:r>
              <a:rPr lang="ru-RU" sz="2000" dirty="0" err="1" smtClean="0"/>
              <a:t>необхідно</a:t>
            </a:r>
            <a:r>
              <a:rPr lang="ru-RU" sz="2000" dirty="0" smtClean="0"/>
              <a:t> </a:t>
            </a:r>
            <a:r>
              <a:rPr lang="ru-RU" sz="2000" dirty="0" err="1" smtClean="0"/>
              <a:t>розуміти</a:t>
            </a:r>
            <a:r>
              <a:rPr lang="ru-RU" sz="2000" dirty="0" smtClean="0"/>
              <a:t> як </a:t>
            </a:r>
            <a:r>
              <a:rPr lang="ru-RU" sz="2000" dirty="0" err="1" smtClean="0"/>
              <a:t>загальну</a:t>
            </a:r>
            <a:r>
              <a:rPr lang="ru-RU" sz="2000" dirty="0" smtClean="0"/>
              <a:t> </a:t>
            </a:r>
            <a:r>
              <a:rPr lang="ru-RU" sz="2000" dirty="0" err="1" smtClean="0"/>
              <a:t>концепцію</a:t>
            </a:r>
            <a:r>
              <a:rPr lang="ru-RU" sz="2000" dirty="0" smtClean="0"/>
              <a:t>, так і </a:t>
            </a:r>
            <a:r>
              <a:rPr lang="ru-RU" sz="2000" dirty="0" err="1" smtClean="0"/>
              <a:t>деталі</a:t>
            </a:r>
            <a:endParaRPr lang="ru-RU" sz="2000" dirty="0" smtClean="0"/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ru-RU" sz="2000" dirty="0" err="1" smtClean="0"/>
              <a:t>Вартість</a:t>
            </a:r>
            <a:r>
              <a:rPr lang="ru-RU" sz="2000" dirty="0" smtClean="0"/>
              <a:t> </a:t>
            </a:r>
            <a:r>
              <a:rPr lang="ru-RU" sz="2000" dirty="0" err="1" smtClean="0"/>
              <a:t>модифікації</a:t>
            </a:r>
            <a:r>
              <a:rPr lang="ru-RU" sz="2000" dirty="0" smtClean="0"/>
              <a:t> </a:t>
            </a:r>
            <a:r>
              <a:rPr lang="ru-RU" sz="2000" dirty="0" err="1" smtClean="0"/>
              <a:t>старих</a:t>
            </a:r>
            <a:r>
              <a:rPr lang="ru-RU" sz="2000" dirty="0" smtClean="0"/>
              <a:t> </a:t>
            </a:r>
            <a:r>
              <a:rPr lang="ru-RU" sz="2000" dirty="0" err="1" smtClean="0"/>
              <a:t>програм</a:t>
            </a:r>
            <a:r>
              <a:rPr lang="ru-RU" sz="2000" dirty="0" smtClean="0"/>
              <a:t> </a:t>
            </a:r>
            <a:r>
              <a:rPr lang="ru-RU" sz="2000" dirty="0" err="1" smtClean="0"/>
              <a:t>багаторазово</a:t>
            </a:r>
            <a:r>
              <a:rPr lang="ru-RU" sz="2000" dirty="0" smtClean="0"/>
              <a:t> </a:t>
            </a:r>
            <a:r>
              <a:rPr lang="ru-RU" sz="2000" dirty="0" err="1" smtClean="0"/>
              <a:t>перевершує</a:t>
            </a:r>
            <a:r>
              <a:rPr lang="ru-RU" sz="2000" dirty="0" smtClean="0"/>
              <a:t> </a:t>
            </a:r>
            <a:r>
              <a:rPr lang="ru-RU" sz="2000" dirty="0" err="1" smtClean="0"/>
              <a:t>вартість</a:t>
            </a:r>
            <a:r>
              <a:rPr lang="ru-RU" sz="2000" dirty="0" smtClean="0"/>
              <a:t> </a:t>
            </a:r>
            <a:r>
              <a:rPr lang="ru-RU" sz="2000" dirty="0" err="1" smtClean="0"/>
              <a:t>створення</a:t>
            </a:r>
            <a:r>
              <a:rPr lang="ru-RU" sz="2000" dirty="0" smtClean="0"/>
              <a:t> </a:t>
            </a:r>
            <a:r>
              <a:rPr lang="ru-RU" sz="2000" dirty="0" err="1" smtClean="0"/>
              <a:t>нових</a:t>
            </a:r>
            <a:r>
              <a:rPr lang="ru-RU" sz="2000" dirty="0" smtClean="0"/>
              <a:t>: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ru-RU" sz="2000" dirty="0" smtClean="0"/>
              <a:t>«</a:t>
            </a:r>
            <a:r>
              <a:rPr lang="ru-RU" sz="2000" dirty="0" err="1" smtClean="0"/>
              <a:t>Економіка</a:t>
            </a:r>
            <a:r>
              <a:rPr lang="ru-RU" sz="2000" dirty="0" smtClean="0"/>
              <a:t> - </a:t>
            </a:r>
            <a:r>
              <a:rPr lang="ru-RU" sz="2000" dirty="0" err="1" smtClean="0"/>
              <a:t>двигун</a:t>
            </a:r>
            <a:r>
              <a:rPr lang="ru-RU" sz="2000" dirty="0" smtClean="0"/>
              <a:t> </a:t>
            </a:r>
            <a:r>
              <a:rPr lang="ru-RU" sz="2000" dirty="0" err="1" smtClean="0"/>
              <a:t>проектування</a:t>
            </a:r>
            <a:r>
              <a:rPr lang="ru-RU" sz="2000" dirty="0" smtClean="0"/>
              <a:t> </a:t>
            </a:r>
            <a:r>
              <a:rPr lang="ru-RU" sz="2000" dirty="0" err="1" smtClean="0"/>
              <a:t>програм</a:t>
            </a:r>
            <a:r>
              <a:rPr lang="ru-RU" sz="2000" dirty="0" smtClean="0"/>
              <a:t>» (</a:t>
            </a:r>
            <a:r>
              <a:rPr lang="ru-RU" sz="2000" dirty="0" err="1" smtClean="0"/>
              <a:t>Едвард</a:t>
            </a:r>
            <a:r>
              <a:rPr lang="ru-RU" sz="2000" dirty="0" smtClean="0"/>
              <a:t> </a:t>
            </a:r>
            <a:r>
              <a:rPr lang="ru-RU" sz="2000" dirty="0" err="1" smtClean="0"/>
              <a:t>Йордон</a:t>
            </a:r>
            <a:r>
              <a:rPr lang="ru-RU" sz="2000" dirty="0" smtClean="0"/>
              <a:t>, 1979р.)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469772" y="-10120"/>
            <a:ext cx="620445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 err="1" smtClean="0">
                <a:solidFill>
                  <a:schemeClr val="bg1"/>
                </a:solidFill>
              </a:rPr>
              <a:t>Навіщо</a:t>
            </a:r>
            <a:r>
              <a:rPr lang="ru-RU" sz="2800" b="1" dirty="0" smtClean="0">
                <a:solidFill>
                  <a:schemeClr val="bg1"/>
                </a:solidFill>
              </a:rPr>
              <a:t> </a:t>
            </a:r>
            <a:r>
              <a:rPr lang="ru-RU" sz="2800" b="1" dirty="0" err="1" smtClean="0">
                <a:solidFill>
                  <a:schemeClr val="bg1"/>
                </a:solidFill>
              </a:rPr>
              <a:t>проектувати</a:t>
            </a:r>
            <a:r>
              <a:rPr lang="ru-RU" sz="2800" b="1" dirty="0" smtClean="0">
                <a:solidFill>
                  <a:schemeClr val="bg1"/>
                </a:solidFill>
              </a:rPr>
              <a:t> </a:t>
            </a:r>
            <a:r>
              <a:rPr lang="ru-RU" sz="2800" b="1" dirty="0" err="1" smtClean="0">
                <a:solidFill>
                  <a:schemeClr val="bg1"/>
                </a:solidFill>
              </a:rPr>
              <a:t>архітектуру</a:t>
            </a:r>
            <a:r>
              <a:rPr lang="ru-RU" sz="2800" b="1" dirty="0" smtClean="0">
                <a:solidFill>
                  <a:schemeClr val="bg1"/>
                </a:solidFill>
              </a:rPr>
              <a:t>?</a:t>
            </a:r>
            <a:endParaRPr lang="ru-RU" sz="2800" b="1" dirty="0" smtClean="0">
              <a:solidFill>
                <a:schemeClr val="bg1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87523" y="4149080"/>
            <a:ext cx="8568951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lang="ru-RU" sz="2000" b="1" dirty="0" smtClean="0">
                <a:solidFill>
                  <a:srgbClr val="0000CC"/>
                </a:solidFill>
              </a:rPr>
              <a:t>S </a:t>
            </a:r>
            <a:r>
              <a:rPr lang="ru-RU" sz="2000" b="1" dirty="0" err="1" smtClean="0">
                <a:solidFill>
                  <a:srgbClr val="0000CC"/>
                </a:solidFill>
              </a:rPr>
              <a:t>загальна</a:t>
            </a:r>
            <a:r>
              <a:rPr lang="ru-RU" sz="2000" b="1" dirty="0" smtClean="0">
                <a:solidFill>
                  <a:srgbClr val="0000CC"/>
                </a:solidFill>
              </a:rPr>
              <a:t> = S </a:t>
            </a:r>
            <a:r>
              <a:rPr lang="ru-RU" sz="2000" b="1" dirty="0" err="1" smtClean="0">
                <a:solidFill>
                  <a:srgbClr val="0000CC"/>
                </a:solidFill>
              </a:rPr>
              <a:t>розробки</a:t>
            </a:r>
            <a:r>
              <a:rPr lang="ru-RU" sz="2000" b="1" dirty="0" smtClean="0">
                <a:solidFill>
                  <a:srgbClr val="0000CC"/>
                </a:solidFill>
              </a:rPr>
              <a:t> + S </a:t>
            </a:r>
            <a:r>
              <a:rPr lang="ru-RU" sz="2000" b="1" dirty="0" err="1" smtClean="0">
                <a:solidFill>
                  <a:srgbClr val="0000CC"/>
                </a:solidFill>
              </a:rPr>
              <a:t>супроводу</a:t>
            </a:r>
            <a:endParaRPr lang="ru-RU" sz="2000" b="1" dirty="0" smtClean="0">
              <a:solidFill>
                <a:srgbClr val="0000CC"/>
              </a:solidFill>
            </a:endParaRPr>
          </a:p>
          <a:p>
            <a:pPr algn="ctr">
              <a:spcBef>
                <a:spcPts val="600"/>
              </a:spcBef>
            </a:pPr>
            <a:r>
              <a:rPr lang="ru-RU" sz="2000" b="1" dirty="0" smtClean="0">
                <a:solidFill>
                  <a:srgbClr val="0000CC"/>
                </a:solidFill>
              </a:rPr>
              <a:t>S </a:t>
            </a:r>
            <a:r>
              <a:rPr lang="ru-RU" sz="2000" b="1" dirty="0" err="1" smtClean="0">
                <a:solidFill>
                  <a:srgbClr val="0000CC"/>
                </a:solidFill>
              </a:rPr>
              <a:t>супроводу</a:t>
            </a:r>
            <a:r>
              <a:rPr lang="ru-RU" sz="2000" b="1" dirty="0" smtClean="0">
                <a:solidFill>
                  <a:srgbClr val="0000CC"/>
                </a:solidFill>
              </a:rPr>
              <a:t> = S </a:t>
            </a:r>
            <a:r>
              <a:rPr lang="ru-RU" sz="2000" b="1" dirty="0" err="1" smtClean="0">
                <a:solidFill>
                  <a:srgbClr val="0000CC"/>
                </a:solidFill>
              </a:rPr>
              <a:t>розуміння</a:t>
            </a:r>
            <a:r>
              <a:rPr lang="ru-RU" sz="2000" b="1" dirty="0" smtClean="0">
                <a:solidFill>
                  <a:srgbClr val="0000CC"/>
                </a:solidFill>
              </a:rPr>
              <a:t> + S </a:t>
            </a:r>
            <a:r>
              <a:rPr lang="ru-RU" sz="2000" b="1" dirty="0" err="1" smtClean="0">
                <a:solidFill>
                  <a:srgbClr val="0000CC"/>
                </a:solidFill>
              </a:rPr>
              <a:t>змін</a:t>
            </a:r>
            <a:r>
              <a:rPr lang="ru-RU" sz="2000" b="1" dirty="0" smtClean="0">
                <a:solidFill>
                  <a:srgbClr val="0000CC"/>
                </a:solidFill>
              </a:rPr>
              <a:t> + S </a:t>
            </a:r>
            <a:r>
              <a:rPr lang="ru-RU" sz="2000" b="1" dirty="0" err="1" smtClean="0">
                <a:solidFill>
                  <a:srgbClr val="0000CC"/>
                </a:solidFill>
              </a:rPr>
              <a:t>тестування</a:t>
            </a:r>
            <a:r>
              <a:rPr lang="ru-RU" sz="2000" b="1" dirty="0" smtClean="0">
                <a:solidFill>
                  <a:srgbClr val="0000CC"/>
                </a:solidFill>
              </a:rPr>
              <a:t> + S поставки</a:t>
            </a:r>
            <a:endParaRPr lang="ru-RU" sz="2000" b="1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2758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71600" y="1268761"/>
            <a:ext cx="7776864" cy="3016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000" dirty="0" err="1" smtClean="0"/>
              <a:t>створення</a:t>
            </a:r>
            <a:r>
              <a:rPr lang="ru-RU" sz="2000" dirty="0" smtClean="0"/>
              <a:t> </a:t>
            </a:r>
            <a:r>
              <a:rPr lang="ru-RU" sz="2000" dirty="0" err="1" smtClean="0"/>
              <a:t>економічної</a:t>
            </a:r>
            <a:r>
              <a:rPr lang="ru-RU" sz="2000" dirty="0" smtClean="0"/>
              <a:t> </a:t>
            </a:r>
            <a:r>
              <a:rPr lang="ru-RU" sz="2000" dirty="0" err="1" smtClean="0"/>
              <a:t>моделі</a:t>
            </a:r>
            <a:r>
              <a:rPr lang="ru-RU" sz="2000" dirty="0" smtClean="0"/>
              <a:t> </a:t>
            </a:r>
            <a:r>
              <a:rPr lang="ru-RU" sz="2000" dirty="0" err="1" smtClean="0"/>
              <a:t>системи</a:t>
            </a:r>
            <a:r>
              <a:rPr lang="ru-RU" sz="2000" dirty="0" smtClean="0"/>
              <a:t>;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000" dirty="0" err="1" smtClean="0"/>
              <a:t>виявлення</a:t>
            </a:r>
            <a:r>
              <a:rPr lang="ru-RU" sz="2000" dirty="0" smtClean="0"/>
              <a:t> </a:t>
            </a:r>
            <a:r>
              <a:rPr lang="ru-RU" sz="2000" dirty="0" err="1" smtClean="0"/>
              <a:t>вимог</a:t>
            </a:r>
            <a:r>
              <a:rPr lang="ru-RU" sz="2000" dirty="0" smtClean="0"/>
              <a:t>;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000" dirty="0" err="1" smtClean="0"/>
              <a:t>створення</a:t>
            </a:r>
            <a:r>
              <a:rPr lang="ru-RU" sz="2000" dirty="0" smtClean="0"/>
              <a:t> </a:t>
            </a:r>
            <a:r>
              <a:rPr lang="ru-RU" sz="2000" dirty="0" err="1" smtClean="0"/>
              <a:t>нової</a:t>
            </a:r>
            <a:r>
              <a:rPr lang="ru-RU" sz="2000" dirty="0" smtClean="0"/>
              <a:t> </a:t>
            </a:r>
            <a:r>
              <a:rPr lang="ru-RU" sz="2000" dirty="0" err="1" smtClean="0"/>
              <a:t>або</a:t>
            </a:r>
            <a:r>
              <a:rPr lang="ru-RU" sz="2000" dirty="0" smtClean="0"/>
              <a:t> </a:t>
            </a:r>
            <a:r>
              <a:rPr lang="ru-RU" sz="2000" dirty="0" err="1" smtClean="0"/>
              <a:t>вибір</a:t>
            </a:r>
            <a:r>
              <a:rPr lang="ru-RU" sz="2000" dirty="0" smtClean="0"/>
              <a:t> </a:t>
            </a:r>
            <a:r>
              <a:rPr lang="ru-RU" sz="2000" dirty="0" err="1" smtClean="0"/>
              <a:t>існуючої</a:t>
            </a:r>
            <a:r>
              <a:rPr lang="ru-RU" sz="2000" dirty="0" smtClean="0"/>
              <a:t> </a:t>
            </a:r>
            <a:r>
              <a:rPr lang="ru-RU" sz="2000" dirty="0" err="1" smtClean="0"/>
              <a:t>архітектури</a:t>
            </a:r>
            <a:r>
              <a:rPr lang="ru-RU" sz="2000" dirty="0" smtClean="0"/>
              <a:t>;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000" dirty="0" err="1" smtClean="0"/>
              <a:t>документування</a:t>
            </a:r>
            <a:r>
              <a:rPr lang="ru-RU" sz="2000" dirty="0" smtClean="0"/>
              <a:t> та </a:t>
            </a:r>
            <a:r>
              <a:rPr lang="ru-RU" sz="2000" dirty="0" err="1" smtClean="0"/>
              <a:t>розповсюдження</a:t>
            </a:r>
            <a:r>
              <a:rPr lang="ru-RU" sz="2000" dirty="0" smtClean="0"/>
              <a:t> </a:t>
            </a:r>
            <a:r>
              <a:rPr lang="ru-RU" sz="2000" dirty="0" err="1" smtClean="0"/>
              <a:t>відомостей</a:t>
            </a:r>
            <a:r>
              <a:rPr lang="ru-RU" sz="2000" dirty="0" smtClean="0"/>
              <a:t> про </a:t>
            </a:r>
            <a:r>
              <a:rPr lang="ru-RU" sz="2000" dirty="0" err="1" smtClean="0"/>
              <a:t>архітектуру</a:t>
            </a:r>
            <a:r>
              <a:rPr lang="ru-RU" sz="2000" dirty="0" smtClean="0"/>
              <a:t>;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000" dirty="0" err="1" smtClean="0"/>
              <a:t>аналіз</a:t>
            </a:r>
            <a:r>
              <a:rPr lang="ru-RU" sz="2000" dirty="0" smtClean="0"/>
              <a:t> </a:t>
            </a:r>
            <a:r>
              <a:rPr lang="ru-RU" sz="2000" dirty="0" err="1" smtClean="0"/>
              <a:t>або</a:t>
            </a:r>
            <a:r>
              <a:rPr lang="ru-RU" sz="2000" dirty="0" smtClean="0"/>
              <a:t> </a:t>
            </a:r>
            <a:r>
              <a:rPr lang="ru-RU" sz="2000" dirty="0" err="1" smtClean="0"/>
              <a:t>оцінка</a:t>
            </a:r>
            <a:r>
              <a:rPr lang="ru-RU" sz="2000" dirty="0" smtClean="0"/>
              <a:t> </a:t>
            </a:r>
            <a:r>
              <a:rPr lang="ru-RU" sz="2000" dirty="0" err="1" smtClean="0"/>
              <a:t>архітектури</a:t>
            </a:r>
            <a:r>
              <a:rPr lang="ru-RU" sz="2000" dirty="0" smtClean="0"/>
              <a:t>;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000" dirty="0" err="1" smtClean="0"/>
              <a:t>реалізація</a:t>
            </a:r>
            <a:r>
              <a:rPr lang="ru-RU" sz="2000" dirty="0" smtClean="0"/>
              <a:t> </a:t>
            </a:r>
            <a:r>
              <a:rPr lang="ru-RU" sz="2000" dirty="0" err="1" smtClean="0"/>
              <a:t>системи</a:t>
            </a:r>
            <a:r>
              <a:rPr lang="ru-RU" sz="2000" dirty="0" smtClean="0"/>
              <a:t> на </a:t>
            </a:r>
            <a:r>
              <a:rPr lang="ru-RU" sz="2000" dirty="0" err="1" smtClean="0"/>
              <a:t>основі</a:t>
            </a:r>
            <a:r>
              <a:rPr lang="ru-RU" sz="2000" dirty="0" smtClean="0"/>
              <a:t> </a:t>
            </a:r>
            <a:r>
              <a:rPr lang="ru-RU" sz="2000" dirty="0" err="1" smtClean="0"/>
              <a:t>архітектури</a:t>
            </a:r>
            <a:r>
              <a:rPr lang="ru-RU" sz="2000" dirty="0" smtClean="0"/>
              <a:t>;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000" dirty="0" err="1" smtClean="0"/>
              <a:t>перевірка</a:t>
            </a:r>
            <a:r>
              <a:rPr lang="ru-RU" sz="2000" dirty="0" smtClean="0"/>
              <a:t> </a:t>
            </a:r>
            <a:r>
              <a:rPr lang="ru-RU" sz="2000" dirty="0" err="1" smtClean="0"/>
              <a:t>відповідності</a:t>
            </a:r>
            <a:r>
              <a:rPr lang="ru-RU" sz="2000" dirty="0" smtClean="0"/>
              <a:t> </a:t>
            </a:r>
            <a:r>
              <a:rPr lang="ru-RU" sz="2000" dirty="0" err="1" smtClean="0"/>
              <a:t>реалізації</a:t>
            </a:r>
            <a:r>
              <a:rPr lang="ru-RU" sz="2000" dirty="0" smtClean="0"/>
              <a:t> </a:t>
            </a:r>
            <a:r>
              <a:rPr lang="ru-RU" sz="2000" dirty="0" err="1" smtClean="0"/>
              <a:t>архітектурі</a:t>
            </a:r>
            <a:r>
              <a:rPr lang="ru-RU" sz="2000" dirty="0" smtClean="0"/>
              <a:t>;</a:t>
            </a:r>
            <a:endParaRPr lang="ru-RU" sz="20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-50800" y="-69165"/>
            <a:ext cx="9194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err="1" smtClean="0">
                <a:solidFill>
                  <a:schemeClr val="bg1"/>
                </a:solidFill>
              </a:rPr>
              <a:t>Програмний</a:t>
            </a:r>
            <a:r>
              <a:rPr lang="ru-RU" sz="2400" b="1" dirty="0" smtClean="0">
                <a:solidFill>
                  <a:schemeClr val="bg1"/>
                </a:solidFill>
              </a:rPr>
              <a:t> </a:t>
            </a:r>
            <a:r>
              <a:rPr lang="ru-RU" sz="2400" b="1" dirty="0" err="1" smtClean="0">
                <a:solidFill>
                  <a:schemeClr val="bg1"/>
                </a:solidFill>
              </a:rPr>
              <a:t>процес</a:t>
            </a:r>
            <a:r>
              <a:rPr lang="ru-RU" sz="2400" b="1" dirty="0" smtClean="0">
                <a:solidFill>
                  <a:schemeClr val="bg1"/>
                </a:solidFill>
              </a:rPr>
              <a:t> і </a:t>
            </a:r>
            <a:r>
              <a:rPr lang="ru-RU" sz="2400" b="1" dirty="0" err="1" smtClean="0">
                <a:solidFill>
                  <a:schemeClr val="bg1"/>
                </a:solidFill>
              </a:rPr>
              <a:t>архітектурно-економічний</a:t>
            </a:r>
            <a:r>
              <a:rPr lang="ru-RU" sz="2400" b="1" dirty="0" smtClean="0">
                <a:solidFill>
                  <a:schemeClr val="bg1"/>
                </a:solidFill>
              </a:rPr>
              <a:t> цикл</a:t>
            </a:r>
            <a:endParaRPr lang="ru-RU" sz="24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1124744"/>
            <a:ext cx="8136904" cy="3093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Bef>
                <a:spcPts val="600"/>
              </a:spcBef>
              <a:buAutoNum type="arabicPeriod"/>
            </a:pPr>
            <a:r>
              <a:rPr lang="ru-RU" sz="2000" b="1" dirty="0" smtClean="0">
                <a:solidFill>
                  <a:srgbClr val="C00000"/>
                </a:solidFill>
              </a:rPr>
              <a:t>Компонент</a:t>
            </a:r>
            <a:r>
              <a:rPr lang="ru-RU" sz="2000" dirty="0" smtClean="0"/>
              <a:t> - абстрактна </a:t>
            </a:r>
            <a:r>
              <a:rPr lang="ru-RU" sz="2000" dirty="0" err="1" smtClean="0"/>
              <a:t>одиниця</a:t>
            </a:r>
            <a:r>
              <a:rPr lang="ru-RU" sz="2000" dirty="0" smtClean="0"/>
              <a:t> </a:t>
            </a:r>
            <a:r>
              <a:rPr lang="ru-RU" sz="2000" dirty="0" err="1" smtClean="0"/>
              <a:t>інструкцій</a:t>
            </a:r>
            <a:r>
              <a:rPr lang="ru-RU" sz="2000" dirty="0" smtClean="0"/>
              <a:t> </a:t>
            </a:r>
            <a:r>
              <a:rPr lang="ru-RU" sz="2000" dirty="0" err="1" smtClean="0"/>
              <a:t>програмного</a:t>
            </a:r>
            <a:r>
              <a:rPr lang="ru-RU" sz="2000" dirty="0" smtClean="0"/>
              <a:t> </a:t>
            </a:r>
            <a:r>
              <a:rPr lang="ru-RU" sz="2000" dirty="0" err="1" smtClean="0"/>
              <a:t>забезпечення</a:t>
            </a:r>
            <a:r>
              <a:rPr lang="ru-RU" sz="2000" dirty="0" smtClean="0"/>
              <a:t> і </a:t>
            </a:r>
            <a:r>
              <a:rPr lang="ru-RU" sz="2000" dirty="0" err="1" smtClean="0"/>
              <a:t>внутрішніх</a:t>
            </a:r>
            <a:r>
              <a:rPr lang="ru-RU" sz="2000" dirty="0" smtClean="0"/>
              <a:t> </a:t>
            </a:r>
            <a:r>
              <a:rPr lang="ru-RU" sz="2000" dirty="0" err="1" smtClean="0"/>
              <a:t>станів</a:t>
            </a:r>
            <a:r>
              <a:rPr lang="ru-RU" sz="2000" dirty="0" smtClean="0"/>
              <a:t>, яка </a:t>
            </a:r>
            <a:r>
              <a:rPr lang="ru-RU" sz="2000" dirty="0" err="1" smtClean="0"/>
              <a:t>забезпечує</a:t>
            </a:r>
            <a:r>
              <a:rPr lang="ru-RU" sz="2000" dirty="0" smtClean="0"/>
              <a:t> </a:t>
            </a:r>
            <a:r>
              <a:rPr lang="ru-RU" sz="2000" dirty="0" err="1" smtClean="0"/>
              <a:t>трансформацію</a:t>
            </a:r>
            <a:r>
              <a:rPr lang="ru-RU" sz="2000" dirty="0" smtClean="0"/>
              <a:t> </a:t>
            </a:r>
            <a:r>
              <a:rPr lang="ru-RU" sz="2000" dirty="0" err="1" smtClean="0"/>
              <a:t>даних</a:t>
            </a:r>
            <a:r>
              <a:rPr lang="ru-RU" sz="2000" dirty="0" smtClean="0"/>
              <a:t> через </a:t>
            </a:r>
            <a:r>
              <a:rPr lang="ru-RU" sz="2000" dirty="0" err="1" smtClean="0"/>
              <a:t>свої</a:t>
            </a:r>
            <a:r>
              <a:rPr lang="ru-RU" sz="2000" dirty="0" smtClean="0"/>
              <a:t> </a:t>
            </a:r>
            <a:r>
              <a:rPr lang="ru-RU" sz="2000" dirty="0" err="1" smtClean="0"/>
              <a:t>інтерфейси</a:t>
            </a:r>
            <a:r>
              <a:rPr lang="ru-RU" sz="2000" dirty="0" smtClean="0"/>
              <a:t>.</a:t>
            </a:r>
          </a:p>
          <a:p>
            <a:pPr marL="457200" indent="-457200">
              <a:spcBef>
                <a:spcPts val="600"/>
              </a:spcBef>
              <a:buAutoNum type="arabicPeriod"/>
            </a:pPr>
            <a:r>
              <a:rPr lang="ru-RU" sz="2000" b="1" dirty="0" err="1" smtClean="0">
                <a:solidFill>
                  <a:srgbClr val="C00000"/>
                </a:solidFill>
              </a:rPr>
              <a:t>Конектор</a:t>
            </a:r>
            <a:r>
              <a:rPr lang="ru-RU" sz="2000" dirty="0" smtClean="0">
                <a:solidFill>
                  <a:srgbClr val="C00000"/>
                </a:solidFill>
              </a:rPr>
              <a:t> </a:t>
            </a:r>
            <a:r>
              <a:rPr lang="ru-RU" sz="2000" dirty="0" smtClean="0"/>
              <a:t>- </a:t>
            </a:r>
            <a:r>
              <a:rPr lang="ru-RU" sz="2000" dirty="0" err="1" smtClean="0"/>
              <a:t>абстрактний</a:t>
            </a:r>
            <a:r>
              <a:rPr lang="ru-RU" sz="2000" dirty="0" smtClean="0"/>
              <a:t> </a:t>
            </a:r>
            <a:r>
              <a:rPr lang="ru-RU" sz="2000" dirty="0" err="1" smtClean="0"/>
              <a:t>механізм</a:t>
            </a:r>
            <a:r>
              <a:rPr lang="ru-RU" sz="2000" dirty="0" smtClean="0"/>
              <a:t>, </a:t>
            </a:r>
            <a:r>
              <a:rPr lang="ru-RU" sz="2000" dirty="0" err="1" smtClean="0"/>
              <a:t>що</a:t>
            </a:r>
            <a:r>
              <a:rPr lang="ru-RU" sz="2000" dirty="0" smtClean="0"/>
              <a:t> служить </a:t>
            </a:r>
            <a:r>
              <a:rPr lang="ru-RU" sz="2000" dirty="0" err="1" smtClean="0"/>
              <a:t>посередником</a:t>
            </a:r>
            <a:r>
              <a:rPr lang="ru-RU" sz="2000" dirty="0" smtClean="0"/>
              <a:t> в </a:t>
            </a:r>
            <a:r>
              <a:rPr lang="ru-RU" sz="2000" dirty="0" err="1" smtClean="0"/>
              <a:t>комунікації</a:t>
            </a:r>
            <a:r>
              <a:rPr lang="ru-RU" sz="2000" dirty="0" smtClean="0"/>
              <a:t>, </a:t>
            </a:r>
            <a:r>
              <a:rPr lang="ru-RU" sz="2000" dirty="0" err="1" smtClean="0"/>
              <a:t>координації</a:t>
            </a:r>
            <a:r>
              <a:rPr lang="ru-RU" sz="2000" dirty="0" smtClean="0"/>
              <a:t> </a:t>
            </a:r>
            <a:r>
              <a:rPr lang="ru-RU" sz="2000" dirty="0" err="1" smtClean="0"/>
              <a:t>або</a:t>
            </a:r>
            <a:r>
              <a:rPr lang="ru-RU" sz="2000" dirty="0" smtClean="0"/>
              <a:t> </a:t>
            </a:r>
            <a:r>
              <a:rPr lang="ru-RU" sz="2000" dirty="0" err="1" smtClean="0"/>
              <a:t>кооперації</a:t>
            </a:r>
            <a:r>
              <a:rPr lang="ru-RU" sz="2000" dirty="0" smtClean="0"/>
              <a:t> </a:t>
            </a:r>
            <a:r>
              <a:rPr lang="ru-RU" sz="2000" dirty="0" err="1" smtClean="0"/>
              <a:t>між</a:t>
            </a:r>
            <a:r>
              <a:rPr lang="ru-RU" sz="2000" dirty="0" smtClean="0"/>
              <a:t> компонентами.</a:t>
            </a:r>
          </a:p>
          <a:p>
            <a:pPr marL="457200" indent="-457200">
              <a:spcBef>
                <a:spcPts val="600"/>
              </a:spcBef>
              <a:buAutoNum type="arabicPeriod"/>
            </a:pPr>
            <a:r>
              <a:rPr lang="ru-RU" sz="2000" b="1" dirty="0" err="1" smtClean="0">
                <a:solidFill>
                  <a:srgbClr val="C00000"/>
                </a:solidFill>
              </a:rPr>
              <a:t>Дані</a:t>
            </a:r>
            <a:r>
              <a:rPr lang="ru-RU" sz="2000" dirty="0" smtClean="0">
                <a:solidFill>
                  <a:srgbClr val="C00000"/>
                </a:solidFill>
              </a:rPr>
              <a:t> </a:t>
            </a:r>
            <a:r>
              <a:rPr lang="ru-RU" sz="2000" dirty="0" smtClean="0"/>
              <a:t>- </a:t>
            </a:r>
            <a:r>
              <a:rPr lang="ru-RU" sz="2000" dirty="0" err="1" smtClean="0"/>
              <a:t>елемент</a:t>
            </a:r>
            <a:r>
              <a:rPr lang="ru-RU" sz="2000" dirty="0" smtClean="0"/>
              <a:t> </a:t>
            </a:r>
            <a:r>
              <a:rPr lang="ru-RU" sz="2000" dirty="0" err="1" smtClean="0"/>
              <a:t>інформації</a:t>
            </a:r>
            <a:r>
              <a:rPr lang="ru-RU" sz="2000" dirty="0" smtClean="0"/>
              <a:t>, </a:t>
            </a:r>
            <a:r>
              <a:rPr lang="ru-RU" sz="2000" dirty="0" err="1" smtClean="0"/>
              <a:t>що</a:t>
            </a:r>
            <a:r>
              <a:rPr lang="ru-RU" sz="2000" dirty="0" smtClean="0"/>
              <a:t> </a:t>
            </a:r>
            <a:r>
              <a:rPr lang="ru-RU" sz="2000" dirty="0" err="1" smtClean="0"/>
              <a:t>передається</a:t>
            </a:r>
            <a:r>
              <a:rPr lang="ru-RU" sz="2000" dirty="0" smtClean="0"/>
              <a:t> </a:t>
            </a:r>
            <a:r>
              <a:rPr lang="ru-RU" sz="2000" dirty="0" err="1" smtClean="0"/>
              <a:t>від</a:t>
            </a:r>
            <a:r>
              <a:rPr lang="ru-RU" sz="2000" dirty="0" smtClean="0"/>
              <a:t> одного компонента </a:t>
            </a:r>
            <a:r>
              <a:rPr lang="ru-RU" sz="2000" dirty="0" err="1" smtClean="0"/>
              <a:t>або</a:t>
            </a:r>
            <a:r>
              <a:rPr lang="ru-RU" sz="2000" dirty="0" smtClean="0"/>
              <a:t> </a:t>
            </a:r>
            <a:r>
              <a:rPr lang="ru-RU" sz="2000" dirty="0" err="1" smtClean="0"/>
              <a:t>отримується</a:t>
            </a:r>
            <a:r>
              <a:rPr lang="ru-RU" sz="2000" dirty="0" smtClean="0"/>
              <a:t> </a:t>
            </a:r>
            <a:r>
              <a:rPr lang="ru-RU" sz="2000" dirty="0" err="1" smtClean="0"/>
              <a:t>від</a:t>
            </a:r>
            <a:r>
              <a:rPr lang="ru-RU" sz="2000" dirty="0" smtClean="0"/>
              <a:t> </a:t>
            </a:r>
            <a:r>
              <a:rPr lang="ru-RU" sz="2000" dirty="0" err="1" smtClean="0"/>
              <a:t>іншого</a:t>
            </a:r>
            <a:r>
              <a:rPr lang="ru-RU" sz="2000" dirty="0" smtClean="0"/>
              <a:t> компонента через коннектор.</a:t>
            </a:r>
          </a:p>
          <a:p>
            <a:pPr marL="457200" indent="-457200">
              <a:spcBef>
                <a:spcPts val="600"/>
              </a:spcBef>
              <a:buAutoNum type="arabicPeriod"/>
            </a:pPr>
            <a:endParaRPr lang="ru-RU" sz="20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-57666"/>
            <a:ext cx="895800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 err="1" smtClean="0">
                <a:solidFill>
                  <a:schemeClr val="bg1"/>
                </a:solidFill>
              </a:rPr>
              <a:t>Будівельні</a:t>
            </a:r>
            <a:r>
              <a:rPr lang="ru-RU" sz="2800" b="1" dirty="0" smtClean="0">
                <a:solidFill>
                  <a:schemeClr val="bg1"/>
                </a:solidFill>
              </a:rPr>
              <a:t> </a:t>
            </a:r>
            <a:r>
              <a:rPr lang="ru-RU" sz="2800" b="1" dirty="0" err="1" smtClean="0">
                <a:solidFill>
                  <a:schemeClr val="bg1"/>
                </a:solidFill>
              </a:rPr>
              <a:t>елементи</a:t>
            </a:r>
            <a:r>
              <a:rPr lang="ru-RU" sz="2800" b="1" dirty="0" smtClean="0">
                <a:solidFill>
                  <a:schemeClr val="bg1"/>
                </a:solidFill>
              </a:rPr>
              <a:t> </a:t>
            </a:r>
            <a:r>
              <a:rPr lang="ru-RU" sz="2800" b="1" dirty="0" err="1" smtClean="0">
                <a:solidFill>
                  <a:schemeClr val="bg1"/>
                </a:solidFill>
              </a:rPr>
              <a:t>архітектури</a:t>
            </a:r>
            <a:r>
              <a:rPr lang="ru-RU" sz="2800" b="1" dirty="0" smtClean="0">
                <a:solidFill>
                  <a:schemeClr val="bg1"/>
                </a:solidFill>
              </a:rPr>
              <a:t> ПЗ </a:t>
            </a:r>
            <a:endParaRPr lang="ru-RU" sz="2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901241" y="-130314"/>
            <a:ext cx="34558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 err="1" smtClean="0">
                <a:solidFill>
                  <a:schemeClr val="bg1"/>
                </a:solidFill>
              </a:rPr>
              <a:t>Архітектурні</a:t>
            </a:r>
            <a:r>
              <a:rPr lang="ru-RU" sz="2800" b="1" dirty="0" smtClean="0">
                <a:solidFill>
                  <a:schemeClr val="bg1"/>
                </a:solidFill>
              </a:rPr>
              <a:t> </a:t>
            </a:r>
            <a:r>
              <a:rPr lang="ru-RU" sz="2800" b="1" dirty="0" err="1" smtClean="0">
                <a:solidFill>
                  <a:schemeClr val="bg1"/>
                </a:solidFill>
              </a:rPr>
              <a:t>стилі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15240" y="1052736"/>
            <a:ext cx="7125111" cy="14311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Структура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dirty="0" err="1" smtClean="0"/>
              <a:t>Компонентна</a:t>
            </a:r>
            <a:r>
              <a:rPr lang="ru-RU" dirty="0" smtClean="0"/>
              <a:t> </a:t>
            </a:r>
            <a:r>
              <a:rPr lang="ru-RU" dirty="0" err="1" smtClean="0"/>
              <a:t>архітектура</a:t>
            </a:r>
            <a:r>
              <a:rPr lang="ru-RU" dirty="0" smtClean="0"/>
              <a:t> (</a:t>
            </a:r>
            <a:r>
              <a:rPr lang="ru-RU" dirty="0" err="1" smtClean="0"/>
              <a:t>Component-based</a:t>
            </a:r>
            <a:r>
              <a:rPr lang="ru-RU" dirty="0" smtClean="0"/>
              <a:t>) 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dirty="0" err="1" smtClean="0"/>
              <a:t>Монолітне</a:t>
            </a:r>
            <a:r>
              <a:rPr lang="ru-RU" dirty="0" smtClean="0"/>
              <a:t> </a:t>
            </a:r>
            <a:r>
              <a:rPr lang="ru-RU" dirty="0" err="1" smtClean="0"/>
              <a:t>додаток</a:t>
            </a:r>
            <a:r>
              <a:rPr lang="ru-RU" dirty="0" smtClean="0"/>
              <a:t> (</a:t>
            </a:r>
            <a:r>
              <a:rPr lang="ru-RU" dirty="0" err="1" smtClean="0"/>
              <a:t>Monolithic</a:t>
            </a:r>
            <a:r>
              <a:rPr lang="ru-RU" dirty="0" smtClean="0"/>
              <a:t> </a:t>
            </a:r>
            <a:r>
              <a:rPr lang="ru-RU" dirty="0" err="1" smtClean="0"/>
              <a:t>application</a:t>
            </a:r>
            <a:r>
              <a:rPr lang="ru-RU" dirty="0" smtClean="0"/>
              <a:t>) 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dirty="0" err="1" smtClean="0"/>
              <a:t>Розшарування</a:t>
            </a:r>
            <a:r>
              <a:rPr lang="ru-RU" dirty="0" smtClean="0"/>
              <a:t> (</a:t>
            </a:r>
            <a:r>
              <a:rPr lang="ru-RU" dirty="0" err="1" smtClean="0"/>
              <a:t>Layered</a:t>
            </a:r>
            <a:r>
              <a:rPr lang="ru-RU" dirty="0" smtClean="0"/>
              <a:t>)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15240" y="2708920"/>
            <a:ext cx="5108887" cy="14311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ru-RU" b="1" dirty="0" err="1" smtClean="0"/>
              <a:t>Розподілені</a:t>
            </a:r>
            <a:r>
              <a:rPr lang="ru-RU" b="1" dirty="0" smtClean="0"/>
              <a:t> </a:t>
            </a:r>
            <a:r>
              <a:rPr lang="ru-RU" b="1" dirty="0" err="1" smtClean="0"/>
              <a:t>системи</a:t>
            </a:r>
            <a:endParaRPr lang="ru-RU" b="1" dirty="0" smtClean="0"/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ru-RU" dirty="0" err="1" smtClean="0"/>
              <a:t>Клієнт</a:t>
            </a:r>
            <a:r>
              <a:rPr lang="ru-RU" dirty="0" smtClean="0"/>
              <a:t>-сервер (</a:t>
            </a:r>
            <a:r>
              <a:rPr lang="ru-RU" dirty="0" err="1" smtClean="0"/>
              <a:t>Client-server</a:t>
            </a:r>
            <a:r>
              <a:rPr lang="ru-RU" dirty="0" smtClean="0"/>
              <a:t>) 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ru-RU" dirty="0" smtClean="0"/>
              <a:t>Точка-точка (</a:t>
            </a:r>
            <a:r>
              <a:rPr lang="ru-RU" dirty="0" err="1" smtClean="0"/>
              <a:t>Peer-to-peer</a:t>
            </a:r>
            <a:r>
              <a:rPr lang="ru-RU" dirty="0" smtClean="0"/>
              <a:t>)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ru-RU" dirty="0" err="1" smtClean="0"/>
              <a:t>Сервіс-орієнтована</a:t>
            </a:r>
            <a:r>
              <a:rPr lang="ru-RU" dirty="0" smtClean="0"/>
              <a:t> (</a:t>
            </a:r>
            <a:r>
              <a:rPr lang="ru-RU" dirty="0" err="1" smtClean="0"/>
              <a:t>Service-oriented</a:t>
            </a:r>
            <a:r>
              <a:rPr lang="ru-RU" dirty="0" smtClean="0"/>
              <a:t>)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15240" y="4509120"/>
            <a:ext cx="5904656" cy="14311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uk-UA" b="1" dirty="0" smtClean="0"/>
              <a:t>Повідомлення</a:t>
            </a:r>
            <a:endParaRPr lang="ru-RU" b="1" dirty="0" smtClean="0"/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ru-RU" dirty="0" err="1" smtClean="0"/>
              <a:t>Подієва</a:t>
            </a:r>
            <a:r>
              <a:rPr lang="ru-RU" dirty="0" smtClean="0"/>
              <a:t> </a:t>
            </a:r>
            <a:r>
              <a:rPr lang="ru-RU" dirty="0" err="1" smtClean="0"/>
              <a:t>архітектура</a:t>
            </a:r>
            <a:r>
              <a:rPr lang="ru-RU" dirty="0" smtClean="0"/>
              <a:t> (</a:t>
            </a:r>
            <a:r>
              <a:rPr lang="ru-RU" dirty="0" err="1" smtClean="0"/>
              <a:t>Event-driven</a:t>
            </a:r>
            <a:r>
              <a:rPr lang="ru-RU" dirty="0" smtClean="0"/>
              <a:t>) 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ru-RU" dirty="0" err="1" smtClean="0"/>
              <a:t>Публікація</a:t>
            </a:r>
            <a:r>
              <a:rPr lang="ru-RU" dirty="0" smtClean="0"/>
              <a:t> / </a:t>
            </a:r>
            <a:r>
              <a:rPr lang="ru-RU" dirty="0" err="1" smtClean="0"/>
              <a:t>Підписка</a:t>
            </a:r>
            <a:r>
              <a:rPr lang="ru-RU" dirty="0" smtClean="0"/>
              <a:t> (</a:t>
            </a:r>
            <a:r>
              <a:rPr lang="ru-RU" dirty="0" err="1" smtClean="0"/>
              <a:t>Publish-subscribe</a:t>
            </a:r>
            <a:r>
              <a:rPr lang="ru-RU" dirty="0" smtClean="0"/>
              <a:t>) 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ru-RU" dirty="0" smtClean="0"/>
              <a:t>Шина </a:t>
            </a:r>
            <a:r>
              <a:rPr lang="ru-RU" dirty="0" err="1" smtClean="0"/>
              <a:t>повідомлень</a:t>
            </a:r>
            <a:r>
              <a:rPr lang="ru-RU" dirty="0" smtClean="0"/>
              <a:t> (</a:t>
            </a:r>
            <a:r>
              <a:rPr lang="ru-RU" dirty="0" err="1" smtClean="0"/>
              <a:t>Message</a:t>
            </a:r>
            <a:r>
              <a:rPr lang="ru-RU" dirty="0" smtClean="0"/>
              <a:t> </a:t>
            </a:r>
            <a:r>
              <a:rPr lang="ru-RU" dirty="0" err="1" smtClean="0"/>
              <a:t>bus</a:t>
            </a:r>
            <a:r>
              <a:rPr lang="ru-RU" dirty="0" smtClean="0"/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04108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graphicFrame>
        <p:nvGraphicFramePr>
          <p:cNvPr id="24580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6414110"/>
              </p:ext>
            </p:extLst>
          </p:nvPr>
        </p:nvGraphicFramePr>
        <p:xfrm>
          <a:off x="323528" y="980728"/>
          <a:ext cx="8568952" cy="5167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7" name="Visio" r:id="rId3" imgW="6530035" imgH="3736604" progId="Visio.Drawing.11">
                  <p:embed/>
                </p:oleObj>
              </mc:Choice>
              <mc:Fallback>
                <p:oleObj name="Visio" r:id="rId3" imgW="6530035" imgH="3736604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980728"/>
                        <a:ext cx="8568952" cy="51676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Прямоугольник 1"/>
          <p:cNvSpPr/>
          <p:nvPr/>
        </p:nvSpPr>
        <p:spPr>
          <a:xfrm>
            <a:off x="2901241" y="-130314"/>
            <a:ext cx="34558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 err="1" smtClean="0">
                <a:solidFill>
                  <a:schemeClr val="bg1"/>
                </a:solidFill>
              </a:rPr>
              <a:t>Архітектурні</a:t>
            </a:r>
            <a:r>
              <a:rPr lang="ru-RU" sz="2800" b="1" dirty="0" smtClean="0">
                <a:solidFill>
                  <a:schemeClr val="bg1"/>
                </a:solidFill>
              </a:rPr>
              <a:t> </a:t>
            </a:r>
            <a:r>
              <a:rPr lang="ru-RU" sz="2800" b="1" dirty="0" err="1" smtClean="0">
                <a:solidFill>
                  <a:schemeClr val="bg1"/>
                </a:solidFill>
              </a:rPr>
              <a:t>стилі</a:t>
            </a:r>
            <a:endParaRPr lang="ru-RU" sz="2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3856434"/>
            <a:ext cx="5184576" cy="223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0" y="-130314"/>
            <a:ext cx="905170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 err="1" smtClean="0">
                <a:solidFill>
                  <a:schemeClr val="bg1"/>
                </a:solidFill>
              </a:rPr>
              <a:t>Характеристиа</a:t>
            </a:r>
            <a:r>
              <a:rPr lang="ru-RU" sz="2800" b="1" dirty="0" smtClean="0">
                <a:solidFill>
                  <a:schemeClr val="bg1"/>
                </a:solidFill>
              </a:rPr>
              <a:t> </a:t>
            </a:r>
            <a:r>
              <a:rPr lang="ru-RU" sz="2800" b="1" dirty="0" err="1" smtClean="0">
                <a:solidFill>
                  <a:schemeClr val="bg1"/>
                </a:solidFill>
              </a:rPr>
              <a:t>архітектурних</a:t>
            </a:r>
            <a:r>
              <a:rPr lang="ru-RU" sz="2800" b="1" dirty="0" smtClean="0">
                <a:solidFill>
                  <a:schemeClr val="bg1"/>
                </a:solidFill>
              </a:rPr>
              <a:t> </a:t>
            </a:r>
            <a:r>
              <a:rPr lang="ru-RU" sz="2800" b="1" dirty="0" err="1" smtClean="0">
                <a:solidFill>
                  <a:schemeClr val="bg1"/>
                </a:solidFill>
              </a:rPr>
              <a:t>стилів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464994" y="994112"/>
            <a:ext cx="856895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 smtClean="0"/>
              <a:t>Канали і </a:t>
            </a:r>
            <a:r>
              <a:rPr lang="ru-RU" sz="2000" b="1" dirty="0" err="1" smtClean="0"/>
              <a:t>фільтри</a:t>
            </a:r>
            <a:endParaRPr lang="ru-RU" sz="2000" b="1" dirty="0" smtClean="0"/>
          </a:p>
          <a:p>
            <a:pPr algn="ctr"/>
            <a:endParaRPr lang="ru-RU" sz="2000" b="1" dirty="0" smtClean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2000" dirty="0" err="1" smtClean="0"/>
              <a:t>Архітектурний</a:t>
            </a:r>
            <a:r>
              <a:rPr lang="ru-RU" sz="2000" dirty="0" smtClean="0"/>
              <a:t> </a:t>
            </a:r>
            <a:r>
              <a:rPr lang="ru-RU" sz="2000" dirty="0" err="1" smtClean="0"/>
              <a:t>опис</a:t>
            </a:r>
            <a:r>
              <a:rPr lang="ru-RU" sz="2000" dirty="0" smtClean="0"/>
              <a:t> </a:t>
            </a:r>
            <a:r>
              <a:rPr lang="ru-RU" sz="2000" dirty="0" err="1" smtClean="0"/>
              <a:t>будується</a:t>
            </a:r>
            <a:r>
              <a:rPr lang="ru-RU" sz="2000" dirty="0" smtClean="0"/>
              <a:t> як </a:t>
            </a:r>
            <a:r>
              <a:rPr lang="ru-RU" sz="2000" dirty="0" err="1" smtClean="0"/>
              <a:t>зв'язна</a:t>
            </a:r>
            <a:r>
              <a:rPr lang="ru-RU" sz="2000" dirty="0" smtClean="0"/>
              <a:t> </a:t>
            </a:r>
            <a:r>
              <a:rPr lang="ru-RU" sz="2000" dirty="0" err="1" smtClean="0"/>
              <a:t>сукупність</a:t>
            </a:r>
            <a:r>
              <a:rPr lang="ru-RU" sz="2000" dirty="0" smtClean="0"/>
              <a:t> </a:t>
            </a:r>
            <a:r>
              <a:rPr lang="ru-RU" sz="2000" dirty="0" err="1" smtClean="0"/>
              <a:t>фільтрів</a:t>
            </a:r>
            <a:r>
              <a:rPr lang="ru-RU" sz="2000" dirty="0" smtClean="0"/>
              <a:t> і </a:t>
            </a:r>
            <a:r>
              <a:rPr lang="ru-RU" sz="2000" dirty="0" err="1" smtClean="0"/>
              <a:t>каналів</a:t>
            </a:r>
            <a:r>
              <a:rPr lang="ru-RU" sz="2000" dirty="0" smtClean="0"/>
              <a:t>, в </a:t>
            </a:r>
            <a:r>
              <a:rPr lang="ru-RU" sz="2000" dirty="0" err="1" smtClean="0"/>
              <a:t>якій</a:t>
            </a:r>
            <a:r>
              <a:rPr lang="ru-RU" sz="2000" dirty="0" smtClean="0"/>
              <a:t>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2000" dirty="0" err="1" smtClean="0"/>
              <a:t>фільтр</a:t>
            </a:r>
            <a:r>
              <a:rPr lang="ru-RU" sz="2000" dirty="0" smtClean="0"/>
              <a:t> - </a:t>
            </a:r>
            <a:r>
              <a:rPr lang="ru-RU" sz="2000" dirty="0" err="1" smtClean="0"/>
              <a:t>незалежний</a:t>
            </a:r>
            <a:r>
              <a:rPr lang="ru-RU" sz="2000" dirty="0" smtClean="0"/>
              <a:t> блок, </a:t>
            </a:r>
            <a:r>
              <a:rPr lang="ru-RU" sz="2000" dirty="0" err="1" smtClean="0"/>
              <a:t>який</a:t>
            </a:r>
            <a:r>
              <a:rPr lang="ru-RU" sz="2000" dirty="0" smtClean="0"/>
              <a:t> </a:t>
            </a:r>
            <a:r>
              <a:rPr lang="ru-RU" sz="2000" dirty="0" err="1" smtClean="0"/>
              <a:t>одержує</a:t>
            </a:r>
            <a:r>
              <a:rPr lang="ru-RU" sz="2000" dirty="0" smtClean="0"/>
              <a:t> на </a:t>
            </a:r>
            <a:r>
              <a:rPr lang="ru-RU" sz="2000" dirty="0" err="1" smtClean="0"/>
              <a:t>вхід</a:t>
            </a:r>
            <a:r>
              <a:rPr lang="ru-RU" sz="2000" dirty="0" smtClean="0"/>
              <a:t> </a:t>
            </a:r>
            <a:r>
              <a:rPr lang="ru-RU" sz="2000" dirty="0" err="1" smtClean="0"/>
              <a:t>потік</a:t>
            </a:r>
            <a:r>
              <a:rPr lang="ru-RU" sz="2000" dirty="0" smtClean="0"/>
              <a:t> </a:t>
            </a:r>
            <a:r>
              <a:rPr lang="ru-RU" sz="2000" dirty="0" err="1" smtClean="0"/>
              <a:t>даних</a:t>
            </a:r>
            <a:r>
              <a:rPr lang="ru-RU" sz="2000" dirty="0" smtClean="0"/>
              <a:t> і </a:t>
            </a:r>
            <a:r>
              <a:rPr lang="ru-RU" sz="2000" dirty="0" err="1" smtClean="0"/>
              <a:t>видає</a:t>
            </a:r>
            <a:r>
              <a:rPr lang="ru-RU" sz="2000" dirty="0" smtClean="0"/>
              <a:t> </a:t>
            </a:r>
            <a:r>
              <a:rPr lang="ru-RU" sz="2000" dirty="0" err="1" smtClean="0"/>
              <a:t>потік</a:t>
            </a:r>
            <a:r>
              <a:rPr lang="ru-RU" sz="2000" dirty="0" smtClean="0"/>
              <a:t> </a:t>
            </a:r>
            <a:r>
              <a:rPr lang="ru-RU" sz="2000" dirty="0" err="1" smtClean="0"/>
              <a:t>даних</a:t>
            </a:r>
            <a:endParaRPr lang="ru-RU" sz="2000" dirty="0" smtClean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2000" dirty="0" err="1" smtClean="0"/>
              <a:t>можлива</a:t>
            </a:r>
            <a:r>
              <a:rPr lang="ru-RU" sz="2000" dirty="0" smtClean="0"/>
              <a:t> </a:t>
            </a:r>
            <a:r>
              <a:rPr lang="ru-RU" sz="2000" dirty="0" err="1" smtClean="0"/>
              <a:t>досить</a:t>
            </a:r>
            <a:r>
              <a:rPr lang="ru-RU" sz="2000" dirty="0" smtClean="0"/>
              <a:t> проста </a:t>
            </a:r>
            <a:r>
              <a:rPr lang="ru-RU" sz="2000" dirty="0" err="1" smtClean="0"/>
              <a:t>переконфігурація</a:t>
            </a:r>
            <a:r>
              <a:rPr lang="ru-RU" sz="2000" dirty="0" smtClean="0"/>
              <a:t> </a:t>
            </a:r>
            <a:r>
              <a:rPr lang="ru-RU" sz="2000" dirty="0" err="1" smtClean="0"/>
              <a:t>системи</a:t>
            </a:r>
            <a:r>
              <a:rPr lang="ru-RU" sz="2000" dirty="0" smtClean="0"/>
              <a:t> </a:t>
            </a:r>
            <a:r>
              <a:rPr lang="ru-RU" sz="2000" dirty="0" err="1" smtClean="0"/>
              <a:t>фільтрів</a:t>
            </a:r>
            <a:r>
              <a:rPr lang="ru-RU" sz="2000" dirty="0" smtClean="0"/>
              <a:t> (</a:t>
            </a:r>
            <a:r>
              <a:rPr lang="ru-RU" sz="2000" dirty="0" err="1" smtClean="0"/>
              <a:t>з'єднання</a:t>
            </a:r>
            <a:r>
              <a:rPr lang="ru-RU" sz="2000" dirty="0" smtClean="0"/>
              <a:t> </a:t>
            </a:r>
            <a:r>
              <a:rPr lang="ru-RU" sz="2000" dirty="0" err="1" smtClean="0"/>
              <a:t>їх</a:t>
            </a:r>
            <a:r>
              <a:rPr lang="ru-RU" sz="2000" dirty="0" smtClean="0"/>
              <a:t> за </a:t>
            </a:r>
            <a:r>
              <a:rPr lang="ru-RU" sz="2000" dirty="0" err="1" smtClean="0"/>
              <a:t>допомогою</a:t>
            </a:r>
            <a:r>
              <a:rPr lang="ru-RU" sz="2000" dirty="0" smtClean="0"/>
              <a:t> </a:t>
            </a:r>
            <a:r>
              <a:rPr lang="uk-UA" sz="2000" dirty="0" smtClean="0"/>
              <a:t>труби</a:t>
            </a:r>
            <a:r>
              <a:rPr lang="en-US" sz="2000" dirty="0" smtClean="0"/>
              <a:t>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2000" dirty="0" err="1" smtClean="0"/>
              <a:t>фільтри</a:t>
            </a:r>
            <a:r>
              <a:rPr lang="ru-RU" sz="2000" dirty="0" smtClean="0"/>
              <a:t> </a:t>
            </a:r>
            <a:r>
              <a:rPr lang="ru-RU" sz="2000" dirty="0" err="1" smtClean="0"/>
              <a:t>працюють</a:t>
            </a:r>
            <a:r>
              <a:rPr lang="ru-RU" sz="2000" dirty="0" smtClean="0"/>
              <a:t> </a:t>
            </a:r>
            <a:r>
              <a:rPr lang="ru-RU" sz="2000" dirty="0" err="1" smtClean="0"/>
              <a:t>паралельно</a:t>
            </a:r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717" y="2492896"/>
            <a:ext cx="7911723" cy="2376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0" y="68044"/>
            <a:ext cx="90364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solidFill>
                  <a:schemeClr val="bg1"/>
                </a:solidFill>
              </a:rPr>
              <a:t>Стиль, </a:t>
            </a:r>
            <a:r>
              <a:rPr lang="ru-RU" sz="2400" b="1" dirty="0" err="1" smtClean="0">
                <a:solidFill>
                  <a:schemeClr val="bg1"/>
                </a:solidFill>
              </a:rPr>
              <a:t>заснований</a:t>
            </a:r>
            <a:r>
              <a:rPr lang="ru-RU" sz="2400" b="1" dirty="0" smtClean="0">
                <a:solidFill>
                  <a:schemeClr val="bg1"/>
                </a:solidFill>
              </a:rPr>
              <a:t> на </a:t>
            </a:r>
            <a:r>
              <a:rPr lang="ru-RU" sz="2400" b="1" dirty="0" err="1" smtClean="0">
                <a:solidFill>
                  <a:schemeClr val="bg1"/>
                </a:solidFill>
              </a:rPr>
              <a:t>репозитарії</a:t>
            </a:r>
            <a:r>
              <a:rPr lang="ru-RU" sz="2400" b="1" dirty="0" smtClean="0">
                <a:solidFill>
                  <a:schemeClr val="bg1"/>
                </a:solidFill>
              </a:rPr>
              <a:t> (</a:t>
            </a:r>
            <a:r>
              <a:rPr lang="ru-RU" sz="2400" b="1" dirty="0" err="1" smtClean="0">
                <a:solidFill>
                  <a:schemeClr val="bg1"/>
                </a:solidFill>
              </a:rPr>
              <a:t>Repository-based</a:t>
            </a:r>
            <a:r>
              <a:rPr lang="ru-RU" sz="2400" b="1" dirty="0" smtClean="0">
                <a:solidFill>
                  <a:schemeClr val="bg1"/>
                </a:solidFill>
              </a:rPr>
              <a:t>)</a:t>
            </a: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043608" y="1196752"/>
            <a:ext cx="748883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/>
              <a:t>В рамках стилю, </a:t>
            </a:r>
            <a:r>
              <a:rPr lang="ru-RU" sz="2000" dirty="0" err="1" smtClean="0"/>
              <a:t>що</a:t>
            </a:r>
            <a:r>
              <a:rPr lang="ru-RU" sz="2000" dirty="0" smtClean="0"/>
              <a:t> </a:t>
            </a:r>
            <a:r>
              <a:rPr lang="ru-RU" sz="2000" dirty="0" err="1" smtClean="0"/>
              <a:t>базується</a:t>
            </a:r>
            <a:r>
              <a:rPr lang="ru-RU" sz="2000" dirty="0" smtClean="0"/>
              <a:t> на </a:t>
            </a:r>
            <a:r>
              <a:rPr lang="ru-RU" sz="2000" dirty="0" err="1" smtClean="0"/>
              <a:t>репозитарії</a:t>
            </a:r>
            <a:r>
              <a:rPr lang="ru-RU" sz="2000" dirty="0" smtClean="0"/>
              <a:t>, </a:t>
            </a:r>
            <a:r>
              <a:rPr lang="ru-RU" sz="2000" dirty="0" err="1" smtClean="0"/>
              <a:t>загальні</a:t>
            </a:r>
            <a:r>
              <a:rPr lang="ru-RU" sz="2000" dirty="0" smtClean="0"/>
              <a:t> </a:t>
            </a:r>
            <a:r>
              <a:rPr lang="ru-RU" sz="2000" dirty="0" err="1" smtClean="0"/>
              <a:t>дані</a:t>
            </a:r>
            <a:r>
              <a:rPr lang="ru-RU" sz="2000" dirty="0" smtClean="0"/>
              <a:t> </a:t>
            </a:r>
            <a:r>
              <a:rPr lang="ru-RU" sz="2000" dirty="0" err="1" smtClean="0"/>
              <a:t>розділяє</a:t>
            </a:r>
            <a:r>
              <a:rPr lang="ru-RU" sz="2000" dirty="0" smtClean="0"/>
              <a:t> </a:t>
            </a:r>
            <a:r>
              <a:rPr lang="ru-RU" sz="2000" dirty="0" err="1" smtClean="0"/>
              <a:t>певна</a:t>
            </a:r>
            <a:r>
              <a:rPr lang="ru-RU" sz="2000" dirty="0" smtClean="0"/>
              <a:t> </a:t>
            </a:r>
            <a:r>
              <a:rPr lang="ru-RU" sz="2000" dirty="0" err="1" smtClean="0"/>
              <a:t>сукупність</a:t>
            </a:r>
            <a:r>
              <a:rPr lang="ru-RU" sz="2000" dirty="0" smtClean="0"/>
              <a:t> </a:t>
            </a:r>
            <a:r>
              <a:rPr lang="ru-RU" sz="2000" dirty="0" err="1" smtClean="0"/>
              <a:t>додатків</a:t>
            </a:r>
            <a:r>
              <a:rPr lang="ru-RU" sz="2000" dirty="0" smtClean="0"/>
              <a:t>, </a:t>
            </a:r>
            <a:r>
              <a:rPr lang="ru-RU" sz="2000" dirty="0" err="1" smtClean="0"/>
              <a:t>кожний</a:t>
            </a:r>
            <a:r>
              <a:rPr lang="ru-RU" sz="2000" dirty="0" smtClean="0"/>
              <a:t> з </a:t>
            </a:r>
            <a:r>
              <a:rPr lang="ru-RU" sz="2000" dirty="0" err="1" smtClean="0"/>
              <a:t>яких</a:t>
            </a:r>
            <a:r>
              <a:rPr lang="ru-RU" sz="2000" dirty="0" smtClean="0"/>
              <a:t> в </a:t>
            </a:r>
            <a:r>
              <a:rPr lang="ru-RU" sz="2000" dirty="0" err="1" smtClean="0"/>
              <a:t>своїх</a:t>
            </a:r>
            <a:r>
              <a:rPr lang="ru-RU" sz="2000" dirty="0" smtClean="0"/>
              <a:t> </a:t>
            </a:r>
            <a:r>
              <a:rPr lang="ru-RU" sz="2000" dirty="0" err="1" smtClean="0"/>
              <a:t>зверненнях</a:t>
            </a:r>
            <a:r>
              <a:rPr lang="ru-RU" sz="2000" dirty="0" smtClean="0"/>
              <a:t> до </a:t>
            </a:r>
            <a:r>
              <a:rPr lang="ru-RU" sz="2000" dirty="0" err="1" smtClean="0"/>
              <a:t>даних</a:t>
            </a:r>
            <a:r>
              <a:rPr lang="ru-RU" sz="2000" dirty="0" smtClean="0"/>
              <a:t> є </a:t>
            </a:r>
            <a:r>
              <a:rPr lang="ru-RU" sz="2000" dirty="0" err="1" smtClean="0"/>
              <a:t>незалежним</a:t>
            </a:r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717" y="2373373"/>
            <a:ext cx="8869086" cy="18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0" y="-1935"/>
            <a:ext cx="92525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err="1" smtClean="0">
                <a:solidFill>
                  <a:schemeClr val="bg1"/>
                </a:solidFill>
              </a:rPr>
              <a:t>Подієво-орієнтований</a:t>
            </a:r>
            <a:r>
              <a:rPr lang="ru-RU" sz="2400" b="1" dirty="0" smtClean="0">
                <a:solidFill>
                  <a:schemeClr val="bg1"/>
                </a:solidFill>
              </a:rPr>
              <a:t> (</a:t>
            </a:r>
            <a:r>
              <a:rPr lang="ru-RU" sz="2400" b="1" dirty="0" err="1" smtClean="0">
                <a:solidFill>
                  <a:schemeClr val="bg1"/>
                </a:solidFill>
              </a:rPr>
              <a:t>Event-based</a:t>
            </a:r>
            <a:r>
              <a:rPr lang="ru-RU" sz="2400" b="1" dirty="0" smtClean="0">
                <a:solidFill>
                  <a:schemeClr val="bg1"/>
                </a:solidFill>
              </a:rPr>
              <a:t>) стиль</a:t>
            </a: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36314" y="908720"/>
            <a:ext cx="860018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err="1" smtClean="0"/>
              <a:t>Подієвий</a:t>
            </a:r>
            <a:r>
              <a:rPr lang="ru-RU" sz="2000" dirty="0" smtClean="0"/>
              <a:t> стиль </a:t>
            </a:r>
            <a:r>
              <a:rPr lang="ru-RU" sz="2000" dirty="0" err="1" smtClean="0"/>
              <a:t>використовується</a:t>
            </a:r>
            <a:r>
              <a:rPr lang="ru-RU" sz="2000" dirty="0" smtClean="0"/>
              <a:t> для </a:t>
            </a:r>
            <a:r>
              <a:rPr lang="ru-RU" sz="2000" dirty="0" err="1" smtClean="0"/>
              <a:t>композиції</a:t>
            </a:r>
            <a:r>
              <a:rPr lang="ru-RU" sz="2000" dirty="0" smtClean="0"/>
              <a:t> </a:t>
            </a:r>
            <a:r>
              <a:rPr lang="ru-RU" sz="2000" dirty="0" err="1" smtClean="0"/>
              <a:t>додатків</a:t>
            </a:r>
            <a:r>
              <a:rPr lang="ru-RU" sz="2000" dirty="0" smtClean="0"/>
              <a:t>, </a:t>
            </a:r>
            <a:r>
              <a:rPr lang="ru-RU" sz="2000" dirty="0" err="1" smtClean="0"/>
              <a:t>які</a:t>
            </a:r>
            <a:r>
              <a:rPr lang="ru-RU" sz="2000" dirty="0" smtClean="0"/>
              <a:t> </a:t>
            </a:r>
            <a:r>
              <a:rPr lang="ru-RU" sz="2000" dirty="0" err="1" smtClean="0"/>
              <a:t>звертаються</a:t>
            </a:r>
            <a:r>
              <a:rPr lang="ru-RU" sz="2000" dirty="0" smtClean="0"/>
              <a:t> (регулярно </a:t>
            </a:r>
            <a:r>
              <a:rPr lang="ru-RU" sz="2000" dirty="0" err="1" smtClean="0"/>
              <a:t>або</a:t>
            </a:r>
            <a:r>
              <a:rPr lang="ru-RU" sz="2000" dirty="0" smtClean="0"/>
              <a:t> </a:t>
            </a:r>
            <a:r>
              <a:rPr lang="ru-RU" sz="2000" dirty="0" err="1" smtClean="0"/>
              <a:t>випадково</a:t>
            </a:r>
            <a:r>
              <a:rPr lang="ru-RU" sz="2000" dirty="0" smtClean="0"/>
              <a:t>) до </a:t>
            </a:r>
            <a:r>
              <a:rPr lang="ru-RU" sz="2000" dirty="0" err="1" smtClean="0"/>
              <a:t>родинного</a:t>
            </a:r>
            <a:r>
              <a:rPr lang="ru-RU" sz="2000" dirty="0" smtClean="0"/>
              <a:t> типу </a:t>
            </a:r>
            <a:r>
              <a:rPr lang="ru-RU" sz="2000" dirty="0" err="1" smtClean="0"/>
              <a:t>подій</a:t>
            </a:r>
            <a:r>
              <a:rPr lang="ru-RU" sz="2000" dirty="0" smtClean="0"/>
              <a:t> (</a:t>
            </a:r>
            <a:r>
              <a:rPr lang="ru-RU" sz="2000" dirty="0" err="1" smtClean="0"/>
              <a:t>що</a:t>
            </a:r>
            <a:r>
              <a:rPr lang="ru-RU" sz="2000" dirty="0" smtClean="0"/>
              <a:t> </a:t>
            </a:r>
            <a:r>
              <a:rPr lang="ru-RU" sz="2000" dirty="0" err="1" smtClean="0"/>
              <a:t>виникають</a:t>
            </a:r>
            <a:r>
              <a:rPr lang="ru-RU" sz="2000" dirty="0" smtClean="0"/>
              <a:t> регулярно </a:t>
            </a:r>
            <a:r>
              <a:rPr lang="ru-RU" sz="2000" dirty="0" err="1" smtClean="0"/>
              <a:t>або</a:t>
            </a:r>
            <a:r>
              <a:rPr lang="ru-RU" sz="2000" dirty="0" smtClean="0"/>
              <a:t> </a:t>
            </a:r>
            <a:r>
              <a:rPr lang="ru-RU" sz="2000" dirty="0" err="1" smtClean="0"/>
              <a:t>випадково</a:t>
            </a:r>
            <a:r>
              <a:rPr lang="ru-RU" sz="2000" dirty="0" smtClean="0"/>
              <a:t>), з </a:t>
            </a:r>
            <a:r>
              <a:rPr lang="ru-RU" sz="2000" dirty="0" err="1" smtClean="0"/>
              <a:t>якими</a:t>
            </a:r>
            <a:r>
              <a:rPr lang="ru-RU" sz="2000" dirty="0" smtClean="0"/>
              <a:t> </a:t>
            </a:r>
            <a:r>
              <a:rPr lang="ru-RU" sz="2000" dirty="0" err="1" smtClean="0"/>
              <a:t>взаємодіє</a:t>
            </a:r>
            <a:r>
              <a:rPr lang="ru-RU" sz="2000" dirty="0" smtClean="0"/>
              <a:t> система.</a:t>
            </a:r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Содержимое 2"/>
          <p:cNvSpPr>
            <a:spLocks noGrp="1"/>
          </p:cNvSpPr>
          <p:nvPr>
            <p:ph idx="4294967295"/>
          </p:nvPr>
        </p:nvSpPr>
        <p:spPr>
          <a:xfrm>
            <a:off x="467544" y="1052736"/>
            <a:ext cx="8424936" cy="1995488"/>
          </a:xfrm>
        </p:spPr>
        <p:txBody>
          <a:bodyPr/>
          <a:lstStyle/>
          <a:p>
            <a:r>
              <a:rPr lang="ru-RU" altLang="ru-RU" sz="2000" dirty="0" err="1" smtClean="0"/>
              <a:t>Одноранговый</a:t>
            </a:r>
            <a:r>
              <a:rPr lang="ru-RU" altLang="ru-RU" sz="2000" dirty="0" smtClean="0"/>
              <a:t> стиль </a:t>
            </a:r>
            <a:r>
              <a:rPr lang="ru-RU" altLang="ru-RU" sz="2000" dirty="0" err="1" smtClean="0"/>
              <a:t>застосується</a:t>
            </a:r>
            <a:r>
              <a:rPr lang="ru-RU" altLang="ru-RU" sz="2000" dirty="0" smtClean="0"/>
              <a:t> </a:t>
            </a:r>
            <a:r>
              <a:rPr lang="ru-RU" altLang="ru-RU" sz="2000" dirty="0"/>
              <a:t>в </a:t>
            </a:r>
            <a:r>
              <a:rPr lang="ru-RU" altLang="ru-RU" sz="2000" dirty="0" err="1"/>
              <a:t>умовах</a:t>
            </a:r>
            <a:r>
              <a:rPr lang="ru-RU" altLang="ru-RU" sz="2000" dirty="0"/>
              <a:t>, коли </a:t>
            </a:r>
            <a:r>
              <a:rPr lang="ru-RU" altLang="ru-RU" sz="2000" dirty="0" smtClean="0"/>
              <a:t>система, </a:t>
            </a:r>
            <a:r>
              <a:rPr lang="ru-RU" altLang="ru-RU" sz="2000" dirty="0" err="1" smtClean="0"/>
              <a:t>що</a:t>
            </a:r>
            <a:r>
              <a:rPr lang="ru-RU" altLang="ru-RU" sz="2000" dirty="0" smtClean="0"/>
              <a:t> </a:t>
            </a:r>
            <a:r>
              <a:rPr lang="ru-RU" altLang="ru-RU" sz="2000" dirty="0" err="1" smtClean="0"/>
              <a:t>розробляється</a:t>
            </a:r>
            <a:r>
              <a:rPr lang="ru-RU" altLang="ru-RU" sz="2000" dirty="0" smtClean="0"/>
              <a:t>,  </a:t>
            </a:r>
            <a:r>
              <a:rPr lang="ru-RU" altLang="ru-RU" sz="2000" dirty="0" err="1"/>
              <a:t>складається</a:t>
            </a:r>
            <a:r>
              <a:rPr lang="ru-RU" altLang="ru-RU" sz="2000" dirty="0"/>
              <a:t> з </a:t>
            </a:r>
            <a:r>
              <a:rPr lang="ru-RU" altLang="ru-RU" sz="2000" dirty="0" err="1"/>
              <a:t>додатків</a:t>
            </a:r>
            <a:r>
              <a:rPr lang="ru-RU" altLang="ru-RU" sz="2000" dirty="0"/>
              <a:t> (</a:t>
            </a:r>
            <a:r>
              <a:rPr lang="ru-RU" altLang="ru-RU" sz="2000" dirty="0" err="1"/>
              <a:t>учасників</a:t>
            </a:r>
            <a:r>
              <a:rPr lang="ru-RU" altLang="ru-RU" sz="2000" dirty="0"/>
              <a:t> </a:t>
            </a:r>
            <a:r>
              <a:rPr lang="ru-RU" altLang="ru-RU" sz="2000" dirty="0" err="1"/>
              <a:t>взаємодії</a:t>
            </a:r>
            <a:r>
              <a:rPr lang="ru-RU" altLang="ru-RU" sz="2000" dirty="0"/>
              <a:t>), </a:t>
            </a:r>
            <a:r>
              <a:rPr lang="ru-RU" altLang="ru-RU" sz="2000" dirty="0" err="1" smtClean="0"/>
              <a:t>кожний</a:t>
            </a:r>
            <a:r>
              <a:rPr lang="ru-RU" altLang="ru-RU" sz="2000" dirty="0" smtClean="0"/>
              <a:t> </a:t>
            </a:r>
            <a:r>
              <a:rPr lang="ru-RU" altLang="ru-RU" sz="2000" dirty="0"/>
              <a:t>з </a:t>
            </a:r>
            <a:r>
              <a:rPr lang="ru-RU" altLang="ru-RU" sz="2000" dirty="0" err="1"/>
              <a:t>яких</a:t>
            </a:r>
            <a:r>
              <a:rPr lang="ru-RU" altLang="ru-RU" sz="2000" dirty="0"/>
              <a:t> </a:t>
            </a:r>
            <a:r>
              <a:rPr lang="ru-RU" altLang="ru-RU" sz="2000" dirty="0" err="1" smtClean="0"/>
              <a:t>пов'язаний</a:t>
            </a:r>
            <a:r>
              <a:rPr lang="ru-RU" altLang="ru-RU" sz="2000" dirty="0" smtClean="0"/>
              <a:t> </a:t>
            </a:r>
            <a:r>
              <a:rPr lang="ru-RU" altLang="ru-RU" sz="2000" dirty="0"/>
              <a:t>з </a:t>
            </a:r>
            <a:r>
              <a:rPr lang="ru-RU" altLang="ru-RU" sz="2000" dirty="0" err="1"/>
              <a:t>певною</a:t>
            </a:r>
            <a:r>
              <a:rPr lang="ru-RU" altLang="ru-RU" sz="2000" dirty="0"/>
              <a:t> </a:t>
            </a:r>
            <a:r>
              <a:rPr lang="ru-RU" altLang="ru-RU" sz="2000" dirty="0" err="1"/>
              <a:t>кількістю</a:t>
            </a:r>
            <a:r>
              <a:rPr lang="ru-RU" altLang="ru-RU" sz="2000" dirty="0"/>
              <a:t> </a:t>
            </a:r>
            <a:r>
              <a:rPr lang="ru-RU" altLang="ru-RU" sz="2000" dirty="0" err="1"/>
              <a:t>інших</a:t>
            </a:r>
            <a:r>
              <a:rPr lang="ru-RU" altLang="ru-RU" sz="2000" dirty="0"/>
              <a:t>. </a:t>
            </a:r>
            <a:endParaRPr lang="ru-RU" altLang="ru-RU" sz="2000" dirty="0" smtClean="0"/>
          </a:p>
          <a:p>
            <a:r>
              <a:rPr lang="ru-RU" altLang="ru-RU" sz="2000" dirty="0" smtClean="0"/>
              <a:t>У </a:t>
            </a:r>
            <a:r>
              <a:rPr lang="ru-RU" altLang="ru-RU" sz="2000" dirty="0"/>
              <a:t>кожному </a:t>
            </a:r>
            <a:r>
              <a:rPr lang="ru-RU" altLang="ru-RU" sz="2000" dirty="0" err="1"/>
              <a:t>акті</a:t>
            </a:r>
            <a:r>
              <a:rPr lang="ru-RU" altLang="ru-RU" sz="2000" dirty="0"/>
              <a:t> </a:t>
            </a:r>
            <a:r>
              <a:rPr lang="ru-RU" altLang="ru-RU" sz="2000" dirty="0" err="1"/>
              <a:t>взаємодії</a:t>
            </a:r>
            <a:r>
              <a:rPr lang="ru-RU" altLang="ru-RU" sz="2000" dirty="0"/>
              <a:t> </a:t>
            </a:r>
            <a:r>
              <a:rPr lang="ru-RU" altLang="ru-RU" sz="2000" dirty="0" err="1" smtClean="0"/>
              <a:t>встановлюється</a:t>
            </a:r>
            <a:r>
              <a:rPr lang="ru-RU" altLang="ru-RU" sz="2000" dirty="0" smtClean="0"/>
              <a:t> </a:t>
            </a:r>
            <a:r>
              <a:rPr lang="ru-RU" altLang="ru-RU" sz="2000" dirty="0"/>
              <a:t>і </a:t>
            </a:r>
            <a:r>
              <a:rPr lang="ru-RU" altLang="ru-RU" sz="2000" dirty="0" err="1"/>
              <a:t>відбувається</a:t>
            </a:r>
            <a:r>
              <a:rPr lang="ru-RU" altLang="ru-RU" sz="2000" dirty="0"/>
              <a:t> </a:t>
            </a:r>
            <a:r>
              <a:rPr lang="ru-RU" altLang="ru-RU" sz="2000" dirty="0" err="1" smtClean="0"/>
              <a:t>взаємодія</a:t>
            </a:r>
            <a:r>
              <a:rPr lang="ru-RU" altLang="ru-RU" sz="2000" dirty="0" smtClean="0"/>
              <a:t> </a:t>
            </a:r>
            <a:r>
              <a:rPr lang="ru-RU" altLang="ru-RU" sz="2000" dirty="0" err="1" smtClean="0"/>
              <a:t>тільки</a:t>
            </a:r>
            <a:r>
              <a:rPr lang="ru-RU" altLang="ru-RU" sz="2000" dirty="0" smtClean="0"/>
              <a:t> </a:t>
            </a:r>
            <a:r>
              <a:rPr lang="ru-RU" altLang="ru-RU" sz="2000" dirty="0" err="1"/>
              <a:t>між</a:t>
            </a:r>
            <a:r>
              <a:rPr lang="ru-RU" altLang="ru-RU" sz="2000" dirty="0"/>
              <a:t> </a:t>
            </a:r>
            <a:r>
              <a:rPr lang="ru-RU" altLang="ru-RU" sz="2000" dirty="0" err="1"/>
              <a:t>двома</a:t>
            </a:r>
            <a:r>
              <a:rPr lang="ru-RU" altLang="ru-RU" sz="2000" dirty="0"/>
              <a:t> </a:t>
            </a:r>
            <a:r>
              <a:rPr lang="ru-RU" altLang="ru-RU" sz="2000" dirty="0" err="1"/>
              <a:t>учасниками</a:t>
            </a:r>
            <a:r>
              <a:rPr lang="ru-RU" altLang="ru-RU" sz="2000" dirty="0"/>
              <a:t>.</a:t>
            </a:r>
            <a:endParaRPr lang="ru-RU" altLang="ru-RU" sz="2000" dirty="0" smtClean="0"/>
          </a:p>
        </p:txBody>
      </p:sp>
      <p:pic>
        <p:nvPicPr>
          <p:cNvPr id="2867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6845" y="3079394"/>
            <a:ext cx="5381520" cy="2796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1381078" y="26472"/>
            <a:ext cx="649164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altLang="ru-RU" sz="2800" b="1" dirty="0" err="1" smtClean="0">
                <a:solidFill>
                  <a:schemeClr val="bg1"/>
                </a:solidFill>
              </a:rPr>
              <a:t>Одноранговый</a:t>
            </a:r>
            <a:r>
              <a:rPr lang="ru-RU" altLang="ru-RU" sz="2800" b="1" dirty="0" smtClean="0">
                <a:solidFill>
                  <a:schemeClr val="bg1"/>
                </a:solidFill>
              </a:rPr>
              <a:t> (</a:t>
            </a:r>
            <a:r>
              <a:rPr lang="en-US" altLang="ru-RU" sz="2800" b="1" dirty="0" smtClean="0">
                <a:solidFill>
                  <a:schemeClr val="bg1"/>
                </a:solidFill>
              </a:rPr>
              <a:t>Peer</a:t>
            </a:r>
            <a:r>
              <a:rPr lang="ru-RU" altLang="ru-RU" sz="2800" b="1" dirty="0" smtClean="0">
                <a:solidFill>
                  <a:schemeClr val="bg1"/>
                </a:solidFill>
              </a:rPr>
              <a:t>-</a:t>
            </a:r>
            <a:r>
              <a:rPr lang="en-US" altLang="ru-RU" sz="2800" b="1" dirty="0" smtClean="0">
                <a:solidFill>
                  <a:schemeClr val="bg1"/>
                </a:solidFill>
              </a:rPr>
              <a:t>to</a:t>
            </a:r>
            <a:r>
              <a:rPr lang="ru-RU" altLang="ru-RU" sz="2800" b="1" dirty="0" smtClean="0">
                <a:solidFill>
                  <a:schemeClr val="bg1"/>
                </a:solidFill>
              </a:rPr>
              <a:t>-</a:t>
            </a:r>
            <a:r>
              <a:rPr lang="en-US" altLang="ru-RU" sz="2800" b="1" dirty="0" smtClean="0">
                <a:solidFill>
                  <a:schemeClr val="bg1"/>
                </a:solidFill>
              </a:rPr>
              <a:t>Peer</a:t>
            </a:r>
            <a:r>
              <a:rPr lang="ru-RU" altLang="ru-RU" sz="2800" b="1" dirty="0" smtClean="0">
                <a:solidFill>
                  <a:schemeClr val="bg1"/>
                </a:solidFill>
              </a:rPr>
              <a:t>) стиль</a:t>
            </a:r>
            <a:endParaRPr lang="ru-RU" altLang="ru-RU" sz="28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Содержимое 2"/>
          <p:cNvSpPr>
            <a:spLocks noGrp="1"/>
          </p:cNvSpPr>
          <p:nvPr>
            <p:ph idx="4294967295"/>
          </p:nvPr>
        </p:nvSpPr>
        <p:spPr>
          <a:xfrm>
            <a:off x="0" y="836712"/>
            <a:ext cx="5076056" cy="2880320"/>
          </a:xfrm>
        </p:spPr>
        <p:txBody>
          <a:bodyPr/>
          <a:lstStyle/>
          <a:p>
            <a:r>
              <a:rPr lang="ru-RU" altLang="ru-RU" sz="1800" dirty="0"/>
              <a:t>Одним з </a:t>
            </a:r>
            <a:r>
              <a:rPr lang="ru-RU" altLang="ru-RU" sz="1800" dirty="0" err="1"/>
              <a:t>ефективних</a:t>
            </a:r>
            <a:r>
              <a:rPr lang="ru-RU" altLang="ru-RU" sz="1800" dirty="0"/>
              <a:t> </a:t>
            </a:r>
            <a:r>
              <a:rPr lang="ru-RU" altLang="ru-RU" sz="1800" dirty="0" err="1"/>
              <a:t>підходів</a:t>
            </a:r>
            <a:r>
              <a:rPr lang="ru-RU" altLang="ru-RU" sz="1800" dirty="0"/>
              <a:t> до </a:t>
            </a:r>
            <a:r>
              <a:rPr lang="ru-RU" altLang="ru-RU" sz="1800" dirty="0" err="1"/>
              <a:t>розбиття</a:t>
            </a:r>
            <a:r>
              <a:rPr lang="ru-RU" altLang="ru-RU" sz="1800" dirty="0"/>
              <a:t> </a:t>
            </a:r>
            <a:r>
              <a:rPr lang="ru-RU" altLang="ru-RU" sz="1800" dirty="0" err="1"/>
              <a:t>системи</a:t>
            </a:r>
            <a:r>
              <a:rPr lang="ru-RU" altLang="ru-RU" sz="1800" dirty="0"/>
              <a:t> на </a:t>
            </a:r>
            <a:r>
              <a:rPr lang="ru-RU" altLang="ru-RU" sz="1800" dirty="0" err="1"/>
              <a:t>частини</a:t>
            </a:r>
            <a:r>
              <a:rPr lang="ru-RU" altLang="ru-RU" sz="1800" dirty="0"/>
              <a:t> є </a:t>
            </a:r>
            <a:r>
              <a:rPr lang="ru-RU" altLang="ru-RU" sz="1800" dirty="0" err="1"/>
              <a:t>використання</a:t>
            </a:r>
            <a:r>
              <a:rPr lang="ru-RU" altLang="ru-RU" sz="1800" dirty="0"/>
              <a:t> </a:t>
            </a:r>
            <a:r>
              <a:rPr lang="ru-RU" altLang="ru-RU" sz="1800" dirty="0" err="1"/>
              <a:t>багатошарових</a:t>
            </a:r>
            <a:r>
              <a:rPr lang="ru-RU" altLang="ru-RU" sz="1800" dirty="0"/>
              <a:t> структур. </a:t>
            </a:r>
            <a:endParaRPr lang="ru-RU" altLang="ru-RU" sz="1800" dirty="0" smtClean="0"/>
          </a:p>
          <a:p>
            <a:r>
              <a:rPr lang="ru-RU" altLang="ru-RU" sz="1800" dirty="0" err="1" smtClean="0"/>
              <a:t>Такий</a:t>
            </a:r>
            <a:r>
              <a:rPr lang="ru-RU" altLang="ru-RU" sz="1800" dirty="0" smtClean="0"/>
              <a:t> </a:t>
            </a:r>
            <a:r>
              <a:rPr lang="ru-RU" altLang="ru-RU" sz="1800" dirty="0" err="1"/>
              <a:t>підхід</a:t>
            </a:r>
            <a:r>
              <a:rPr lang="ru-RU" altLang="ru-RU" sz="1800" dirty="0"/>
              <a:t> </a:t>
            </a:r>
            <a:r>
              <a:rPr lang="ru-RU" altLang="ru-RU" sz="1800" dirty="0" err="1"/>
              <a:t>можна</a:t>
            </a:r>
            <a:r>
              <a:rPr lang="ru-RU" altLang="ru-RU" sz="1800" dirty="0"/>
              <a:t> </a:t>
            </a:r>
            <a:r>
              <a:rPr lang="ru-RU" altLang="ru-RU" sz="1800" dirty="0" err="1"/>
              <a:t>застосувати</a:t>
            </a:r>
            <a:r>
              <a:rPr lang="ru-RU" altLang="ru-RU" sz="1800" dirty="0"/>
              <a:t> як до </a:t>
            </a:r>
            <a:r>
              <a:rPr lang="ru-RU" altLang="ru-RU" sz="1800" dirty="0" err="1"/>
              <a:t>додатків</a:t>
            </a:r>
            <a:r>
              <a:rPr lang="ru-RU" altLang="ru-RU" sz="1800" dirty="0"/>
              <a:t>, </a:t>
            </a:r>
            <a:r>
              <a:rPr lang="ru-RU" altLang="ru-RU" sz="1800" dirty="0" err="1" smtClean="0"/>
              <a:t>розгорнутих</a:t>
            </a:r>
            <a:r>
              <a:rPr lang="ru-RU" altLang="ru-RU" sz="1800" dirty="0" smtClean="0"/>
              <a:t> </a:t>
            </a:r>
            <a:r>
              <a:rPr lang="ru-RU" altLang="ru-RU" sz="1800" dirty="0"/>
              <a:t>на одному </a:t>
            </a:r>
            <a:r>
              <a:rPr lang="ru-RU" altLang="ru-RU" sz="1800" dirty="0" err="1"/>
              <a:t>комп'ютері</a:t>
            </a:r>
            <a:r>
              <a:rPr lang="ru-RU" altLang="ru-RU" sz="1800" dirty="0"/>
              <a:t>, так і для </a:t>
            </a:r>
            <a:r>
              <a:rPr lang="ru-RU" altLang="ru-RU" sz="1800" dirty="0" err="1"/>
              <a:t>розподілених</a:t>
            </a:r>
            <a:r>
              <a:rPr lang="ru-RU" altLang="ru-RU" sz="1800" dirty="0"/>
              <a:t> систем. </a:t>
            </a:r>
            <a:endParaRPr lang="ru-RU" altLang="ru-RU" sz="1800" dirty="0" smtClean="0"/>
          </a:p>
          <a:p>
            <a:r>
              <a:rPr lang="ru-RU" altLang="ru-RU" sz="1800" dirty="0" err="1" smtClean="0"/>
              <a:t>Типові</a:t>
            </a:r>
            <a:r>
              <a:rPr lang="ru-RU" altLang="ru-RU" sz="1800" dirty="0" smtClean="0"/>
              <a:t> </a:t>
            </a:r>
            <a:r>
              <a:rPr lang="ru-RU" altLang="ru-RU" sz="1800" dirty="0" err="1"/>
              <a:t>розбиття</a:t>
            </a:r>
            <a:r>
              <a:rPr lang="ru-RU" altLang="ru-RU" sz="1800" dirty="0"/>
              <a:t> на </a:t>
            </a:r>
            <a:r>
              <a:rPr lang="ru-RU" altLang="ru-RU" sz="1800" dirty="0" err="1"/>
              <a:t>шари</a:t>
            </a:r>
            <a:r>
              <a:rPr lang="ru-RU" altLang="ru-RU" sz="1800" dirty="0"/>
              <a:t> (для таких </a:t>
            </a:r>
            <a:r>
              <a:rPr lang="ru-RU" altLang="ru-RU" sz="1800" dirty="0" err="1"/>
              <a:t>варіантів</a:t>
            </a:r>
            <a:r>
              <a:rPr lang="ru-RU" altLang="ru-RU" sz="1800" dirty="0"/>
              <a:t>) </a:t>
            </a:r>
            <a:r>
              <a:rPr lang="ru-RU" altLang="ru-RU" sz="1800" dirty="0" err="1"/>
              <a:t>близькі</a:t>
            </a:r>
            <a:r>
              <a:rPr lang="ru-RU" altLang="ru-RU" sz="1800" dirty="0"/>
              <a:t> за </a:t>
            </a:r>
            <a:r>
              <a:rPr lang="ru-RU" altLang="ru-RU" sz="1800" dirty="0" err="1"/>
              <a:t>змістом</a:t>
            </a:r>
            <a:r>
              <a:rPr lang="ru-RU" altLang="ru-RU" sz="1800" dirty="0"/>
              <a:t>, але </a:t>
            </a:r>
            <a:r>
              <a:rPr lang="ru-RU" altLang="ru-RU" sz="1800" dirty="0" err="1"/>
              <a:t>мають</a:t>
            </a:r>
            <a:r>
              <a:rPr lang="ru-RU" altLang="ru-RU" sz="1800" dirty="0"/>
              <a:t> </a:t>
            </a:r>
            <a:r>
              <a:rPr lang="ru-RU" altLang="ru-RU" sz="1800" dirty="0" err="1"/>
              <a:t>відмінності</a:t>
            </a:r>
            <a:r>
              <a:rPr lang="ru-RU" altLang="ru-RU" sz="1800" dirty="0"/>
              <a:t> в </a:t>
            </a:r>
            <a:r>
              <a:rPr lang="ru-RU" altLang="ru-RU" sz="1800" dirty="0" err="1"/>
              <a:t>термінологіях</a:t>
            </a:r>
            <a:r>
              <a:rPr lang="ru-RU" altLang="ru-RU" sz="1800" dirty="0"/>
              <a:t>, </a:t>
            </a:r>
            <a:r>
              <a:rPr lang="ru-RU" altLang="ru-RU" sz="1800" dirty="0" err="1"/>
              <a:t>використовуваних</a:t>
            </a:r>
            <a:r>
              <a:rPr lang="ru-RU" altLang="ru-RU" sz="1800" dirty="0"/>
              <a:t> для </a:t>
            </a:r>
            <a:r>
              <a:rPr lang="ru-RU" altLang="ru-RU" sz="1800" dirty="0" err="1"/>
              <a:t>їх</a:t>
            </a:r>
            <a:r>
              <a:rPr lang="ru-RU" altLang="ru-RU" sz="1800" dirty="0"/>
              <a:t> </a:t>
            </a:r>
            <a:r>
              <a:rPr lang="ru-RU" altLang="ru-RU" sz="1800" dirty="0" err="1"/>
              <a:t>описів</a:t>
            </a:r>
            <a:r>
              <a:rPr lang="ru-RU" altLang="ru-RU" sz="1800" dirty="0"/>
              <a:t>.</a:t>
            </a:r>
            <a:endParaRPr lang="ru-RU" altLang="ru-RU" sz="1800" dirty="0" smtClean="0"/>
          </a:p>
        </p:txBody>
      </p:sp>
      <p:pic>
        <p:nvPicPr>
          <p:cNvPr id="2970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763" y="3751560"/>
            <a:ext cx="3350467" cy="257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2169997" y="-44966"/>
            <a:ext cx="40960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altLang="ru-RU" sz="2800" b="1" dirty="0" err="1" smtClean="0">
                <a:solidFill>
                  <a:schemeClr val="bg1"/>
                </a:solidFill>
              </a:rPr>
              <a:t>Багатошаровий</a:t>
            </a:r>
            <a:r>
              <a:rPr lang="ru-RU" altLang="ru-RU" sz="2800" b="1" dirty="0" smtClean="0">
                <a:solidFill>
                  <a:schemeClr val="bg1"/>
                </a:solidFill>
              </a:rPr>
              <a:t> стиль</a:t>
            </a:r>
            <a:endParaRPr lang="ru-RU" altLang="ru-RU" sz="2800" b="1" dirty="0" smtClean="0">
              <a:solidFill>
                <a:schemeClr val="bg1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080" y="1124744"/>
            <a:ext cx="3648075" cy="46085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/>
          <p:cNvSpPr/>
          <p:nvPr/>
        </p:nvSpPr>
        <p:spPr>
          <a:xfrm>
            <a:off x="0" y="836712"/>
            <a:ext cx="9036496" cy="57594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Прямоугольник 2"/>
          <p:cNvSpPr/>
          <p:nvPr/>
        </p:nvSpPr>
        <p:spPr>
          <a:xfrm>
            <a:off x="2987824" y="0"/>
            <a:ext cx="4368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 smtClean="0">
                <a:solidFill>
                  <a:schemeClr val="bg1"/>
                </a:solidFill>
              </a:rPr>
              <a:t>Приклад </a:t>
            </a:r>
            <a:r>
              <a:rPr lang="ru-RU" sz="2800" b="1" dirty="0" err="1" smtClean="0">
                <a:solidFill>
                  <a:schemeClr val="bg1"/>
                </a:solidFill>
              </a:rPr>
              <a:t>розшарування</a:t>
            </a:r>
            <a:endParaRPr lang="ru-RU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9090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Содержимое 2"/>
          <p:cNvSpPr>
            <a:spLocks noGrp="1"/>
          </p:cNvSpPr>
          <p:nvPr>
            <p:ph idx="4294967295"/>
          </p:nvPr>
        </p:nvSpPr>
        <p:spPr>
          <a:xfrm>
            <a:off x="611560" y="1196753"/>
            <a:ext cx="7693025" cy="2016224"/>
          </a:xfrm>
        </p:spPr>
        <p:txBody>
          <a:bodyPr/>
          <a:lstStyle/>
          <a:p>
            <a:r>
              <a:rPr lang="ru-RU" altLang="ru-RU" sz="2000" dirty="0"/>
              <a:t>Для </a:t>
            </a:r>
            <a:r>
              <a:rPr lang="ru-RU" altLang="ru-RU" sz="2000" dirty="0" err="1"/>
              <a:t>розподілених</a:t>
            </a:r>
            <a:r>
              <a:rPr lang="ru-RU" altLang="ru-RU" sz="2000" dirty="0"/>
              <a:t> систем </a:t>
            </a:r>
            <a:r>
              <a:rPr lang="ru-RU" altLang="ru-RU" sz="2000" dirty="0" err="1"/>
              <a:t>типовий</a:t>
            </a:r>
            <a:r>
              <a:rPr lang="ru-RU" altLang="ru-RU" sz="2000" dirty="0"/>
              <a:t> </a:t>
            </a:r>
            <a:r>
              <a:rPr lang="ru-RU" altLang="ru-RU" sz="2000" dirty="0" err="1"/>
              <a:t>випадок</a:t>
            </a:r>
            <a:r>
              <a:rPr lang="ru-RU" altLang="ru-RU" sz="2000" dirty="0"/>
              <a:t> </a:t>
            </a:r>
            <a:r>
              <a:rPr lang="ru-RU" altLang="ru-RU" sz="2000" dirty="0" err="1"/>
              <a:t>застосування</a:t>
            </a:r>
            <a:r>
              <a:rPr lang="ru-RU" altLang="ru-RU" sz="2000" dirty="0"/>
              <a:t> стилю «</a:t>
            </a:r>
            <a:r>
              <a:rPr lang="ru-RU" altLang="ru-RU" sz="2000" dirty="0" err="1"/>
              <a:t>клієнт</a:t>
            </a:r>
            <a:r>
              <a:rPr lang="ru-RU" altLang="ru-RU" sz="2000" dirty="0"/>
              <a:t>-сервер», для </a:t>
            </a:r>
            <a:r>
              <a:rPr lang="ru-RU" altLang="ru-RU" sz="2000" dirty="0" err="1"/>
              <a:t>реалізації</a:t>
            </a:r>
            <a:r>
              <a:rPr lang="ru-RU" altLang="ru-RU" sz="2000" dirty="0"/>
              <a:t> </a:t>
            </a:r>
            <a:r>
              <a:rPr lang="ru-RU" altLang="ru-RU" sz="2000" dirty="0" err="1"/>
              <a:t>якого</a:t>
            </a:r>
            <a:r>
              <a:rPr lang="ru-RU" altLang="ru-RU" sz="2000" dirty="0"/>
              <a:t>, </a:t>
            </a:r>
            <a:r>
              <a:rPr lang="ru-RU" altLang="ru-RU" sz="2000" dirty="0" err="1"/>
              <a:t>частина</a:t>
            </a:r>
            <a:r>
              <a:rPr lang="ru-RU" altLang="ru-RU" sz="2000" dirty="0"/>
              <a:t> </a:t>
            </a:r>
            <a:r>
              <a:rPr lang="ru-RU" altLang="ru-RU" sz="2000" dirty="0" err="1"/>
              <a:t>системи</a:t>
            </a:r>
            <a:r>
              <a:rPr lang="ru-RU" altLang="ru-RU" sz="2000" dirty="0"/>
              <a:t> з </a:t>
            </a:r>
            <a:r>
              <a:rPr lang="ru-RU" altLang="ru-RU" sz="2000" dirty="0" err="1"/>
              <a:t>певними</a:t>
            </a:r>
            <a:r>
              <a:rPr lang="ru-RU" altLang="ru-RU" sz="2000" dirty="0"/>
              <a:t> </a:t>
            </a:r>
            <a:r>
              <a:rPr lang="ru-RU" altLang="ru-RU" sz="2000" dirty="0" err="1"/>
              <a:t>функціональностями</a:t>
            </a:r>
            <a:r>
              <a:rPr lang="ru-RU" altLang="ru-RU" sz="2000" dirty="0"/>
              <a:t> </a:t>
            </a:r>
            <a:r>
              <a:rPr lang="ru-RU" altLang="ru-RU" sz="2000" dirty="0" err="1"/>
              <a:t>розміщують</a:t>
            </a:r>
            <a:r>
              <a:rPr lang="ru-RU" altLang="ru-RU" sz="2000" dirty="0"/>
              <a:t> на </a:t>
            </a:r>
            <a:r>
              <a:rPr lang="ru-RU" altLang="ru-RU" sz="2000" dirty="0" err="1"/>
              <a:t>сервері</a:t>
            </a:r>
            <a:r>
              <a:rPr lang="ru-RU" altLang="ru-RU" sz="2000" dirty="0"/>
              <a:t>, а </a:t>
            </a:r>
            <a:r>
              <a:rPr lang="ru-RU" altLang="ru-RU" sz="2000" dirty="0" err="1"/>
              <a:t>іншу</a:t>
            </a:r>
            <a:r>
              <a:rPr lang="ru-RU" altLang="ru-RU" sz="2000" dirty="0"/>
              <a:t> </a:t>
            </a:r>
            <a:r>
              <a:rPr lang="ru-RU" altLang="ru-RU" sz="2000" dirty="0" err="1"/>
              <a:t>частину</a:t>
            </a:r>
            <a:r>
              <a:rPr lang="ru-RU" altLang="ru-RU" sz="2000" dirty="0"/>
              <a:t> на </a:t>
            </a:r>
            <a:r>
              <a:rPr lang="ru-RU" altLang="ru-RU" sz="2000" dirty="0" err="1"/>
              <a:t>клієнтських</a:t>
            </a:r>
            <a:r>
              <a:rPr lang="ru-RU" altLang="ru-RU" sz="2000" dirty="0"/>
              <a:t> </a:t>
            </a:r>
            <a:r>
              <a:rPr lang="ru-RU" altLang="ru-RU" sz="2000" dirty="0" err="1"/>
              <a:t>місцях</a:t>
            </a:r>
            <a:r>
              <a:rPr lang="ru-RU" altLang="ru-RU" sz="2000" dirty="0"/>
              <a:t> </a:t>
            </a:r>
            <a:r>
              <a:rPr lang="ru-RU" altLang="ru-RU" sz="2000" dirty="0" err="1"/>
              <a:t>користувачів</a:t>
            </a:r>
            <a:endParaRPr lang="ru-RU" altLang="ru-RU" sz="2000" dirty="0" smtClean="0"/>
          </a:p>
        </p:txBody>
      </p:sp>
      <p:sp>
        <p:nvSpPr>
          <p:cNvPr id="2" name="Прямоугольник 1"/>
          <p:cNvSpPr/>
          <p:nvPr/>
        </p:nvSpPr>
        <p:spPr>
          <a:xfrm>
            <a:off x="2321379" y="-6866"/>
            <a:ext cx="46042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altLang="ru-RU" sz="2800" b="1" dirty="0" err="1" smtClean="0">
                <a:solidFill>
                  <a:schemeClr val="bg1"/>
                </a:solidFill>
              </a:rPr>
              <a:t>Клієнт-серверний</a:t>
            </a:r>
            <a:r>
              <a:rPr lang="ru-RU" altLang="ru-RU" sz="2800" b="1" dirty="0" smtClean="0">
                <a:solidFill>
                  <a:schemeClr val="bg1"/>
                </a:solidFill>
              </a:rPr>
              <a:t> стиль </a:t>
            </a:r>
            <a:endParaRPr lang="ru-RU" altLang="ru-RU" sz="2800" b="1" dirty="0" smtClean="0">
              <a:solidFill>
                <a:schemeClr val="bg1"/>
              </a:solidFill>
            </a:endParaRPr>
          </a:p>
        </p:txBody>
      </p:sp>
      <p:pic>
        <p:nvPicPr>
          <p:cNvPr id="30725" name="Picture 5" descr="http://www.gradsoft.kiev.ua/ukr/whitepapers/visnyk2002/img2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838" y="3068960"/>
            <a:ext cx="5238750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Содержимое 2"/>
          <p:cNvSpPr>
            <a:spLocks noGrp="1"/>
          </p:cNvSpPr>
          <p:nvPr>
            <p:ph idx="4294967295"/>
          </p:nvPr>
        </p:nvSpPr>
        <p:spPr>
          <a:xfrm>
            <a:off x="179512" y="1052737"/>
            <a:ext cx="8856984" cy="1224136"/>
          </a:xfrm>
        </p:spPr>
        <p:txBody>
          <a:bodyPr/>
          <a:lstStyle/>
          <a:p>
            <a:r>
              <a:rPr lang="ru-RU" altLang="ru-RU" sz="2000" dirty="0"/>
              <a:t>Стиль MVC </a:t>
            </a:r>
            <a:r>
              <a:rPr lang="ru-RU" altLang="ru-RU" sz="2000" dirty="0" err="1"/>
              <a:t>узгоджений</a:t>
            </a:r>
            <a:r>
              <a:rPr lang="ru-RU" altLang="ru-RU" sz="2000" dirty="0"/>
              <a:t> з </a:t>
            </a:r>
            <a:r>
              <a:rPr lang="ru-RU" altLang="ru-RU" sz="2000" dirty="0" err="1"/>
              <a:t>додатками</a:t>
            </a:r>
            <a:r>
              <a:rPr lang="ru-RU" altLang="ru-RU" sz="2000" dirty="0"/>
              <a:t>, в </a:t>
            </a:r>
            <a:r>
              <a:rPr lang="ru-RU" altLang="ru-RU" sz="2000" dirty="0" err="1"/>
              <a:t>яких</a:t>
            </a:r>
            <a:r>
              <a:rPr lang="ru-RU" altLang="ru-RU" sz="2000" dirty="0"/>
              <a:t> </a:t>
            </a:r>
            <a:r>
              <a:rPr lang="ru-RU" altLang="ru-RU" sz="2000" dirty="0" err="1"/>
              <a:t>основним</a:t>
            </a:r>
            <a:r>
              <a:rPr lang="ru-RU" altLang="ru-RU" sz="2000" dirty="0"/>
              <a:t> видом </a:t>
            </a:r>
            <a:r>
              <a:rPr lang="ru-RU" altLang="ru-RU" sz="2000" dirty="0" err="1"/>
              <a:t>робіт</a:t>
            </a:r>
            <a:r>
              <a:rPr lang="ru-RU" altLang="ru-RU" sz="2000" dirty="0"/>
              <a:t> є </a:t>
            </a:r>
            <a:r>
              <a:rPr lang="ru-RU" altLang="ru-RU" sz="2000" dirty="0" err="1"/>
              <a:t>інтерактивна</a:t>
            </a:r>
            <a:r>
              <a:rPr lang="ru-RU" altLang="ru-RU" sz="2000" dirty="0"/>
              <a:t> </a:t>
            </a:r>
            <a:r>
              <a:rPr lang="ru-RU" altLang="ru-RU" sz="2000" dirty="0" err="1"/>
              <a:t>взаємодія</a:t>
            </a:r>
            <a:r>
              <a:rPr lang="ru-RU" altLang="ru-RU" sz="2000" dirty="0"/>
              <a:t> </a:t>
            </a:r>
            <a:r>
              <a:rPr lang="ru-RU" altLang="ru-RU" sz="2000" dirty="0" err="1"/>
              <a:t>користувача</a:t>
            </a:r>
            <a:r>
              <a:rPr lang="ru-RU" altLang="ru-RU" sz="2000" dirty="0"/>
              <a:t> з </a:t>
            </a:r>
            <a:r>
              <a:rPr lang="ru-RU" altLang="ru-RU" sz="2000" dirty="0" err="1"/>
              <a:t>візуалізованими</a:t>
            </a:r>
            <a:r>
              <a:rPr lang="ru-RU" altLang="ru-RU" sz="2000" dirty="0"/>
              <a:t> моделями, </a:t>
            </a:r>
            <a:r>
              <a:rPr lang="ru-RU" altLang="ru-RU" sz="2000" dirty="0" err="1"/>
              <a:t>що</a:t>
            </a:r>
            <a:r>
              <a:rPr lang="ru-RU" altLang="ru-RU" sz="2000" dirty="0"/>
              <a:t> </a:t>
            </a:r>
            <a:r>
              <a:rPr lang="ru-RU" altLang="ru-RU" sz="2000" dirty="0" err="1"/>
              <a:t>представляють</a:t>
            </a:r>
            <a:r>
              <a:rPr lang="ru-RU" altLang="ru-RU" sz="2000" dirty="0"/>
              <a:t> </a:t>
            </a:r>
            <a:r>
              <a:rPr lang="ru-RU" altLang="ru-RU" sz="2000" dirty="0" err="1"/>
              <a:t>певні</a:t>
            </a:r>
            <a:r>
              <a:rPr lang="ru-RU" altLang="ru-RU" sz="2000" dirty="0"/>
              <a:t> </a:t>
            </a:r>
            <a:r>
              <a:rPr lang="ru-RU" altLang="ru-RU" sz="2000" dirty="0" err="1"/>
              <a:t>сутності</a:t>
            </a:r>
            <a:r>
              <a:rPr lang="ru-RU" altLang="ru-RU" sz="2000" dirty="0"/>
              <a:t>.</a:t>
            </a:r>
            <a:endParaRPr lang="ru-RU" altLang="ru-RU" sz="2000" dirty="0" smtClean="0"/>
          </a:p>
        </p:txBody>
      </p:sp>
      <p:pic>
        <p:nvPicPr>
          <p:cNvPr id="3174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132856"/>
            <a:ext cx="7364278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0" y="-99392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altLang="ru-RU" sz="2400" b="1" dirty="0" smtClean="0">
                <a:solidFill>
                  <a:schemeClr val="bg1"/>
                </a:solidFill>
              </a:rPr>
              <a:t>Стиль «Модель-вид-контроллер»</a:t>
            </a:r>
          </a:p>
          <a:p>
            <a:pPr algn="ctr"/>
            <a:r>
              <a:rPr lang="ru-RU" altLang="ru-RU" sz="2400" b="1" dirty="0" smtClean="0">
                <a:solidFill>
                  <a:schemeClr val="bg1"/>
                </a:solidFill>
              </a:rPr>
              <a:t> (</a:t>
            </a:r>
            <a:r>
              <a:rPr lang="en-US" altLang="ru-RU" sz="2400" b="1" dirty="0" smtClean="0">
                <a:solidFill>
                  <a:schemeClr val="bg1"/>
                </a:solidFill>
              </a:rPr>
              <a:t>Model</a:t>
            </a:r>
            <a:r>
              <a:rPr lang="ru-RU" altLang="ru-RU" sz="2400" b="1" dirty="0" smtClean="0">
                <a:solidFill>
                  <a:schemeClr val="bg1"/>
                </a:solidFill>
              </a:rPr>
              <a:t>-</a:t>
            </a:r>
            <a:r>
              <a:rPr lang="en-US" altLang="ru-RU" sz="2400" b="1" dirty="0" smtClean="0">
                <a:solidFill>
                  <a:schemeClr val="bg1"/>
                </a:solidFill>
              </a:rPr>
              <a:t>View</a:t>
            </a:r>
            <a:r>
              <a:rPr lang="ru-RU" altLang="ru-RU" sz="2400" b="1" dirty="0" smtClean="0">
                <a:solidFill>
                  <a:schemeClr val="bg1"/>
                </a:solidFill>
              </a:rPr>
              <a:t>-</a:t>
            </a:r>
            <a:r>
              <a:rPr lang="en-US" altLang="ru-RU" sz="2400" b="1" dirty="0" smtClean="0">
                <a:solidFill>
                  <a:schemeClr val="bg1"/>
                </a:solidFill>
              </a:rPr>
              <a:t>Control</a:t>
            </a:r>
            <a:r>
              <a:rPr lang="ru-RU" altLang="ru-RU" sz="2400" b="1" dirty="0" smtClean="0">
                <a:solidFill>
                  <a:schemeClr val="bg1"/>
                </a:solidFill>
              </a:rPr>
              <a:t>, </a:t>
            </a:r>
            <a:r>
              <a:rPr lang="en-US" altLang="ru-RU" sz="2400" b="1" dirty="0" smtClean="0">
                <a:solidFill>
                  <a:schemeClr val="bg1"/>
                </a:solidFill>
              </a:rPr>
              <a:t>MVC</a:t>
            </a:r>
            <a:r>
              <a:rPr lang="uk-UA" altLang="ru-RU" sz="2400" b="1" dirty="0" smtClean="0">
                <a:solidFill>
                  <a:schemeClr val="bg1"/>
                </a:solidFill>
              </a:rPr>
              <a:t>)</a:t>
            </a:r>
            <a:endParaRPr lang="ru-RU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80" y="980728"/>
            <a:ext cx="8964488" cy="5067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 err="1" smtClean="0">
                <a:solidFill>
                  <a:schemeClr val="bg1"/>
                </a:solidFill>
              </a:rPr>
              <a:t>Приклади</a:t>
            </a:r>
            <a:r>
              <a:rPr lang="ru-RU" sz="2800" b="1" dirty="0" smtClean="0">
                <a:solidFill>
                  <a:schemeClr val="bg1"/>
                </a:solidFill>
              </a:rPr>
              <a:t> </a:t>
            </a:r>
            <a:r>
              <a:rPr lang="ru-RU" sz="2800" b="1" dirty="0" err="1" smtClean="0">
                <a:solidFill>
                  <a:schemeClr val="bg1"/>
                </a:solidFill>
              </a:rPr>
              <a:t>використання</a:t>
            </a:r>
            <a:r>
              <a:rPr lang="ru-RU" sz="2800" b="1" dirty="0" smtClean="0">
                <a:solidFill>
                  <a:schemeClr val="bg1"/>
                </a:solidFill>
              </a:rPr>
              <a:t> </a:t>
            </a:r>
            <a:r>
              <a:rPr lang="ru-RU" sz="2800" b="1" dirty="0" err="1" smtClean="0">
                <a:solidFill>
                  <a:schemeClr val="bg1"/>
                </a:solidFill>
              </a:rPr>
              <a:t>архітектурних</a:t>
            </a:r>
            <a:r>
              <a:rPr lang="ru-RU" sz="2800" b="1" dirty="0" smtClean="0">
                <a:solidFill>
                  <a:schemeClr val="bg1"/>
                </a:solidFill>
              </a:rPr>
              <a:t> </a:t>
            </a:r>
            <a:r>
              <a:rPr lang="ru-RU" sz="2800" b="1" dirty="0" err="1" smtClean="0">
                <a:solidFill>
                  <a:schemeClr val="bg1"/>
                </a:solidFill>
              </a:rPr>
              <a:t>стилів</a:t>
            </a:r>
            <a:endParaRPr lang="ru-RU" sz="2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987824" y="2204864"/>
            <a:ext cx="1015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mtClean="0"/>
              <a:t>Далі…..</a:t>
            </a: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4962526"/>
      </p:ext>
    </p:extLst>
  </p:cSld>
  <p:clrMapOvr>
    <a:masterClrMapping/>
  </p:clrMapOvr>
</p:sld>
</file>

<file path=ppt/theme/theme1.xml><?xml version="1.0" encoding="utf-8"?>
<a:theme xmlns:a="http://schemas.openxmlformats.org/drawingml/2006/main" name="ua1">
  <a:themeElements>
    <a:clrScheme name="ua1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ua1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ua1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ua1">
  <a:themeElements>
    <a:clrScheme name="ua1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ua1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ua1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Capsules</Template>
  <TotalTime>1061</TotalTime>
  <Words>1255</Words>
  <Application>Microsoft Office PowerPoint</Application>
  <PresentationFormat>Экран (4:3)</PresentationFormat>
  <Paragraphs>134</Paragraphs>
  <Slides>30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Внедренные серверы OLE</vt:lpstr>
      </vt:variant>
      <vt:variant>
        <vt:i4>2</vt:i4>
      </vt:variant>
      <vt:variant>
        <vt:lpstr>Заголовки слайдов</vt:lpstr>
      </vt:variant>
      <vt:variant>
        <vt:i4>30</vt:i4>
      </vt:variant>
    </vt:vector>
  </HeadingPairs>
  <TitlesOfParts>
    <vt:vector size="38" baseType="lpstr">
      <vt:lpstr>Arial</vt:lpstr>
      <vt:lpstr>Wingdings</vt:lpstr>
      <vt:lpstr>Calibri</vt:lpstr>
      <vt:lpstr>Times New Roman</vt:lpstr>
      <vt:lpstr>ua1</vt:lpstr>
      <vt:lpstr>1_ua1</vt:lpstr>
      <vt:lpstr>Microsoft Office Visio Drawing</vt:lpstr>
      <vt:lpstr>Фотография Photo Editor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home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2</dc:title>
  <dc:creator>bks</dc:creator>
  <cp:lastModifiedBy>Tetyana Kovalyuk</cp:lastModifiedBy>
  <cp:revision>115</cp:revision>
  <dcterms:created xsi:type="dcterms:W3CDTF">2009-02-20T20:38:07Z</dcterms:created>
  <dcterms:modified xsi:type="dcterms:W3CDTF">2019-01-30T10:01:13Z</dcterms:modified>
</cp:coreProperties>
</file>