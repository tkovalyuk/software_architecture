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64" r:id="rId4"/>
    <p:sldId id="268" r:id="rId5"/>
    <p:sldId id="271" r:id="rId6"/>
    <p:sldId id="269" r:id="rId7"/>
    <p:sldId id="270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27" r:id="rId43"/>
    <p:sldId id="311" r:id="rId44"/>
    <p:sldId id="328" r:id="rId45"/>
    <p:sldId id="309" r:id="rId46"/>
    <p:sldId id="310" r:id="rId47"/>
    <p:sldId id="313" r:id="rId48"/>
    <p:sldId id="312" r:id="rId49"/>
    <p:sldId id="329" r:id="rId50"/>
    <p:sldId id="314" r:id="rId51"/>
    <p:sldId id="315" r:id="rId52"/>
    <p:sldId id="316" r:id="rId53"/>
    <p:sldId id="317" r:id="rId54"/>
    <p:sldId id="318" r:id="rId55"/>
    <p:sldId id="319" r:id="rId56"/>
    <p:sldId id="320" r:id="rId57"/>
    <p:sldId id="321" r:id="rId58"/>
    <p:sldId id="322" r:id="rId59"/>
    <p:sldId id="323" r:id="rId60"/>
    <p:sldId id="324" r:id="rId61"/>
    <p:sldId id="331" r:id="rId62"/>
    <p:sldId id="330" r:id="rId63"/>
    <p:sldId id="332" r:id="rId64"/>
    <p:sldId id="333" r:id="rId65"/>
    <p:sldId id="334" r:id="rId66"/>
    <p:sldId id="335" r:id="rId67"/>
    <p:sldId id="338" r:id="rId68"/>
    <p:sldId id="340" r:id="rId69"/>
    <p:sldId id="341" r:id="rId70"/>
    <p:sldId id="342" r:id="rId71"/>
    <p:sldId id="343" r:id="rId72"/>
    <p:sldId id="344" r:id="rId73"/>
    <p:sldId id="345" r:id="rId74"/>
    <p:sldId id="346" r:id="rId75"/>
    <p:sldId id="347" r:id="rId76"/>
    <p:sldId id="336" r:id="rId77"/>
    <p:sldId id="337" r:id="rId78"/>
    <p:sldId id="260" r:id="rId79"/>
    <p:sldId id="350" r:id="rId80"/>
    <p:sldId id="326" r:id="rId81"/>
    <p:sldId id="308" r:id="rId8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4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png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1" name="Picture 1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75" y="-28575"/>
            <a:ext cx="9150175" cy="688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Місце для номера слайда 5"/>
          <p:cNvSpPr txBox="1">
            <a:spLocks/>
          </p:cNvSpPr>
          <p:nvPr userDrawn="1"/>
        </p:nvSpPr>
        <p:spPr>
          <a:xfrm>
            <a:off x="8413576" y="6489612"/>
            <a:ext cx="730424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12F9CDCF-F794-4D81-8381-19EA34B04F24}" type="slidenum">
              <a:rPr lang="ru-RU" sz="1600" smtClean="0">
                <a:solidFill>
                  <a:srgbClr val="000000"/>
                </a:solidFill>
              </a:rPr>
              <a:pPr/>
              <a:t>‹#›</a:t>
            </a:fld>
            <a:endParaRPr lang="ru-RU" sz="1600" dirty="0">
              <a:solidFill>
                <a:srgbClr val="000000"/>
              </a:solidFill>
            </a:endParaRPr>
          </a:p>
        </p:txBody>
      </p:sp>
      <p:sp>
        <p:nvSpPr>
          <p:cNvPr id="33" name="TextBox 58"/>
          <p:cNvSpPr txBox="1">
            <a:spLocks noChangeArrowheads="1"/>
          </p:cNvSpPr>
          <p:nvPr userDrawn="1"/>
        </p:nvSpPr>
        <p:spPr bwMode="auto">
          <a:xfrm flipH="1">
            <a:off x="4545105" y="6534855"/>
            <a:ext cx="353995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uk-UA" sz="1200" dirty="0">
                <a:solidFill>
                  <a:srgbClr val="000000"/>
                </a:solidFill>
              </a:rPr>
              <a:t>Т.В. </a:t>
            </a:r>
            <a:r>
              <a:rPr lang="uk-UA" sz="1200" dirty="0" err="1">
                <a:solidFill>
                  <a:srgbClr val="000000"/>
                </a:solidFill>
              </a:rPr>
              <a:t>Ковалюк</a:t>
            </a:r>
            <a:r>
              <a:rPr lang="uk-UA" sz="1200" dirty="0">
                <a:solidFill>
                  <a:srgbClr val="000000"/>
                </a:solidFill>
              </a:rPr>
              <a:t> </a:t>
            </a:r>
            <a:r>
              <a:rPr lang="uk-UA" sz="1200" dirty="0">
                <a:solidFill>
                  <a:srgbClr val="000000"/>
                </a:solidFill>
              </a:rPr>
              <a:t>Архітектура і проектування </a:t>
            </a:r>
            <a:r>
              <a:rPr lang="uk-UA" sz="1200" dirty="0">
                <a:solidFill>
                  <a:srgbClr val="000000"/>
                </a:solidFill>
              </a:rPr>
              <a:t>ПЗ</a:t>
            </a:r>
            <a:endParaRPr lang="ru-RU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558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8575"/>
            <a:ext cx="9144000" cy="6800850"/>
          </a:xfrm>
          <a:prstGeom prst="rect">
            <a:avLst/>
          </a:prstGeom>
        </p:spPr>
      </p:pic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532440" y="6597352"/>
            <a:ext cx="591784" cy="275117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73178F59-CF44-477D-AF85-0D45C1C1D1D3}" type="slidenum">
              <a:rPr lang="uk-UA" smtClean="0">
                <a:solidFill>
                  <a:srgbClr val="FFFFFF"/>
                </a:solidFill>
              </a:rPr>
              <a:pPr/>
              <a:t>‹#›</a:t>
            </a:fld>
            <a:endParaRPr lang="uk-UA" dirty="0">
              <a:solidFill>
                <a:srgbClr val="FFFFFF"/>
              </a:solidFill>
            </a:endParaRPr>
          </a:p>
        </p:txBody>
      </p:sp>
      <p:sp>
        <p:nvSpPr>
          <p:cNvPr id="2" name="Прямокутник 1"/>
          <p:cNvSpPr/>
          <p:nvPr userDrawn="1"/>
        </p:nvSpPr>
        <p:spPr>
          <a:xfrm>
            <a:off x="-19777" y="769477"/>
            <a:ext cx="9144001" cy="5760640"/>
          </a:xfrm>
          <a:prstGeom prst="rect">
            <a:avLst/>
          </a:prstGeom>
          <a:solidFill>
            <a:schemeClr val="bg1"/>
          </a:solidFill>
          <a:ln w="38100" cmpd="thinThick">
            <a:solidFill>
              <a:srgbClr val="00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4552223" y="6597352"/>
            <a:ext cx="3371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200" dirty="0">
                <a:solidFill>
                  <a:srgbClr val="FFFFFF"/>
                </a:solidFill>
              </a:rPr>
              <a:t>Т.В. Ковалюк. Архітектура і проектування ПЗ</a:t>
            </a:r>
            <a:endParaRPr lang="ru-RU" sz="1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779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1" name="Picture 1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75" y="-28575"/>
            <a:ext cx="9150175" cy="688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Місце для номера слайда 5"/>
          <p:cNvSpPr txBox="1">
            <a:spLocks/>
          </p:cNvSpPr>
          <p:nvPr userDrawn="1"/>
        </p:nvSpPr>
        <p:spPr>
          <a:xfrm>
            <a:off x="8413576" y="6489612"/>
            <a:ext cx="730424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12F9CDCF-F794-4D81-8381-19EA34B04F24}" type="slidenum">
              <a:rPr lang="ru-RU" sz="1600" smtClean="0">
                <a:solidFill>
                  <a:srgbClr val="000000"/>
                </a:solidFill>
              </a:rPr>
              <a:pPr/>
              <a:t>‹#›</a:t>
            </a:fld>
            <a:endParaRPr lang="ru-RU" sz="1600" dirty="0">
              <a:solidFill>
                <a:srgbClr val="000000"/>
              </a:solidFill>
            </a:endParaRPr>
          </a:p>
        </p:txBody>
      </p:sp>
      <p:sp>
        <p:nvSpPr>
          <p:cNvPr id="33" name="TextBox 58"/>
          <p:cNvSpPr txBox="1">
            <a:spLocks noChangeArrowheads="1"/>
          </p:cNvSpPr>
          <p:nvPr userDrawn="1"/>
        </p:nvSpPr>
        <p:spPr bwMode="auto">
          <a:xfrm flipH="1">
            <a:off x="4258491" y="6534855"/>
            <a:ext cx="382657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uk-UA" sz="1200" dirty="0">
                <a:solidFill>
                  <a:srgbClr val="000000"/>
                </a:solidFill>
              </a:rPr>
              <a:t>Т.В. </a:t>
            </a:r>
            <a:r>
              <a:rPr lang="uk-UA" sz="1200" dirty="0" err="1">
                <a:solidFill>
                  <a:srgbClr val="000000"/>
                </a:solidFill>
              </a:rPr>
              <a:t>Ковалюк</a:t>
            </a:r>
            <a:r>
              <a:rPr lang="uk-UA" sz="1200" dirty="0">
                <a:solidFill>
                  <a:srgbClr val="000000"/>
                </a:solidFill>
              </a:rPr>
              <a:t> </a:t>
            </a:r>
            <a:r>
              <a:rPr lang="uk-UA" sz="1200" dirty="0" err="1">
                <a:solidFill>
                  <a:srgbClr val="000000"/>
                </a:solidFill>
              </a:rPr>
              <a:t>Архітнектура</a:t>
            </a:r>
            <a:r>
              <a:rPr lang="uk-UA" sz="1200" dirty="0">
                <a:solidFill>
                  <a:srgbClr val="000000"/>
                </a:solidFill>
              </a:rPr>
              <a:t> та Проектування </a:t>
            </a:r>
            <a:r>
              <a:rPr lang="uk-UA" sz="1200" dirty="0">
                <a:solidFill>
                  <a:srgbClr val="000000"/>
                </a:solidFill>
              </a:rPr>
              <a:t>ПЗ</a:t>
            </a:r>
            <a:endParaRPr lang="ru-RU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35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ttp://propowerpoint.ru/wp-content/uploads/2013/02/GreenAbstraktMini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9777" y="14469"/>
            <a:ext cx="9144001" cy="6858000"/>
          </a:xfrm>
          <a:prstGeom prst="rect">
            <a:avLst/>
          </a:prstGeom>
          <a:noFill/>
        </p:spPr>
      </p:pic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346897" y="6597353"/>
            <a:ext cx="777327" cy="260648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73178F59-CF44-477D-AF85-0D45C1C1D1D3}" type="slidenum">
              <a:rPr lang="uk-UA" smtClean="0"/>
              <a:pPr/>
              <a:t>‹#›</a:t>
            </a:fld>
            <a:endParaRPr lang="uk-UA" dirty="0"/>
          </a:p>
        </p:txBody>
      </p:sp>
      <p:sp>
        <p:nvSpPr>
          <p:cNvPr id="2" name="Прямокутник 1"/>
          <p:cNvSpPr/>
          <p:nvPr userDrawn="1"/>
        </p:nvSpPr>
        <p:spPr>
          <a:xfrm>
            <a:off x="-19778" y="764704"/>
            <a:ext cx="9144001" cy="5868000"/>
          </a:xfrm>
          <a:prstGeom prst="rect">
            <a:avLst/>
          </a:prstGeom>
          <a:solidFill>
            <a:schemeClr val="bg1"/>
          </a:solidFill>
          <a:ln w="38100" cmpd="thinThick">
            <a:solidFill>
              <a:srgbClr val="00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 userDrawn="1"/>
        </p:nvSpPr>
        <p:spPr>
          <a:xfrm>
            <a:off x="3087734" y="6597352"/>
            <a:ext cx="4969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200" b="0" dirty="0" smtClean="0">
                <a:solidFill>
                  <a:schemeClr val="bg1"/>
                </a:solidFill>
              </a:rPr>
              <a:t>Т.В. Ковалюк. Об’єктно-орієнтоване проектування та моделювання</a:t>
            </a:r>
            <a:endParaRPr lang="ru-RU" sz="1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981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E8DE72B-A3F1-4AFD-9677-75263CC768D2}" type="slidenum">
              <a:rPr lang="uk-UA" smtClean="0"/>
              <a:t>‹#›</a:t>
            </a:fld>
            <a:endParaRPr lang="uk-UA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Скругленный прямоугольник 1"/>
          <p:cNvSpPr/>
          <p:nvPr userDrawn="1"/>
        </p:nvSpPr>
        <p:spPr>
          <a:xfrm>
            <a:off x="179512" y="692696"/>
            <a:ext cx="8856984" cy="604867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 cmpd="dbl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9740903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45"/>
          <p:cNvGraphicFramePr>
            <a:graphicFrameLocks noChangeAspect="1"/>
          </p:cNvGraphicFramePr>
          <p:nvPr/>
        </p:nvGraphicFramePr>
        <p:xfrm>
          <a:off x="0" y="6381750"/>
          <a:ext cx="91440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Фотография Photo Editor" r:id="rId8" imgW="1828571" imgH="1047619" progId="">
                  <p:embed/>
                </p:oleObj>
              </mc:Choice>
              <mc:Fallback>
                <p:oleObj name="Фотография Photo Editor" r:id="rId8" imgW="1828571" imgH="104761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81750"/>
                        <a:ext cx="91440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7" name="Группа 6"/>
          <p:cNvGrpSpPr>
            <a:grpSpLocks/>
          </p:cNvGrpSpPr>
          <p:nvPr/>
        </p:nvGrpSpPr>
        <p:grpSpPr bwMode="auto">
          <a:xfrm>
            <a:off x="0" y="0"/>
            <a:ext cx="9144000" cy="2078038"/>
            <a:chOff x="-4" y="0"/>
            <a:chExt cx="9144003" cy="2078019"/>
          </a:xfrm>
        </p:grpSpPr>
        <p:grpSp>
          <p:nvGrpSpPr>
            <p:cNvPr id="1033" name="Группа 66"/>
            <p:cNvGrpSpPr>
              <a:grpSpLocks/>
            </p:cNvGrpSpPr>
            <p:nvPr/>
          </p:nvGrpSpPr>
          <p:grpSpPr bwMode="auto">
            <a:xfrm>
              <a:off x="-4" y="0"/>
              <a:ext cx="3111501" cy="1384272"/>
              <a:chOff x="-4" y="0"/>
              <a:chExt cx="3111501" cy="1384272"/>
            </a:xfrm>
          </p:grpSpPr>
          <p:sp>
            <p:nvSpPr>
              <p:cNvPr id="24" name="Прямоугольник 23"/>
              <p:cNvSpPr/>
              <p:nvPr/>
            </p:nvSpPr>
            <p:spPr>
              <a:xfrm flipH="1">
                <a:off x="-4" y="0"/>
                <a:ext cx="3111501" cy="687382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  <a:alpha val="27000"/>
                    </a:schemeClr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25" name="Прямоугольник 24"/>
              <p:cNvSpPr/>
              <p:nvPr/>
            </p:nvSpPr>
            <p:spPr>
              <a:xfrm flipH="1">
                <a:off x="-4" y="681897"/>
                <a:ext cx="3020162" cy="702375"/>
              </a:xfrm>
              <a:prstGeom prst="rect">
                <a:avLst/>
              </a:prstGeom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  <a:alpha val="48000"/>
                    </a:srgbClr>
                  </a:gs>
                  <a:gs pos="100000">
                    <a:srgbClr val="FFFF00">
                      <a:tint val="23500"/>
                      <a:satMod val="160000"/>
                      <a:alpha val="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26" name="Прямоугольник 25"/>
              <p:cNvSpPr/>
              <p:nvPr/>
            </p:nvSpPr>
            <p:spPr>
              <a:xfrm flipH="1">
                <a:off x="500059" y="0"/>
                <a:ext cx="487362" cy="1362062"/>
              </a:xfrm>
              <a:prstGeom prst="rect">
                <a:avLst/>
              </a:prstGeom>
              <a:gradFill flip="none" rotWithShape="1">
                <a:gsLst>
                  <a:gs pos="0">
                    <a:schemeClr val="tx1">
                      <a:alpha val="0"/>
                    </a:schemeClr>
                  </a:gs>
                  <a:gs pos="50000">
                    <a:schemeClr val="tx1">
                      <a:alpha val="7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27" name="Прямоугольник 26"/>
              <p:cNvSpPr/>
              <p:nvPr/>
            </p:nvSpPr>
            <p:spPr>
              <a:xfrm flipH="1">
                <a:off x="706434" y="0"/>
                <a:ext cx="579437" cy="1362062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bg1">
                      <a:alpha val="46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28" name="Прямоугольник 27"/>
              <p:cNvSpPr/>
              <p:nvPr/>
            </p:nvSpPr>
            <p:spPr>
              <a:xfrm flipH="1">
                <a:off x="2076447" y="0"/>
                <a:ext cx="487363" cy="1362062"/>
              </a:xfrm>
              <a:prstGeom prst="rect">
                <a:avLst/>
              </a:prstGeom>
              <a:gradFill flip="none" rotWithShape="1">
                <a:gsLst>
                  <a:gs pos="0">
                    <a:schemeClr val="tx1">
                      <a:alpha val="0"/>
                    </a:schemeClr>
                  </a:gs>
                  <a:gs pos="50000">
                    <a:schemeClr val="tx1">
                      <a:alpha val="2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29" name="Прямоугольник 28"/>
              <p:cNvSpPr/>
              <p:nvPr/>
            </p:nvSpPr>
            <p:spPr>
              <a:xfrm flipH="1">
                <a:off x="1741485" y="0"/>
                <a:ext cx="577850" cy="1362062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50000">
                    <a:schemeClr val="bg1">
                      <a:alpha val="3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9" name="Прямоугольник с двумя скругленными противолежащими углами 8"/>
            <p:cNvSpPr/>
            <p:nvPr/>
          </p:nvSpPr>
          <p:spPr>
            <a:xfrm>
              <a:off x="1504946" y="288922"/>
              <a:ext cx="7639053" cy="1789097"/>
            </a:xfrm>
            <a:prstGeom prst="round2DiagRect">
              <a:avLst>
                <a:gd name="adj1" fmla="val 37223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uk-UA">
                <a:solidFill>
                  <a:srgbClr val="FFFFFF"/>
                </a:solidFill>
              </a:endParaRPr>
            </a:p>
          </p:txBody>
        </p:sp>
        <p:grpSp>
          <p:nvGrpSpPr>
            <p:cNvPr id="1035" name="Группа 55"/>
            <p:cNvGrpSpPr>
              <a:grpSpLocks/>
            </p:cNvGrpSpPr>
            <p:nvPr/>
          </p:nvGrpSpPr>
          <p:grpSpPr bwMode="auto">
            <a:xfrm>
              <a:off x="1700173" y="473034"/>
              <a:ext cx="1000132" cy="1000132"/>
              <a:chOff x="282516" y="190456"/>
              <a:chExt cx="1000132" cy="1000132"/>
            </a:xfrm>
          </p:grpSpPr>
          <p:sp>
            <p:nvSpPr>
              <p:cNvPr id="13" name="Хорда 12"/>
              <p:cNvSpPr/>
              <p:nvPr/>
            </p:nvSpPr>
            <p:spPr>
              <a:xfrm>
                <a:off x="339703" y="219068"/>
                <a:ext cx="928687" cy="928680"/>
              </a:xfrm>
              <a:prstGeom prst="chord">
                <a:avLst>
                  <a:gd name="adj1" fmla="val 7131849"/>
                  <a:gd name="adj2" fmla="val 4448976"/>
                </a:avLst>
              </a:prstGeom>
              <a:gradFill flip="none" rotWithShape="1">
                <a:gsLst>
                  <a:gs pos="0">
                    <a:srgbClr val="006699">
                      <a:shade val="30000"/>
                      <a:satMod val="115000"/>
                    </a:srgbClr>
                  </a:gs>
                  <a:gs pos="50000">
                    <a:srgbClr val="006699">
                      <a:shade val="67500"/>
                      <a:satMod val="115000"/>
                    </a:srgbClr>
                  </a:gs>
                  <a:gs pos="100000">
                    <a:srgbClr val="006699">
                      <a:shade val="100000"/>
                      <a:satMod val="11500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14" name="Кольцо 13"/>
              <p:cNvSpPr/>
              <p:nvPr/>
            </p:nvSpPr>
            <p:spPr>
              <a:xfrm>
                <a:off x="282553" y="190493"/>
                <a:ext cx="1000125" cy="1000116"/>
              </a:xfrm>
              <a:prstGeom prst="donut">
                <a:avLst>
                  <a:gd name="adj" fmla="val 14198"/>
                </a:avLst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50000">
                    <a:schemeClr val="bg1"/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Овал 14"/>
              <p:cNvSpPr/>
              <p:nvPr/>
            </p:nvSpPr>
            <p:spPr>
              <a:xfrm>
                <a:off x="482578" y="361941"/>
                <a:ext cx="500062" cy="428621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50000">
                    <a:schemeClr val="bg1">
                      <a:alpha val="12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Кольцо 15"/>
              <p:cNvSpPr/>
              <p:nvPr/>
            </p:nvSpPr>
            <p:spPr>
              <a:xfrm>
                <a:off x="398440" y="301617"/>
                <a:ext cx="754063" cy="766756"/>
              </a:xfrm>
              <a:prstGeom prst="donut">
                <a:avLst>
                  <a:gd name="adj" fmla="val 5909"/>
                </a:avLst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50000">
                    <a:schemeClr val="bg1">
                      <a:lumMod val="95000"/>
                    </a:schemeClr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Овал 16"/>
              <p:cNvSpPr/>
              <p:nvPr/>
            </p:nvSpPr>
            <p:spPr>
              <a:xfrm rot="19570648">
                <a:off x="471465" y="328605"/>
                <a:ext cx="292100" cy="219073"/>
              </a:xfrm>
              <a:prstGeom prst="ellipse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Овал 17"/>
              <p:cNvSpPr/>
              <p:nvPr/>
            </p:nvSpPr>
            <p:spPr>
              <a:xfrm rot="19038152">
                <a:off x="492103" y="357179"/>
                <a:ext cx="219075" cy="146049"/>
              </a:xfrm>
              <a:prstGeom prst="ellipse">
                <a:avLst/>
              </a:prstGeom>
              <a:solidFill>
                <a:schemeClr val="bg1">
                  <a:alpha val="3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19" name="Овал 18"/>
              <p:cNvSpPr/>
              <p:nvPr/>
            </p:nvSpPr>
            <p:spPr>
              <a:xfrm rot="19038152">
                <a:off x="536553" y="369879"/>
                <a:ext cx="103187" cy="92074"/>
              </a:xfrm>
              <a:prstGeom prst="ellipse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sp>
            <p:nvSpPr>
              <p:cNvPr id="20" name="Овал 19"/>
              <p:cNvSpPr/>
              <p:nvPr/>
            </p:nvSpPr>
            <p:spPr>
              <a:xfrm rot="19038152">
                <a:off x="515915" y="360354"/>
                <a:ext cx="153988" cy="119061"/>
              </a:xfrm>
              <a:prstGeom prst="ellipse">
                <a:avLst/>
              </a:prstGeom>
              <a:solidFill>
                <a:schemeClr val="bg1">
                  <a:alpha val="3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  <p:pic>
            <p:nvPicPr>
              <p:cNvPr id="21" name="Picture 2"/>
              <p:cNvPicPr>
                <a:picLocks noChangeAspect="1" noChangeArrowheads="1"/>
              </p:cNvPicPr>
              <p:nvPr/>
            </p:nvPicPr>
            <p:blipFill>
              <a:blip r:embed="rId10" cstate="email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544432" y="374590"/>
                <a:ext cx="445300" cy="6207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47" name="Picture 2"/>
              <p:cNvPicPr>
                <a:picLocks noChangeAspect="1" noChangeArrowheads="1"/>
              </p:cNvPicPr>
              <p:nvPr/>
            </p:nvPicPr>
            <p:blipFill>
              <a:blip r:embed="rId10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  <a:lum bright="70000" contrast="-70000"/>
              </a:blip>
              <a:srcRect/>
              <a:stretch>
                <a:fillRect/>
              </a:stretch>
            </p:blipFill>
            <p:spPr bwMode="auto">
              <a:xfrm>
                <a:off x="544432" y="374590"/>
                <a:ext cx="445300" cy="6207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3" name="Месяц 22"/>
              <p:cNvSpPr/>
              <p:nvPr/>
            </p:nvSpPr>
            <p:spPr>
              <a:xfrm rot="15681566">
                <a:off x="617517" y="506400"/>
                <a:ext cx="365122" cy="615950"/>
              </a:xfrm>
              <a:prstGeom prst="moon">
                <a:avLst>
                  <a:gd name="adj" fmla="val 59019"/>
                </a:avLst>
              </a:prstGeom>
              <a:solidFill>
                <a:schemeClr val="tx1"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uk-UA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1" name="Прямоугольник с двумя скругленными противолежащими углами 10"/>
            <p:cNvSpPr/>
            <p:nvPr/>
          </p:nvSpPr>
          <p:spPr>
            <a:xfrm>
              <a:off x="2819397" y="836605"/>
              <a:ext cx="6061077" cy="474658"/>
            </a:xfrm>
            <a:prstGeom prst="round2Diag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50000">
                  <a:schemeClr val="bg1">
                    <a:lumMod val="85000"/>
                    <a:shade val="67500"/>
                    <a:satMod val="11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uk-UA">
                <a:solidFill>
                  <a:srgbClr val="FFFFFF"/>
                </a:solidFill>
              </a:endParaRPr>
            </a:p>
          </p:txBody>
        </p:sp>
        <p:sp>
          <p:nvSpPr>
            <p:cNvPr id="12" name="Прямоугольник с двумя скругленными противолежащими углами 11"/>
            <p:cNvSpPr/>
            <p:nvPr/>
          </p:nvSpPr>
          <p:spPr>
            <a:xfrm>
              <a:off x="2819397" y="434971"/>
              <a:ext cx="803275" cy="876292"/>
            </a:xfrm>
            <a:prstGeom prst="round2Diag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85000"/>
                    <a:shade val="67500"/>
                    <a:satMod val="115000"/>
                    <a:alpha val="0"/>
                  </a:schemeClr>
                </a:gs>
                <a:gs pos="100000">
                  <a:schemeClr val="bg1">
                    <a:lumMod val="85000"/>
                    <a:shade val="100000"/>
                    <a:satMod val="11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uk-UA">
                <a:solidFill>
                  <a:srgbClr val="FFFFFF"/>
                </a:solidFill>
              </a:endParaRPr>
            </a:p>
          </p:txBody>
        </p:sp>
      </p:grpSp>
      <p:sp>
        <p:nvSpPr>
          <p:cNvPr id="1028" name="Заголовок 1"/>
          <p:cNvSpPr>
            <a:spLocks noGrp="1"/>
          </p:cNvSpPr>
          <p:nvPr>
            <p:ph type="title"/>
          </p:nvPr>
        </p:nvSpPr>
        <p:spPr bwMode="auto">
          <a:xfrm>
            <a:off x="2819400" y="398463"/>
            <a:ext cx="6061075" cy="91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uk-UA" smtClean="0"/>
          </a:p>
        </p:txBody>
      </p:sp>
      <p:sp>
        <p:nvSpPr>
          <p:cNvPr id="1029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/>
            <a:endParaRPr lang="uk-UA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uk-UA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uk-UA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032" name="Text Box 32"/>
          <p:cNvSpPr txBox="1">
            <a:spLocks noChangeArrowheads="1"/>
          </p:cNvSpPr>
          <p:nvPr/>
        </p:nvSpPr>
        <p:spPr bwMode="auto">
          <a:xfrm>
            <a:off x="7631113" y="6583363"/>
            <a:ext cx="1262062" cy="2746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uk-UA" sz="1200">
                <a:solidFill>
                  <a:srgbClr val="000000"/>
                </a:solidFill>
              </a:rPr>
              <a:t>Листопад 2011</a:t>
            </a:r>
            <a:endParaRPr lang="ru-RU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05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000" b="1" i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5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://www.uashops.com/" TargetMode="Externa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://www.uashops.com/" TargetMode="Externa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://www.uashops.com/" TargetMode="Externa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://www.uashops.com/" TargetMode="Externa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hyperlink" Target="http://www.uashops.com/" TargetMode="Externa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ashops.com/" TargetMode="Externa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ashops.com/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msdn.microsoft.com/en-us/library/dd409389.aspx" TargetMode="External"/><Relationship Id="rId7" Type="http://schemas.openxmlformats.org/officeDocument/2006/relationships/hyperlink" Target="https://halllowelt.wordpress.com/2010/03/25/automatically-generating-states-with-vs2010-uml-tools-and-t4/" TargetMode="External"/><Relationship Id="rId2" Type="http://schemas.openxmlformats.org/officeDocument/2006/relationships/hyperlink" Target="https://msdn.microsoft.com/en-us/library/dd409427.aspx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sdn.microsoft.com/en-us/library/dd409360.aspx" TargetMode="External"/><Relationship Id="rId5" Type="http://schemas.openxmlformats.org/officeDocument/2006/relationships/hyperlink" Target="https://msdn.microsoft.com/en-us/library/dd409390.aspx" TargetMode="External"/><Relationship Id="rId4" Type="http://schemas.openxmlformats.org/officeDocument/2006/relationships/hyperlink" Target="https://msdn.microsoft.com/en-us/library/dd409437.aspx" TargetMode="Externa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martdraw.com/component-diagram/" TargetMode="External"/><Relationship Id="rId2" Type="http://schemas.openxmlformats.org/officeDocument/2006/relationships/hyperlink" Target="https://www.lucidchart.com/pages/uml-deployment-diagra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WordArt 5"/>
          <p:cNvSpPr>
            <a:spLocks noChangeArrowheads="1" noChangeShapeType="1" noTextEdit="1"/>
          </p:cNvSpPr>
          <p:nvPr/>
        </p:nvSpPr>
        <p:spPr bwMode="auto">
          <a:xfrm>
            <a:off x="395288" y="1412875"/>
            <a:ext cx="8280400" cy="30956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uk-UA" sz="3600" b="1" kern="10" dirty="0">
                <a:ln w="9525">
                  <a:noFill/>
                  <a:round/>
                  <a:headEnd/>
                  <a:tailEnd/>
                </a:ln>
                <a:solidFill>
                  <a:srgbClr val="0000CC"/>
                </a:solidFill>
                <a:effectLst>
                  <a:outerShdw dist="68392" dir="1308085" algn="ctr" rotWithShape="0">
                    <a:srgbClr val="F6FB17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Архітектура і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uk-UA" sz="3600" b="1" kern="10" dirty="0">
                <a:ln w="9525">
                  <a:noFill/>
                  <a:round/>
                  <a:headEnd/>
                  <a:tailEnd/>
                </a:ln>
                <a:solidFill>
                  <a:srgbClr val="0000CC"/>
                </a:solidFill>
                <a:effectLst>
                  <a:outerShdw dist="68392" dir="1308085" algn="ctr" rotWithShape="0">
                    <a:srgbClr val="F6FB17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Проектування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uk-UA" sz="3600" b="1" kern="10" dirty="0">
                <a:ln w="9525">
                  <a:noFill/>
                  <a:round/>
                  <a:headEnd/>
                  <a:tailEnd/>
                </a:ln>
                <a:solidFill>
                  <a:srgbClr val="0000CC"/>
                </a:solidFill>
                <a:effectLst>
                  <a:outerShdw dist="68392" dir="1308085" algn="ctr" rotWithShape="0">
                    <a:srgbClr val="F6FB17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 програмного забезпечення</a:t>
            </a:r>
          </a:p>
        </p:txBody>
      </p:sp>
      <p:sp>
        <p:nvSpPr>
          <p:cNvPr id="15363" name="WordArt 6"/>
          <p:cNvSpPr>
            <a:spLocks noChangeArrowheads="1" noChangeShapeType="1" noTextEdit="1"/>
          </p:cNvSpPr>
          <p:nvPr/>
        </p:nvSpPr>
        <p:spPr bwMode="auto">
          <a:xfrm>
            <a:off x="2771775" y="5084763"/>
            <a:ext cx="4464050" cy="687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3600" i="1" kern="10">
                <a:ln w="9525">
                  <a:solidFill>
                    <a:srgbClr val="1F497D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0000CC"/>
                    </a:gs>
                    <a:gs pos="100000">
                      <a:srgbClr val="00005E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</a:rPr>
              <a:t>Ковалюк Т.В. к.т.н., доцент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3600" i="1" kern="10">
                <a:ln w="9525">
                  <a:solidFill>
                    <a:srgbClr val="1F497D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0000CC"/>
                    </a:gs>
                    <a:gs pos="100000">
                      <a:srgbClr val="00005E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</a:rPr>
              <a:t>tkovalyuk@ukr.net</a:t>
            </a:r>
            <a:endParaRPr lang="uk-UA" sz="3600" i="1" kern="10">
              <a:ln w="9525">
                <a:solidFill>
                  <a:srgbClr val="1F497D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0000CC"/>
                  </a:gs>
                  <a:gs pos="100000">
                    <a:srgbClr val="00005E"/>
                  </a:gs>
                </a:gsLst>
                <a:lin ang="5400000" scaled="1"/>
              </a:gradFill>
              <a:effectLst>
                <a:outerShdw dist="35921" dir="2700000" algn="ctr" rotWithShape="0">
                  <a:srgbClr val="808080">
                    <a:alpha val="79999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4293865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68812" y="783069"/>
            <a:ext cx="931281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uk-UA" altLang="ru-RU" sz="4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Лекці</a:t>
            </a:r>
            <a:r>
              <a:rPr lang="uk-UA" altLang="ru-RU" sz="4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ї</a:t>
            </a:r>
            <a:r>
              <a:rPr lang="uk-UA" altLang="ru-RU" sz="4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ru-RU" sz="44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lang="uk-UA" altLang="ru-RU" sz="4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uk-UA" altLang="ru-RU" sz="44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</a:t>
            </a:r>
            <a:r>
              <a:rPr lang="en-US" altLang="ru-RU" sz="44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  <a:r>
              <a:rPr lang="uk-UA" altLang="ru-RU" sz="4400" b="1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єктно</a:t>
            </a:r>
            <a:r>
              <a:rPr lang="uk-UA" altLang="ru-RU" sz="44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-орієнтоване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uk-UA" altLang="ru-RU" sz="4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</a:t>
            </a:r>
            <a:r>
              <a:rPr lang="uk-UA" altLang="ru-RU" sz="44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роектування програмного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uk-UA" altLang="ru-RU" sz="44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забезпечення.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uk-UA" altLang="ru-RU" sz="44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Огляд мови </a:t>
            </a:r>
            <a:r>
              <a:rPr lang="en-US" altLang="ru-RU" sz="44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UML</a:t>
            </a:r>
            <a:endParaRPr lang="ru-RU" altLang="ru-RU" sz="4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05022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551863" y="6597650"/>
            <a:ext cx="592137" cy="274638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>
                <a:solidFill>
                  <a:srgbClr val="FFFFFF"/>
                </a:solidFill>
              </a:rPr>
              <a:pPr/>
              <a:t>3</a:t>
            </a:fld>
            <a:endParaRPr lang="uk-UA" dirty="0">
              <a:solidFill>
                <a:srgbClr val="FFFFFF"/>
              </a:solidFill>
            </a:endParaRPr>
          </a:p>
        </p:txBody>
      </p:sp>
      <p:sp>
        <p:nvSpPr>
          <p:cNvPr id="11267" name="Rectangle 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007806"/>
            <a:ext cx="8964613" cy="3798972"/>
          </a:xfrm>
          <a:noFill/>
        </p:spPr>
        <p:txBody>
          <a:bodyPr/>
          <a:lstStyle/>
          <a:p>
            <a:pPr>
              <a:lnSpc>
                <a:spcPct val="90000"/>
              </a:lnSpc>
              <a:buClr>
                <a:srgbClr val="0000CC"/>
              </a:buClr>
              <a:buFont typeface="Wingdings" pitchFamily="2" charset="2"/>
              <a:buChar char="v"/>
            </a:pPr>
            <a:r>
              <a:rPr lang="uk-UA" dirty="0" smtClean="0"/>
              <a:t>Для </a:t>
            </a:r>
            <a:r>
              <a:rPr lang="uk-UA" dirty="0" smtClean="0"/>
              <a:t>об</a:t>
            </a:r>
            <a:r>
              <a:rPr lang="en-US" dirty="0" smtClean="0"/>
              <a:t>’</a:t>
            </a:r>
            <a:r>
              <a:rPr lang="uk-UA" dirty="0" err="1" smtClean="0"/>
              <a:t>єктно</a:t>
            </a:r>
            <a:r>
              <a:rPr lang="uk-UA" dirty="0" smtClean="0"/>
              <a:t>-орієнтованого аналізу</a:t>
            </a:r>
            <a:r>
              <a:rPr lang="uk-UA" dirty="0" smtClean="0"/>
              <a:t>, візуального моделювання та </a:t>
            </a:r>
            <a:r>
              <a:rPr lang="uk-UA" dirty="0"/>
              <a:t>об</a:t>
            </a:r>
            <a:r>
              <a:rPr lang="en-US" dirty="0"/>
              <a:t>’</a:t>
            </a:r>
            <a:r>
              <a:rPr lang="uk-UA" dirty="0" err="1"/>
              <a:t>єктно</a:t>
            </a:r>
            <a:r>
              <a:rPr lang="uk-UA" dirty="0"/>
              <a:t>-орієнтованого проектування </a:t>
            </a:r>
            <a:r>
              <a:rPr lang="uk-UA" dirty="0" smtClean="0"/>
              <a:t>програмного забезпечення потрібна спеціальна нотація або мова.</a:t>
            </a:r>
          </a:p>
          <a:p>
            <a:pPr>
              <a:lnSpc>
                <a:spcPct val="90000"/>
              </a:lnSpc>
              <a:buClr>
                <a:srgbClr val="0000CC"/>
              </a:buClr>
              <a:buFont typeface="Wingdings" pitchFamily="2" charset="2"/>
              <a:buChar char="v"/>
            </a:pPr>
            <a:r>
              <a:rPr lang="uk-UA" dirty="0" smtClean="0"/>
              <a:t>UML (</a:t>
            </a:r>
            <a:r>
              <a:rPr lang="uk-UA" dirty="0" err="1" smtClean="0"/>
              <a:t>Unified</a:t>
            </a:r>
            <a:r>
              <a:rPr lang="uk-UA" dirty="0" smtClean="0"/>
              <a:t> </a:t>
            </a:r>
            <a:r>
              <a:rPr lang="uk-UA" dirty="0" err="1" smtClean="0"/>
              <a:t>Modeling</a:t>
            </a:r>
            <a:r>
              <a:rPr lang="uk-UA" dirty="0" smtClean="0"/>
              <a:t> </a:t>
            </a:r>
            <a:r>
              <a:rPr lang="uk-UA" dirty="0" err="1" smtClean="0"/>
              <a:t>Language</a:t>
            </a:r>
            <a:r>
              <a:rPr lang="uk-UA" dirty="0" smtClean="0"/>
              <a:t>) - це мова для</a:t>
            </a:r>
          </a:p>
          <a:p>
            <a:pPr lvl="1">
              <a:lnSpc>
                <a:spcPct val="90000"/>
              </a:lnSpc>
              <a:buClr>
                <a:srgbClr val="990000"/>
              </a:buClr>
              <a:buFont typeface="Wingdings" pitchFamily="2" charset="2"/>
              <a:buChar char="Ø"/>
            </a:pPr>
            <a:r>
              <a:rPr lang="uk-UA" sz="2400" dirty="0" smtClean="0"/>
              <a:t>візуалізації</a:t>
            </a:r>
          </a:p>
          <a:p>
            <a:pPr lvl="1">
              <a:lnSpc>
                <a:spcPct val="90000"/>
              </a:lnSpc>
              <a:buClr>
                <a:srgbClr val="990000"/>
              </a:buClr>
              <a:buFont typeface="Wingdings" pitchFamily="2" charset="2"/>
              <a:buChar char="Ø"/>
            </a:pPr>
            <a:r>
              <a:rPr lang="uk-UA" sz="2400" dirty="0" smtClean="0"/>
              <a:t>специфікації,</a:t>
            </a:r>
          </a:p>
          <a:p>
            <a:pPr lvl="1">
              <a:lnSpc>
                <a:spcPct val="90000"/>
              </a:lnSpc>
              <a:buClr>
                <a:srgbClr val="990000"/>
              </a:buClr>
              <a:buFont typeface="Wingdings" pitchFamily="2" charset="2"/>
              <a:buChar char="Ø"/>
            </a:pPr>
            <a:r>
              <a:rPr lang="uk-UA" sz="2400" dirty="0" smtClean="0"/>
              <a:t>конструювання,</a:t>
            </a:r>
          </a:p>
          <a:p>
            <a:pPr lvl="1">
              <a:lnSpc>
                <a:spcPct val="90000"/>
              </a:lnSpc>
              <a:buClr>
                <a:srgbClr val="990000"/>
              </a:buClr>
              <a:buFont typeface="Wingdings" pitchFamily="2" charset="2"/>
              <a:buChar char="Ø"/>
            </a:pPr>
            <a:r>
              <a:rPr lang="uk-UA" sz="2400" dirty="0" smtClean="0"/>
              <a:t>документування</a:t>
            </a:r>
          </a:p>
          <a:p>
            <a:pPr>
              <a:lnSpc>
                <a:spcPct val="90000"/>
              </a:lnSpc>
              <a:buClr>
                <a:srgbClr val="0000CC"/>
              </a:buClr>
              <a:buFont typeface="Wingdings" pitchFamily="2" charset="2"/>
              <a:buNone/>
            </a:pPr>
            <a:r>
              <a:rPr lang="uk-UA" dirty="0" smtClean="0"/>
              <a:t>     елементів </a:t>
            </a:r>
            <a:r>
              <a:rPr lang="uk-UA" dirty="0"/>
              <a:t>об</a:t>
            </a:r>
            <a:r>
              <a:rPr lang="en-US" dirty="0"/>
              <a:t>’</a:t>
            </a:r>
            <a:r>
              <a:rPr lang="uk-UA" dirty="0" err="1" smtClean="0"/>
              <a:t>єктно</a:t>
            </a:r>
            <a:r>
              <a:rPr lang="uk-UA" dirty="0" smtClean="0"/>
              <a:t>-орієнтованих </a:t>
            </a:r>
            <a:r>
              <a:rPr lang="uk-UA" dirty="0"/>
              <a:t>програмних </a:t>
            </a:r>
            <a:r>
              <a:rPr lang="uk-UA" dirty="0" smtClean="0"/>
              <a:t>систем</a:t>
            </a:r>
            <a:r>
              <a:rPr lang="uk-UA" dirty="0" smtClean="0"/>
              <a:t>.</a:t>
            </a:r>
            <a:endParaRPr lang="ru-RU" dirty="0" smtClean="0"/>
          </a:p>
        </p:txBody>
      </p:sp>
      <p:sp>
        <p:nvSpPr>
          <p:cNvPr id="11268" name="WordArt 6"/>
          <p:cNvSpPr>
            <a:spLocks noChangeArrowheads="1" noChangeShapeType="1" noTextEdit="1"/>
          </p:cNvSpPr>
          <p:nvPr/>
        </p:nvSpPr>
        <p:spPr bwMode="auto">
          <a:xfrm>
            <a:off x="2987675" y="287337"/>
            <a:ext cx="2447925" cy="52387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solidFill>
                  <a:srgbClr val="FFFFFF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UML</a:t>
            </a:r>
            <a:endParaRPr lang="ru-RU" sz="3600" kern="10" dirty="0">
              <a:solidFill>
                <a:srgbClr val="FFFFFF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5" name="Прямокутник 4"/>
          <p:cNvSpPr/>
          <p:nvPr/>
        </p:nvSpPr>
        <p:spPr>
          <a:xfrm>
            <a:off x="2041496" y="5041232"/>
            <a:ext cx="4223692" cy="1015663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sz="2000" b="0" dirty="0" err="1" smtClean="0">
                <a:solidFill>
                  <a:srgbClr val="0000CC"/>
                </a:solidFill>
              </a:rPr>
              <a:t>Повний</a:t>
            </a:r>
            <a:r>
              <a:rPr lang="ru-RU" sz="2000" b="0" dirty="0" smtClean="0">
                <a:solidFill>
                  <a:srgbClr val="0000CC"/>
                </a:solidFill>
              </a:rPr>
              <a:t> </a:t>
            </a:r>
            <a:r>
              <a:rPr lang="ru-RU" sz="2000" b="0" dirty="0" err="1" smtClean="0">
                <a:solidFill>
                  <a:srgbClr val="0000CC"/>
                </a:solidFill>
              </a:rPr>
              <a:t>опис</a:t>
            </a:r>
            <a:r>
              <a:rPr lang="ru-RU" sz="2000" b="0" dirty="0" smtClean="0">
                <a:solidFill>
                  <a:srgbClr val="0000CC"/>
                </a:solidFill>
              </a:rPr>
              <a:t> </a:t>
            </a:r>
            <a:r>
              <a:rPr lang="en-US" sz="2000" b="0" dirty="0">
                <a:solidFill>
                  <a:srgbClr val="0000CC"/>
                </a:solidFill>
              </a:rPr>
              <a:t>UML: </a:t>
            </a:r>
          </a:p>
          <a:p>
            <a:r>
              <a:rPr lang="en-US" sz="2000" b="0" dirty="0" smtClean="0">
                <a:solidFill>
                  <a:srgbClr val="0000CC"/>
                </a:solidFill>
              </a:rPr>
              <a:t>http</a:t>
            </a:r>
            <a:r>
              <a:rPr lang="en-US" sz="2000" b="0" dirty="0">
                <a:solidFill>
                  <a:srgbClr val="0000CC"/>
                </a:solidFill>
              </a:rPr>
              <a:t>://www.omg.org </a:t>
            </a:r>
          </a:p>
          <a:p>
            <a:r>
              <a:rPr lang="en-US" sz="2000" b="0" dirty="0" smtClean="0">
                <a:solidFill>
                  <a:srgbClr val="0000CC"/>
                </a:solidFill>
              </a:rPr>
              <a:t>http</a:t>
            </a:r>
            <a:r>
              <a:rPr lang="en-US" sz="2000" b="0" dirty="0">
                <a:solidFill>
                  <a:srgbClr val="0000CC"/>
                </a:solidFill>
              </a:rPr>
              <a:t>://www.rational.com. </a:t>
            </a:r>
          </a:p>
        </p:txBody>
      </p:sp>
      <p:pic>
        <p:nvPicPr>
          <p:cNvPr id="6" name="Picture 2" descr="Результат пошуку зображень за запитом &quot;белые человечки для презентации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913" y="5041232"/>
            <a:ext cx="801235" cy="1146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0600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551863" y="6597650"/>
            <a:ext cx="592137" cy="274638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>
                <a:solidFill>
                  <a:srgbClr val="FFFFFF"/>
                </a:solidFill>
              </a:rPr>
              <a:pPr/>
              <a:t>4</a:t>
            </a:fld>
            <a:endParaRPr lang="uk-UA" dirty="0">
              <a:solidFill>
                <a:srgbClr val="FFFFFF"/>
              </a:solidFill>
            </a:endParaRPr>
          </a:p>
        </p:txBody>
      </p:sp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647700"/>
          </a:xfrm>
        </p:spPr>
        <p:txBody>
          <a:bodyPr/>
          <a:lstStyle/>
          <a:p>
            <a:r>
              <a:rPr lang="uk-UA" sz="3600" i="0" dirty="0" smtClean="0">
                <a:solidFill>
                  <a:schemeClr val="bg1"/>
                </a:solidFill>
              </a:rPr>
              <a:t>Типи діаграм </a:t>
            </a:r>
            <a:r>
              <a:rPr lang="en-US" sz="3600" i="0" dirty="0" smtClean="0">
                <a:solidFill>
                  <a:schemeClr val="bg1"/>
                </a:solidFill>
              </a:rPr>
              <a:t>UML</a:t>
            </a:r>
            <a:endParaRPr lang="ru-RU" sz="3600" i="0" dirty="0" smtClean="0">
              <a:solidFill>
                <a:schemeClr val="bg1"/>
              </a:solidFill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1268413"/>
            <a:ext cx="8229600" cy="4525962"/>
          </a:xfrm>
          <a:noFill/>
        </p:spPr>
        <p:txBody>
          <a:bodyPr/>
          <a:lstStyle/>
          <a:p>
            <a:pPr>
              <a:buFont typeface="Arial" charset="0"/>
              <a:buNone/>
            </a:pPr>
            <a:r>
              <a:rPr lang="uk-UA" dirty="0" smtClean="0"/>
              <a:t>	Діаграми UML призначені для візуального відображення моделей та їх компонентів.</a:t>
            </a:r>
          </a:p>
          <a:p>
            <a:pPr>
              <a:buFont typeface="Arial" charset="0"/>
              <a:buNone/>
            </a:pPr>
            <a:r>
              <a:rPr lang="uk-UA" dirty="0" smtClean="0"/>
              <a:t>	UML 2.0 має 14 типів діаграм:</a:t>
            </a:r>
          </a:p>
          <a:p>
            <a:pPr lvl="2">
              <a:buClr>
                <a:srgbClr val="0000CC"/>
              </a:buClr>
              <a:buFont typeface="Wingdings" pitchFamily="2" charset="2"/>
              <a:buChar char="v"/>
            </a:pPr>
            <a:r>
              <a:rPr lang="uk-UA" sz="2400" dirty="0" smtClean="0"/>
              <a:t>Структурні діаграми (6)</a:t>
            </a:r>
          </a:p>
          <a:p>
            <a:pPr lvl="2">
              <a:buClr>
                <a:srgbClr val="0000CC"/>
              </a:buClr>
              <a:buFont typeface="Wingdings" pitchFamily="2" charset="2"/>
              <a:buChar char="v"/>
            </a:pPr>
            <a:r>
              <a:rPr lang="uk-UA" sz="2400" dirty="0" smtClean="0"/>
              <a:t>Діаграми поведінки (4)</a:t>
            </a:r>
            <a:endParaRPr lang="uk-UA" altLang="ko-KR" sz="2400" dirty="0" smtClean="0"/>
          </a:p>
          <a:p>
            <a:pPr lvl="2">
              <a:buClr>
                <a:srgbClr val="0000CC"/>
              </a:buClr>
              <a:buFont typeface="Wingdings" pitchFamily="2" charset="2"/>
              <a:buChar char="v"/>
            </a:pPr>
            <a:r>
              <a:rPr lang="uk-UA" altLang="ko-KR" sz="2400" dirty="0" smtClean="0"/>
              <a:t>Діаграми взаємодії (4)</a:t>
            </a:r>
            <a:r>
              <a:rPr lang="uk-UA" altLang="ko-KR" dirty="0" smtClean="0"/>
              <a:t> 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770546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366125" y="6597650"/>
            <a:ext cx="777875" cy="260350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/>
              <a:pPr/>
              <a:t>5</a:t>
            </a:fld>
            <a:endParaRPr lang="uk-UA" dirty="0"/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6796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551863" y="6597650"/>
            <a:ext cx="592137" cy="274638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>
                <a:solidFill>
                  <a:srgbClr val="FFFFFF"/>
                </a:solidFill>
              </a:rPr>
              <a:pPr/>
              <a:t>6</a:t>
            </a:fld>
            <a:endParaRPr lang="uk-UA" dirty="0">
              <a:solidFill>
                <a:srgbClr val="FFFFFF"/>
              </a:solidFill>
            </a:endParaRPr>
          </a:p>
        </p:txBody>
      </p:sp>
      <p:sp>
        <p:nvSpPr>
          <p:cNvPr id="3" name="Прямокутник 2"/>
          <p:cNvSpPr/>
          <p:nvPr/>
        </p:nvSpPr>
        <p:spPr>
          <a:xfrm>
            <a:off x="0" y="1196752"/>
            <a:ext cx="9036496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b="0" dirty="0" smtClean="0"/>
              <a:t>1</a:t>
            </a:r>
            <a:r>
              <a:rPr lang="en-US" sz="2100" b="0" dirty="0"/>
              <a:t>) </a:t>
            </a:r>
            <a:r>
              <a:rPr lang="ru-RU" sz="2100" dirty="0" err="1">
                <a:solidFill>
                  <a:srgbClr val="0000CC"/>
                </a:solidFill>
              </a:rPr>
              <a:t>Структурні</a:t>
            </a:r>
            <a:r>
              <a:rPr lang="ru-RU" sz="2100" dirty="0">
                <a:solidFill>
                  <a:srgbClr val="0000CC"/>
                </a:solidFill>
              </a:rPr>
              <a:t> (</a:t>
            </a:r>
            <a:r>
              <a:rPr lang="en-US" sz="2100" dirty="0">
                <a:solidFill>
                  <a:srgbClr val="0000CC"/>
                </a:solidFill>
              </a:rPr>
              <a:t>structural) </a:t>
            </a:r>
            <a:r>
              <a:rPr lang="ru-RU" sz="2100" dirty="0" err="1">
                <a:solidFill>
                  <a:srgbClr val="0000CC"/>
                </a:solidFill>
              </a:rPr>
              <a:t>моделі</a:t>
            </a:r>
            <a:r>
              <a:rPr lang="ru-RU" sz="2100" dirty="0">
                <a:solidFill>
                  <a:srgbClr val="0000CC"/>
                </a:solidFill>
              </a:rPr>
              <a:t>: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ru-RU" sz="2100" b="1" dirty="0" err="1" smtClean="0"/>
              <a:t>діаграмма</a:t>
            </a:r>
            <a:r>
              <a:rPr lang="ru-RU" sz="2100" b="1" dirty="0" smtClean="0"/>
              <a:t> </a:t>
            </a:r>
            <a:r>
              <a:rPr lang="ru-RU" sz="2100" b="1" dirty="0" err="1"/>
              <a:t>класів</a:t>
            </a:r>
            <a:r>
              <a:rPr lang="ru-RU" sz="2100" b="1" dirty="0"/>
              <a:t> (</a:t>
            </a:r>
            <a:r>
              <a:rPr lang="en-US" sz="2100" b="1" dirty="0"/>
              <a:t>class diagram</a:t>
            </a:r>
            <a:r>
              <a:rPr lang="en-US" sz="2100" b="0" dirty="0"/>
              <a:t>) - </a:t>
            </a:r>
            <a:r>
              <a:rPr lang="ru-RU" sz="2100" b="0" dirty="0"/>
              <a:t>для </a:t>
            </a:r>
            <a:r>
              <a:rPr lang="ru-RU" sz="2100" b="0" dirty="0" err="1"/>
              <a:t>моделювання</a:t>
            </a:r>
            <a:r>
              <a:rPr lang="ru-RU" sz="2100" b="0" dirty="0"/>
              <a:t> </a:t>
            </a:r>
            <a:r>
              <a:rPr lang="ru-RU" sz="2100" b="0" dirty="0" err="1"/>
              <a:t>статичної</a:t>
            </a:r>
            <a:r>
              <a:rPr lang="ru-RU" sz="2100" b="0" dirty="0"/>
              <a:t> </a:t>
            </a:r>
            <a:r>
              <a:rPr lang="ru-RU" sz="2100" b="0" dirty="0" err="1"/>
              <a:t>структури</a:t>
            </a:r>
            <a:r>
              <a:rPr lang="ru-RU" sz="2100" b="0" dirty="0"/>
              <a:t> </a:t>
            </a:r>
            <a:r>
              <a:rPr lang="ru-RU" sz="2100" b="0" dirty="0" err="1"/>
              <a:t>класів</a:t>
            </a:r>
            <a:r>
              <a:rPr lang="ru-RU" sz="2100" b="0" dirty="0"/>
              <a:t> </a:t>
            </a:r>
            <a:r>
              <a:rPr lang="ru-RU" sz="2100" b="0" dirty="0" err="1"/>
              <a:t>системи</a:t>
            </a:r>
            <a:r>
              <a:rPr lang="ru-RU" sz="2100" b="0" dirty="0"/>
              <a:t> і </a:t>
            </a:r>
            <a:r>
              <a:rPr lang="ru-RU" sz="2100" b="0" dirty="0" err="1"/>
              <a:t>зв'язків</a:t>
            </a:r>
            <a:r>
              <a:rPr lang="ru-RU" sz="2100" b="0" dirty="0"/>
              <a:t> </a:t>
            </a:r>
            <a:r>
              <a:rPr lang="ru-RU" sz="2100" b="0" dirty="0" err="1"/>
              <a:t>між</a:t>
            </a:r>
            <a:r>
              <a:rPr lang="ru-RU" sz="2100" b="0" dirty="0"/>
              <a:t> ними;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ru-RU" sz="2100" b="1" dirty="0" err="1" smtClean="0"/>
              <a:t>діаграмма</a:t>
            </a:r>
            <a:r>
              <a:rPr lang="ru-RU" sz="2100" b="1" dirty="0" smtClean="0"/>
              <a:t> </a:t>
            </a:r>
            <a:r>
              <a:rPr lang="ru-RU" sz="2100" b="1" dirty="0" err="1"/>
              <a:t>об'єктів</a:t>
            </a:r>
            <a:r>
              <a:rPr lang="ru-RU" sz="2100" b="1" dirty="0"/>
              <a:t> (</a:t>
            </a:r>
            <a:r>
              <a:rPr lang="en-US" sz="2100" b="1" dirty="0"/>
              <a:t>object diagram</a:t>
            </a:r>
            <a:r>
              <a:rPr lang="en-US" sz="2100" b="0" dirty="0"/>
              <a:t>) - </a:t>
            </a:r>
            <a:r>
              <a:rPr lang="ru-RU" sz="2100" b="0" dirty="0" err="1"/>
              <a:t>показує</a:t>
            </a:r>
            <a:r>
              <a:rPr lang="ru-RU" sz="2100" b="0" dirty="0"/>
              <a:t> </a:t>
            </a:r>
            <a:r>
              <a:rPr lang="ru-RU" sz="2100" b="0" dirty="0" err="1"/>
              <a:t>екземпляри</a:t>
            </a:r>
            <a:r>
              <a:rPr lang="ru-RU" sz="2100" b="0" dirty="0"/>
              <a:t> </a:t>
            </a:r>
            <a:r>
              <a:rPr lang="ru-RU" sz="2100" b="0" dirty="0" err="1"/>
              <a:t>класів</a:t>
            </a:r>
            <a:r>
              <a:rPr lang="ru-RU" sz="2100" b="0" dirty="0"/>
              <a:t> і </a:t>
            </a:r>
            <a:r>
              <a:rPr lang="ru-RU" sz="2100" b="0" dirty="0" err="1"/>
              <a:t>зв'язку</a:t>
            </a:r>
            <a:r>
              <a:rPr lang="ru-RU" sz="2100" b="0" dirty="0"/>
              <a:t> </a:t>
            </a:r>
            <a:r>
              <a:rPr lang="ru-RU" sz="2100" b="0" dirty="0" err="1"/>
              <a:t>між</a:t>
            </a:r>
            <a:r>
              <a:rPr lang="ru-RU" sz="2100" b="0" dirty="0"/>
              <a:t> ними;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ru-RU" sz="2100" b="1" dirty="0" err="1" smtClean="0"/>
              <a:t>діаграмма</a:t>
            </a:r>
            <a:r>
              <a:rPr lang="ru-RU" sz="2100" b="1" dirty="0" smtClean="0"/>
              <a:t> </a:t>
            </a:r>
            <a:r>
              <a:rPr lang="ru-RU" sz="2100" b="1" dirty="0" err="1"/>
              <a:t>пакетів</a:t>
            </a:r>
            <a:r>
              <a:rPr lang="ru-RU" sz="2100" b="1" dirty="0"/>
              <a:t> (</a:t>
            </a:r>
            <a:r>
              <a:rPr lang="en-US" sz="2100" b="1" dirty="0"/>
              <a:t>package diagram</a:t>
            </a:r>
            <a:r>
              <a:rPr lang="en-US" sz="2100" b="0" dirty="0"/>
              <a:t>) - </a:t>
            </a:r>
            <a:r>
              <a:rPr lang="ru-RU" sz="2100" b="0" dirty="0" err="1"/>
              <a:t>показує</a:t>
            </a:r>
            <a:r>
              <a:rPr lang="ru-RU" sz="2100" b="0" dirty="0"/>
              <a:t> </a:t>
            </a:r>
            <a:r>
              <a:rPr lang="ru-RU" sz="2100" b="0" dirty="0" err="1"/>
              <a:t>пакети</a:t>
            </a:r>
            <a:r>
              <a:rPr lang="ru-RU" sz="2100" b="0" dirty="0"/>
              <a:t> і </a:t>
            </a:r>
            <a:r>
              <a:rPr lang="ru-RU" sz="2100" b="0" dirty="0" err="1"/>
              <a:t>зв'язку</a:t>
            </a:r>
            <a:r>
              <a:rPr lang="ru-RU" sz="2100" b="0" dirty="0"/>
              <a:t> </a:t>
            </a:r>
            <a:r>
              <a:rPr lang="ru-RU" sz="2100" b="0" dirty="0" err="1"/>
              <a:t>між</a:t>
            </a:r>
            <a:r>
              <a:rPr lang="ru-RU" sz="2100" b="0" dirty="0"/>
              <a:t> пакетами.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ru-RU" sz="2100" b="1" dirty="0" err="1" smtClean="0"/>
              <a:t>діаграмми</a:t>
            </a:r>
            <a:r>
              <a:rPr lang="ru-RU" sz="2100" b="1" dirty="0" smtClean="0"/>
              <a:t> </a:t>
            </a:r>
            <a:r>
              <a:rPr lang="ru-RU" sz="2100" b="1" dirty="0" err="1"/>
              <a:t>компонентів</a:t>
            </a:r>
            <a:r>
              <a:rPr lang="ru-RU" sz="2100" b="1" dirty="0"/>
              <a:t> (</a:t>
            </a:r>
            <a:r>
              <a:rPr lang="en-US" sz="2100" b="1" dirty="0"/>
              <a:t>component diagrams</a:t>
            </a:r>
            <a:r>
              <a:rPr lang="en-US" sz="2100" b="0" dirty="0"/>
              <a:t>) - </a:t>
            </a:r>
            <a:r>
              <a:rPr lang="ru-RU" sz="2100" b="0" dirty="0"/>
              <a:t>для </a:t>
            </a:r>
            <a:r>
              <a:rPr lang="ru-RU" sz="2100" b="0" dirty="0" err="1"/>
              <a:t>моделювання</a:t>
            </a:r>
            <a:r>
              <a:rPr lang="ru-RU" sz="2100" b="0" dirty="0"/>
              <a:t> </a:t>
            </a:r>
            <a:r>
              <a:rPr lang="ru-RU" sz="2100" b="0" dirty="0" err="1"/>
              <a:t>ієрархії</a:t>
            </a:r>
            <a:r>
              <a:rPr lang="ru-RU" sz="2100" b="0" dirty="0"/>
              <a:t> </a:t>
            </a:r>
            <a:r>
              <a:rPr lang="ru-RU" sz="2100" b="0" dirty="0" err="1"/>
              <a:t>компонентів</a:t>
            </a:r>
            <a:r>
              <a:rPr lang="ru-RU" sz="2100" b="0" dirty="0"/>
              <a:t> (</a:t>
            </a:r>
            <a:r>
              <a:rPr lang="ru-RU" sz="2100" b="0" dirty="0" err="1"/>
              <a:t>підсистем</a:t>
            </a:r>
            <a:r>
              <a:rPr lang="ru-RU" sz="2100" b="0" dirty="0"/>
              <a:t>) </a:t>
            </a:r>
            <a:r>
              <a:rPr lang="ru-RU" sz="2100" b="0" dirty="0" err="1"/>
              <a:t>системи</a:t>
            </a:r>
            <a:r>
              <a:rPr lang="ru-RU" sz="2100" b="0" dirty="0"/>
              <a:t>;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ru-RU" sz="2100" b="1" dirty="0" err="1" smtClean="0"/>
              <a:t>діаграмма</a:t>
            </a:r>
            <a:r>
              <a:rPr lang="ru-RU" sz="2100" b="1" dirty="0" smtClean="0"/>
              <a:t> </a:t>
            </a:r>
            <a:r>
              <a:rPr lang="ru-RU" sz="2100" b="1" dirty="0" err="1"/>
              <a:t>складовою</a:t>
            </a:r>
            <a:r>
              <a:rPr lang="ru-RU" sz="2100" b="1" dirty="0"/>
              <a:t> </a:t>
            </a:r>
            <a:r>
              <a:rPr lang="ru-RU" sz="2100" b="1" dirty="0" err="1"/>
              <a:t>структури</a:t>
            </a:r>
            <a:r>
              <a:rPr lang="ru-RU" sz="2100" b="1" dirty="0"/>
              <a:t> (</a:t>
            </a:r>
            <a:r>
              <a:rPr lang="en-US" sz="2100" b="1" dirty="0"/>
              <a:t>composite structure diagram</a:t>
            </a:r>
            <a:r>
              <a:rPr lang="en-US" sz="2100" b="0" dirty="0"/>
              <a:t>) - </a:t>
            </a:r>
            <a:r>
              <a:rPr lang="ru-RU" sz="2100" b="0" dirty="0" err="1"/>
              <a:t>показує</a:t>
            </a:r>
            <a:r>
              <a:rPr lang="ru-RU" sz="2100" b="0" dirty="0"/>
              <a:t> </a:t>
            </a:r>
            <a:r>
              <a:rPr lang="ru-RU" sz="2100" b="0" dirty="0" err="1"/>
              <a:t>внутрішню</a:t>
            </a:r>
            <a:r>
              <a:rPr lang="ru-RU" sz="2100" b="0" dirty="0"/>
              <a:t> структуру </a:t>
            </a:r>
            <a:r>
              <a:rPr lang="ru-RU" sz="2100" b="0" dirty="0" err="1"/>
              <a:t>класу</a:t>
            </a:r>
            <a:r>
              <a:rPr lang="ru-RU" sz="2100" b="0" dirty="0"/>
              <a:t> і </a:t>
            </a:r>
            <a:r>
              <a:rPr lang="ru-RU" sz="2100" b="0" dirty="0" err="1"/>
              <a:t>взаємодія</a:t>
            </a:r>
            <a:r>
              <a:rPr lang="ru-RU" sz="2100" b="0" dirty="0"/>
              <a:t> </a:t>
            </a:r>
            <a:r>
              <a:rPr lang="ru-RU" sz="2100" b="0" dirty="0" err="1"/>
              <a:t>елементів</a:t>
            </a:r>
            <a:r>
              <a:rPr lang="ru-RU" sz="2100" b="0" dirty="0"/>
              <a:t> </a:t>
            </a:r>
            <a:r>
              <a:rPr lang="ru-RU" sz="2100" b="0" dirty="0" err="1"/>
              <a:t>внутрішньої</a:t>
            </a:r>
            <a:r>
              <a:rPr lang="ru-RU" sz="2100" b="0" dirty="0"/>
              <a:t> </a:t>
            </a:r>
            <a:r>
              <a:rPr lang="ru-RU" sz="2100" b="0" dirty="0" err="1"/>
              <a:t>структури</a:t>
            </a:r>
            <a:r>
              <a:rPr lang="ru-RU" sz="2100" b="0" dirty="0"/>
              <a:t> </a:t>
            </a:r>
            <a:r>
              <a:rPr lang="ru-RU" sz="2100" b="0" dirty="0" err="1"/>
              <a:t>класу</a:t>
            </a:r>
            <a:r>
              <a:rPr lang="ru-RU" sz="2100" b="0" dirty="0"/>
              <a:t>;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ru-RU" sz="2100" b="1" dirty="0" err="1" smtClean="0"/>
              <a:t>діаграмми</a:t>
            </a:r>
            <a:r>
              <a:rPr lang="ru-RU" sz="2100" b="1" dirty="0" smtClean="0"/>
              <a:t> </a:t>
            </a:r>
            <a:r>
              <a:rPr lang="ru-RU" sz="2100" b="1" dirty="0" err="1"/>
              <a:t>розміщення</a:t>
            </a:r>
            <a:r>
              <a:rPr lang="ru-RU" sz="2100" b="1" dirty="0"/>
              <a:t> (</a:t>
            </a:r>
            <a:r>
              <a:rPr lang="en-US" sz="2100" b="1" dirty="0"/>
              <a:t>deployment diagrams</a:t>
            </a:r>
            <a:r>
              <a:rPr lang="en-US" sz="2100" b="0" dirty="0"/>
              <a:t>) - </a:t>
            </a:r>
            <a:r>
              <a:rPr lang="ru-RU" sz="2100" b="0" dirty="0"/>
              <a:t>для </a:t>
            </a:r>
            <a:r>
              <a:rPr lang="ru-RU" sz="2100" b="0" dirty="0" err="1"/>
              <a:t>моделювання</a:t>
            </a:r>
            <a:r>
              <a:rPr lang="ru-RU" sz="2100" b="0" dirty="0"/>
              <a:t> </a:t>
            </a:r>
            <a:r>
              <a:rPr lang="ru-RU" sz="2100" b="0" dirty="0" err="1"/>
              <a:t>фізичної</a:t>
            </a:r>
            <a:r>
              <a:rPr lang="ru-RU" sz="2100" b="0" dirty="0"/>
              <a:t> </a:t>
            </a:r>
            <a:r>
              <a:rPr lang="ru-RU" sz="2100" b="0" dirty="0" err="1"/>
              <a:t>архітектури</a:t>
            </a:r>
            <a:r>
              <a:rPr lang="ru-RU" sz="2100" b="0" dirty="0"/>
              <a:t> </a:t>
            </a:r>
            <a:r>
              <a:rPr lang="ru-RU" sz="2100" b="0" dirty="0" err="1"/>
              <a:t>системи</a:t>
            </a:r>
            <a:endParaRPr lang="ru-RU" sz="2100" b="0" dirty="0"/>
          </a:p>
        </p:txBody>
      </p:sp>
      <p:sp>
        <p:nvSpPr>
          <p:cNvPr id="4" name="Rectangle 2"/>
          <p:cNvSpPr txBox="1">
            <a:spLocks/>
          </p:cNvSpPr>
          <p:nvPr/>
        </p:nvSpPr>
        <p:spPr bwMode="auto">
          <a:xfrm>
            <a:off x="0" y="1886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uk-UA" sz="3600" i="0" dirty="0" smtClean="0">
                <a:solidFill>
                  <a:schemeClr val="bg1"/>
                </a:solidFill>
              </a:rPr>
              <a:t>Типи діаграм </a:t>
            </a:r>
            <a:r>
              <a:rPr lang="en-US" sz="3600" i="0" dirty="0" smtClean="0">
                <a:solidFill>
                  <a:schemeClr val="bg1"/>
                </a:solidFill>
              </a:rPr>
              <a:t>UML</a:t>
            </a:r>
            <a:endParaRPr lang="ru-RU" sz="3600" i="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840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366125" y="6597650"/>
            <a:ext cx="777875" cy="260350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/>
              <a:pPr/>
              <a:t>7</a:t>
            </a:fld>
            <a:endParaRPr lang="uk-UA" dirty="0"/>
          </a:p>
        </p:txBody>
      </p:sp>
      <p:sp>
        <p:nvSpPr>
          <p:cNvPr id="3" name="Rectangle 2"/>
          <p:cNvSpPr txBox="1">
            <a:spLocks/>
          </p:cNvSpPr>
          <p:nvPr/>
        </p:nvSpPr>
        <p:spPr bwMode="auto">
          <a:xfrm>
            <a:off x="0" y="1886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uk-UA" sz="3600" i="0" dirty="0" smtClean="0">
                <a:solidFill>
                  <a:schemeClr val="bg1"/>
                </a:solidFill>
              </a:rPr>
              <a:t>Типи діаграм </a:t>
            </a:r>
            <a:r>
              <a:rPr lang="en-US" sz="3600" i="0" dirty="0" smtClean="0">
                <a:solidFill>
                  <a:schemeClr val="bg1"/>
                </a:solidFill>
              </a:rPr>
              <a:t>UML</a:t>
            </a:r>
            <a:endParaRPr lang="ru-RU" sz="3600" i="0" dirty="0" smtClean="0">
              <a:solidFill>
                <a:schemeClr val="bg1"/>
              </a:solidFill>
            </a:endParaRPr>
          </a:p>
        </p:txBody>
      </p:sp>
      <p:sp>
        <p:nvSpPr>
          <p:cNvPr id="4" name="Прямокутник 3"/>
          <p:cNvSpPr/>
          <p:nvPr/>
        </p:nvSpPr>
        <p:spPr>
          <a:xfrm>
            <a:off x="179512" y="1305342"/>
            <a:ext cx="8784976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100" dirty="0">
                <a:solidFill>
                  <a:srgbClr val="0000CC"/>
                </a:solidFill>
              </a:rPr>
              <a:t>2) </a:t>
            </a:r>
            <a:r>
              <a:rPr lang="ru-RU" sz="2100" dirty="0" err="1">
                <a:solidFill>
                  <a:srgbClr val="0000CC"/>
                </a:solidFill>
              </a:rPr>
              <a:t>Моделі</a:t>
            </a:r>
            <a:r>
              <a:rPr lang="ru-RU" sz="2100" dirty="0">
                <a:solidFill>
                  <a:srgbClr val="0000CC"/>
                </a:solidFill>
              </a:rPr>
              <a:t> </a:t>
            </a:r>
            <a:r>
              <a:rPr lang="ru-RU" sz="2100" dirty="0" err="1">
                <a:solidFill>
                  <a:srgbClr val="0000CC"/>
                </a:solidFill>
              </a:rPr>
              <a:t>поведінки</a:t>
            </a:r>
            <a:r>
              <a:rPr lang="ru-RU" sz="2100" dirty="0">
                <a:solidFill>
                  <a:srgbClr val="0000CC"/>
                </a:solidFill>
              </a:rPr>
              <a:t> (</a:t>
            </a:r>
            <a:r>
              <a:rPr lang="en-US" sz="2100" dirty="0">
                <a:solidFill>
                  <a:srgbClr val="0000CC"/>
                </a:solidFill>
              </a:rPr>
              <a:t>behavioral):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ru-RU" sz="2100" b="1" dirty="0" err="1" smtClean="0"/>
              <a:t>діаграмма</a:t>
            </a:r>
            <a:r>
              <a:rPr lang="ru-RU" sz="2100" b="1" dirty="0" smtClean="0"/>
              <a:t> </a:t>
            </a:r>
            <a:r>
              <a:rPr lang="ru-RU" sz="2100" b="1" dirty="0" err="1"/>
              <a:t>синхронізації</a:t>
            </a:r>
            <a:r>
              <a:rPr lang="ru-RU" sz="2100" b="1" dirty="0"/>
              <a:t> </a:t>
            </a:r>
            <a:r>
              <a:rPr lang="ru-RU" sz="2100" b="0" dirty="0"/>
              <a:t>(</a:t>
            </a:r>
            <a:r>
              <a:rPr lang="en-US" sz="2100" b="1" dirty="0"/>
              <a:t>timing diagram</a:t>
            </a:r>
            <a:r>
              <a:rPr lang="en-US" sz="2100" dirty="0"/>
              <a:t>) </a:t>
            </a:r>
            <a:r>
              <a:rPr lang="en-US" sz="2100" b="0" dirty="0"/>
              <a:t>- </a:t>
            </a:r>
            <a:r>
              <a:rPr lang="ru-RU" sz="2100" b="0" dirty="0" err="1"/>
              <a:t>альтернативне</a:t>
            </a:r>
            <a:r>
              <a:rPr lang="ru-RU" sz="2100" b="0" dirty="0"/>
              <a:t> </a:t>
            </a:r>
            <a:r>
              <a:rPr lang="ru-RU" sz="2100" b="0" dirty="0" err="1"/>
              <a:t>подання</a:t>
            </a:r>
            <a:r>
              <a:rPr lang="ru-RU" sz="2100" b="0" dirty="0"/>
              <a:t> </a:t>
            </a:r>
            <a:r>
              <a:rPr lang="ru-RU" sz="2100" b="0" dirty="0" err="1"/>
              <a:t>діаграми</a:t>
            </a:r>
            <a:r>
              <a:rPr lang="ru-RU" sz="2100" b="0" dirty="0"/>
              <a:t> </a:t>
            </a:r>
            <a:r>
              <a:rPr lang="ru-RU" sz="2100" b="0" dirty="0" err="1"/>
              <a:t>послідовності</a:t>
            </a:r>
            <a:r>
              <a:rPr lang="ru-RU" sz="2100" b="0" dirty="0"/>
              <a:t>, явно </a:t>
            </a:r>
            <a:r>
              <a:rPr lang="ru-RU" sz="2100" b="0" dirty="0" err="1"/>
              <a:t>показує</a:t>
            </a:r>
            <a:r>
              <a:rPr lang="ru-RU" sz="2100" b="0" dirty="0"/>
              <a:t> </a:t>
            </a:r>
            <a:r>
              <a:rPr lang="ru-RU" sz="2100" b="0" dirty="0" err="1"/>
              <a:t>зміни</a:t>
            </a:r>
            <a:r>
              <a:rPr lang="ru-RU" sz="2100" b="0" dirty="0"/>
              <a:t> стану на </a:t>
            </a:r>
            <a:r>
              <a:rPr lang="ru-RU" sz="2100" b="0" dirty="0" err="1"/>
              <a:t>лінії</a:t>
            </a:r>
            <a:r>
              <a:rPr lang="ru-RU" sz="2100" b="0" dirty="0"/>
              <a:t> </a:t>
            </a:r>
            <a:r>
              <a:rPr lang="ru-RU" sz="2100" b="0" dirty="0" err="1"/>
              <a:t>життя</a:t>
            </a:r>
            <a:r>
              <a:rPr lang="ru-RU" sz="2100" b="0" dirty="0"/>
              <a:t> </a:t>
            </a:r>
            <a:r>
              <a:rPr lang="ru-RU" sz="2100" b="0" dirty="0" err="1"/>
              <a:t>із</a:t>
            </a:r>
            <a:r>
              <a:rPr lang="ru-RU" sz="2100" b="0" dirty="0"/>
              <a:t> </a:t>
            </a:r>
            <a:r>
              <a:rPr lang="ru-RU" sz="2100" b="0" dirty="0" err="1"/>
              <a:t>заданою</a:t>
            </a:r>
            <a:r>
              <a:rPr lang="ru-RU" sz="2100" b="0" dirty="0"/>
              <a:t> шкалою часу;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ru-RU" sz="2100" b="1" dirty="0" err="1" smtClean="0"/>
              <a:t>діаграмми</a:t>
            </a:r>
            <a:r>
              <a:rPr lang="ru-RU" sz="2100" b="1" dirty="0" smtClean="0"/>
              <a:t> </a:t>
            </a:r>
            <a:r>
              <a:rPr lang="ru-RU" sz="2100" b="1" dirty="0" err="1"/>
              <a:t>станів</a:t>
            </a:r>
            <a:r>
              <a:rPr lang="ru-RU" sz="2100" b="1" dirty="0"/>
              <a:t> (</a:t>
            </a:r>
            <a:r>
              <a:rPr lang="en-US" sz="2100" b="1" dirty="0" err="1"/>
              <a:t>statechart</a:t>
            </a:r>
            <a:r>
              <a:rPr lang="en-US" sz="2100" b="1" dirty="0"/>
              <a:t> diagrams</a:t>
            </a:r>
            <a:r>
              <a:rPr lang="en-US" sz="2100" b="0" dirty="0"/>
              <a:t>) - </a:t>
            </a:r>
            <a:r>
              <a:rPr lang="ru-RU" sz="2100" b="0" dirty="0"/>
              <a:t>для </a:t>
            </a:r>
            <a:r>
              <a:rPr lang="ru-RU" sz="2100" b="0" dirty="0" err="1"/>
              <a:t>моделювання</a:t>
            </a:r>
            <a:r>
              <a:rPr lang="ru-RU" sz="2100" b="0" dirty="0"/>
              <a:t> </a:t>
            </a:r>
            <a:r>
              <a:rPr lang="ru-RU" sz="2100" b="0" dirty="0" err="1"/>
              <a:t>поведінки</a:t>
            </a:r>
            <a:r>
              <a:rPr lang="ru-RU" sz="2100" b="0" dirty="0"/>
              <a:t> </a:t>
            </a:r>
            <a:r>
              <a:rPr lang="ru-RU" sz="2100" b="0" dirty="0" err="1"/>
              <a:t>об'єктів</a:t>
            </a:r>
            <a:r>
              <a:rPr lang="ru-RU" sz="2100" b="0" dirty="0"/>
              <a:t> </a:t>
            </a:r>
            <a:r>
              <a:rPr lang="ru-RU" sz="2100" b="0" dirty="0" err="1"/>
              <a:t>системи</a:t>
            </a:r>
            <a:r>
              <a:rPr lang="ru-RU" sz="2100" b="0" dirty="0"/>
              <a:t> при </a:t>
            </a:r>
            <a:r>
              <a:rPr lang="ru-RU" sz="2100" b="0" dirty="0" err="1"/>
              <a:t>переході</a:t>
            </a:r>
            <a:r>
              <a:rPr lang="ru-RU" sz="2100" b="0" dirty="0"/>
              <a:t> з одного стану в </a:t>
            </a:r>
            <a:r>
              <a:rPr lang="ru-RU" sz="2100" b="0" dirty="0" err="1"/>
              <a:t>інший</a:t>
            </a:r>
            <a:r>
              <a:rPr lang="ru-RU" sz="2100" b="0" dirty="0"/>
              <a:t>;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ru-RU" sz="2100" b="1" dirty="0" err="1" smtClean="0"/>
              <a:t>діаграмми</a:t>
            </a:r>
            <a:r>
              <a:rPr lang="ru-RU" sz="2100" b="1" dirty="0" smtClean="0"/>
              <a:t> </a:t>
            </a:r>
            <a:r>
              <a:rPr lang="ru-RU" sz="2100" b="1" dirty="0" err="1"/>
              <a:t>діяльності</a:t>
            </a:r>
            <a:r>
              <a:rPr lang="ru-RU" sz="2100" b="1" dirty="0"/>
              <a:t> (</a:t>
            </a:r>
            <a:r>
              <a:rPr lang="en-US" sz="2100" b="1" dirty="0"/>
              <a:t>activity diagrams</a:t>
            </a:r>
            <a:r>
              <a:rPr lang="en-US" sz="2100" b="0" dirty="0"/>
              <a:t>) - </a:t>
            </a:r>
            <a:r>
              <a:rPr lang="ru-RU" sz="2100" b="0" dirty="0"/>
              <a:t>для </a:t>
            </a:r>
            <a:r>
              <a:rPr lang="ru-RU" sz="2100" b="0" dirty="0" err="1"/>
              <a:t>моделювання</a:t>
            </a:r>
            <a:r>
              <a:rPr lang="ru-RU" sz="2100" b="0" dirty="0"/>
              <a:t> </a:t>
            </a:r>
            <a:r>
              <a:rPr lang="ru-RU" sz="2100" b="0" dirty="0" err="1"/>
              <a:t>поведінки</a:t>
            </a:r>
            <a:r>
              <a:rPr lang="ru-RU" sz="2100" b="0" dirty="0"/>
              <a:t> </a:t>
            </a:r>
            <a:r>
              <a:rPr lang="ru-RU" sz="2100" b="0" dirty="0" err="1"/>
              <a:t>системи</a:t>
            </a:r>
            <a:r>
              <a:rPr lang="ru-RU" sz="2100" b="0" dirty="0"/>
              <a:t> в рамках </a:t>
            </a:r>
            <a:r>
              <a:rPr lang="ru-RU" sz="2100" b="0" dirty="0" err="1"/>
              <a:t>різних</a:t>
            </a:r>
            <a:r>
              <a:rPr lang="ru-RU" sz="2100" b="0" dirty="0"/>
              <a:t> </a:t>
            </a:r>
            <a:r>
              <a:rPr lang="ru-RU" sz="2100" b="0" dirty="0" err="1"/>
              <a:t>варіантів</a:t>
            </a:r>
            <a:r>
              <a:rPr lang="ru-RU" sz="2100" b="0" dirty="0"/>
              <a:t> </a:t>
            </a:r>
            <a:r>
              <a:rPr lang="ru-RU" sz="2100" b="0" dirty="0" err="1"/>
              <a:t>використання</a:t>
            </a:r>
            <a:r>
              <a:rPr lang="ru-RU" sz="2100" b="0" dirty="0"/>
              <a:t> </a:t>
            </a:r>
            <a:r>
              <a:rPr lang="ru-RU" sz="2100" b="0" dirty="0" smtClean="0"/>
              <a:t> </a:t>
            </a:r>
            <a:r>
              <a:rPr lang="ru-RU" sz="2100" b="0" dirty="0" err="1"/>
              <a:t>або</a:t>
            </a:r>
            <a:r>
              <a:rPr lang="ru-RU" sz="2100" b="0" dirty="0"/>
              <a:t> </a:t>
            </a:r>
            <a:r>
              <a:rPr lang="ru-RU" sz="2100" b="0" dirty="0" err="1"/>
              <a:t>потоків</a:t>
            </a:r>
            <a:r>
              <a:rPr lang="ru-RU" sz="2100" b="0" dirty="0"/>
              <a:t> </a:t>
            </a:r>
            <a:r>
              <a:rPr lang="ru-RU" sz="2100" b="0" dirty="0" err="1"/>
              <a:t>управління</a:t>
            </a:r>
            <a:r>
              <a:rPr lang="ru-RU" sz="2100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8547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366125" y="6597650"/>
            <a:ext cx="777875" cy="260350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/>
              <a:pPr/>
              <a:t>8</a:t>
            </a:fld>
            <a:endParaRPr lang="uk-UA" dirty="0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772816"/>
            <a:ext cx="8856984" cy="4248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03085" y="865973"/>
            <a:ext cx="84635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level of usage of the various UML diagrams in books, courses, tutorials, tools, and in the totality of the sources respectively </a:t>
            </a:r>
            <a:endParaRPr lang="uk-UA" dirty="0"/>
          </a:p>
        </p:txBody>
      </p:sp>
      <p:sp>
        <p:nvSpPr>
          <p:cNvPr id="5" name="TextBox 4"/>
          <p:cNvSpPr txBox="1"/>
          <p:nvPr/>
        </p:nvSpPr>
        <p:spPr>
          <a:xfrm>
            <a:off x="1681562" y="0"/>
            <a:ext cx="58528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b="1" dirty="0" smtClean="0">
                <a:solidFill>
                  <a:schemeClr val="bg1"/>
                </a:solidFill>
              </a:rPr>
              <a:t>Використання</a:t>
            </a:r>
            <a:r>
              <a:rPr lang="en-US" sz="3200" b="1" dirty="0" smtClean="0">
                <a:solidFill>
                  <a:schemeClr val="bg1"/>
                </a:solidFill>
              </a:rPr>
              <a:t> UML</a:t>
            </a:r>
            <a:r>
              <a:rPr lang="uk-UA" sz="3200" b="1" dirty="0" smtClean="0">
                <a:solidFill>
                  <a:schemeClr val="bg1"/>
                </a:solidFill>
              </a:rPr>
              <a:t> діаграм </a:t>
            </a:r>
            <a:endParaRPr lang="uk-UA" sz="3200" b="1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38122" y="6165304"/>
            <a:ext cx="59900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http://ceur-ws.org/Vol-1078/paper1.pdf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30402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366125" y="6597650"/>
            <a:ext cx="777875" cy="260350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/>
              <a:pPr/>
              <a:t>9</a:t>
            </a:fld>
            <a:endParaRPr lang="uk-UA" dirty="0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036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600" b="1" dirty="0" smtClean="0">
                <a:solidFill>
                  <a:schemeClr val="bg1"/>
                </a:solidFill>
              </a:rPr>
              <a:t>Архітектурний базис </a:t>
            </a:r>
            <a:r>
              <a:rPr lang="en-US" sz="3600" b="1" dirty="0" smtClean="0">
                <a:solidFill>
                  <a:schemeClr val="bg1"/>
                </a:solidFill>
              </a:rPr>
              <a:t>UML</a:t>
            </a:r>
            <a:r>
              <a:rPr lang="uk-UA" sz="3600" b="1" dirty="0" smtClean="0">
                <a:solidFill>
                  <a:schemeClr val="bg1"/>
                </a:solidFill>
              </a:rPr>
              <a:t> 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4" name="Прямокутник 3"/>
          <p:cNvSpPr/>
          <p:nvPr/>
        </p:nvSpPr>
        <p:spPr>
          <a:xfrm>
            <a:off x="53752" y="980728"/>
            <a:ext cx="89289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100" b="0" dirty="0" err="1"/>
              <a:t>Архітектурний</a:t>
            </a:r>
            <a:r>
              <a:rPr lang="ru-RU" sz="2100" b="0" dirty="0"/>
              <a:t> базис UML </a:t>
            </a:r>
            <a:r>
              <a:rPr lang="ru-RU" sz="2100" b="0" dirty="0" err="1"/>
              <a:t>визначає</a:t>
            </a:r>
            <a:r>
              <a:rPr lang="ru-RU" sz="2100" b="0" dirty="0"/>
              <a:t> </a:t>
            </a:r>
            <a:r>
              <a:rPr lang="ru-RU" sz="2100" b="0" dirty="0" err="1"/>
              <a:t>базові</a:t>
            </a:r>
            <a:r>
              <a:rPr lang="ru-RU" sz="2100" b="0" dirty="0"/>
              <a:t> </a:t>
            </a:r>
            <a:r>
              <a:rPr lang="ru-RU" sz="2100" b="0" dirty="0" err="1"/>
              <a:t>поняття</a:t>
            </a:r>
            <a:r>
              <a:rPr lang="ru-RU" sz="2100" b="0" dirty="0"/>
              <a:t>, </a:t>
            </a:r>
            <a:r>
              <a:rPr lang="ru-RU" sz="2100" b="0" dirty="0" err="1" smtClean="0"/>
              <a:t>якими</a:t>
            </a:r>
            <a:r>
              <a:rPr lang="ru-RU" sz="2100" b="0" dirty="0" smtClean="0"/>
              <a:t> </a:t>
            </a:r>
            <a:r>
              <a:rPr lang="ru-RU" sz="2100" b="0" dirty="0" err="1" smtClean="0"/>
              <a:t>оперує</a:t>
            </a:r>
            <a:r>
              <a:rPr lang="ru-RU" sz="2100" b="0" dirty="0" smtClean="0"/>
              <a:t> </a:t>
            </a:r>
            <a:r>
              <a:rPr lang="ru-RU" sz="2100" b="0" dirty="0" err="1"/>
              <a:t>мова</a:t>
            </a:r>
            <a:r>
              <a:rPr lang="ru-RU" sz="2100" b="0" dirty="0"/>
              <a:t>: </a:t>
            </a:r>
            <a:r>
              <a:rPr lang="ru-RU" sz="2100" b="1" i="1" dirty="0" err="1"/>
              <a:t>сутності</a:t>
            </a:r>
            <a:r>
              <a:rPr lang="ru-RU" sz="2100" b="1" dirty="0"/>
              <a:t>, </a:t>
            </a:r>
            <a:r>
              <a:rPr lang="ru-RU" sz="2100" b="1" i="1" dirty="0" err="1"/>
              <a:t>відношення</a:t>
            </a:r>
            <a:r>
              <a:rPr lang="ru-RU" sz="2100" b="1" i="1" dirty="0"/>
              <a:t> </a:t>
            </a:r>
            <a:r>
              <a:rPr lang="ru-RU" sz="2100" b="1" dirty="0"/>
              <a:t>та </a:t>
            </a:r>
            <a:r>
              <a:rPr lang="ru-RU" sz="2100" b="1" i="1" dirty="0" err="1"/>
              <a:t>діаграми</a:t>
            </a:r>
            <a:r>
              <a:rPr lang="ru-RU" sz="2100" b="1" i="1" dirty="0"/>
              <a:t>.</a:t>
            </a:r>
          </a:p>
          <a:p>
            <a:r>
              <a:rPr lang="ru-RU" sz="2100" b="1" i="1" dirty="0" err="1"/>
              <a:t>Сутності</a:t>
            </a:r>
            <a:r>
              <a:rPr lang="ru-RU" sz="2100" b="0" i="1" dirty="0"/>
              <a:t> - </a:t>
            </a:r>
            <a:r>
              <a:rPr lang="ru-RU" sz="2100" b="0" dirty="0" err="1"/>
              <a:t>ц</a:t>
            </a:r>
            <a:r>
              <a:rPr lang="ru-RU" sz="2100" b="0" dirty="0" err="1" smtClean="0"/>
              <a:t>е</a:t>
            </a:r>
            <a:r>
              <a:rPr lang="ru-RU" sz="2100" b="0" dirty="0" smtClean="0"/>
              <a:t> </a:t>
            </a:r>
            <a:r>
              <a:rPr lang="ru-RU" sz="2100" b="0" dirty="0" err="1"/>
              <a:t>певні</a:t>
            </a:r>
            <a:r>
              <a:rPr lang="ru-RU" sz="2100" b="0" dirty="0"/>
              <a:t> </a:t>
            </a:r>
            <a:r>
              <a:rPr lang="ru-RU" sz="2100" b="0" dirty="0" err="1"/>
              <a:t>абстракції</a:t>
            </a:r>
            <a:r>
              <a:rPr lang="ru-RU" sz="2100" b="0" dirty="0"/>
              <a:t>, </a:t>
            </a:r>
            <a:r>
              <a:rPr lang="ru-RU" sz="2100" b="0" dirty="0" err="1"/>
              <a:t>які</a:t>
            </a:r>
            <a:r>
              <a:rPr lang="ru-RU" sz="2100" b="0" dirty="0"/>
              <a:t> є </a:t>
            </a:r>
            <a:r>
              <a:rPr lang="ru-RU" sz="2100" b="0" dirty="0" err="1"/>
              <a:t>базовими</a:t>
            </a:r>
            <a:r>
              <a:rPr lang="ru-RU" sz="2100" b="0" dirty="0"/>
              <a:t> </a:t>
            </a:r>
            <a:r>
              <a:rPr lang="ru-RU" sz="2100" b="0" dirty="0" err="1" smtClean="0"/>
              <a:t>елементами</a:t>
            </a:r>
            <a:r>
              <a:rPr lang="ru-RU" sz="2100" b="0" dirty="0" smtClean="0"/>
              <a:t> моделей</a:t>
            </a:r>
            <a:r>
              <a:rPr lang="ru-RU" sz="2100" b="0" dirty="0"/>
              <a:t>. В UML є </a:t>
            </a:r>
            <a:r>
              <a:rPr lang="ru-RU" sz="2100" b="0" dirty="0" err="1"/>
              <a:t>чотири</a:t>
            </a:r>
            <a:r>
              <a:rPr lang="ru-RU" sz="2100" b="0" dirty="0"/>
              <a:t> </a:t>
            </a:r>
            <a:r>
              <a:rPr lang="ru-RU" sz="2100" b="0" dirty="0" err="1"/>
              <a:t>типи</a:t>
            </a:r>
            <a:r>
              <a:rPr lang="ru-RU" sz="2100" b="0" dirty="0"/>
              <a:t> </a:t>
            </a:r>
            <a:r>
              <a:rPr lang="ru-RU" sz="2100" b="0" dirty="0" err="1"/>
              <a:t>сутностей</a:t>
            </a:r>
            <a:r>
              <a:rPr lang="ru-RU" sz="2100" b="0" dirty="0"/>
              <a:t>: </a:t>
            </a:r>
            <a:endParaRPr lang="ru-RU" sz="2100" b="0" dirty="0" smtClean="0"/>
          </a:p>
          <a:p>
            <a:pPr marL="800100" lvl="1" indent="-342900">
              <a:buFont typeface="Wingdings" pitchFamily="2" charset="2"/>
              <a:buChar char="Ø"/>
            </a:pPr>
            <a:r>
              <a:rPr lang="ru-RU" sz="2100" b="0" i="1" dirty="0" err="1" smtClean="0">
                <a:solidFill>
                  <a:srgbClr val="0000CC"/>
                </a:solidFill>
              </a:rPr>
              <a:t>структурні</a:t>
            </a:r>
            <a:r>
              <a:rPr lang="ru-RU" sz="2100" b="0" i="1" dirty="0" smtClean="0"/>
              <a:t> </a:t>
            </a:r>
            <a:r>
              <a:rPr lang="ru-RU" sz="2100" b="0" dirty="0"/>
              <a:t>(</a:t>
            </a:r>
            <a:r>
              <a:rPr lang="ru-RU" sz="2100" b="0" dirty="0" err="1" smtClean="0"/>
              <a:t>актори</a:t>
            </a:r>
            <a:r>
              <a:rPr lang="ru-RU" sz="2100" b="0" dirty="0" smtClean="0"/>
              <a:t>, </a:t>
            </a:r>
            <a:r>
              <a:rPr lang="ru-RU" sz="2100" b="0" dirty="0" err="1" smtClean="0"/>
              <a:t>класи</a:t>
            </a:r>
            <a:r>
              <a:rPr lang="ru-RU" sz="2100" b="0" dirty="0"/>
              <a:t>, </a:t>
            </a:r>
            <a:r>
              <a:rPr lang="ru-RU" sz="2100" b="0" dirty="0" err="1"/>
              <a:t>інтерфейси</a:t>
            </a:r>
            <a:r>
              <a:rPr lang="ru-RU" sz="2100" b="0" dirty="0"/>
              <a:t>, </a:t>
            </a:r>
            <a:r>
              <a:rPr lang="ru-RU" sz="2100" b="0" dirty="0" err="1"/>
              <a:t>компоненти</a:t>
            </a:r>
            <a:r>
              <a:rPr lang="ru-RU" sz="2100" b="0" dirty="0"/>
              <a:t>, </a:t>
            </a:r>
            <a:r>
              <a:rPr lang="ru-RU" sz="2100" b="0" dirty="0" err="1"/>
              <a:t>вузли</a:t>
            </a:r>
            <a:r>
              <a:rPr lang="ru-RU" sz="2100" b="0" dirty="0" smtClean="0"/>
              <a:t>),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ru-RU" sz="2100" b="0" i="1" dirty="0" err="1" smtClean="0">
                <a:solidFill>
                  <a:srgbClr val="0000CC"/>
                </a:solidFill>
              </a:rPr>
              <a:t>поведінки</a:t>
            </a:r>
            <a:r>
              <a:rPr lang="ru-RU" sz="2100" b="0" i="1" dirty="0" smtClean="0"/>
              <a:t> </a:t>
            </a:r>
            <a:r>
              <a:rPr lang="ru-RU" sz="2100" b="0" dirty="0"/>
              <a:t>(</a:t>
            </a:r>
            <a:r>
              <a:rPr lang="ru-RU" sz="2100" b="0" dirty="0" err="1" smtClean="0"/>
              <a:t>преценденти</a:t>
            </a:r>
            <a:r>
              <a:rPr lang="ru-RU" sz="2100" b="0" dirty="0"/>
              <a:t>. </a:t>
            </a:r>
            <a:r>
              <a:rPr lang="ru-RU" sz="2100" b="0" dirty="0" err="1" smtClean="0"/>
              <a:t>діяльності</a:t>
            </a:r>
            <a:r>
              <a:rPr lang="ru-RU" sz="2100" b="0" dirty="0" smtClean="0"/>
              <a:t>, </a:t>
            </a:r>
            <a:r>
              <a:rPr lang="ru-RU" sz="2100" b="0" dirty="0" err="1" smtClean="0"/>
              <a:t>стани</a:t>
            </a:r>
            <a:r>
              <a:rPr lang="ru-RU" sz="2100" b="0" dirty="0" smtClean="0"/>
              <a:t> </a:t>
            </a:r>
            <a:r>
              <a:rPr lang="ru-RU" sz="2100" b="0" dirty="0"/>
              <a:t>і </a:t>
            </a:r>
            <a:r>
              <a:rPr lang="ru-RU" sz="2100" b="0" dirty="0" err="1"/>
              <a:t>повідомлення</a:t>
            </a:r>
            <a:r>
              <a:rPr lang="ru-RU" sz="2100" b="0" dirty="0" smtClean="0"/>
              <a:t>)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ru-RU" sz="2100" b="0" i="1" dirty="0" err="1" smtClean="0">
                <a:solidFill>
                  <a:srgbClr val="0000CC"/>
                </a:solidFill>
              </a:rPr>
              <a:t>групування</a:t>
            </a:r>
            <a:r>
              <a:rPr lang="ru-RU" sz="2100" b="0" i="1" dirty="0" smtClean="0">
                <a:solidFill>
                  <a:srgbClr val="0000CC"/>
                </a:solidFill>
              </a:rPr>
              <a:t> 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ru-RU" sz="2100" b="0" i="1" dirty="0" err="1" smtClean="0">
                <a:solidFill>
                  <a:srgbClr val="0000CC"/>
                </a:solidFill>
              </a:rPr>
              <a:t>анотаційні</a:t>
            </a:r>
            <a:r>
              <a:rPr lang="ru-RU" sz="2100" b="0" i="1" dirty="0" smtClean="0"/>
              <a:t>.</a:t>
            </a:r>
          </a:p>
          <a:p>
            <a:pPr marL="800100" lvl="1" indent="-342900">
              <a:buFont typeface="Wingdings" pitchFamily="2" charset="2"/>
              <a:buChar char="Ø"/>
            </a:pPr>
            <a:endParaRPr lang="ru-RU" sz="2100" b="0" i="1" dirty="0"/>
          </a:p>
          <a:p>
            <a:r>
              <a:rPr lang="ru-RU" sz="2100" b="1" dirty="0" err="1">
                <a:solidFill>
                  <a:srgbClr val="0000CC"/>
                </a:solidFill>
              </a:rPr>
              <a:t>Структурні</a:t>
            </a:r>
            <a:r>
              <a:rPr lang="ru-RU" sz="2100" b="1" dirty="0">
                <a:solidFill>
                  <a:srgbClr val="0000CC"/>
                </a:solidFill>
              </a:rPr>
              <a:t> </a:t>
            </a:r>
            <a:r>
              <a:rPr lang="ru-RU" sz="2100" b="1" dirty="0" err="1">
                <a:solidFill>
                  <a:srgbClr val="0000CC"/>
                </a:solidFill>
              </a:rPr>
              <a:t>сутності</a:t>
            </a:r>
            <a:r>
              <a:rPr lang="ru-RU" sz="2100" b="1" dirty="0">
                <a:solidFill>
                  <a:srgbClr val="0000CC"/>
                </a:solidFill>
              </a:rPr>
              <a:t> </a:t>
            </a:r>
            <a:r>
              <a:rPr lang="ru-RU" sz="2100" b="0" dirty="0"/>
              <a:t>- </a:t>
            </a:r>
            <a:r>
              <a:rPr lang="ru-RU" sz="2100" b="0" dirty="0" err="1"/>
              <a:t>це</a:t>
            </a:r>
            <a:r>
              <a:rPr lang="ru-RU" sz="2100" b="0" dirty="0"/>
              <a:t> </a:t>
            </a:r>
            <a:r>
              <a:rPr lang="ru-RU" sz="2100" b="0" dirty="0" err="1"/>
              <a:t>статичні</a:t>
            </a:r>
            <a:r>
              <a:rPr lang="ru-RU" sz="2100" b="0" dirty="0"/>
              <a:t> </a:t>
            </a:r>
            <a:r>
              <a:rPr lang="ru-RU" sz="2100" b="0" dirty="0" err="1"/>
              <a:t>поняття</a:t>
            </a:r>
            <a:r>
              <a:rPr lang="ru-RU" sz="2100" b="0" dirty="0"/>
              <a:t>, </a:t>
            </a:r>
            <a:r>
              <a:rPr lang="ru-RU" sz="2100" b="0" dirty="0" err="1"/>
              <a:t>які</a:t>
            </a:r>
            <a:r>
              <a:rPr lang="ru-RU" sz="2100" b="0" dirty="0"/>
              <a:t> </a:t>
            </a:r>
            <a:r>
              <a:rPr lang="ru-RU" sz="2100" b="0" dirty="0" err="1" smtClean="0"/>
              <a:t>відповідають</a:t>
            </a:r>
            <a:r>
              <a:rPr lang="ru-RU" sz="2100" b="0" dirty="0" smtClean="0"/>
              <a:t> </a:t>
            </a:r>
            <a:r>
              <a:rPr lang="ru-RU" sz="2100" b="0" dirty="0" err="1" smtClean="0"/>
              <a:t>концептуальним</a:t>
            </a:r>
            <a:r>
              <a:rPr lang="ru-RU" sz="2100" b="0" dirty="0"/>
              <a:t>, </a:t>
            </a:r>
            <a:r>
              <a:rPr lang="ru-RU" sz="2100" b="0" dirty="0" err="1"/>
              <a:t>логічним</a:t>
            </a:r>
            <a:r>
              <a:rPr lang="ru-RU" sz="2100" b="0" dirty="0"/>
              <a:t> </a:t>
            </a:r>
            <a:r>
              <a:rPr lang="ru-RU" sz="2100" b="0" dirty="0" err="1"/>
              <a:t>чи</a:t>
            </a:r>
            <a:r>
              <a:rPr lang="ru-RU" sz="2100" b="0" dirty="0"/>
              <a:t> </a:t>
            </a:r>
            <a:r>
              <a:rPr lang="ru-RU" sz="2100" b="0" dirty="0" err="1"/>
              <a:t>фізичним</a:t>
            </a:r>
            <a:r>
              <a:rPr lang="ru-RU" sz="2100" b="0" dirty="0"/>
              <a:t> </a:t>
            </a:r>
            <a:r>
              <a:rPr lang="ru-RU" sz="2100" b="0" dirty="0" err="1"/>
              <a:t>елементам</a:t>
            </a:r>
            <a:r>
              <a:rPr lang="ru-RU" sz="2100" b="0" dirty="0"/>
              <a:t> </a:t>
            </a:r>
            <a:r>
              <a:rPr lang="ru-RU" sz="2100" b="0" dirty="0" err="1"/>
              <a:t>системи</a:t>
            </a:r>
            <a:r>
              <a:rPr lang="ru-RU" sz="2100" b="0" dirty="0"/>
              <a:t>. </a:t>
            </a:r>
            <a:r>
              <a:rPr lang="ru-RU" sz="2100" b="0" dirty="0" err="1" smtClean="0"/>
              <a:t>Структурні</a:t>
            </a:r>
            <a:r>
              <a:rPr lang="ru-RU" sz="2100" b="0" dirty="0" smtClean="0"/>
              <a:t> </a:t>
            </a:r>
            <a:r>
              <a:rPr lang="ru-RU" sz="2100" b="0" dirty="0" err="1" smtClean="0"/>
              <a:t>сутності</a:t>
            </a:r>
            <a:r>
              <a:rPr lang="ru-RU" sz="2100" b="0" dirty="0"/>
              <a:t>, </a:t>
            </a:r>
            <a:r>
              <a:rPr lang="ru-RU" sz="2100" b="0" dirty="0" err="1"/>
              <a:t>зазвичай</a:t>
            </a:r>
            <a:r>
              <a:rPr lang="ru-RU" sz="2100" b="0" dirty="0"/>
              <a:t>, </a:t>
            </a:r>
            <a:r>
              <a:rPr lang="ru-RU" sz="2100" b="0" dirty="0" err="1"/>
              <a:t>позначають</a:t>
            </a:r>
            <a:r>
              <a:rPr lang="ru-RU" sz="2100" b="0" dirty="0"/>
              <a:t> </a:t>
            </a:r>
            <a:r>
              <a:rPr lang="ru-RU" sz="2100" b="0" i="1" dirty="0" err="1"/>
              <a:t>іменниками</a:t>
            </a:r>
            <a:r>
              <a:rPr lang="ru-RU" sz="2100" b="0" i="1" dirty="0"/>
              <a:t>. </a:t>
            </a:r>
            <a:endParaRPr lang="ru-RU" sz="2100" b="0" i="1" dirty="0" smtClean="0"/>
          </a:p>
        </p:txBody>
      </p:sp>
    </p:spTree>
    <p:extLst>
      <p:ext uri="{BB962C8B-B14F-4D97-AF65-F5344CB8AC3E}">
        <p14:creationId xmlns:p14="http://schemas.microsoft.com/office/powerpoint/2010/main" val="4264166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366125" y="6597650"/>
            <a:ext cx="777875" cy="260350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/>
              <a:pPr/>
              <a:t>10</a:t>
            </a:fld>
            <a:endParaRPr lang="uk-UA" dirty="0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036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600" b="1" dirty="0" smtClean="0">
                <a:solidFill>
                  <a:schemeClr val="bg1"/>
                </a:solidFill>
              </a:rPr>
              <a:t>Архітектурний базис </a:t>
            </a:r>
            <a:r>
              <a:rPr lang="en-US" sz="3600" b="1" dirty="0" smtClean="0">
                <a:solidFill>
                  <a:schemeClr val="bg1"/>
                </a:solidFill>
              </a:rPr>
              <a:t>UML</a:t>
            </a:r>
            <a:r>
              <a:rPr lang="uk-UA" sz="3600" b="1" dirty="0" smtClean="0">
                <a:solidFill>
                  <a:schemeClr val="bg1"/>
                </a:solidFill>
              </a:rPr>
              <a:t> 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4" name="Прямокутник 3"/>
          <p:cNvSpPr/>
          <p:nvPr/>
        </p:nvSpPr>
        <p:spPr>
          <a:xfrm>
            <a:off x="53752" y="980728"/>
            <a:ext cx="8928992" cy="429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100" b="0" dirty="0" err="1" smtClean="0"/>
              <a:t>Розрізняють</a:t>
            </a:r>
            <a:r>
              <a:rPr lang="ru-RU" sz="2100" b="0" dirty="0" smtClean="0"/>
              <a:t> </a:t>
            </a:r>
            <a:r>
              <a:rPr lang="ru-RU" sz="2100" b="0" dirty="0" err="1" smtClean="0"/>
              <a:t>п'ять</a:t>
            </a:r>
            <a:r>
              <a:rPr lang="ru-RU" sz="2100" b="0" dirty="0" smtClean="0"/>
              <a:t> </a:t>
            </a:r>
            <a:r>
              <a:rPr lang="ru-RU" sz="2100" b="0" i="1" dirty="0" err="1"/>
              <a:t>головних</a:t>
            </a:r>
            <a:r>
              <a:rPr lang="ru-RU" sz="2100" b="0" i="1" dirty="0"/>
              <a:t> </a:t>
            </a:r>
            <a:r>
              <a:rPr lang="ru-RU" sz="2100" b="0" dirty="0" err="1"/>
              <a:t>структурних</a:t>
            </a:r>
            <a:r>
              <a:rPr lang="ru-RU" sz="2100" b="0" dirty="0"/>
              <a:t> </a:t>
            </a:r>
            <a:r>
              <a:rPr lang="ru-RU" sz="2100" b="0" dirty="0" err="1"/>
              <a:t>сутностей</a:t>
            </a:r>
            <a:r>
              <a:rPr lang="ru-RU" sz="2100" b="0" dirty="0"/>
              <a:t>: </a:t>
            </a:r>
            <a:endParaRPr lang="ru-RU" sz="2100" b="0" dirty="0" smtClean="0"/>
          </a:p>
          <a:p>
            <a:pPr marL="1257300" lvl="2" indent="-342900">
              <a:buFont typeface="Wingdings" pitchFamily="2" charset="2"/>
              <a:buChar char="Ø"/>
            </a:pPr>
            <a:r>
              <a:rPr lang="ru-RU" sz="2100" b="0" i="1" dirty="0" err="1" smtClean="0"/>
              <a:t>актори</a:t>
            </a:r>
            <a:r>
              <a:rPr lang="ru-RU" sz="2100" b="0" dirty="0" smtClean="0"/>
              <a:t>,</a:t>
            </a:r>
          </a:p>
          <a:p>
            <a:pPr marL="1257300" lvl="2" indent="-342900">
              <a:buFont typeface="Wingdings" pitchFamily="2" charset="2"/>
              <a:buChar char="Ø"/>
            </a:pPr>
            <a:r>
              <a:rPr lang="ru-RU" sz="2100" b="0" i="1" dirty="0" err="1" smtClean="0"/>
              <a:t>класи</a:t>
            </a:r>
            <a:r>
              <a:rPr lang="ru-RU" sz="2100" b="0" dirty="0"/>
              <a:t>, </a:t>
            </a:r>
            <a:endParaRPr lang="ru-RU" sz="2100" b="0" dirty="0" smtClean="0"/>
          </a:p>
          <a:p>
            <a:pPr marL="1257300" lvl="2" indent="-342900">
              <a:buFont typeface="Wingdings" pitchFamily="2" charset="2"/>
              <a:buChar char="Ø"/>
            </a:pPr>
            <a:r>
              <a:rPr lang="ru-RU" sz="2100" b="0" i="1" dirty="0" err="1" smtClean="0"/>
              <a:t>інтерфейси</a:t>
            </a:r>
            <a:r>
              <a:rPr lang="ru-RU" sz="2100" b="0" i="1" dirty="0" smtClean="0"/>
              <a:t>.,</a:t>
            </a:r>
          </a:p>
          <a:p>
            <a:pPr marL="1257300" lvl="2" indent="-342900">
              <a:buFont typeface="Wingdings" pitchFamily="2" charset="2"/>
              <a:buChar char="Ø"/>
            </a:pPr>
            <a:r>
              <a:rPr lang="ru-RU" sz="2100" b="0" i="1" dirty="0" err="1" smtClean="0"/>
              <a:t>компоненти</a:t>
            </a:r>
            <a:r>
              <a:rPr lang="ru-RU" sz="2100" b="0" dirty="0"/>
              <a:t>, </a:t>
            </a:r>
            <a:endParaRPr lang="ru-RU" sz="2100" b="0" dirty="0" smtClean="0"/>
          </a:p>
          <a:p>
            <a:pPr marL="1257300" lvl="2" indent="-342900">
              <a:buFont typeface="Wingdings" pitchFamily="2" charset="2"/>
              <a:buChar char="Ø"/>
            </a:pPr>
            <a:r>
              <a:rPr lang="ru-RU" sz="2100" b="0" i="1" dirty="0" err="1" smtClean="0"/>
              <a:t>вузли</a:t>
            </a:r>
            <a:r>
              <a:rPr lang="ru-RU" sz="2100" b="0" i="1" dirty="0"/>
              <a:t>. </a:t>
            </a:r>
            <a:endParaRPr lang="ru-RU" sz="2100" b="0" i="1" dirty="0" smtClean="0"/>
          </a:p>
          <a:p>
            <a:pPr marL="1257300" lvl="2" indent="-342900">
              <a:buFont typeface="Wingdings" pitchFamily="2" charset="2"/>
              <a:buChar char="Ø"/>
            </a:pPr>
            <a:endParaRPr lang="ru-RU" sz="2100" b="0" i="1" dirty="0" smtClean="0"/>
          </a:p>
          <a:p>
            <a:r>
              <a:rPr lang="ru-RU" sz="2100" b="0" dirty="0" err="1" smtClean="0"/>
              <a:t>Кожна</a:t>
            </a:r>
            <a:r>
              <a:rPr lang="ru-RU" sz="2100" b="0" dirty="0" smtClean="0"/>
              <a:t> </a:t>
            </a:r>
            <a:r>
              <a:rPr lang="ru-RU" sz="2100" b="0" dirty="0"/>
              <a:t>з </a:t>
            </a:r>
            <a:r>
              <a:rPr lang="ru-RU" sz="2100" b="0" dirty="0" err="1"/>
              <a:t>сутностей</a:t>
            </a:r>
            <a:r>
              <a:rPr lang="ru-RU" sz="2100" b="0" dirty="0"/>
              <a:t> </a:t>
            </a:r>
            <a:r>
              <a:rPr lang="ru-RU" sz="2100" b="0" dirty="0" err="1"/>
              <a:t>може</a:t>
            </a:r>
            <a:r>
              <a:rPr lang="ru-RU" sz="2100" b="0" dirty="0"/>
              <a:t> </a:t>
            </a:r>
            <a:r>
              <a:rPr lang="ru-RU" sz="2100" b="0" dirty="0" err="1"/>
              <a:t>мати</a:t>
            </a:r>
            <a:r>
              <a:rPr lang="ru-RU" sz="2100" b="0" dirty="0"/>
              <a:t> </a:t>
            </a:r>
            <a:r>
              <a:rPr lang="ru-RU" sz="2100" b="0" dirty="0" err="1"/>
              <a:t>свої</a:t>
            </a:r>
            <a:r>
              <a:rPr lang="ru-RU" sz="2100" b="0" dirty="0"/>
              <a:t> </a:t>
            </a:r>
            <a:r>
              <a:rPr lang="ru-RU" sz="2100" b="0" dirty="0" err="1" smtClean="0"/>
              <a:t>підвиди</a:t>
            </a:r>
            <a:r>
              <a:rPr lang="ru-RU" sz="2100" b="0" dirty="0" smtClean="0"/>
              <a:t>.</a:t>
            </a:r>
          </a:p>
          <a:p>
            <a:endParaRPr lang="ru-RU" sz="2100" b="0" dirty="0"/>
          </a:p>
          <a:p>
            <a:r>
              <a:rPr lang="ru-RU" sz="2100" i="1" dirty="0" err="1">
                <a:solidFill>
                  <a:srgbClr val="0000CC"/>
                </a:solidFill>
              </a:rPr>
              <a:t>Актор</a:t>
            </a:r>
            <a:r>
              <a:rPr lang="ru-RU" sz="2100" b="0" i="1" dirty="0">
                <a:solidFill>
                  <a:srgbClr val="0000CC"/>
                </a:solidFill>
              </a:rPr>
              <a:t> </a:t>
            </a:r>
            <a:r>
              <a:rPr lang="ru-RU" sz="2100" b="0" dirty="0">
                <a:solidFill>
                  <a:srgbClr val="0000CC"/>
                </a:solidFill>
              </a:rPr>
              <a:t>(</a:t>
            </a:r>
            <a:r>
              <a:rPr lang="ru-RU" sz="2100" b="0" dirty="0" err="1">
                <a:solidFill>
                  <a:srgbClr val="0000CC"/>
                </a:solidFill>
              </a:rPr>
              <a:t>Actor</a:t>
            </a:r>
            <a:r>
              <a:rPr lang="ru-RU" sz="2100" b="0" dirty="0">
                <a:solidFill>
                  <a:srgbClr val="0000CC"/>
                </a:solidFill>
              </a:rPr>
              <a:t>) </a:t>
            </a:r>
            <a:r>
              <a:rPr lang="ru-RU" sz="2100" b="0" dirty="0"/>
              <a:t>- </a:t>
            </a:r>
            <a:r>
              <a:rPr lang="ru-RU" sz="2100" b="0" dirty="0" err="1"/>
              <a:t>це</a:t>
            </a:r>
            <a:r>
              <a:rPr lang="ru-RU" sz="2100" b="0" dirty="0"/>
              <a:t> </a:t>
            </a:r>
            <a:r>
              <a:rPr lang="ru-RU" sz="2100" b="0" dirty="0" err="1"/>
              <a:t>суб’єкт</a:t>
            </a:r>
            <a:r>
              <a:rPr lang="ru-RU" sz="2100" b="0" dirty="0"/>
              <a:t>, </a:t>
            </a:r>
            <a:r>
              <a:rPr lang="ru-RU" sz="2100" b="0" dirty="0" err="1"/>
              <a:t>який</a:t>
            </a:r>
            <a:r>
              <a:rPr lang="ru-RU" sz="2100" b="0" dirty="0"/>
              <a:t> </a:t>
            </a:r>
            <a:r>
              <a:rPr lang="ru-RU" sz="2100" b="0" dirty="0" err="1"/>
              <a:t>перебуває</a:t>
            </a:r>
            <a:r>
              <a:rPr lang="ru-RU" sz="2100" b="0" dirty="0"/>
              <a:t> поза </a:t>
            </a:r>
            <a:r>
              <a:rPr lang="ru-RU" sz="2100" b="0" dirty="0" smtClean="0"/>
              <a:t>системою, </a:t>
            </a:r>
            <a:r>
              <a:rPr lang="ru-RU" sz="2100" b="0" dirty="0" err="1" smtClean="0"/>
              <a:t>що</a:t>
            </a:r>
            <a:r>
              <a:rPr lang="ru-RU" sz="2100" b="0" dirty="0" smtClean="0"/>
              <a:t> </a:t>
            </a:r>
            <a:r>
              <a:rPr lang="ru-RU" sz="2100" b="0" dirty="0" err="1"/>
              <a:t>моделюється</a:t>
            </a:r>
            <a:r>
              <a:rPr lang="ru-RU" sz="2100" b="0" dirty="0"/>
              <a:t>, і </a:t>
            </a:r>
            <a:r>
              <a:rPr lang="ru-RU" sz="2100" b="0" dirty="0" err="1"/>
              <a:t>безпосередньо</a:t>
            </a:r>
            <a:r>
              <a:rPr lang="ru-RU" sz="2100" b="0" dirty="0"/>
              <a:t> з нею </a:t>
            </a:r>
            <a:r>
              <a:rPr lang="ru-RU" sz="2100" b="0" dirty="0" err="1"/>
              <a:t>взаємодіє</a:t>
            </a:r>
            <a:r>
              <a:rPr lang="ru-RU" sz="2100" b="0" dirty="0"/>
              <a:t>. </a:t>
            </a:r>
            <a:endParaRPr lang="ru-RU" sz="2100" b="0" dirty="0" smtClean="0"/>
          </a:p>
          <a:p>
            <a:r>
              <a:rPr lang="ru-RU" sz="2100" b="0" dirty="0" err="1" smtClean="0"/>
              <a:t>Графічно</a:t>
            </a:r>
            <a:r>
              <a:rPr lang="ru-RU" sz="2100" b="0" dirty="0" smtClean="0"/>
              <a:t> </a:t>
            </a:r>
            <a:r>
              <a:rPr lang="ru-RU" sz="2100" b="0" dirty="0" err="1" smtClean="0"/>
              <a:t>акторів</a:t>
            </a:r>
            <a:r>
              <a:rPr lang="ru-RU" sz="2100" b="0" dirty="0" smtClean="0"/>
              <a:t> </a:t>
            </a:r>
            <a:r>
              <a:rPr lang="ru-RU" sz="2100" b="0" dirty="0" err="1" smtClean="0"/>
              <a:t>зображають</a:t>
            </a:r>
            <a:r>
              <a:rPr lang="ru-RU" sz="2100" b="0" dirty="0" smtClean="0"/>
              <a:t> </a:t>
            </a:r>
            <a:r>
              <a:rPr lang="ru-RU" sz="2100" b="0" dirty="0"/>
              <a:t>значком “худа </a:t>
            </a:r>
            <a:r>
              <a:rPr lang="ru-RU" sz="2100" b="0" dirty="0" err="1"/>
              <a:t>людина</a:t>
            </a:r>
            <a:r>
              <a:rPr lang="ru-RU" sz="2100" b="0" dirty="0"/>
              <a:t>”, </a:t>
            </a:r>
            <a:r>
              <a:rPr lang="ru-RU" sz="2100" b="0" dirty="0" err="1"/>
              <a:t>під</a:t>
            </a:r>
            <a:r>
              <a:rPr lang="ru-RU" sz="2100" b="0" dirty="0"/>
              <a:t> </a:t>
            </a:r>
            <a:r>
              <a:rPr lang="ru-RU" sz="2100" b="0" dirty="0" err="1"/>
              <a:t>яким</a:t>
            </a:r>
            <a:r>
              <a:rPr lang="ru-RU" sz="2100" b="0" dirty="0"/>
              <a:t> </a:t>
            </a:r>
            <a:r>
              <a:rPr lang="ru-RU" sz="2100" b="0" dirty="0" err="1"/>
              <a:t>вказують</a:t>
            </a:r>
            <a:r>
              <a:rPr lang="ru-RU" sz="2100" b="0" dirty="0"/>
              <a:t> </a:t>
            </a:r>
            <a:r>
              <a:rPr lang="ru-RU" sz="2100" b="0" dirty="0" err="1"/>
              <a:t>ім'я</a:t>
            </a:r>
            <a:r>
              <a:rPr lang="ru-RU" sz="2100" b="0" dirty="0"/>
              <a:t> </a:t>
            </a:r>
            <a:r>
              <a:rPr lang="ru-RU" sz="2100" b="0" dirty="0" err="1"/>
              <a:t>актора</a:t>
            </a:r>
            <a:endParaRPr lang="ru-RU" sz="2100" dirty="0"/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5157192"/>
            <a:ext cx="762000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2892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/>
          <p:cNvSpPr/>
          <p:nvPr/>
        </p:nvSpPr>
        <p:spPr>
          <a:xfrm>
            <a:off x="179512" y="1028343"/>
            <a:ext cx="8712968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100" i="1" dirty="0" err="1">
                <a:solidFill>
                  <a:srgbClr val="0000CC"/>
                </a:solidFill>
              </a:rPr>
              <a:t>Клас</a:t>
            </a:r>
            <a:r>
              <a:rPr lang="ru-RU" sz="2100" i="1" dirty="0">
                <a:solidFill>
                  <a:srgbClr val="0000CC"/>
                </a:solidFill>
              </a:rPr>
              <a:t> </a:t>
            </a:r>
            <a:r>
              <a:rPr lang="ru-RU" sz="2100" dirty="0">
                <a:solidFill>
                  <a:srgbClr val="0000CC"/>
                </a:solidFill>
              </a:rPr>
              <a:t>(</a:t>
            </a:r>
            <a:r>
              <a:rPr lang="ru-RU" sz="2100" dirty="0" err="1">
                <a:solidFill>
                  <a:srgbClr val="0000CC"/>
                </a:solidFill>
              </a:rPr>
              <a:t>Class</a:t>
            </a:r>
            <a:r>
              <a:rPr lang="ru-RU" sz="2100" dirty="0">
                <a:solidFill>
                  <a:srgbClr val="0000CC"/>
                </a:solidFill>
              </a:rPr>
              <a:t>) </a:t>
            </a:r>
            <a:r>
              <a:rPr lang="ru-RU" sz="2100" b="0" dirty="0"/>
              <a:t>- </a:t>
            </a:r>
            <a:r>
              <a:rPr lang="ru-RU" sz="2100" b="0" dirty="0" err="1"/>
              <a:t>це</a:t>
            </a:r>
            <a:r>
              <a:rPr lang="ru-RU" sz="2100" b="0" dirty="0"/>
              <a:t> </a:t>
            </a:r>
            <a:r>
              <a:rPr lang="ru-RU" sz="2100" b="0" dirty="0" err="1"/>
              <a:t>сукупність</a:t>
            </a:r>
            <a:r>
              <a:rPr lang="ru-RU" sz="2100" b="0" dirty="0"/>
              <a:t> </a:t>
            </a:r>
            <a:r>
              <a:rPr lang="ru-RU" sz="2100" b="0" i="1" dirty="0" err="1"/>
              <a:t>однотипних</a:t>
            </a:r>
            <a:r>
              <a:rPr lang="ru-RU" sz="2100" b="0" i="1" dirty="0"/>
              <a:t> </a:t>
            </a:r>
            <a:r>
              <a:rPr lang="ru-RU" sz="2100" b="0" i="1" dirty="0" err="1"/>
              <a:t>сутностей</a:t>
            </a:r>
            <a:r>
              <a:rPr lang="ru-RU" sz="2100" b="0" i="1" dirty="0"/>
              <a:t> </a:t>
            </a:r>
            <a:r>
              <a:rPr lang="ru-RU" sz="2100" b="0" dirty="0" err="1"/>
              <a:t>предметної</a:t>
            </a:r>
            <a:endParaRPr lang="ru-RU" sz="2100" b="0" dirty="0"/>
          </a:p>
          <a:p>
            <a:r>
              <a:rPr lang="ru-RU" sz="2100" b="0" dirty="0" err="1"/>
              <a:t>області</a:t>
            </a:r>
            <a:r>
              <a:rPr lang="ru-RU" sz="2100" b="0" dirty="0"/>
              <a:t> (</a:t>
            </a:r>
            <a:r>
              <a:rPr lang="ru-RU" sz="2100" b="0" dirty="0" err="1"/>
              <a:t>і</a:t>
            </a:r>
            <a:r>
              <a:rPr lang="ru-RU" sz="2100" b="0" i="1" dirty="0" err="1"/>
              <a:t>об'єктів</a:t>
            </a:r>
            <a:r>
              <a:rPr lang="ru-RU" sz="2100" b="0" dirty="0"/>
              <a:t>) </a:t>
            </a:r>
            <a:r>
              <a:rPr lang="ru-RU" sz="2100" b="0" dirty="0" err="1"/>
              <a:t>зі</a:t>
            </a:r>
            <a:r>
              <a:rPr lang="ru-RU" sz="2100" b="0" dirty="0"/>
              <a:t> </a:t>
            </a:r>
            <a:r>
              <a:rPr lang="ru-RU" sz="2100" b="0" dirty="0" err="1"/>
              <a:t>спільними</a:t>
            </a:r>
            <a:r>
              <a:rPr lang="ru-RU" sz="2100" b="0" dirty="0"/>
              <a:t> атрибутами, </a:t>
            </a:r>
            <a:r>
              <a:rPr lang="ru-RU" sz="2100" b="0" dirty="0" err="1"/>
              <a:t>операціями</a:t>
            </a:r>
            <a:r>
              <a:rPr lang="ru-RU" sz="2100" b="0" dirty="0"/>
              <a:t>, </a:t>
            </a:r>
            <a:r>
              <a:rPr lang="ru-RU" sz="2100" b="0" dirty="0" err="1" smtClean="0"/>
              <a:t>відношеннями</a:t>
            </a:r>
            <a:r>
              <a:rPr lang="ru-RU" sz="2100" b="0" dirty="0" smtClean="0"/>
              <a:t> та </a:t>
            </a:r>
            <a:r>
              <a:rPr lang="ru-RU" sz="2100" b="0" dirty="0"/>
              <a:t>семантикою</a:t>
            </a:r>
            <a:r>
              <a:rPr lang="ru-RU" sz="2100" b="0" dirty="0" smtClean="0"/>
              <a:t>.</a:t>
            </a:r>
            <a:endParaRPr lang="ru-RU" sz="2100" b="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036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600" b="1" dirty="0" smtClean="0">
                <a:solidFill>
                  <a:schemeClr val="bg1"/>
                </a:solidFill>
              </a:rPr>
              <a:t>Архітектурний базис </a:t>
            </a:r>
            <a:r>
              <a:rPr lang="en-US" sz="3600" b="1" dirty="0" smtClean="0">
                <a:solidFill>
                  <a:schemeClr val="bg1"/>
                </a:solidFill>
              </a:rPr>
              <a:t>UML</a:t>
            </a:r>
            <a:r>
              <a:rPr lang="uk-UA" sz="3600" b="1" dirty="0" smtClean="0">
                <a:solidFill>
                  <a:schemeClr val="bg1"/>
                </a:solidFill>
              </a:rPr>
              <a:t> </a:t>
            </a:r>
            <a:endParaRPr lang="ru-RU" sz="3600" b="1" dirty="0">
              <a:solidFill>
                <a:schemeClr val="bg1"/>
              </a:solidFill>
            </a:endParaRPr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271" y="2353523"/>
            <a:ext cx="3077319" cy="250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Прямая со стрелкой 4"/>
          <p:cNvCxnSpPr/>
          <p:nvPr/>
        </p:nvCxnSpPr>
        <p:spPr>
          <a:xfrm>
            <a:off x="1668660" y="2472184"/>
            <a:ext cx="1593524" cy="147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1717589" y="3167316"/>
            <a:ext cx="1260639" cy="114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flipH="1">
            <a:off x="5313654" y="3604198"/>
            <a:ext cx="1830034" cy="345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43688" y="3407639"/>
            <a:ext cx="1608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smtClean="0"/>
              <a:t>Операції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399370" y="3001644"/>
            <a:ext cx="1608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smtClean="0"/>
              <a:t>Атрибути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288159" y="2250300"/>
            <a:ext cx="1608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smtClean="0"/>
              <a:t>Клас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7561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/>
          <p:cNvSpPr/>
          <p:nvPr/>
        </p:nvSpPr>
        <p:spPr>
          <a:xfrm>
            <a:off x="107504" y="1196752"/>
            <a:ext cx="892899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100" i="1" dirty="0" err="1">
                <a:solidFill>
                  <a:srgbClr val="0000CC"/>
                </a:solidFill>
              </a:rPr>
              <a:t>Об'єкти</a:t>
            </a:r>
            <a:r>
              <a:rPr lang="ru-RU" sz="2100" b="0" i="1" dirty="0">
                <a:solidFill>
                  <a:srgbClr val="0000CC"/>
                </a:solidFill>
              </a:rPr>
              <a:t> </a:t>
            </a:r>
            <a:r>
              <a:rPr lang="ru-RU" sz="2100" b="0" dirty="0">
                <a:solidFill>
                  <a:srgbClr val="0000CC"/>
                </a:solidFill>
              </a:rPr>
              <a:t>(</a:t>
            </a:r>
            <a:r>
              <a:rPr lang="ru-RU" sz="2100" b="0" dirty="0" err="1">
                <a:solidFill>
                  <a:srgbClr val="0000CC"/>
                </a:solidFill>
              </a:rPr>
              <a:t>Objects</a:t>
            </a:r>
            <a:r>
              <a:rPr lang="ru-RU" sz="2100" b="0" dirty="0">
                <a:solidFill>
                  <a:srgbClr val="0000CC"/>
                </a:solidFill>
              </a:rPr>
              <a:t>) </a:t>
            </a:r>
            <a:r>
              <a:rPr lang="ru-RU" sz="2100" b="0" dirty="0"/>
              <a:t>- </a:t>
            </a:r>
            <a:r>
              <a:rPr lang="ru-RU" sz="2100" b="0" dirty="0" err="1"/>
              <a:t>це</a:t>
            </a:r>
            <a:r>
              <a:rPr lang="ru-RU" sz="2100" b="0" dirty="0"/>
              <a:t> </a:t>
            </a:r>
            <a:r>
              <a:rPr lang="ru-RU" sz="2100" b="0" i="1" dirty="0" err="1"/>
              <a:t>екземпляри</a:t>
            </a:r>
            <a:r>
              <a:rPr lang="ru-RU" sz="2100" b="0" i="1" dirty="0"/>
              <a:t> </a:t>
            </a:r>
            <a:r>
              <a:rPr lang="ru-RU" sz="2100" b="0" i="1" dirty="0" err="1" smtClean="0"/>
              <a:t>класів</a:t>
            </a:r>
            <a:r>
              <a:rPr lang="ru-RU" sz="2100" b="0" i="1" dirty="0" smtClean="0"/>
              <a:t> </a:t>
            </a:r>
            <a:r>
              <a:rPr lang="ru-RU" sz="2100" b="0" dirty="0"/>
              <a:t>з </a:t>
            </a:r>
            <a:r>
              <a:rPr lang="ru-RU" sz="2100" b="0" dirty="0" err="1"/>
              <a:t>конкретними</a:t>
            </a:r>
            <a:r>
              <a:rPr lang="ru-RU" sz="2100" b="0" dirty="0"/>
              <a:t> </a:t>
            </a:r>
            <a:r>
              <a:rPr lang="ru-RU" sz="2100" b="0" dirty="0" err="1"/>
              <a:t>значеннями</a:t>
            </a:r>
            <a:endParaRPr lang="ru-RU" sz="2100" b="0" dirty="0"/>
          </a:p>
          <a:p>
            <a:r>
              <a:rPr lang="ru-RU" sz="2100" b="0" dirty="0" err="1"/>
              <a:t>атрибутів</a:t>
            </a:r>
            <a:r>
              <a:rPr lang="ru-RU" sz="2100" b="0" dirty="0"/>
              <a:t>. </a:t>
            </a:r>
            <a:endParaRPr lang="ru-RU" sz="2100" b="0" dirty="0" smtClean="0"/>
          </a:p>
          <a:p>
            <a:r>
              <a:rPr lang="ru-RU" sz="2100" b="0" dirty="0" err="1" smtClean="0"/>
              <a:t>Об’єкт</a:t>
            </a:r>
            <a:r>
              <a:rPr lang="ru-RU" sz="2100" b="0" dirty="0" smtClean="0"/>
              <a:t> </a:t>
            </a:r>
            <a:r>
              <a:rPr lang="ru-RU" sz="2100" b="0" dirty="0" err="1"/>
              <a:t>має</a:t>
            </a:r>
            <a:r>
              <a:rPr lang="ru-RU" sz="2100" b="0" dirty="0"/>
              <a:t> </a:t>
            </a:r>
            <a:r>
              <a:rPr lang="ru-RU" sz="2100" b="0" dirty="0" err="1"/>
              <a:t>зображення</a:t>
            </a:r>
            <a:r>
              <a:rPr lang="ru-RU" sz="2100" b="0" dirty="0"/>
              <a:t>, </a:t>
            </a:r>
            <a:r>
              <a:rPr lang="ru-RU" sz="2100" b="0" dirty="0" err="1"/>
              <a:t>подібне</a:t>
            </a:r>
            <a:r>
              <a:rPr lang="ru-RU" sz="2100" b="0" dirty="0"/>
              <a:t> до </a:t>
            </a:r>
            <a:r>
              <a:rPr lang="ru-RU" sz="2100" b="0" dirty="0" err="1" smtClean="0"/>
              <a:t>зображення</a:t>
            </a:r>
            <a:r>
              <a:rPr lang="ru-RU" sz="2100" b="0" dirty="0" smtClean="0"/>
              <a:t> </a:t>
            </a:r>
            <a:r>
              <a:rPr lang="ru-RU" sz="2100" b="0" dirty="0" err="1" smtClean="0"/>
              <a:t>класу</a:t>
            </a:r>
            <a:r>
              <a:rPr lang="ru-RU" sz="2100" b="0" dirty="0"/>
              <a:t>, </a:t>
            </a:r>
            <a:r>
              <a:rPr lang="ru-RU" sz="2100" b="0" dirty="0" err="1"/>
              <a:t>проте</a:t>
            </a:r>
            <a:r>
              <a:rPr lang="ru-RU" sz="2100" b="0" dirty="0"/>
              <a:t> </a:t>
            </a:r>
            <a:r>
              <a:rPr lang="ru-RU" sz="2100" b="0" dirty="0" err="1"/>
              <a:t>назву</a:t>
            </a:r>
            <a:r>
              <a:rPr lang="ru-RU" sz="2100" b="0" dirty="0"/>
              <a:t> </a:t>
            </a:r>
            <a:r>
              <a:rPr lang="ru-RU" sz="2100" b="0" dirty="0" err="1"/>
              <a:t>об’єкта</a:t>
            </a:r>
            <a:r>
              <a:rPr lang="ru-RU" sz="2100" b="0" dirty="0"/>
              <a:t> </a:t>
            </a:r>
            <a:r>
              <a:rPr lang="ru-RU" sz="2100" b="0" dirty="0" err="1" smtClean="0"/>
              <a:t>записують</a:t>
            </a:r>
            <a:r>
              <a:rPr lang="ru-RU" sz="2100" b="0" dirty="0" smtClean="0"/>
              <a:t> </a:t>
            </a:r>
            <a:r>
              <a:rPr lang="ru-RU" sz="2100" b="0" dirty="0"/>
              <a:t>у </a:t>
            </a:r>
            <a:r>
              <a:rPr lang="ru-RU" sz="2100" b="0" dirty="0" err="1"/>
              <a:t>вигляді</a:t>
            </a:r>
            <a:r>
              <a:rPr lang="ru-RU" sz="2100" b="0" dirty="0"/>
              <a:t>:</a:t>
            </a:r>
          </a:p>
          <a:p>
            <a:pPr algn="ctr"/>
            <a:r>
              <a:rPr lang="ru-RU" sz="2100" b="0" dirty="0">
                <a:solidFill>
                  <a:srgbClr val="0000CC"/>
                </a:solidFill>
              </a:rPr>
              <a:t>&lt;</a:t>
            </a:r>
            <a:r>
              <a:rPr lang="ru-RU" sz="2100" b="0" dirty="0" err="1">
                <a:solidFill>
                  <a:srgbClr val="0000CC"/>
                </a:solidFill>
              </a:rPr>
              <a:t>назва</a:t>
            </a:r>
            <a:r>
              <a:rPr lang="ru-RU" sz="2100" b="0" dirty="0">
                <a:solidFill>
                  <a:srgbClr val="0000CC"/>
                </a:solidFill>
              </a:rPr>
              <a:t> </a:t>
            </a:r>
            <a:r>
              <a:rPr lang="ru-RU" sz="2100" b="0" dirty="0" err="1">
                <a:solidFill>
                  <a:srgbClr val="0000CC"/>
                </a:solidFill>
              </a:rPr>
              <a:t>об’єкта</a:t>
            </a:r>
            <a:r>
              <a:rPr lang="ru-RU" sz="2100" b="0" dirty="0">
                <a:solidFill>
                  <a:srgbClr val="0000CC"/>
                </a:solidFill>
              </a:rPr>
              <a:t>&gt;:&lt;</a:t>
            </a:r>
            <a:r>
              <a:rPr lang="ru-RU" sz="2100" b="0" dirty="0" err="1">
                <a:solidFill>
                  <a:srgbClr val="0000CC"/>
                </a:solidFill>
              </a:rPr>
              <a:t>назва</a:t>
            </a:r>
            <a:r>
              <a:rPr lang="ru-RU" sz="2100" b="0" dirty="0">
                <a:solidFill>
                  <a:srgbClr val="0000CC"/>
                </a:solidFill>
              </a:rPr>
              <a:t> </a:t>
            </a:r>
            <a:r>
              <a:rPr lang="ru-RU" sz="2100" b="0" dirty="0" err="1">
                <a:solidFill>
                  <a:srgbClr val="0000CC"/>
                </a:solidFill>
              </a:rPr>
              <a:t>класу</a:t>
            </a:r>
            <a:r>
              <a:rPr lang="ru-RU" sz="2100" b="0" dirty="0">
                <a:solidFill>
                  <a:srgbClr val="0000CC"/>
                </a:solidFill>
              </a:rPr>
              <a:t>&gt;. </a:t>
            </a:r>
            <a:endParaRPr lang="ru-RU" sz="2100" b="0" dirty="0" smtClean="0">
              <a:solidFill>
                <a:srgbClr val="0000CC"/>
              </a:solidFill>
            </a:endParaRPr>
          </a:p>
          <a:p>
            <a:r>
              <a:rPr lang="ru-RU" sz="2100" b="0" dirty="0" err="1" smtClean="0"/>
              <a:t>Якщо</a:t>
            </a:r>
            <a:r>
              <a:rPr lang="ru-RU" sz="2100" b="0" dirty="0" smtClean="0"/>
              <a:t> </a:t>
            </a:r>
            <a:r>
              <a:rPr lang="ru-RU" sz="2100" b="0" dirty="0" err="1"/>
              <a:t>ідентифікація</a:t>
            </a:r>
            <a:r>
              <a:rPr lang="ru-RU" sz="2100" b="0" dirty="0"/>
              <a:t> </a:t>
            </a:r>
            <a:r>
              <a:rPr lang="ru-RU" sz="2100" b="0" dirty="0" err="1"/>
              <a:t>об’єкта</a:t>
            </a:r>
            <a:r>
              <a:rPr lang="ru-RU" sz="2100" b="0" dirty="0"/>
              <a:t> </a:t>
            </a:r>
            <a:r>
              <a:rPr lang="ru-RU" sz="2100" b="0" dirty="0" err="1" smtClean="0"/>
              <a:t>неважлива</a:t>
            </a:r>
            <a:r>
              <a:rPr lang="ru-RU" sz="2100" b="0" dirty="0" smtClean="0"/>
              <a:t>, то </a:t>
            </a:r>
            <a:r>
              <a:rPr lang="ru-RU" sz="2100" b="0" dirty="0" err="1"/>
              <a:t>вказують</a:t>
            </a:r>
            <a:r>
              <a:rPr lang="ru-RU" sz="2100" b="0" dirty="0"/>
              <a:t> </a:t>
            </a:r>
            <a:r>
              <a:rPr lang="ru-RU" sz="2100" b="0" dirty="0" err="1"/>
              <a:t>лише</a:t>
            </a:r>
            <a:r>
              <a:rPr lang="ru-RU" sz="2100" b="0" dirty="0"/>
              <a:t> </a:t>
            </a:r>
            <a:r>
              <a:rPr lang="ru-RU" sz="2100" b="0" dirty="0" err="1"/>
              <a:t>назву</a:t>
            </a:r>
            <a:r>
              <a:rPr lang="ru-RU" sz="2100" b="0" dirty="0"/>
              <a:t> </a:t>
            </a:r>
            <a:r>
              <a:rPr lang="ru-RU" sz="2100" b="0" dirty="0" err="1"/>
              <a:t>класу</a:t>
            </a:r>
            <a:r>
              <a:rPr lang="ru-RU" sz="2100" b="0" dirty="0"/>
              <a:t>, до </a:t>
            </a:r>
            <a:r>
              <a:rPr lang="ru-RU" sz="2100" b="0" dirty="0" err="1"/>
              <a:t>якого</a:t>
            </a:r>
            <a:r>
              <a:rPr lang="ru-RU" sz="2100" b="0" dirty="0"/>
              <a:t> </a:t>
            </a:r>
            <a:r>
              <a:rPr lang="ru-RU" sz="2100" b="0" dirty="0" err="1"/>
              <a:t>належить</a:t>
            </a:r>
            <a:r>
              <a:rPr lang="ru-RU" sz="2100" b="0" dirty="0"/>
              <a:t> </a:t>
            </a:r>
            <a:r>
              <a:rPr lang="ru-RU" sz="2100" b="0" dirty="0" err="1"/>
              <a:t>об’єкт</a:t>
            </a:r>
            <a:r>
              <a:rPr lang="ru-RU" sz="2100" b="0" dirty="0"/>
              <a:t>:</a:t>
            </a:r>
          </a:p>
          <a:p>
            <a:pPr algn="ctr"/>
            <a:r>
              <a:rPr lang="ru-RU" sz="2100" b="0" dirty="0">
                <a:solidFill>
                  <a:srgbClr val="0000CC"/>
                </a:solidFill>
              </a:rPr>
              <a:t>:&lt;</a:t>
            </a:r>
            <a:r>
              <a:rPr lang="ru-RU" sz="2100" b="0" dirty="0" err="1">
                <a:solidFill>
                  <a:srgbClr val="0000CC"/>
                </a:solidFill>
              </a:rPr>
              <a:t>назва</a:t>
            </a:r>
            <a:r>
              <a:rPr lang="ru-RU" sz="2100" b="0" dirty="0">
                <a:solidFill>
                  <a:srgbClr val="0000CC"/>
                </a:solidFill>
              </a:rPr>
              <a:t> </a:t>
            </a:r>
            <a:r>
              <a:rPr lang="ru-RU" sz="2100" b="0" dirty="0" err="1">
                <a:solidFill>
                  <a:srgbClr val="0000CC"/>
                </a:solidFill>
              </a:rPr>
              <a:t>класу</a:t>
            </a:r>
            <a:r>
              <a:rPr lang="ru-RU" sz="2100" b="0" dirty="0">
                <a:solidFill>
                  <a:srgbClr val="0000CC"/>
                </a:solidFill>
              </a:rPr>
              <a:t>&gt;. </a:t>
            </a:r>
            <a:endParaRPr lang="ru-RU" sz="2100" b="0" dirty="0" smtClean="0">
              <a:solidFill>
                <a:srgbClr val="0000CC"/>
              </a:solidFill>
            </a:endParaRPr>
          </a:p>
          <a:p>
            <a:r>
              <a:rPr lang="ru-RU" sz="2100" b="0" dirty="0" smtClean="0"/>
              <a:t>При </a:t>
            </a:r>
            <a:r>
              <a:rPr lang="ru-RU" sz="2100" b="0" dirty="0" err="1"/>
              <a:t>зображенні</a:t>
            </a:r>
            <a:r>
              <a:rPr lang="ru-RU" sz="2100" b="0" dirty="0"/>
              <a:t> </a:t>
            </a:r>
            <a:r>
              <a:rPr lang="ru-RU" sz="2100" b="0" dirty="0" err="1"/>
              <a:t>об’єктів</a:t>
            </a:r>
            <a:r>
              <a:rPr lang="ru-RU" sz="2100" b="0" dirty="0"/>
              <a:t> </a:t>
            </a:r>
            <a:r>
              <a:rPr lang="ru-RU" sz="2100" b="0" dirty="0" err="1"/>
              <a:t>секції</a:t>
            </a:r>
            <a:r>
              <a:rPr lang="ru-RU" sz="2100" b="0" dirty="0"/>
              <a:t> </a:t>
            </a:r>
            <a:r>
              <a:rPr lang="ru-RU" sz="2100" b="0" dirty="0" err="1"/>
              <a:t>атрибутів</a:t>
            </a:r>
            <a:r>
              <a:rPr lang="ru-RU" sz="2100" b="0" dirty="0"/>
              <a:t> </a:t>
            </a:r>
            <a:r>
              <a:rPr lang="ru-RU" sz="2100" b="0" dirty="0" smtClean="0"/>
              <a:t>та </a:t>
            </a:r>
            <a:r>
              <a:rPr lang="ru-RU" sz="2100" b="0" dirty="0" err="1" smtClean="0"/>
              <a:t>операцій</a:t>
            </a:r>
            <a:r>
              <a:rPr lang="ru-RU" sz="2100" b="0" dirty="0"/>
              <a:t>, </a:t>
            </a:r>
            <a:r>
              <a:rPr lang="ru-RU" sz="2100" b="0" dirty="0" err="1"/>
              <a:t>здебільшого</a:t>
            </a:r>
            <a:r>
              <a:rPr lang="ru-RU" sz="2100" b="0" dirty="0"/>
              <a:t>, </a:t>
            </a:r>
            <a:r>
              <a:rPr lang="ru-RU" sz="2100" b="0" dirty="0" err="1"/>
              <a:t>опускають</a:t>
            </a:r>
            <a:endParaRPr lang="ru-RU" sz="21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036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600" b="1" dirty="0" smtClean="0">
                <a:solidFill>
                  <a:schemeClr val="bg1"/>
                </a:solidFill>
              </a:rPr>
              <a:t>Архітектурний базис </a:t>
            </a:r>
            <a:r>
              <a:rPr lang="en-US" sz="3600" b="1" dirty="0" smtClean="0">
                <a:solidFill>
                  <a:schemeClr val="bg1"/>
                </a:solidFill>
              </a:rPr>
              <a:t>UML</a:t>
            </a:r>
            <a:r>
              <a:rPr lang="uk-UA" sz="3600" b="1" dirty="0" smtClean="0">
                <a:solidFill>
                  <a:schemeClr val="bg1"/>
                </a:solidFill>
              </a:rPr>
              <a:t> </a:t>
            </a:r>
            <a:endParaRPr lang="ru-RU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508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9036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600" b="1" dirty="0" smtClean="0">
                <a:solidFill>
                  <a:schemeClr val="bg1"/>
                </a:solidFill>
              </a:rPr>
              <a:t>Архітектурний базис </a:t>
            </a:r>
            <a:r>
              <a:rPr lang="en-US" sz="3600" b="1" dirty="0" smtClean="0">
                <a:solidFill>
                  <a:schemeClr val="bg1"/>
                </a:solidFill>
              </a:rPr>
              <a:t>UML</a:t>
            </a:r>
            <a:r>
              <a:rPr lang="uk-UA" sz="3600" b="1" dirty="0" smtClean="0">
                <a:solidFill>
                  <a:schemeClr val="bg1"/>
                </a:solidFill>
              </a:rPr>
              <a:t> 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2" name="Прямокутник 1"/>
          <p:cNvSpPr/>
          <p:nvPr/>
        </p:nvSpPr>
        <p:spPr>
          <a:xfrm>
            <a:off x="94308" y="980728"/>
            <a:ext cx="892899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100" i="1" dirty="0" err="1">
                <a:solidFill>
                  <a:srgbClr val="0000CC"/>
                </a:solidFill>
              </a:rPr>
              <a:t>Інтерфейс</a:t>
            </a:r>
            <a:r>
              <a:rPr lang="ru-RU" sz="2100" i="1" dirty="0">
                <a:solidFill>
                  <a:srgbClr val="0000CC"/>
                </a:solidFill>
              </a:rPr>
              <a:t> </a:t>
            </a:r>
            <a:r>
              <a:rPr lang="ru-RU" sz="2100" dirty="0">
                <a:solidFill>
                  <a:srgbClr val="0000CC"/>
                </a:solidFill>
              </a:rPr>
              <a:t>(</a:t>
            </a:r>
            <a:r>
              <a:rPr lang="en-US" sz="2100" dirty="0">
                <a:solidFill>
                  <a:srgbClr val="0000CC"/>
                </a:solidFill>
              </a:rPr>
              <a:t>Interface</a:t>
            </a:r>
            <a:r>
              <a:rPr lang="en-US" sz="2100" b="0" dirty="0"/>
              <a:t>) - </a:t>
            </a:r>
            <a:r>
              <a:rPr lang="ru-RU" sz="2100" b="0" dirty="0" err="1"/>
              <a:t>це</a:t>
            </a:r>
            <a:r>
              <a:rPr lang="ru-RU" sz="2100" b="0" dirty="0"/>
              <a:t> </a:t>
            </a:r>
            <a:r>
              <a:rPr lang="ru-RU" sz="2100" b="0" dirty="0" err="1"/>
              <a:t>сукупність</a:t>
            </a:r>
            <a:r>
              <a:rPr lang="ru-RU" sz="2100" b="0" dirty="0"/>
              <a:t> </a:t>
            </a:r>
            <a:r>
              <a:rPr lang="ru-RU" sz="2100" b="0" dirty="0" err="1"/>
              <a:t>операцій</a:t>
            </a:r>
            <a:r>
              <a:rPr lang="ru-RU" sz="2100" b="0" dirty="0"/>
              <a:t>, </a:t>
            </a:r>
            <a:r>
              <a:rPr lang="ru-RU" sz="2100" b="0" dirty="0" err="1"/>
              <a:t>що</a:t>
            </a:r>
            <a:r>
              <a:rPr lang="ru-RU" sz="2100" b="0" dirty="0"/>
              <a:t> </a:t>
            </a:r>
            <a:r>
              <a:rPr lang="ru-RU" sz="2100" b="0" dirty="0" err="1" smtClean="0"/>
              <a:t>формують</a:t>
            </a:r>
            <a:r>
              <a:rPr lang="ru-RU" sz="2100" b="0" dirty="0" smtClean="0"/>
              <a:t> </a:t>
            </a:r>
            <a:r>
              <a:rPr lang="ru-RU" sz="2100" b="0" dirty="0" err="1" smtClean="0"/>
              <a:t>деякий</a:t>
            </a:r>
            <a:r>
              <a:rPr lang="ru-RU" sz="2100" b="0" dirty="0" smtClean="0"/>
              <a:t> </a:t>
            </a:r>
            <a:r>
              <a:rPr lang="ru-RU" sz="2100" b="0" dirty="0" err="1"/>
              <a:t>сервіс</a:t>
            </a:r>
            <a:r>
              <a:rPr lang="ru-RU" sz="2100" b="0" dirty="0"/>
              <a:t>, </a:t>
            </a:r>
            <a:r>
              <a:rPr lang="ru-RU" sz="2100" b="0" dirty="0" err="1"/>
              <a:t>який</a:t>
            </a:r>
            <a:r>
              <a:rPr lang="ru-RU" sz="2100" b="0" dirty="0"/>
              <a:t> </a:t>
            </a:r>
            <a:r>
              <a:rPr lang="ru-RU" sz="2100" b="0" dirty="0" err="1"/>
              <a:t>надає</a:t>
            </a:r>
            <a:r>
              <a:rPr lang="ru-RU" sz="2100" b="0" dirty="0"/>
              <a:t> </a:t>
            </a:r>
            <a:r>
              <a:rPr lang="ru-RU" sz="2100" b="0" dirty="0" err="1"/>
              <a:t>клас</a:t>
            </a:r>
            <a:r>
              <a:rPr lang="ru-RU" sz="2100" b="0" dirty="0"/>
              <a:t> </a:t>
            </a:r>
            <a:r>
              <a:rPr lang="ru-RU" sz="2100" b="0" dirty="0" err="1"/>
              <a:t>чи</a:t>
            </a:r>
            <a:r>
              <a:rPr lang="ru-RU" sz="2100" b="0" dirty="0"/>
              <a:t> компонент. </a:t>
            </a:r>
            <a:endParaRPr lang="ru-RU" sz="2100" b="0" dirty="0" smtClean="0"/>
          </a:p>
          <a:p>
            <a:r>
              <a:rPr lang="ru-RU" sz="2100" b="0" dirty="0" err="1" smtClean="0"/>
              <a:t>Інтерфейс</a:t>
            </a:r>
            <a:r>
              <a:rPr lang="ru-RU" sz="2100" b="0" dirty="0" smtClean="0"/>
              <a:t> </a:t>
            </a:r>
            <a:r>
              <a:rPr lang="ru-RU" sz="2100" b="0" dirty="0" err="1"/>
              <a:t>лише</a:t>
            </a:r>
            <a:r>
              <a:rPr lang="ru-RU" sz="2100" b="0" dirty="0"/>
              <a:t> </a:t>
            </a:r>
            <a:r>
              <a:rPr lang="ru-RU" sz="2100" b="0" dirty="0" err="1" smtClean="0"/>
              <a:t>декларує</a:t>
            </a:r>
            <a:r>
              <a:rPr lang="ru-RU" sz="2100" b="0" dirty="0" smtClean="0"/>
              <a:t> </a:t>
            </a:r>
            <a:r>
              <a:rPr lang="ru-RU" sz="2100" b="0" dirty="0" err="1" smtClean="0"/>
              <a:t>операції</a:t>
            </a:r>
            <a:r>
              <a:rPr lang="ru-RU" sz="2100" b="0" dirty="0"/>
              <a:t>, а </a:t>
            </a:r>
            <a:r>
              <a:rPr lang="ru-RU" sz="2100" b="0" dirty="0" err="1"/>
              <a:t>реалізація</a:t>
            </a:r>
            <a:r>
              <a:rPr lang="ru-RU" sz="2100" b="0" dirty="0"/>
              <a:t> </a:t>
            </a:r>
            <a:r>
              <a:rPr lang="ru-RU" sz="2100" b="0" dirty="0" err="1"/>
              <a:t>операцій</a:t>
            </a:r>
            <a:r>
              <a:rPr lang="ru-RU" sz="2100" b="0" dirty="0"/>
              <a:t> </a:t>
            </a:r>
            <a:r>
              <a:rPr lang="ru-RU" sz="2100" b="0" dirty="0" err="1" smtClean="0"/>
              <a:t>покладається</a:t>
            </a:r>
            <a:r>
              <a:rPr lang="ru-RU" sz="2100" b="0" dirty="0" smtClean="0"/>
              <a:t> </a:t>
            </a:r>
            <a:r>
              <a:rPr lang="ru-RU" sz="2100" b="0" dirty="0"/>
              <a:t>на </a:t>
            </a:r>
            <a:r>
              <a:rPr lang="ru-RU" sz="2100" b="0" dirty="0" err="1"/>
              <a:t>клас</a:t>
            </a:r>
            <a:r>
              <a:rPr lang="ru-RU" sz="2100" b="0" dirty="0"/>
              <a:t> </a:t>
            </a:r>
            <a:r>
              <a:rPr lang="ru-RU" sz="2100" b="0" dirty="0" err="1" smtClean="0"/>
              <a:t>або</a:t>
            </a:r>
            <a:r>
              <a:rPr lang="ru-RU" sz="2100" b="0" dirty="0" smtClean="0"/>
              <a:t> компонент</a:t>
            </a:r>
            <a:r>
              <a:rPr lang="ru-RU" sz="2100" b="0" dirty="0"/>
              <a:t>, </a:t>
            </a:r>
            <a:r>
              <a:rPr lang="ru-RU" sz="2100" b="0" dirty="0" err="1"/>
              <a:t>який</a:t>
            </a:r>
            <a:r>
              <a:rPr lang="ru-RU" sz="2100" b="0" dirty="0"/>
              <a:t> </a:t>
            </a:r>
            <a:r>
              <a:rPr lang="ru-RU" sz="2100" b="0" dirty="0" err="1"/>
              <a:t>підтримує</a:t>
            </a:r>
            <a:r>
              <a:rPr lang="ru-RU" sz="2100" b="0" dirty="0"/>
              <a:t> </a:t>
            </a:r>
            <a:r>
              <a:rPr lang="ru-RU" sz="2100" b="0" dirty="0" err="1"/>
              <a:t>цей</a:t>
            </a:r>
            <a:r>
              <a:rPr lang="ru-RU" sz="2100" b="0" dirty="0"/>
              <a:t> </a:t>
            </a:r>
            <a:r>
              <a:rPr lang="ru-RU" sz="2100" b="0" dirty="0" err="1"/>
              <a:t>інтерфейс</a:t>
            </a:r>
            <a:r>
              <a:rPr lang="ru-RU" sz="2100" b="0" dirty="0"/>
              <a:t>. </a:t>
            </a:r>
            <a:endParaRPr lang="ru-RU" sz="2100" b="0" dirty="0" smtClean="0"/>
          </a:p>
          <a:p>
            <a:r>
              <a:rPr lang="ru-RU" sz="2100" b="0" dirty="0" err="1" smtClean="0"/>
              <a:t>Інтерфейси</a:t>
            </a:r>
            <a:r>
              <a:rPr lang="ru-RU" sz="2100" b="0" dirty="0" smtClean="0"/>
              <a:t> </a:t>
            </a:r>
            <a:r>
              <a:rPr lang="ru-RU" sz="2100" b="0" dirty="0" err="1" smtClean="0"/>
              <a:t>зображають</a:t>
            </a:r>
            <a:r>
              <a:rPr lang="ru-RU" sz="2100" b="0" dirty="0" smtClean="0"/>
              <a:t> колом, </a:t>
            </a:r>
            <a:r>
              <a:rPr lang="ru-RU" sz="2100" b="0" dirty="0" err="1" smtClean="0"/>
              <a:t>під</a:t>
            </a:r>
            <a:r>
              <a:rPr lang="ru-RU" sz="2100" b="0" dirty="0" smtClean="0"/>
              <a:t> </a:t>
            </a:r>
            <a:r>
              <a:rPr lang="ru-RU" sz="2100" b="0" dirty="0" err="1"/>
              <a:t>яким</a:t>
            </a:r>
            <a:r>
              <a:rPr lang="ru-RU" sz="2100" b="0" dirty="0"/>
              <a:t> </a:t>
            </a:r>
            <a:r>
              <a:rPr lang="ru-RU" sz="2100" b="0" dirty="0" err="1"/>
              <a:t>вказують</a:t>
            </a:r>
            <a:r>
              <a:rPr lang="ru-RU" sz="2100" b="0" dirty="0"/>
              <a:t> </a:t>
            </a:r>
            <a:r>
              <a:rPr lang="ru-RU" sz="2100" b="0" dirty="0" err="1"/>
              <a:t>назву</a:t>
            </a:r>
            <a:r>
              <a:rPr lang="ru-RU" sz="2100" b="0" dirty="0"/>
              <a:t> </a:t>
            </a:r>
            <a:r>
              <a:rPr lang="ru-RU" sz="2100" b="0" dirty="0" err="1" smtClean="0"/>
              <a:t>інтерфейсу</a:t>
            </a:r>
            <a:r>
              <a:rPr lang="ru-RU" sz="2100" b="0" dirty="0" smtClean="0"/>
              <a:t>.</a:t>
            </a:r>
          </a:p>
          <a:p>
            <a:endParaRPr lang="uk-UA" sz="2100" b="0" dirty="0"/>
          </a:p>
        </p:txBody>
      </p:sp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9416" y="5142110"/>
            <a:ext cx="3117680" cy="1167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34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5922" y="2708920"/>
            <a:ext cx="1290094" cy="853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кутник 3"/>
          <p:cNvSpPr/>
          <p:nvPr/>
        </p:nvSpPr>
        <p:spPr>
          <a:xfrm>
            <a:off x="269776" y="3428518"/>
            <a:ext cx="875352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100" i="1" dirty="0">
                <a:solidFill>
                  <a:srgbClr val="0000CC"/>
                </a:solidFill>
              </a:rPr>
              <a:t>Компонент </a:t>
            </a:r>
            <a:r>
              <a:rPr lang="ru-RU" sz="2100" dirty="0">
                <a:solidFill>
                  <a:srgbClr val="0000CC"/>
                </a:solidFill>
              </a:rPr>
              <a:t>(</a:t>
            </a:r>
            <a:r>
              <a:rPr lang="ru-RU" sz="2100" dirty="0" err="1">
                <a:solidFill>
                  <a:srgbClr val="0000CC"/>
                </a:solidFill>
              </a:rPr>
              <a:t>Component</a:t>
            </a:r>
            <a:r>
              <a:rPr lang="ru-RU" sz="2100" dirty="0">
                <a:solidFill>
                  <a:srgbClr val="0000CC"/>
                </a:solidFill>
              </a:rPr>
              <a:t>) </a:t>
            </a:r>
            <a:r>
              <a:rPr lang="ru-RU" sz="2100" b="0" dirty="0">
                <a:solidFill>
                  <a:srgbClr val="000000"/>
                </a:solidFill>
              </a:rPr>
              <a:t>- </a:t>
            </a:r>
            <a:r>
              <a:rPr lang="ru-RU" sz="2100" b="0" dirty="0" err="1">
                <a:solidFill>
                  <a:srgbClr val="000000"/>
                </a:solidFill>
              </a:rPr>
              <a:t>це</a:t>
            </a:r>
            <a:r>
              <a:rPr lang="ru-RU" sz="2100" b="0" dirty="0">
                <a:solidFill>
                  <a:srgbClr val="000000"/>
                </a:solidFill>
              </a:rPr>
              <a:t> </a:t>
            </a:r>
            <a:r>
              <a:rPr lang="ru-RU" sz="2100" b="0" dirty="0" err="1">
                <a:solidFill>
                  <a:srgbClr val="000000"/>
                </a:solidFill>
              </a:rPr>
              <a:t>фізично</a:t>
            </a:r>
            <a:r>
              <a:rPr lang="ru-RU" sz="2100" b="0" dirty="0">
                <a:solidFill>
                  <a:srgbClr val="000000"/>
                </a:solidFill>
              </a:rPr>
              <a:t> </a:t>
            </a:r>
            <a:r>
              <a:rPr lang="ru-RU" sz="2100" b="0" dirty="0" err="1">
                <a:solidFill>
                  <a:srgbClr val="000000"/>
                </a:solidFill>
              </a:rPr>
              <a:t>заміщувана</a:t>
            </a:r>
            <a:r>
              <a:rPr lang="ru-RU" sz="2100" b="0" dirty="0">
                <a:solidFill>
                  <a:srgbClr val="000000"/>
                </a:solidFill>
              </a:rPr>
              <a:t> </a:t>
            </a:r>
            <a:r>
              <a:rPr lang="ru-RU" sz="2100" b="0" dirty="0" err="1">
                <a:solidFill>
                  <a:srgbClr val="000000"/>
                </a:solidFill>
              </a:rPr>
              <a:t>частина</a:t>
            </a:r>
            <a:r>
              <a:rPr lang="ru-RU" sz="2100" b="0" dirty="0">
                <a:solidFill>
                  <a:srgbClr val="000000"/>
                </a:solidFill>
              </a:rPr>
              <a:t> </a:t>
            </a:r>
            <a:r>
              <a:rPr lang="ru-RU" sz="2100" b="0" dirty="0" err="1">
                <a:solidFill>
                  <a:srgbClr val="000000"/>
                </a:solidFill>
              </a:rPr>
              <a:t>системи</a:t>
            </a:r>
            <a:r>
              <a:rPr lang="ru-RU" sz="2100" b="0" dirty="0">
                <a:solidFill>
                  <a:srgbClr val="000000"/>
                </a:solidFill>
              </a:rPr>
              <a:t>, яка </a:t>
            </a:r>
            <a:r>
              <a:rPr lang="ru-RU" sz="2100" b="0" dirty="0" err="1">
                <a:solidFill>
                  <a:srgbClr val="000000"/>
                </a:solidFill>
              </a:rPr>
              <a:t>відповідає</a:t>
            </a:r>
            <a:r>
              <a:rPr lang="ru-RU" sz="2100" b="0" dirty="0">
                <a:solidFill>
                  <a:srgbClr val="000000"/>
                </a:solidFill>
              </a:rPr>
              <a:t> </a:t>
            </a:r>
            <a:r>
              <a:rPr lang="ru-RU" sz="2100" b="0" dirty="0" err="1">
                <a:solidFill>
                  <a:srgbClr val="000000"/>
                </a:solidFill>
              </a:rPr>
              <a:t>певному</a:t>
            </a:r>
            <a:r>
              <a:rPr lang="ru-RU" sz="2100" b="0" dirty="0">
                <a:solidFill>
                  <a:srgbClr val="000000"/>
                </a:solidFill>
              </a:rPr>
              <a:t> набору </a:t>
            </a:r>
            <a:r>
              <a:rPr lang="ru-RU" sz="2100" b="0" dirty="0" err="1">
                <a:solidFill>
                  <a:srgbClr val="000000"/>
                </a:solidFill>
              </a:rPr>
              <a:t>інтерфейсів</a:t>
            </a:r>
            <a:r>
              <a:rPr lang="ru-RU" sz="2100" b="0" dirty="0">
                <a:solidFill>
                  <a:srgbClr val="000000"/>
                </a:solidFill>
              </a:rPr>
              <a:t> і/</a:t>
            </a:r>
            <a:r>
              <a:rPr lang="ru-RU" sz="2100" b="0" dirty="0" err="1">
                <a:solidFill>
                  <a:srgbClr val="000000"/>
                </a:solidFill>
              </a:rPr>
              <a:t>або</a:t>
            </a:r>
            <a:r>
              <a:rPr lang="ru-RU" sz="2100" b="0" dirty="0">
                <a:solidFill>
                  <a:srgbClr val="000000"/>
                </a:solidFill>
              </a:rPr>
              <a:t> </a:t>
            </a:r>
            <a:r>
              <a:rPr lang="ru-RU" sz="2100" b="0" dirty="0" err="1">
                <a:solidFill>
                  <a:srgbClr val="000000"/>
                </a:solidFill>
              </a:rPr>
              <a:t>забезпечує</a:t>
            </a:r>
            <a:r>
              <a:rPr lang="ru-RU" sz="2100" b="0" dirty="0">
                <a:solidFill>
                  <a:srgbClr val="000000"/>
                </a:solidFill>
              </a:rPr>
              <a:t> </a:t>
            </a:r>
            <a:r>
              <a:rPr lang="ru-RU" sz="2100" b="0" dirty="0" err="1">
                <a:solidFill>
                  <a:srgbClr val="000000"/>
                </a:solidFill>
              </a:rPr>
              <a:t>реалізацію</a:t>
            </a:r>
            <a:r>
              <a:rPr lang="ru-RU" sz="2100" b="0" dirty="0">
                <a:solidFill>
                  <a:srgbClr val="000000"/>
                </a:solidFill>
              </a:rPr>
              <a:t> </a:t>
            </a:r>
            <a:r>
              <a:rPr lang="ru-RU" sz="2100" b="0" dirty="0" err="1">
                <a:solidFill>
                  <a:srgbClr val="000000"/>
                </a:solidFill>
              </a:rPr>
              <a:t>іншого</a:t>
            </a:r>
            <a:r>
              <a:rPr lang="ru-RU" sz="2100" b="0" dirty="0">
                <a:solidFill>
                  <a:srgbClr val="000000"/>
                </a:solidFill>
              </a:rPr>
              <a:t> набору </a:t>
            </a:r>
            <a:r>
              <a:rPr lang="ru-RU" sz="2100" b="0" dirty="0" err="1">
                <a:solidFill>
                  <a:srgbClr val="000000"/>
                </a:solidFill>
              </a:rPr>
              <a:t>інтерфейсів</a:t>
            </a:r>
            <a:r>
              <a:rPr lang="ru-RU" sz="2100" b="0" dirty="0">
                <a:solidFill>
                  <a:srgbClr val="000000"/>
                </a:solidFill>
              </a:rPr>
              <a:t>. </a:t>
            </a:r>
            <a:r>
              <a:rPr lang="ru-RU" sz="2100" b="0" dirty="0" err="1">
                <a:solidFill>
                  <a:srgbClr val="000000"/>
                </a:solidFill>
              </a:rPr>
              <a:t>Компоненти</a:t>
            </a:r>
            <a:r>
              <a:rPr lang="ru-RU" sz="2100" b="0" dirty="0">
                <a:solidFill>
                  <a:srgbClr val="000000"/>
                </a:solidFill>
              </a:rPr>
              <a:t> </a:t>
            </a:r>
            <a:r>
              <a:rPr lang="ru-RU" sz="2100" b="0" dirty="0" err="1">
                <a:solidFill>
                  <a:srgbClr val="000000"/>
                </a:solidFill>
              </a:rPr>
              <a:t>фізично</a:t>
            </a:r>
            <a:r>
              <a:rPr lang="ru-RU" sz="2100" b="0" dirty="0">
                <a:solidFill>
                  <a:srgbClr val="000000"/>
                </a:solidFill>
              </a:rPr>
              <a:t> </a:t>
            </a:r>
            <a:r>
              <a:rPr lang="ru-RU" sz="2100" b="0" dirty="0" err="1">
                <a:solidFill>
                  <a:srgbClr val="000000"/>
                </a:solidFill>
              </a:rPr>
              <a:t>існують</a:t>
            </a:r>
            <a:r>
              <a:rPr lang="ru-RU" sz="2100" b="0" dirty="0">
                <a:solidFill>
                  <a:srgbClr val="000000"/>
                </a:solidFill>
              </a:rPr>
              <a:t> </a:t>
            </a:r>
            <a:r>
              <a:rPr lang="ru-RU" sz="2100" b="0" dirty="0" err="1">
                <a:solidFill>
                  <a:srgbClr val="000000"/>
                </a:solidFill>
              </a:rPr>
              <a:t>під</a:t>
            </a:r>
            <a:r>
              <a:rPr lang="ru-RU" sz="2100" b="0" dirty="0">
                <a:solidFill>
                  <a:srgbClr val="000000"/>
                </a:solidFill>
              </a:rPr>
              <a:t> час </a:t>
            </a:r>
            <a:r>
              <a:rPr lang="ru-RU" sz="2100" b="0" dirty="0" err="1">
                <a:solidFill>
                  <a:srgbClr val="000000"/>
                </a:solidFill>
              </a:rPr>
              <a:t>виконання</a:t>
            </a:r>
            <a:r>
              <a:rPr lang="ru-RU" sz="2100" b="0" dirty="0">
                <a:solidFill>
                  <a:srgbClr val="000000"/>
                </a:solidFill>
              </a:rPr>
              <a:t> </a:t>
            </a:r>
            <a:r>
              <a:rPr lang="ru-RU" sz="2100" b="0" dirty="0" err="1">
                <a:solidFill>
                  <a:srgbClr val="000000"/>
                </a:solidFill>
              </a:rPr>
              <a:t>програми</a:t>
            </a:r>
            <a:r>
              <a:rPr lang="ru-RU" sz="2100" b="0" dirty="0">
                <a:solidFill>
                  <a:srgbClr val="000000"/>
                </a:solidFill>
              </a:rPr>
              <a:t>. </a:t>
            </a:r>
            <a:r>
              <a:rPr lang="ru-RU" sz="2100" b="0" dirty="0" err="1">
                <a:solidFill>
                  <a:srgbClr val="000000"/>
                </a:solidFill>
              </a:rPr>
              <a:t>Графічне</a:t>
            </a:r>
            <a:r>
              <a:rPr lang="ru-RU" sz="2100" b="0" dirty="0">
                <a:solidFill>
                  <a:srgbClr val="000000"/>
                </a:solidFill>
              </a:rPr>
              <a:t> </a:t>
            </a:r>
            <a:r>
              <a:rPr lang="ru-RU" sz="2100" b="0" dirty="0" err="1">
                <a:solidFill>
                  <a:srgbClr val="000000"/>
                </a:solidFill>
              </a:rPr>
              <a:t>зображення</a:t>
            </a:r>
            <a:r>
              <a:rPr lang="ru-RU" sz="2100" b="0" dirty="0">
                <a:solidFill>
                  <a:srgbClr val="000000"/>
                </a:solidFill>
              </a:rPr>
              <a:t> компонента - </a:t>
            </a:r>
            <a:r>
              <a:rPr lang="ru-RU" sz="2100" b="0" dirty="0" err="1">
                <a:solidFill>
                  <a:srgbClr val="000000"/>
                </a:solidFill>
              </a:rPr>
              <a:t>прямокутник</a:t>
            </a:r>
            <a:r>
              <a:rPr lang="ru-RU" sz="2100" b="0" dirty="0">
                <a:solidFill>
                  <a:srgbClr val="000000"/>
                </a:solidFill>
              </a:rPr>
              <a:t> з </a:t>
            </a:r>
            <a:r>
              <a:rPr lang="ru-RU" sz="2100" b="0" dirty="0" err="1">
                <a:solidFill>
                  <a:srgbClr val="000000"/>
                </a:solidFill>
              </a:rPr>
              <a:t>двома</a:t>
            </a:r>
            <a:r>
              <a:rPr lang="ru-RU" sz="2100" b="0" dirty="0">
                <a:solidFill>
                  <a:srgbClr val="000000"/>
                </a:solidFill>
              </a:rPr>
              <a:t> </a:t>
            </a:r>
            <a:r>
              <a:rPr lang="ru-RU" sz="2100" b="0" dirty="0" err="1">
                <a:solidFill>
                  <a:srgbClr val="000000"/>
                </a:solidFill>
              </a:rPr>
              <a:t>виступами</a:t>
            </a:r>
            <a:r>
              <a:rPr lang="ru-RU" sz="2100" b="0" dirty="0">
                <a:solidFill>
                  <a:srgbClr val="000000"/>
                </a:solidFill>
              </a:rPr>
              <a:t> з </a:t>
            </a:r>
            <a:r>
              <a:rPr lang="ru-RU" sz="2100" b="0" dirty="0" err="1">
                <a:solidFill>
                  <a:srgbClr val="000000"/>
                </a:solidFill>
              </a:rPr>
              <a:t>лівого</a:t>
            </a:r>
            <a:r>
              <a:rPr lang="ru-RU" sz="2100" b="0" dirty="0">
                <a:solidFill>
                  <a:srgbClr val="000000"/>
                </a:solidFill>
              </a:rPr>
              <a:t> боку і </a:t>
            </a:r>
            <a:r>
              <a:rPr lang="ru-RU" sz="2100" b="0" dirty="0" err="1">
                <a:solidFill>
                  <a:srgbClr val="000000"/>
                </a:solidFill>
              </a:rPr>
              <a:t>назвою</a:t>
            </a:r>
            <a:r>
              <a:rPr lang="ru-RU" sz="2100" b="0" dirty="0">
                <a:solidFill>
                  <a:srgbClr val="000000"/>
                </a:solidFill>
              </a:rPr>
              <a:t> </a:t>
            </a:r>
            <a:r>
              <a:rPr lang="ru-RU" sz="2100" b="0" dirty="0" err="1">
                <a:solidFill>
                  <a:srgbClr val="000000"/>
                </a:solidFill>
              </a:rPr>
              <a:t>усередині</a:t>
            </a:r>
            <a:endParaRPr lang="ru-RU" sz="21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713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366125" y="6597650"/>
            <a:ext cx="777875" cy="260350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/>
              <a:pPr/>
              <a:t>14</a:t>
            </a:fld>
            <a:endParaRPr lang="uk-UA" dirty="0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036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600" b="1" dirty="0" smtClean="0">
                <a:solidFill>
                  <a:schemeClr val="bg1"/>
                </a:solidFill>
              </a:rPr>
              <a:t>Архітектурний базис </a:t>
            </a:r>
            <a:r>
              <a:rPr lang="en-US" sz="3600" b="1" dirty="0" smtClean="0">
                <a:solidFill>
                  <a:schemeClr val="bg1"/>
                </a:solidFill>
              </a:rPr>
              <a:t>UML</a:t>
            </a:r>
            <a:r>
              <a:rPr lang="uk-UA" sz="3600" b="1" dirty="0" smtClean="0">
                <a:solidFill>
                  <a:schemeClr val="bg1"/>
                </a:solidFill>
              </a:rPr>
              <a:t> 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4" name="Прямокутник 3"/>
          <p:cNvSpPr/>
          <p:nvPr/>
        </p:nvSpPr>
        <p:spPr>
          <a:xfrm>
            <a:off x="107504" y="980728"/>
            <a:ext cx="892899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100" i="1" dirty="0" err="1">
                <a:solidFill>
                  <a:srgbClr val="0000CC"/>
                </a:solidFill>
              </a:rPr>
              <a:t>Вузол</a:t>
            </a:r>
            <a:r>
              <a:rPr lang="ru-RU" sz="2100" i="1" dirty="0">
                <a:solidFill>
                  <a:srgbClr val="0000CC"/>
                </a:solidFill>
              </a:rPr>
              <a:t> </a:t>
            </a:r>
            <a:r>
              <a:rPr lang="ru-RU" sz="2100" dirty="0">
                <a:solidFill>
                  <a:srgbClr val="0000CC"/>
                </a:solidFill>
              </a:rPr>
              <a:t>(</a:t>
            </a:r>
            <a:r>
              <a:rPr lang="ru-RU" sz="2100" dirty="0" err="1">
                <a:solidFill>
                  <a:srgbClr val="0000CC"/>
                </a:solidFill>
              </a:rPr>
              <a:t>Node</a:t>
            </a:r>
            <a:r>
              <a:rPr lang="ru-RU" sz="2100" dirty="0">
                <a:solidFill>
                  <a:srgbClr val="0000CC"/>
                </a:solidFill>
              </a:rPr>
              <a:t>) </a:t>
            </a:r>
            <a:r>
              <a:rPr lang="ru-RU" sz="2100" b="0" dirty="0"/>
              <a:t>- </a:t>
            </a:r>
            <a:r>
              <a:rPr lang="ru-RU" sz="2100" b="0" dirty="0" err="1"/>
              <a:t>це</a:t>
            </a:r>
            <a:r>
              <a:rPr lang="ru-RU" sz="2100" b="0" dirty="0"/>
              <a:t> </a:t>
            </a:r>
            <a:r>
              <a:rPr lang="ru-RU" sz="2100" b="0" dirty="0" err="1"/>
              <a:t>фізичний</a:t>
            </a:r>
            <a:r>
              <a:rPr lang="ru-RU" sz="2100" b="0" dirty="0"/>
              <a:t> </a:t>
            </a:r>
            <a:r>
              <a:rPr lang="ru-RU" sz="2100" b="0" dirty="0" err="1"/>
              <a:t>елемент</a:t>
            </a:r>
            <a:r>
              <a:rPr lang="ru-RU" sz="2100" b="0" dirty="0"/>
              <a:t> </a:t>
            </a:r>
            <a:r>
              <a:rPr lang="ru-RU" sz="2100" b="0" dirty="0" err="1"/>
              <a:t>системи</a:t>
            </a:r>
            <a:r>
              <a:rPr lang="ru-RU" sz="2100" b="0" dirty="0"/>
              <a:t>, </a:t>
            </a:r>
            <a:r>
              <a:rPr lang="ru-RU" sz="2100" b="0" dirty="0" err="1"/>
              <a:t>який</a:t>
            </a:r>
            <a:r>
              <a:rPr lang="ru-RU" sz="2100" b="0" dirty="0"/>
              <a:t> </a:t>
            </a:r>
            <a:r>
              <a:rPr lang="ru-RU" sz="2100" b="0" dirty="0" err="1"/>
              <a:t>існує</a:t>
            </a:r>
            <a:r>
              <a:rPr lang="ru-RU" sz="2100" b="0" dirty="0"/>
              <a:t> </a:t>
            </a:r>
            <a:r>
              <a:rPr lang="ru-RU" sz="2100" b="0" dirty="0" err="1" smtClean="0"/>
              <a:t>під</a:t>
            </a:r>
            <a:r>
              <a:rPr lang="ru-RU" sz="2100" b="0" dirty="0" smtClean="0"/>
              <a:t> час </a:t>
            </a:r>
            <a:r>
              <a:rPr lang="ru-RU" sz="2100" b="0" dirty="0" err="1"/>
              <a:t>виконання</a:t>
            </a:r>
            <a:r>
              <a:rPr lang="ru-RU" sz="2100" b="0" dirty="0"/>
              <a:t> </a:t>
            </a:r>
            <a:r>
              <a:rPr lang="ru-RU" sz="2100" b="0" dirty="0" err="1"/>
              <a:t>програми</a:t>
            </a:r>
            <a:r>
              <a:rPr lang="ru-RU" sz="2100" b="0" dirty="0"/>
              <a:t> і </a:t>
            </a:r>
            <a:r>
              <a:rPr lang="ru-RU" sz="2100" b="0" dirty="0" err="1"/>
              <a:t>представляє</a:t>
            </a:r>
            <a:r>
              <a:rPr lang="ru-RU" sz="2100" b="0" dirty="0"/>
              <a:t> </a:t>
            </a:r>
            <a:r>
              <a:rPr lang="ru-RU" sz="2100" b="0" dirty="0" err="1"/>
              <a:t>обчислювальний</a:t>
            </a:r>
            <a:r>
              <a:rPr lang="ru-RU" sz="2100" b="0" dirty="0"/>
              <a:t> ресурс</a:t>
            </a:r>
            <a:r>
              <a:rPr lang="ru-RU" sz="2100" b="0" dirty="0" smtClean="0"/>
              <a:t>.</a:t>
            </a:r>
          </a:p>
          <a:p>
            <a:r>
              <a:rPr lang="ru-RU" sz="2100" b="0" dirty="0" err="1" smtClean="0"/>
              <a:t>Вузли</a:t>
            </a:r>
            <a:r>
              <a:rPr lang="ru-RU" sz="2100" b="0" dirty="0" smtClean="0"/>
              <a:t> </a:t>
            </a:r>
            <a:r>
              <a:rPr lang="ru-RU" sz="2100" b="0" dirty="0" err="1"/>
              <a:t>зображають</a:t>
            </a:r>
            <a:r>
              <a:rPr lang="ru-RU" sz="2100" b="0" dirty="0"/>
              <a:t> кубом, в </a:t>
            </a:r>
            <a:r>
              <a:rPr lang="ru-RU" sz="2100" b="0" dirty="0" err="1"/>
              <a:t>якому</a:t>
            </a:r>
            <a:r>
              <a:rPr lang="ru-RU" sz="2100" b="0" dirty="0"/>
              <a:t> </a:t>
            </a:r>
            <a:r>
              <a:rPr lang="ru-RU" sz="2100" b="0" dirty="0" err="1"/>
              <a:t>вказується</a:t>
            </a:r>
            <a:r>
              <a:rPr lang="ru-RU" sz="2100" b="0" dirty="0"/>
              <a:t> </a:t>
            </a:r>
            <a:r>
              <a:rPr lang="ru-RU" sz="2100" b="0" dirty="0" err="1"/>
              <a:t>назва</a:t>
            </a:r>
            <a:r>
              <a:rPr lang="ru-RU" sz="2100" b="0" dirty="0"/>
              <a:t> </a:t>
            </a:r>
            <a:r>
              <a:rPr lang="ru-RU" sz="2100" b="0" dirty="0" err="1" smtClean="0"/>
              <a:t>вузла</a:t>
            </a:r>
            <a:r>
              <a:rPr lang="ru-RU" sz="2100" b="0" dirty="0" smtClean="0"/>
              <a:t>.</a:t>
            </a:r>
            <a:endParaRPr lang="ru-RU" sz="2100" b="0" dirty="0"/>
          </a:p>
          <a:p>
            <a:r>
              <a:rPr lang="ru-RU" sz="2100" b="0" dirty="0" err="1"/>
              <a:t>Вузол</a:t>
            </a:r>
            <a:r>
              <a:rPr lang="ru-RU" sz="2100" b="0" dirty="0"/>
              <a:t> </a:t>
            </a:r>
            <a:r>
              <a:rPr lang="ru-RU" sz="2100" b="0" dirty="0" err="1"/>
              <a:t>володіє</a:t>
            </a:r>
            <a:r>
              <a:rPr lang="ru-RU" sz="2100" b="0" dirty="0"/>
              <a:t> </a:t>
            </a:r>
            <a:r>
              <a:rPr lang="ru-RU" sz="2100" b="0" dirty="0" err="1"/>
              <a:t>певним</a:t>
            </a:r>
            <a:r>
              <a:rPr lang="ru-RU" sz="2100" b="0" dirty="0"/>
              <a:t> </a:t>
            </a:r>
            <a:r>
              <a:rPr lang="ru-RU" sz="2100" b="0" dirty="0" err="1"/>
              <a:t>обсягом</a:t>
            </a:r>
            <a:r>
              <a:rPr lang="ru-RU" sz="2100" b="0" dirty="0"/>
              <a:t> </a:t>
            </a:r>
            <a:r>
              <a:rPr lang="ru-RU" sz="2100" b="0" dirty="0" err="1"/>
              <a:t>пам’яті</a:t>
            </a:r>
            <a:r>
              <a:rPr lang="ru-RU" sz="2100" b="0" dirty="0"/>
              <a:t> і, </a:t>
            </a:r>
            <a:r>
              <a:rPr lang="ru-RU" sz="2100" b="0" dirty="0" err="1"/>
              <a:t>можливо</a:t>
            </a:r>
            <a:r>
              <a:rPr lang="ru-RU" sz="2100" b="0" dirty="0"/>
              <a:t>, </a:t>
            </a:r>
            <a:r>
              <a:rPr lang="ru-RU" sz="2100" b="0" dirty="0" err="1"/>
              <a:t>процесором</a:t>
            </a:r>
            <a:endParaRPr lang="ru-RU" sz="2100" dirty="0"/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7" y="2503184"/>
            <a:ext cx="1862882" cy="1330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кутник 4"/>
          <p:cNvSpPr/>
          <p:nvPr/>
        </p:nvSpPr>
        <p:spPr>
          <a:xfrm>
            <a:off x="251520" y="4149080"/>
            <a:ext cx="864096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100" b="0" dirty="0" err="1"/>
              <a:t>Вузли</a:t>
            </a:r>
            <a:r>
              <a:rPr lang="ru-RU" sz="2100" b="0" dirty="0"/>
              <a:t> </a:t>
            </a:r>
            <a:r>
              <a:rPr lang="ru-RU" sz="2100" b="0" dirty="0" err="1"/>
              <a:t>надають</a:t>
            </a:r>
            <a:r>
              <a:rPr lang="ru-RU" sz="2100" b="0" dirty="0"/>
              <a:t> </a:t>
            </a:r>
            <a:r>
              <a:rPr lang="ru-RU" sz="2100" b="0" dirty="0" err="1"/>
              <a:t>засоби</a:t>
            </a:r>
            <a:r>
              <a:rPr lang="ru-RU" sz="2100" b="0" dirty="0"/>
              <a:t> </a:t>
            </a:r>
            <a:r>
              <a:rPr lang="ru-RU" sz="2100" b="0" dirty="0" err="1"/>
              <a:t>фізичного</a:t>
            </a:r>
            <a:r>
              <a:rPr lang="ru-RU" sz="2100" b="0" dirty="0"/>
              <a:t> </a:t>
            </a:r>
            <a:r>
              <a:rPr lang="ru-RU" sz="2100" b="0" dirty="0" err="1"/>
              <a:t>розгортання</a:t>
            </a:r>
            <a:r>
              <a:rPr lang="ru-RU" sz="2100" b="0" dirty="0"/>
              <a:t> </a:t>
            </a:r>
            <a:r>
              <a:rPr lang="ru-RU" sz="2100" b="0" dirty="0" err="1"/>
              <a:t>компонентів</a:t>
            </a:r>
            <a:r>
              <a:rPr lang="ru-RU" sz="2100" b="0" dirty="0"/>
              <a:t>.</a:t>
            </a:r>
          </a:p>
          <a:p>
            <a:r>
              <a:rPr lang="ru-RU" sz="2100" b="0" dirty="0" err="1"/>
              <a:t>Найпоширеніший</a:t>
            </a:r>
            <a:r>
              <a:rPr lang="ru-RU" sz="2100" b="0" dirty="0"/>
              <a:t> приклад </a:t>
            </a:r>
            <a:r>
              <a:rPr lang="ru-RU" sz="2100" b="0" dirty="0" err="1"/>
              <a:t>використання</a:t>
            </a:r>
            <a:r>
              <a:rPr lang="ru-RU" sz="2100" b="0" dirty="0"/>
              <a:t> </a:t>
            </a:r>
            <a:r>
              <a:rPr lang="ru-RU" sz="2100" b="0" dirty="0" err="1"/>
              <a:t>вузлів</a:t>
            </a:r>
            <a:r>
              <a:rPr lang="ru-RU" sz="2100" b="0" dirty="0"/>
              <a:t> - </a:t>
            </a:r>
            <a:r>
              <a:rPr lang="ru-RU" sz="2100" b="0" dirty="0" err="1"/>
              <a:t>це</a:t>
            </a:r>
            <a:r>
              <a:rPr lang="ru-RU" sz="2100" b="0" dirty="0"/>
              <a:t> </a:t>
            </a:r>
            <a:r>
              <a:rPr lang="ru-RU" sz="2100" b="0" dirty="0" err="1" smtClean="0"/>
              <a:t>моделювання</a:t>
            </a:r>
            <a:r>
              <a:rPr lang="ru-RU" sz="2100" b="0" dirty="0" smtClean="0"/>
              <a:t> </a:t>
            </a:r>
            <a:r>
              <a:rPr lang="ru-RU" sz="2100" b="0" dirty="0" err="1" smtClean="0"/>
              <a:t>процесорів</a:t>
            </a:r>
            <a:r>
              <a:rPr lang="ru-RU" sz="2100" b="0" dirty="0" smtClean="0"/>
              <a:t> </a:t>
            </a:r>
            <a:r>
              <a:rPr lang="ru-RU" sz="2100" b="0" dirty="0"/>
              <a:t>і </a:t>
            </a:r>
            <a:r>
              <a:rPr lang="ru-RU" sz="2100" b="0" dirty="0" err="1"/>
              <a:t>пристроїв</a:t>
            </a:r>
            <a:r>
              <a:rPr lang="ru-RU" sz="2100" b="0" dirty="0"/>
              <a:t>, </a:t>
            </a:r>
            <a:r>
              <a:rPr lang="ru-RU" sz="2100" b="0" dirty="0" err="1"/>
              <a:t>які</a:t>
            </a:r>
            <a:r>
              <a:rPr lang="ru-RU" sz="2100" b="0" dirty="0"/>
              <a:t> </a:t>
            </a:r>
            <a:r>
              <a:rPr lang="ru-RU" sz="2100" b="0" dirty="0" err="1"/>
              <a:t>утворюють</a:t>
            </a:r>
            <a:r>
              <a:rPr lang="ru-RU" sz="2100" b="0" dirty="0"/>
              <a:t> </a:t>
            </a:r>
            <a:r>
              <a:rPr lang="ru-RU" sz="2100" b="0" dirty="0" err="1"/>
              <a:t>топологію</a:t>
            </a:r>
            <a:r>
              <a:rPr lang="ru-RU" sz="2100" b="0" dirty="0"/>
              <a:t> </a:t>
            </a:r>
            <a:r>
              <a:rPr lang="ru-RU" sz="2100" b="0" dirty="0" err="1"/>
              <a:t>автономної</a:t>
            </a:r>
            <a:r>
              <a:rPr lang="ru-RU" sz="2100" b="0" dirty="0"/>
              <a:t>, </a:t>
            </a:r>
            <a:r>
              <a:rPr lang="ru-RU" sz="2100" b="0" dirty="0" err="1" smtClean="0"/>
              <a:t>вбудованої</a:t>
            </a:r>
            <a:r>
              <a:rPr lang="ru-RU" sz="2100" b="0" dirty="0" smtClean="0"/>
              <a:t>, </a:t>
            </a:r>
            <a:r>
              <a:rPr lang="ru-RU" sz="2100" b="0" dirty="0" err="1" smtClean="0"/>
              <a:t>клієнт-серверної</a:t>
            </a:r>
            <a:r>
              <a:rPr lang="ru-RU" sz="2100" b="0" dirty="0" smtClean="0"/>
              <a:t> </a:t>
            </a:r>
            <a:r>
              <a:rPr lang="ru-RU" sz="2100" b="0" dirty="0" err="1"/>
              <a:t>чи</a:t>
            </a:r>
            <a:r>
              <a:rPr lang="ru-RU" sz="2100" b="0" dirty="0"/>
              <a:t> </a:t>
            </a:r>
            <a:r>
              <a:rPr lang="ru-RU" sz="2100" b="0" dirty="0" err="1"/>
              <a:t>розподіленої</a:t>
            </a:r>
            <a:r>
              <a:rPr lang="ru-RU" sz="2100" b="0" dirty="0"/>
              <a:t> </a:t>
            </a:r>
            <a:r>
              <a:rPr lang="ru-RU" sz="2100" b="0" dirty="0" err="1"/>
              <a:t>комп’ютерної</a:t>
            </a:r>
            <a:r>
              <a:rPr lang="ru-RU" sz="2100" b="0" dirty="0"/>
              <a:t> </a:t>
            </a:r>
            <a:r>
              <a:rPr lang="ru-RU" sz="2100" b="0" dirty="0" err="1"/>
              <a:t>системи</a:t>
            </a:r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3903386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366125" y="6597650"/>
            <a:ext cx="777875" cy="260350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/>
              <a:pPr/>
              <a:t>15</a:t>
            </a:fld>
            <a:endParaRPr lang="uk-UA" dirty="0"/>
          </a:p>
        </p:txBody>
      </p:sp>
      <p:sp>
        <p:nvSpPr>
          <p:cNvPr id="5" name="Прямокутник 4"/>
          <p:cNvSpPr/>
          <p:nvPr/>
        </p:nvSpPr>
        <p:spPr>
          <a:xfrm>
            <a:off x="179512" y="889844"/>
            <a:ext cx="885698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i="1" dirty="0" err="1">
                <a:solidFill>
                  <a:srgbClr val="0000CC"/>
                </a:solidFill>
              </a:rPr>
              <a:t>Діаграма</a:t>
            </a:r>
            <a:r>
              <a:rPr lang="ru-RU" sz="2200" i="1" dirty="0">
                <a:solidFill>
                  <a:srgbClr val="0000CC"/>
                </a:solidFill>
              </a:rPr>
              <a:t> </a:t>
            </a:r>
            <a:r>
              <a:rPr lang="ru-RU" sz="2200" i="1" dirty="0" err="1">
                <a:solidFill>
                  <a:srgbClr val="0000CC"/>
                </a:solidFill>
              </a:rPr>
              <a:t>прецедентів</a:t>
            </a:r>
            <a:r>
              <a:rPr lang="ru-RU" sz="2200" i="1" dirty="0">
                <a:solidFill>
                  <a:srgbClr val="0000CC"/>
                </a:solidFill>
              </a:rPr>
              <a:t> </a:t>
            </a:r>
            <a:r>
              <a:rPr lang="ru-RU" sz="2200" b="0" dirty="0"/>
              <a:t>- </a:t>
            </a:r>
            <a:r>
              <a:rPr lang="ru-RU" sz="2200" b="0" dirty="0" err="1"/>
              <a:t>це</a:t>
            </a:r>
            <a:r>
              <a:rPr lang="ru-RU" sz="2200" b="0" dirty="0"/>
              <a:t> </a:t>
            </a:r>
            <a:r>
              <a:rPr lang="ru-RU" sz="2200" b="0" dirty="0" err="1"/>
              <a:t>узагальнене</a:t>
            </a:r>
            <a:r>
              <a:rPr lang="ru-RU" sz="2200" b="0" dirty="0"/>
              <a:t> </a:t>
            </a:r>
            <a:r>
              <a:rPr lang="ru-RU" sz="2200" b="0" dirty="0" err="1" smtClean="0"/>
              <a:t>представлення</a:t>
            </a:r>
            <a:r>
              <a:rPr lang="ru-RU" sz="2200" b="0" dirty="0" smtClean="0"/>
              <a:t> </a:t>
            </a:r>
            <a:r>
              <a:rPr lang="ru-RU" sz="2200" b="0" dirty="0" err="1" smtClean="0"/>
              <a:t>функціонального</a:t>
            </a:r>
            <a:r>
              <a:rPr lang="ru-RU" sz="2200" b="0" dirty="0" smtClean="0"/>
              <a:t> </a:t>
            </a:r>
            <a:r>
              <a:rPr lang="ru-RU" sz="2200" b="0" dirty="0" err="1"/>
              <a:t>призначення</a:t>
            </a:r>
            <a:r>
              <a:rPr lang="ru-RU" sz="2200" b="0" dirty="0"/>
              <a:t> </a:t>
            </a:r>
            <a:r>
              <a:rPr lang="ru-RU" sz="2200" b="0" dirty="0" err="1"/>
              <a:t>системи</a:t>
            </a:r>
            <a:r>
              <a:rPr lang="ru-RU" sz="2200" b="0" dirty="0"/>
              <a:t>, яке </a:t>
            </a:r>
            <a:r>
              <a:rPr lang="ru-RU" sz="2200" b="0" dirty="0" err="1"/>
              <a:t>має</a:t>
            </a:r>
            <a:r>
              <a:rPr lang="ru-RU" sz="2200" b="0" dirty="0"/>
              <a:t> </a:t>
            </a:r>
            <a:r>
              <a:rPr lang="ru-RU" sz="2200" b="0" dirty="0" err="1"/>
              <a:t>відповідати</a:t>
            </a:r>
            <a:r>
              <a:rPr lang="ru-RU" sz="2200" b="0" dirty="0"/>
              <a:t> на </a:t>
            </a:r>
            <a:r>
              <a:rPr lang="ru-RU" sz="2200" b="0" dirty="0" smtClean="0"/>
              <a:t>головне </a:t>
            </a:r>
            <a:r>
              <a:rPr lang="ru-RU" sz="2200" b="0" dirty="0" err="1" smtClean="0"/>
              <a:t>питання</a:t>
            </a:r>
            <a:r>
              <a:rPr lang="ru-RU" sz="2200" b="0" dirty="0" smtClean="0"/>
              <a:t> </a:t>
            </a:r>
            <a:r>
              <a:rPr lang="ru-RU" sz="2200" b="0" dirty="0" err="1"/>
              <a:t>моделювання</a:t>
            </a:r>
            <a:r>
              <a:rPr lang="ru-RU" sz="2200" b="0" dirty="0"/>
              <a:t>: </a:t>
            </a:r>
            <a:r>
              <a:rPr lang="ru-RU" sz="2200" dirty="0" err="1" smtClean="0"/>
              <a:t>що</a:t>
            </a:r>
            <a:r>
              <a:rPr lang="ru-RU" sz="2200" dirty="0" smtClean="0"/>
              <a:t> </a:t>
            </a:r>
            <a:r>
              <a:rPr lang="ru-RU" sz="2200" dirty="0" err="1"/>
              <a:t>робить</a:t>
            </a:r>
            <a:r>
              <a:rPr lang="ru-RU" sz="2200" dirty="0"/>
              <a:t> система у </a:t>
            </a:r>
            <a:r>
              <a:rPr lang="ru-RU" sz="2200" dirty="0" err="1" smtClean="0"/>
              <a:t>зовнішньому</a:t>
            </a:r>
            <a:r>
              <a:rPr lang="ru-RU" sz="2200" dirty="0" smtClean="0"/>
              <a:t> </a:t>
            </a:r>
            <a:r>
              <a:rPr lang="ru-RU" sz="2200" dirty="0" err="1" smtClean="0"/>
              <a:t>світі</a:t>
            </a:r>
            <a:r>
              <a:rPr lang="ru-RU" sz="2200" dirty="0" smtClean="0"/>
              <a:t>?</a:t>
            </a:r>
          </a:p>
          <a:p>
            <a:endParaRPr lang="ru-RU" sz="2200" dirty="0"/>
          </a:p>
          <a:p>
            <a:r>
              <a:rPr lang="ru-RU" sz="2200" b="0" dirty="0"/>
              <a:t>На </a:t>
            </a:r>
            <a:r>
              <a:rPr lang="ru-RU" sz="2200" b="0" dirty="0" err="1"/>
              <a:t>діаграмі</a:t>
            </a:r>
            <a:r>
              <a:rPr lang="ru-RU" sz="2200" b="0" dirty="0"/>
              <a:t> </a:t>
            </a:r>
            <a:r>
              <a:rPr lang="ru-RU" sz="2200" b="0" dirty="0" err="1"/>
              <a:t>прецедентів</a:t>
            </a:r>
            <a:r>
              <a:rPr lang="ru-RU" sz="2200" b="0" dirty="0"/>
              <a:t> </a:t>
            </a:r>
            <a:r>
              <a:rPr lang="ru-RU" sz="2200" b="0" dirty="0" err="1"/>
              <a:t>застосовують</a:t>
            </a:r>
            <a:r>
              <a:rPr lang="ru-RU" sz="2200" b="0" dirty="0"/>
              <a:t> два </a:t>
            </a:r>
            <a:r>
              <a:rPr lang="ru-RU" sz="2200" b="0" dirty="0" err="1"/>
              <a:t>типи</a:t>
            </a:r>
            <a:r>
              <a:rPr lang="ru-RU" sz="2200" b="0" dirty="0"/>
              <a:t> </a:t>
            </a:r>
            <a:r>
              <a:rPr lang="ru-RU" sz="2200" dirty="0" err="1" smtClean="0"/>
              <a:t>базових</a:t>
            </a:r>
            <a:r>
              <a:rPr lang="ru-RU" sz="2200" dirty="0" smtClean="0"/>
              <a:t> </a:t>
            </a:r>
            <a:r>
              <a:rPr lang="ru-RU" sz="2200" dirty="0" err="1" smtClean="0"/>
              <a:t>сутностей</a:t>
            </a:r>
            <a:r>
              <a:rPr lang="ru-RU" sz="2200" dirty="0"/>
              <a:t>:</a:t>
            </a:r>
            <a:r>
              <a:rPr lang="ru-RU" sz="2200" b="0" dirty="0"/>
              <a:t> </a:t>
            </a:r>
            <a:endParaRPr lang="ru-RU" sz="2200" b="0" dirty="0" smtClean="0"/>
          </a:p>
          <a:p>
            <a:pPr marL="1257300" lvl="2" indent="-342900">
              <a:buFont typeface="Wingdings" pitchFamily="2" charset="2"/>
              <a:buChar char="Ø"/>
            </a:pPr>
            <a:r>
              <a:rPr lang="ru-RU" sz="2200" b="0" dirty="0" err="1" smtClean="0">
                <a:solidFill>
                  <a:srgbClr val="0000CC"/>
                </a:solidFill>
              </a:rPr>
              <a:t>варіанти</a:t>
            </a:r>
            <a:r>
              <a:rPr lang="ru-RU" sz="2200" b="0" dirty="0" smtClean="0">
                <a:solidFill>
                  <a:srgbClr val="0000CC"/>
                </a:solidFill>
              </a:rPr>
              <a:t> </a:t>
            </a:r>
            <a:r>
              <a:rPr lang="ru-RU" sz="2200" b="0" dirty="0" err="1">
                <a:solidFill>
                  <a:srgbClr val="0000CC"/>
                </a:solidFill>
              </a:rPr>
              <a:t>використання</a:t>
            </a:r>
            <a:r>
              <a:rPr lang="ru-RU" sz="2200" b="0" dirty="0">
                <a:solidFill>
                  <a:srgbClr val="0000CC"/>
                </a:solidFill>
              </a:rPr>
              <a:t> </a:t>
            </a:r>
            <a:r>
              <a:rPr lang="ru-RU" sz="2200" b="0" dirty="0" smtClean="0">
                <a:solidFill>
                  <a:srgbClr val="0000CC"/>
                </a:solidFill>
              </a:rPr>
              <a:t>(</a:t>
            </a:r>
            <a:r>
              <a:rPr lang="ru-RU" sz="2200" b="0" i="1" dirty="0" err="1" smtClean="0">
                <a:solidFill>
                  <a:srgbClr val="0000CC"/>
                </a:solidFill>
              </a:rPr>
              <a:t>прецеденти</a:t>
            </a:r>
            <a:r>
              <a:rPr lang="ru-RU" sz="2200" b="0" dirty="0">
                <a:solidFill>
                  <a:srgbClr val="0000CC"/>
                </a:solidFill>
              </a:rPr>
              <a:t>) </a:t>
            </a:r>
            <a:endParaRPr lang="ru-RU" sz="2200" b="0" dirty="0" smtClean="0">
              <a:solidFill>
                <a:srgbClr val="0000CC"/>
              </a:solidFill>
            </a:endParaRPr>
          </a:p>
          <a:p>
            <a:pPr marL="1257300" lvl="2" indent="-342900">
              <a:buFont typeface="Wingdings" pitchFamily="2" charset="2"/>
              <a:buChar char="Ø"/>
            </a:pPr>
            <a:r>
              <a:rPr lang="ru-RU" sz="2200" b="0" dirty="0" err="1" smtClean="0">
                <a:solidFill>
                  <a:srgbClr val="0000CC"/>
                </a:solidFill>
              </a:rPr>
              <a:t>діючі</a:t>
            </a:r>
            <a:r>
              <a:rPr lang="ru-RU" sz="2200" b="0" dirty="0" smtClean="0">
                <a:solidFill>
                  <a:srgbClr val="0000CC"/>
                </a:solidFill>
              </a:rPr>
              <a:t> </a:t>
            </a:r>
            <a:r>
              <a:rPr lang="ru-RU" sz="2200" b="0" dirty="0">
                <a:solidFill>
                  <a:srgbClr val="0000CC"/>
                </a:solidFill>
              </a:rPr>
              <a:t>особи </a:t>
            </a:r>
            <a:r>
              <a:rPr lang="ru-RU" sz="2200" b="0" i="1" dirty="0">
                <a:solidFill>
                  <a:srgbClr val="0000CC"/>
                </a:solidFill>
              </a:rPr>
              <a:t>(</a:t>
            </a:r>
            <a:r>
              <a:rPr lang="ru-RU" sz="2200" b="0" i="1" dirty="0" err="1">
                <a:solidFill>
                  <a:srgbClr val="0000CC"/>
                </a:solidFill>
              </a:rPr>
              <a:t>актори</a:t>
            </a:r>
            <a:r>
              <a:rPr lang="ru-RU" sz="2200" b="0" i="1" dirty="0" smtClean="0">
                <a:solidFill>
                  <a:srgbClr val="0000CC"/>
                </a:solidFill>
              </a:rPr>
              <a:t>), </a:t>
            </a:r>
          </a:p>
          <a:p>
            <a:r>
              <a:rPr lang="ru-RU" sz="2200" b="0" dirty="0" err="1" smtClean="0"/>
              <a:t>між</a:t>
            </a:r>
            <a:r>
              <a:rPr lang="ru-RU" sz="2200" b="0" dirty="0" smtClean="0"/>
              <a:t> </a:t>
            </a:r>
            <a:r>
              <a:rPr lang="ru-RU" sz="2200" b="0" dirty="0" err="1"/>
              <a:t>якими</a:t>
            </a:r>
            <a:r>
              <a:rPr lang="ru-RU" sz="2200" b="0" dirty="0"/>
              <a:t> </a:t>
            </a:r>
            <a:r>
              <a:rPr lang="ru-RU" sz="2200" b="0" dirty="0" err="1"/>
              <a:t>встановлюють</a:t>
            </a:r>
            <a:r>
              <a:rPr lang="ru-RU" sz="2200" b="0" dirty="0"/>
              <a:t> </a:t>
            </a:r>
            <a:r>
              <a:rPr lang="ru-RU" sz="2200" b="0" dirty="0" err="1"/>
              <a:t>такі</a:t>
            </a:r>
            <a:r>
              <a:rPr lang="ru-RU" sz="2200" b="0" dirty="0"/>
              <a:t> </a:t>
            </a:r>
            <a:r>
              <a:rPr lang="ru-RU" sz="2200" dirty="0" err="1"/>
              <a:t>типи</a:t>
            </a:r>
            <a:r>
              <a:rPr lang="ru-RU" sz="2200" dirty="0"/>
              <a:t> </a:t>
            </a:r>
            <a:r>
              <a:rPr lang="ru-RU" sz="2200" dirty="0" err="1"/>
              <a:t>відношень</a:t>
            </a:r>
            <a:r>
              <a:rPr lang="ru-RU" sz="2200" b="0" dirty="0"/>
              <a:t>:</a:t>
            </a:r>
          </a:p>
          <a:p>
            <a:pPr marL="1257300" lvl="2" indent="-342900">
              <a:buFont typeface="Wingdings" pitchFamily="2" charset="2"/>
              <a:buChar char="q"/>
            </a:pPr>
            <a:r>
              <a:rPr lang="ru-RU" sz="2200" b="0" dirty="0" err="1" smtClean="0">
                <a:solidFill>
                  <a:srgbClr val="990000"/>
                </a:solidFill>
              </a:rPr>
              <a:t>асоціація</a:t>
            </a:r>
            <a:r>
              <a:rPr lang="ru-RU" sz="2200" b="0" dirty="0" smtClean="0">
                <a:solidFill>
                  <a:srgbClr val="990000"/>
                </a:solidFill>
              </a:rPr>
              <a:t> </a:t>
            </a:r>
            <a:r>
              <a:rPr lang="ru-RU" sz="2200" b="0" dirty="0" err="1">
                <a:solidFill>
                  <a:srgbClr val="990000"/>
                </a:solidFill>
              </a:rPr>
              <a:t>між</a:t>
            </a:r>
            <a:r>
              <a:rPr lang="ru-RU" sz="2200" b="0" dirty="0">
                <a:solidFill>
                  <a:srgbClr val="990000"/>
                </a:solidFill>
              </a:rPr>
              <a:t> </a:t>
            </a:r>
            <a:r>
              <a:rPr lang="ru-RU" sz="2200" b="0" dirty="0" err="1">
                <a:solidFill>
                  <a:srgbClr val="990000"/>
                </a:solidFill>
              </a:rPr>
              <a:t>актором</a:t>
            </a:r>
            <a:r>
              <a:rPr lang="ru-RU" sz="2200" b="0" dirty="0">
                <a:solidFill>
                  <a:srgbClr val="990000"/>
                </a:solidFill>
              </a:rPr>
              <a:t> та прецедентом;</a:t>
            </a:r>
          </a:p>
          <a:p>
            <a:pPr marL="1257300" lvl="2" indent="-342900">
              <a:buFont typeface="Wingdings" pitchFamily="2" charset="2"/>
              <a:buChar char="q"/>
            </a:pPr>
            <a:r>
              <a:rPr lang="ru-RU" sz="2200" b="0" dirty="0" err="1" smtClean="0">
                <a:solidFill>
                  <a:srgbClr val="990000"/>
                </a:solidFill>
              </a:rPr>
              <a:t>узагальнення</a:t>
            </a:r>
            <a:r>
              <a:rPr lang="ru-RU" sz="2200" b="0" dirty="0" smtClean="0">
                <a:solidFill>
                  <a:srgbClr val="990000"/>
                </a:solidFill>
              </a:rPr>
              <a:t> </a:t>
            </a:r>
            <a:r>
              <a:rPr lang="ru-RU" sz="2200" b="0" dirty="0" err="1">
                <a:solidFill>
                  <a:srgbClr val="990000"/>
                </a:solidFill>
              </a:rPr>
              <a:t>між</a:t>
            </a:r>
            <a:r>
              <a:rPr lang="ru-RU" sz="2200" b="0" dirty="0">
                <a:solidFill>
                  <a:srgbClr val="990000"/>
                </a:solidFill>
              </a:rPr>
              <a:t> </a:t>
            </a:r>
            <a:r>
              <a:rPr lang="ru-RU" sz="2200" b="0" dirty="0" err="1">
                <a:solidFill>
                  <a:srgbClr val="990000"/>
                </a:solidFill>
              </a:rPr>
              <a:t>акторами</a:t>
            </a:r>
            <a:r>
              <a:rPr lang="ru-RU" sz="2200" b="0" dirty="0">
                <a:solidFill>
                  <a:srgbClr val="990000"/>
                </a:solidFill>
              </a:rPr>
              <a:t>;</a:t>
            </a:r>
          </a:p>
          <a:p>
            <a:pPr marL="1257300" lvl="2" indent="-342900">
              <a:buFont typeface="Wingdings" pitchFamily="2" charset="2"/>
              <a:buChar char="q"/>
            </a:pPr>
            <a:r>
              <a:rPr lang="ru-RU" sz="2200" b="0" dirty="0" err="1" smtClean="0">
                <a:solidFill>
                  <a:srgbClr val="990000"/>
                </a:solidFill>
              </a:rPr>
              <a:t>узагальнення</a:t>
            </a:r>
            <a:r>
              <a:rPr lang="ru-RU" sz="2200" b="0" dirty="0" smtClean="0">
                <a:solidFill>
                  <a:srgbClr val="990000"/>
                </a:solidFill>
              </a:rPr>
              <a:t> </a:t>
            </a:r>
            <a:r>
              <a:rPr lang="ru-RU" sz="2200" b="0" dirty="0" err="1">
                <a:solidFill>
                  <a:srgbClr val="990000"/>
                </a:solidFill>
              </a:rPr>
              <a:t>між</a:t>
            </a:r>
            <a:r>
              <a:rPr lang="ru-RU" sz="2200" b="0" dirty="0">
                <a:solidFill>
                  <a:srgbClr val="990000"/>
                </a:solidFill>
              </a:rPr>
              <a:t> прецедентами;</a:t>
            </a:r>
          </a:p>
          <a:p>
            <a:pPr marL="1257300" lvl="2" indent="-342900">
              <a:buFont typeface="Wingdings" pitchFamily="2" charset="2"/>
              <a:buChar char="q"/>
            </a:pPr>
            <a:r>
              <a:rPr lang="ru-RU" sz="2200" b="0" dirty="0" err="1" smtClean="0">
                <a:solidFill>
                  <a:srgbClr val="990000"/>
                </a:solidFill>
              </a:rPr>
              <a:t>залежності</a:t>
            </a:r>
            <a:r>
              <a:rPr lang="ru-RU" sz="2200" b="0" dirty="0" smtClean="0">
                <a:solidFill>
                  <a:srgbClr val="990000"/>
                </a:solidFill>
              </a:rPr>
              <a:t> </a:t>
            </a:r>
            <a:r>
              <a:rPr lang="ru-RU" sz="2200" b="0" dirty="0" err="1">
                <a:solidFill>
                  <a:srgbClr val="990000"/>
                </a:solidFill>
              </a:rPr>
              <a:t>чи</a:t>
            </a:r>
            <a:r>
              <a:rPr lang="ru-RU" sz="2200" b="0" dirty="0">
                <a:solidFill>
                  <a:srgbClr val="990000"/>
                </a:solidFill>
              </a:rPr>
              <a:t> </a:t>
            </a:r>
            <a:r>
              <a:rPr lang="ru-RU" sz="2200" b="0" dirty="0" err="1">
                <a:solidFill>
                  <a:srgbClr val="990000"/>
                </a:solidFill>
              </a:rPr>
              <a:t>асоціації</a:t>
            </a:r>
            <a:r>
              <a:rPr lang="ru-RU" sz="2200" b="0" dirty="0">
                <a:solidFill>
                  <a:srgbClr val="990000"/>
                </a:solidFill>
              </a:rPr>
              <a:t> (</a:t>
            </a:r>
            <a:r>
              <a:rPr lang="ru-RU" sz="2200" b="0" dirty="0" err="1">
                <a:solidFill>
                  <a:srgbClr val="990000"/>
                </a:solidFill>
              </a:rPr>
              <a:t>різних</a:t>
            </a:r>
            <a:r>
              <a:rPr lang="ru-RU" sz="2200" b="0" dirty="0">
                <a:solidFill>
                  <a:srgbClr val="990000"/>
                </a:solidFill>
              </a:rPr>
              <a:t> </a:t>
            </a:r>
            <a:r>
              <a:rPr lang="ru-RU" sz="2200" b="0" dirty="0" err="1">
                <a:solidFill>
                  <a:srgbClr val="990000"/>
                </a:solidFill>
              </a:rPr>
              <a:t>типів</a:t>
            </a:r>
            <a:r>
              <a:rPr lang="ru-RU" sz="2200" b="0" dirty="0">
                <a:solidFill>
                  <a:srgbClr val="990000"/>
                </a:solidFill>
              </a:rPr>
              <a:t>) </a:t>
            </a:r>
            <a:r>
              <a:rPr lang="ru-RU" sz="2200" b="0" dirty="0" err="1">
                <a:solidFill>
                  <a:srgbClr val="990000"/>
                </a:solidFill>
              </a:rPr>
              <a:t>між</a:t>
            </a:r>
            <a:r>
              <a:rPr lang="ru-RU" sz="2200" b="0" dirty="0">
                <a:solidFill>
                  <a:srgbClr val="990000"/>
                </a:solidFill>
              </a:rPr>
              <a:t> </a:t>
            </a:r>
            <a:r>
              <a:rPr lang="ru-RU" sz="2200" b="0" dirty="0" smtClean="0">
                <a:solidFill>
                  <a:srgbClr val="990000"/>
                </a:solidFill>
              </a:rPr>
              <a:t>прецедентами</a:t>
            </a:r>
            <a:r>
              <a:rPr lang="ru-RU" sz="2200" b="0" dirty="0">
                <a:solidFill>
                  <a:srgbClr val="990000"/>
                </a:solidFill>
              </a:rPr>
              <a:t>.</a:t>
            </a:r>
            <a:endParaRPr lang="ru-RU" sz="2200" dirty="0">
              <a:solidFill>
                <a:srgbClr val="990000"/>
              </a:solidFill>
            </a:endParaRPr>
          </a:p>
        </p:txBody>
      </p:sp>
      <p:sp>
        <p:nvSpPr>
          <p:cNvPr id="6" name="Прямокутник 5"/>
          <p:cNvSpPr/>
          <p:nvPr/>
        </p:nvSpPr>
        <p:spPr>
          <a:xfrm>
            <a:off x="2123728" y="50046"/>
            <a:ext cx="53017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>
                <a:solidFill>
                  <a:schemeClr val="bg1"/>
                </a:solidFill>
              </a:rPr>
              <a:t>Діаграма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err="1">
                <a:solidFill>
                  <a:schemeClr val="bg1"/>
                </a:solidFill>
              </a:rPr>
              <a:t>прецедентів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790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551863" y="6597650"/>
            <a:ext cx="592137" cy="274638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>
                <a:solidFill>
                  <a:srgbClr val="FFFFFF"/>
                </a:solidFill>
              </a:rPr>
              <a:pPr/>
              <a:t>16</a:t>
            </a:fld>
            <a:endParaRPr lang="uk-UA" dirty="0">
              <a:solidFill>
                <a:srgbClr val="FFFFFF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041827"/>
            <a:ext cx="8820150" cy="2232025"/>
          </a:xfrm>
          <a:noFill/>
        </p:spPr>
        <p:txBody>
          <a:bodyPr/>
          <a:lstStyle/>
          <a:p>
            <a:pPr marL="0" indent="533400">
              <a:lnSpc>
                <a:spcPct val="90000"/>
              </a:lnSpc>
              <a:buClr>
                <a:srgbClr val="990000"/>
              </a:buClr>
              <a:buFont typeface="Wingdings" pitchFamily="2" charset="2"/>
              <a:buChar char="Ø"/>
            </a:pPr>
            <a:r>
              <a:rPr lang="ru-RU" dirty="0" err="1" smtClean="0"/>
              <a:t>Актори</a:t>
            </a:r>
            <a:r>
              <a:rPr lang="ru-RU" dirty="0" smtClean="0"/>
              <a:t> і </a:t>
            </a:r>
            <a:r>
              <a:rPr lang="ru-RU" dirty="0" err="1" smtClean="0"/>
              <a:t>варіанти</a:t>
            </a:r>
            <a:r>
              <a:rPr lang="ru-RU" dirty="0" smtClean="0"/>
              <a:t> </a:t>
            </a:r>
            <a:r>
              <a:rPr lang="ru-RU" dirty="0" err="1" smtClean="0"/>
              <a:t>використання</a:t>
            </a:r>
            <a:r>
              <a:rPr lang="ru-RU" dirty="0" smtClean="0"/>
              <a:t> </a:t>
            </a:r>
            <a:r>
              <a:rPr lang="ru-RU" dirty="0" err="1" smtClean="0"/>
              <a:t>спілкуються</a:t>
            </a:r>
            <a:r>
              <a:rPr lang="ru-RU" dirty="0" smtClean="0"/>
              <a:t>      за </a:t>
            </a:r>
            <a:r>
              <a:rPr lang="ru-RU" dirty="0" err="1" smtClean="0"/>
              <a:t>допомогою</a:t>
            </a:r>
            <a:r>
              <a:rPr lang="ru-RU" dirty="0" smtClean="0"/>
              <a:t> </a:t>
            </a:r>
            <a:r>
              <a:rPr lang="ru-RU" dirty="0" err="1" smtClean="0"/>
              <a:t>посилання</a:t>
            </a:r>
            <a:r>
              <a:rPr lang="ru-RU" dirty="0" smtClean="0"/>
              <a:t> </a:t>
            </a:r>
            <a:r>
              <a:rPr lang="ru-RU" dirty="0" err="1" smtClean="0"/>
              <a:t>повідомлень</a:t>
            </a:r>
            <a:r>
              <a:rPr lang="ru-RU" dirty="0" smtClean="0"/>
              <a:t>.</a:t>
            </a:r>
          </a:p>
          <a:p>
            <a:pPr marL="0" indent="533400">
              <a:lnSpc>
                <a:spcPct val="90000"/>
              </a:lnSpc>
              <a:buClr>
                <a:srgbClr val="990000"/>
              </a:buClr>
              <a:buFont typeface="Wingdings" pitchFamily="2" charset="2"/>
              <a:buChar char="Ø"/>
            </a:pPr>
            <a:r>
              <a:rPr lang="ru-RU" dirty="0" err="1" smtClean="0"/>
              <a:t>Повідомлення</a:t>
            </a:r>
            <a:r>
              <a:rPr lang="ru-RU" dirty="0" smtClean="0"/>
              <a:t> </a:t>
            </a:r>
            <a:r>
              <a:rPr lang="ru-RU" dirty="0" err="1" smtClean="0"/>
              <a:t>можуть</a:t>
            </a:r>
            <a:r>
              <a:rPr lang="ru-RU" dirty="0" smtClean="0"/>
              <a:t> </a:t>
            </a:r>
            <a:r>
              <a:rPr lang="ru-RU" dirty="0" err="1" smtClean="0"/>
              <a:t>йти</a:t>
            </a:r>
            <a:r>
              <a:rPr lang="ru-RU" dirty="0" smtClean="0"/>
              <a:t> в </a:t>
            </a:r>
            <a:r>
              <a:rPr lang="ru-RU" dirty="0" err="1" smtClean="0"/>
              <a:t>обидві</a:t>
            </a:r>
            <a:r>
              <a:rPr lang="ru-RU" dirty="0" smtClean="0"/>
              <a:t> </a:t>
            </a:r>
            <a:r>
              <a:rPr lang="ru-RU" dirty="0" err="1" smtClean="0"/>
              <a:t>сторони</a:t>
            </a:r>
            <a:r>
              <a:rPr lang="ru-RU" dirty="0" smtClean="0"/>
              <a:t>.</a:t>
            </a:r>
          </a:p>
          <a:p>
            <a:pPr marL="0" indent="533400">
              <a:lnSpc>
                <a:spcPct val="90000"/>
              </a:lnSpc>
              <a:buClr>
                <a:srgbClr val="990000"/>
              </a:buClr>
              <a:buFont typeface="Wingdings" pitchFamily="2" charset="2"/>
              <a:buChar char="Ø"/>
            </a:pPr>
            <a:r>
              <a:rPr lang="ru-RU" dirty="0" err="1" smtClean="0"/>
              <a:t>Стрілка</a:t>
            </a:r>
            <a:r>
              <a:rPr lang="ru-RU" dirty="0" smtClean="0"/>
              <a:t> </a:t>
            </a:r>
            <a:r>
              <a:rPr lang="ru-RU" dirty="0" err="1" smtClean="0"/>
              <a:t>показує</a:t>
            </a:r>
            <a:r>
              <a:rPr lang="ru-RU" dirty="0" smtClean="0"/>
              <a:t> </a:t>
            </a:r>
            <a:r>
              <a:rPr lang="ru-RU" dirty="0" err="1" smtClean="0"/>
              <a:t>ініціатора</a:t>
            </a:r>
            <a:r>
              <a:rPr lang="ru-RU" dirty="0" smtClean="0"/>
              <a:t>  </a:t>
            </a:r>
            <a:r>
              <a:rPr lang="ru-RU" dirty="0" err="1" smtClean="0"/>
              <a:t>спілкування</a:t>
            </a:r>
            <a:r>
              <a:rPr lang="ru-RU" dirty="0" smtClean="0"/>
              <a:t>      (</a:t>
            </a:r>
            <a:r>
              <a:rPr lang="ru-RU" dirty="0" err="1" smtClean="0"/>
              <a:t>актор</a:t>
            </a:r>
            <a:r>
              <a:rPr lang="ru-RU" dirty="0" smtClean="0"/>
              <a:t> на </a:t>
            </a:r>
            <a:r>
              <a:rPr lang="ru-RU" dirty="0" err="1" smtClean="0"/>
              <a:t>малюнку</a:t>
            </a:r>
            <a:r>
              <a:rPr lang="ru-RU" dirty="0" smtClean="0"/>
              <a:t>) і </a:t>
            </a:r>
            <a:r>
              <a:rPr lang="ru-RU" dirty="0" err="1" smtClean="0"/>
              <a:t>може</a:t>
            </a:r>
            <a:r>
              <a:rPr lang="ru-RU" dirty="0" smtClean="0"/>
              <a:t> бути  опущена.</a:t>
            </a:r>
          </a:p>
          <a:p>
            <a:pPr marL="0" indent="533400">
              <a:lnSpc>
                <a:spcPct val="90000"/>
              </a:lnSpc>
              <a:buClr>
                <a:srgbClr val="990000"/>
              </a:buClr>
              <a:buFont typeface="Wingdings" pitchFamily="2" charset="2"/>
              <a:buChar char="Ø"/>
            </a:pPr>
            <a:endParaRPr lang="ru-RU" dirty="0" smtClean="0"/>
          </a:p>
          <a:p>
            <a:pPr marL="0" indent="533400">
              <a:lnSpc>
                <a:spcPct val="90000"/>
              </a:lnSpc>
              <a:buClr>
                <a:srgbClr val="990000"/>
              </a:buClr>
              <a:buFont typeface="Wingdings" pitchFamily="2" charset="2"/>
              <a:buChar char="Ø"/>
            </a:pPr>
            <a:endParaRPr lang="ru-RU" dirty="0" smtClean="0"/>
          </a:p>
          <a:p>
            <a:pPr marL="0" indent="533400" algn="just">
              <a:lnSpc>
                <a:spcPct val="90000"/>
              </a:lnSpc>
              <a:buClr>
                <a:srgbClr val="990000"/>
              </a:buClr>
              <a:buFont typeface="Wingdings" pitchFamily="2" charset="2"/>
              <a:buChar char="Ø"/>
            </a:pPr>
            <a:endParaRPr lang="ru-RU" dirty="0" smtClean="0"/>
          </a:p>
        </p:txBody>
      </p:sp>
      <p:sp>
        <p:nvSpPr>
          <p:cNvPr id="3078" name="Rectangle 4"/>
          <p:cNvSpPr>
            <a:spLocks noChangeArrowheads="1"/>
          </p:cNvSpPr>
          <p:nvPr/>
        </p:nvSpPr>
        <p:spPr bwMode="auto">
          <a:xfrm>
            <a:off x="107504" y="1588"/>
            <a:ext cx="89289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ru-RU" sz="3200" dirty="0" err="1">
                <a:solidFill>
                  <a:schemeClr val="bg1"/>
                </a:solidFill>
              </a:rPr>
              <a:t>Зв'язок</a:t>
            </a:r>
            <a:r>
              <a:rPr lang="ru-RU" sz="3200" dirty="0">
                <a:solidFill>
                  <a:schemeClr val="bg1"/>
                </a:solidFill>
              </a:rPr>
              <a:t> </a:t>
            </a:r>
            <a:r>
              <a:rPr lang="ru-RU" sz="3200" dirty="0" err="1">
                <a:solidFill>
                  <a:schemeClr val="bg1"/>
                </a:solidFill>
              </a:rPr>
              <a:t>акторів</a:t>
            </a:r>
            <a:r>
              <a:rPr lang="ru-RU" sz="3200" dirty="0">
                <a:solidFill>
                  <a:schemeClr val="bg1"/>
                </a:solidFill>
              </a:rPr>
              <a:t> і </a:t>
            </a:r>
            <a:r>
              <a:rPr lang="ru-RU" sz="3200" dirty="0" err="1" smtClean="0">
                <a:solidFill>
                  <a:schemeClr val="bg1"/>
                </a:solidFill>
              </a:rPr>
              <a:t>варіантів</a:t>
            </a:r>
            <a:r>
              <a:rPr lang="ru-RU" sz="3200" dirty="0" smtClean="0">
                <a:solidFill>
                  <a:schemeClr val="bg1"/>
                </a:solidFill>
              </a:rPr>
              <a:t> </a:t>
            </a:r>
            <a:r>
              <a:rPr lang="ru-RU" sz="3200" dirty="0" err="1" smtClean="0">
                <a:solidFill>
                  <a:schemeClr val="bg1"/>
                </a:solidFill>
              </a:rPr>
              <a:t>використання</a:t>
            </a:r>
            <a:endParaRPr lang="ru-RU" sz="3200" dirty="0">
              <a:solidFill>
                <a:schemeClr val="bg1"/>
              </a:solidFill>
            </a:endParaRPr>
          </a:p>
        </p:txBody>
      </p:sp>
      <p:grpSp>
        <p:nvGrpSpPr>
          <p:cNvPr id="3" name="Групувати 2"/>
          <p:cNvGrpSpPr/>
          <p:nvPr/>
        </p:nvGrpSpPr>
        <p:grpSpPr>
          <a:xfrm>
            <a:off x="1726617" y="3567599"/>
            <a:ext cx="5400600" cy="1368152"/>
            <a:chOff x="539750" y="4005263"/>
            <a:chExt cx="8270875" cy="2168525"/>
          </a:xfrm>
        </p:grpSpPr>
        <p:graphicFrame>
          <p:nvGraphicFramePr>
            <p:cNvPr id="3074" name="Object 6"/>
            <p:cNvGraphicFramePr>
              <a:graphicFrameLocks noChangeAspect="1"/>
            </p:cNvGraphicFramePr>
            <p:nvPr>
              <p:extLst/>
            </p:nvPr>
          </p:nvGraphicFramePr>
          <p:xfrm>
            <a:off x="5076825" y="4022725"/>
            <a:ext cx="3733800" cy="1906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9" name="Visio" r:id="rId3" imgW="3871874" imgH="1976018" progId="Visio.Drawing.11">
                    <p:embed/>
                  </p:oleObj>
                </mc:Choice>
                <mc:Fallback>
                  <p:oleObj name="Visio" r:id="rId3" imgW="3871874" imgH="1976018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6825" y="4022725"/>
                          <a:ext cx="3733800" cy="1906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" name="Object 7"/>
            <p:cNvGraphicFramePr>
              <a:graphicFrameLocks noChangeAspect="1"/>
            </p:cNvGraphicFramePr>
            <p:nvPr>
              <p:extLst/>
            </p:nvPr>
          </p:nvGraphicFramePr>
          <p:xfrm>
            <a:off x="539750" y="4005263"/>
            <a:ext cx="901700" cy="2168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0" name="Visio" r:id="rId5" imgW="1085760" imgH="3364920" progId="Visio.Drawing.11">
                    <p:embed/>
                  </p:oleObj>
                </mc:Choice>
                <mc:Fallback>
                  <p:oleObj name="Visio" r:id="rId5" imgW="1085760" imgH="3364920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750" y="4005263"/>
                          <a:ext cx="901700" cy="2168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6" name="Object 8"/>
            <p:cNvGraphicFramePr>
              <a:graphicFrameLocks noChangeAspect="1"/>
            </p:cNvGraphicFramePr>
            <p:nvPr>
              <p:extLst/>
            </p:nvPr>
          </p:nvGraphicFramePr>
          <p:xfrm>
            <a:off x="1336675" y="4784725"/>
            <a:ext cx="3657600" cy="366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1" name="Visio" r:id="rId7" imgW="2110435" imgH="211531" progId="Visio.Drawing.11">
                    <p:embed/>
                  </p:oleObj>
                </mc:Choice>
                <mc:Fallback>
                  <p:oleObj name="Visio" r:id="rId7" imgW="2110435" imgH="211531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6675" y="4784725"/>
                          <a:ext cx="3657600" cy="3667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54774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551863" y="6597650"/>
            <a:ext cx="592137" cy="274638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>
                <a:solidFill>
                  <a:srgbClr val="FFFFFF"/>
                </a:solidFill>
              </a:rPr>
              <a:pPr/>
              <a:t>17</a:t>
            </a:fld>
            <a:endParaRPr lang="uk-UA" dirty="0">
              <a:solidFill>
                <a:srgbClr val="FFFFFF"/>
              </a:solidFill>
            </a:endParaRPr>
          </a:p>
        </p:txBody>
      </p:sp>
      <p:sp>
        <p:nvSpPr>
          <p:cNvPr id="3" name="Прямокутник 2"/>
          <p:cNvSpPr/>
          <p:nvPr/>
        </p:nvSpPr>
        <p:spPr>
          <a:xfrm>
            <a:off x="204415" y="1053793"/>
            <a:ext cx="896448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0" dirty="0" err="1" smtClean="0"/>
              <a:t>Між</a:t>
            </a:r>
            <a:r>
              <a:rPr lang="ru-RU" sz="2200" b="0" dirty="0" smtClean="0"/>
              <a:t> </a:t>
            </a:r>
            <a:r>
              <a:rPr lang="ru-RU" sz="2200" b="0" dirty="0" err="1"/>
              <a:t>елементами</a:t>
            </a:r>
            <a:r>
              <a:rPr lang="ru-RU" sz="2200" b="0" dirty="0"/>
              <a:t> </a:t>
            </a:r>
            <a:r>
              <a:rPr lang="ru-RU" sz="2200" b="0" dirty="0" err="1"/>
              <a:t>діаграми</a:t>
            </a:r>
            <a:r>
              <a:rPr lang="ru-RU" sz="2200" b="0" dirty="0"/>
              <a:t> </a:t>
            </a:r>
            <a:r>
              <a:rPr lang="ru-RU" sz="2200" b="0" dirty="0" err="1"/>
              <a:t>варіантів</a:t>
            </a:r>
            <a:r>
              <a:rPr lang="ru-RU" sz="2200" b="0" dirty="0"/>
              <a:t> </a:t>
            </a:r>
            <a:r>
              <a:rPr lang="ru-RU" sz="2200" b="0" dirty="0" err="1"/>
              <a:t>використання</a:t>
            </a:r>
            <a:r>
              <a:rPr lang="ru-RU" sz="2200" b="0" dirty="0"/>
              <a:t> </a:t>
            </a:r>
            <a:r>
              <a:rPr lang="ru-RU" sz="2200" b="0" dirty="0" err="1"/>
              <a:t>можуть</a:t>
            </a:r>
            <a:r>
              <a:rPr lang="ru-RU" sz="2200" b="0" dirty="0"/>
              <a:t> </a:t>
            </a:r>
            <a:r>
              <a:rPr lang="ru-RU" sz="2200" b="0" dirty="0" err="1"/>
              <a:t>існувати</a:t>
            </a:r>
            <a:r>
              <a:rPr lang="ru-RU" sz="2200" b="0" dirty="0"/>
              <a:t> </a:t>
            </a:r>
            <a:r>
              <a:rPr lang="ru-RU" sz="2200" b="0" dirty="0" err="1"/>
              <a:t>різні</a:t>
            </a:r>
            <a:r>
              <a:rPr lang="ru-RU" sz="2200" b="0" dirty="0"/>
              <a:t> </a:t>
            </a:r>
            <a:r>
              <a:rPr lang="ru-RU" sz="2200" b="0" dirty="0" err="1" smtClean="0"/>
              <a:t>відношення</a:t>
            </a:r>
            <a:r>
              <a:rPr lang="ru-RU" sz="2200" b="0" dirty="0" smtClean="0"/>
              <a:t>, </a:t>
            </a:r>
            <a:r>
              <a:rPr lang="ru-RU" sz="2200" b="0" dirty="0" err="1"/>
              <a:t>які</a:t>
            </a:r>
            <a:r>
              <a:rPr lang="ru-RU" sz="2200" b="0" dirty="0"/>
              <a:t> </a:t>
            </a:r>
            <a:r>
              <a:rPr lang="ru-RU" sz="2200" b="0" dirty="0" err="1"/>
              <a:t>описують</a:t>
            </a:r>
            <a:r>
              <a:rPr lang="ru-RU" sz="2200" b="0" dirty="0"/>
              <a:t> </a:t>
            </a:r>
            <a:r>
              <a:rPr lang="ru-RU" sz="2200" b="0" dirty="0" err="1"/>
              <a:t>взаємодію</a:t>
            </a:r>
            <a:r>
              <a:rPr lang="ru-RU" sz="2200" b="0" dirty="0"/>
              <a:t> </a:t>
            </a:r>
            <a:r>
              <a:rPr lang="ru-RU" sz="2200" b="0" dirty="0" err="1"/>
              <a:t>екземплярів</a:t>
            </a:r>
            <a:r>
              <a:rPr lang="ru-RU" sz="2200" b="0" dirty="0"/>
              <a:t> </a:t>
            </a:r>
            <a:r>
              <a:rPr lang="ru-RU" sz="2200" b="0" dirty="0" err="1"/>
              <a:t>акторів</a:t>
            </a:r>
            <a:r>
              <a:rPr lang="ru-RU" sz="2200" b="0" dirty="0"/>
              <a:t> і </a:t>
            </a:r>
            <a:r>
              <a:rPr lang="ru-RU" sz="2200" b="0" dirty="0" err="1"/>
              <a:t>варіантів</a:t>
            </a:r>
            <a:r>
              <a:rPr lang="ru-RU" sz="2200" b="0" dirty="0"/>
              <a:t> </a:t>
            </a:r>
            <a:r>
              <a:rPr lang="ru-RU" sz="2200" b="0" dirty="0" err="1"/>
              <a:t>використання</a:t>
            </a:r>
            <a:r>
              <a:rPr lang="ru-RU" sz="2200" b="0" dirty="0"/>
              <a:t>. </a:t>
            </a:r>
            <a:endParaRPr lang="ru-RU" sz="2200" b="0" dirty="0" smtClean="0"/>
          </a:p>
          <a:p>
            <a:r>
              <a:rPr lang="ru-RU" sz="2200" b="0" dirty="0" err="1" smtClean="0"/>
              <a:t>Стандартні</a:t>
            </a:r>
            <a:r>
              <a:rPr lang="ru-RU" sz="2200" b="0" dirty="0" smtClean="0"/>
              <a:t> </a:t>
            </a:r>
            <a:r>
              <a:rPr lang="ru-RU" sz="2200" b="0" dirty="0" err="1"/>
              <a:t>види</a:t>
            </a:r>
            <a:r>
              <a:rPr lang="ru-RU" sz="2200" b="0" dirty="0"/>
              <a:t> </a:t>
            </a:r>
            <a:r>
              <a:rPr lang="ru-RU" sz="2200" b="0" dirty="0" err="1" smtClean="0"/>
              <a:t>відношень</a:t>
            </a:r>
            <a:r>
              <a:rPr lang="ru-RU" sz="2200" b="0" dirty="0" smtClean="0"/>
              <a:t> </a:t>
            </a:r>
            <a:r>
              <a:rPr lang="ru-RU" sz="2200" b="0" dirty="0" err="1"/>
              <a:t>між</a:t>
            </a:r>
            <a:r>
              <a:rPr lang="ru-RU" sz="2200" b="0" dirty="0"/>
              <a:t> </a:t>
            </a:r>
            <a:r>
              <a:rPr lang="ru-RU" sz="2200" b="0" dirty="0" err="1"/>
              <a:t>акторами</a:t>
            </a:r>
            <a:r>
              <a:rPr lang="ru-RU" sz="2200" b="0" dirty="0"/>
              <a:t> і </a:t>
            </a:r>
            <a:r>
              <a:rPr lang="ru-RU" sz="2200" b="0" dirty="0" err="1"/>
              <a:t>варіантами</a:t>
            </a:r>
            <a:r>
              <a:rPr lang="ru-RU" sz="2200" b="0" dirty="0"/>
              <a:t> </a:t>
            </a:r>
            <a:r>
              <a:rPr lang="ru-RU" sz="2200" b="0" dirty="0" err="1"/>
              <a:t>використання</a:t>
            </a:r>
            <a:r>
              <a:rPr lang="ru-RU" sz="2200" b="0" dirty="0"/>
              <a:t>: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ru-RU" sz="2200" b="0" dirty="0" err="1" smtClean="0">
                <a:solidFill>
                  <a:srgbClr val="0000CC"/>
                </a:solidFill>
              </a:rPr>
              <a:t>ассоціаціі</a:t>
            </a:r>
            <a:r>
              <a:rPr lang="ru-RU" sz="2200" b="0" dirty="0" smtClean="0">
                <a:solidFill>
                  <a:srgbClr val="0000CC"/>
                </a:solidFill>
              </a:rPr>
              <a:t> </a:t>
            </a:r>
            <a:r>
              <a:rPr lang="ru-RU" sz="2200" b="0" dirty="0">
                <a:solidFill>
                  <a:srgbClr val="0000CC"/>
                </a:solidFill>
              </a:rPr>
              <a:t>(</a:t>
            </a:r>
            <a:r>
              <a:rPr lang="en-US" sz="2200" b="0" dirty="0">
                <a:solidFill>
                  <a:srgbClr val="0000CC"/>
                </a:solidFill>
              </a:rPr>
              <a:t>association relationship);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ru-RU" sz="2200" b="0" dirty="0" err="1" smtClean="0">
                <a:solidFill>
                  <a:srgbClr val="0000CC"/>
                </a:solidFill>
              </a:rPr>
              <a:t>розширення</a:t>
            </a:r>
            <a:r>
              <a:rPr lang="ru-RU" sz="2200" b="0" dirty="0" smtClean="0">
                <a:solidFill>
                  <a:srgbClr val="0000CC"/>
                </a:solidFill>
              </a:rPr>
              <a:t> </a:t>
            </a:r>
            <a:r>
              <a:rPr lang="ru-RU" sz="2200" b="0" dirty="0">
                <a:solidFill>
                  <a:srgbClr val="0000CC"/>
                </a:solidFill>
              </a:rPr>
              <a:t>(</a:t>
            </a:r>
            <a:r>
              <a:rPr lang="en-US" sz="2200" b="0" dirty="0">
                <a:solidFill>
                  <a:srgbClr val="0000CC"/>
                </a:solidFill>
              </a:rPr>
              <a:t>extend relationship);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ru-RU" sz="2200" b="0" dirty="0" err="1" smtClean="0">
                <a:solidFill>
                  <a:srgbClr val="0000CC"/>
                </a:solidFill>
              </a:rPr>
              <a:t>узагальнення</a:t>
            </a:r>
            <a:r>
              <a:rPr lang="ru-RU" sz="2200" b="0" dirty="0" smtClean="0">
                <a:solidFill>
                  <a:srgbClr val="0000CC"/>
                </a:solidFill>
              </a:rPr>
              <a:t> </a:t>
            </a:r>
            <a:r>
              <a:rPr lang="ru-RU" sz="2200" b="0" dirty="0">
                <a:solidFill>
                  <a:srgbClr val="0000CC"/>
                </a:solidFill>
              </a:rPr>
              <a:t>(</a:t>
            </a:r>
            <a:r>
              <a:rPr lang="en-US" sz="2200" b="0" dirty="0">
                <a:solidFill>
                  <a:srgbClr val="0000CC"/>
                </a:solidFill>
              </a:rPr>
              <a:t>generalization relationship);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ru-RU" sz="2200" b="0" dirty="0" err="1" smtClean="0">
                <a:solidFill>
                  <a:srgbClr val="0000CC"/>
                </a:solidFill>
              </a:rPr>
              <a:t>включення</a:t>
            </a:r>
            <a:r>
              <a:rPr lang="ru-RU" sz="2200" b="0" dirty="0" smtClean="0">
                <a:solidFill>
                  <a:srgbClr val="0000CC"/>
                </a:solidFill>
              </a:rPr>
              <a:t> </a:t>
            </a:r>
            <a:r>
              <a:rPr lang="ru-RU" sz="2200" b="0" dirty="0">
                <a:solidFill>
                  <a:srgbClr val="0000CC"/>
                </a:solidFill>
              </a:rPr>
              <a:t>(</a:t>
            </a:r>
            <a:r>
              <a:rPr lang="en-US" sz="2200" b="0" dirty="0">
                <a:solidFill>
                  <a:srgbClr val="0000CC"/>
                </a:solidFill>
              </a:rPr>
              <a:t>include relationship)</a:t>
            </a:r>
            <a:endParaRPr lang="ru-RU" sz="2200" b="0" dirty="0">
              <a:solidFill>
                <a:srgbClr val="0000C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0" y="107340"/>
            <a:ext cx="9143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600" b="1" dirty="0" smtClean="0">
                <a:solidFill>
                  <a:schemeClr val="bg1"/>
                </a:solidFill>
              </a:rPr>
              <a:t>Відношення на діаграмі прецедентів </a:t>
            </a:r>
            <a:endParaRPr lang="ru-RU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075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551863" y="6597650"/>
            <a:ext cx="592137" cy="274638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>
                <a:solidFill>
                  <a:srgbClr val="FFFFFF"/>
                </a:solidFill>
              </a:rPr>
              <a:pPr/>
              <a:t>18</a:t>
            </a:fld>
            <a:endParaRPr lang="uk-UA" dirty="0">
              <a:solidFill>
                <a:srgbClr val="FFFFFF"/>
              </a:solidFill>
            </a:endParaRPr>
          </a:p>
        </p:txBody>
      </p:sp>
      <p:sp>
        <p:nvSpPr>
          <p:cNvPr id="3" name="Прямокутник 2"/>
          <p:cNvSpPr/>
          <p:nvPr/>
        </p:nvSpPr>
        <p:spPr>
          <a:xfrm>
            <a:off x="107503" y="786184"/>
            <a:ext cx="9036495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err="1"/>
              <a:t>Асоціація</a:t>
            </a:r>
            <a:r>
              <a:rPr lang="ru-RU" sz="2200" b="0" dirty="0"/>
              <a:t> </a:t>
            </a:r>
            <a:r>
              <a:rPr lang="ru-RU" sz="2200" b="0" dirty="0" err="1"/>
              <a:t>встановлює</a:t>
            </a:r>
            <a:r>
              <a:rPr lang="ru-RU" sz="2200" b="0" dirty="0"/>
              <a:t>, яку </a:t>
            </a:r>
            <a:r>
              <a:rPr lang="ru-RU" sz="2200" b="0" dirty="0" err="1"/>
              <a:t>конкретну</a:t>
            </a:r>
            <a:r>
              <a:rPr lang="ru-RU" sz="2200" b="0" dirty="0"/>
              <a:t> роль </a:t>
            </a:r>
            <a:r>
              <a:rPr lang="ru-RU" sz="2200" b="0" dirty="0" err="1"/>
              <a:t>грає</a:t>
            </a:r>
            <a:r>
              <a:rPr lang="ru-RU" sz="2200" b="0" dirty="0"/>
              <a:t> </a:t>
            </a:r>
            <a:r>
              <a:rPr lang="ru-RU" sz="2200" b="0" dirty="0" err="1"/>
              <a:t>актор</a:t>
            </a:r>
            <a:r>
              <a:rPr lang="ru-RU" sz="2200" b="0" dirty="0"/>
              <a:t> при </a:t>
            </a:r>
            <a:r>
              <a:rPr lang="ru-RU" sz="2200" b="0" dirty="0" err="1"/>
              <a:t>взаємодії</a:t>
            </a:r>
            <a:r>
              <a:rPr lang="ru-RU" sz="2200" b="0" dirty="0"/>
              <a:t> з </a:t>
            </a:r>
            <a:r>
              <a:rPr lang="ru-RU" sz="2200" b="0" dirty="0" err="1"/>
              <a:t>екземпляром</a:t>
            </a:r>
            <a:r>
              <a:rPr lang="ru-RU" sz="2200" b="0" dirty="0"/>
              <a:t> </a:t>
            </a:r>
            <a:r>
              <a:rPr lang="ru-RU" sz="2200" b="0" dirty="0" err="1"/>
              <a:t>варіанту</a:t>
            </a:r>
            <a:r>
              <a:rPr lang="ru-RU" sz="2200" b="0" dirty="0"/>
              <a:t> </a:t>
            </a:r>
            <a:r>
              <a:rPr lang="ru-RU" sz="2200" b="0" dirty="0" err="1"/>
              <a:t>використання</a:t>
            </a:r>
            <a:r>
              <a:rPr lang="ru-RU" sz="2200" b="0" dirty="0"/>
              <a:t>. </a:t>
            </a:r>
            <a:endParaRPr lang="ru-RU" sz="2200" b="0" dirty="0" smtClean="0"/>
          </a:p>
          <a:p>
            <a:r>
              <a:rPr lang="ru-RU" sz="2200" b="0" dirty="0" err="1" smtClean="0"/>
              <a:t>Позначення</a:t>
            </a:r>
            <a:r>
              <a:rPr lang="ru-RU" sz="2200" b="0" dirty="0" smtClean="0"/>
              <a:t> </a:t>
            </a:r>
            <a:r>
              <a:rPr lang="ru-RU" sz="2200" b="0" dirty="0"/>
              <a:t>- </a:t>
            </a:r>
            <a:r>
              <a:rPr lang="ru-RU" sz="2200" b="0" dirty="0" err="1"/>
              <a:t>суцільна</a:t>
            </a:r>
            <a:r>
              <a:rPr lang="ru-RU" sz="2200" b="0" dirty="0"/>
              <a:t> </a:t>
            </a:r>
            <a:r>
              <a:rPr lang="ru-RU" sz="2200" b="0" dirty="0" err="1"/>
              <a:t>лінія</a:t>
            </a:r>
            <a:r>
              <a:rPr lang="ru-RU" sz="2200" b="0" dirty="0"/>
              <a:t> </a:t>
            </a:r>
            <a:r>
              <a:rPr lang="ru-RU" sz="2200" b="0" dirty="0" err="1"/>
              <a:t>між</a:t>
            </a:r>
            <a:r>
              <a:rPr lang="ru-RU" sz="2200" b="0" dirty="0"/>
              <a:t> </a:t>
            </a:r>
            <a:r>
              <a:rPr lang="ru-RU" sz="2200" b="0" dirty="0" err="1"/>
              <a:t>актором</a:t>
            </a:r>
            <a:r>
              <a:rPr lang="ru-RU" sz="2200" b="0" dirty="0"/>
              <a:t> і </a:t>
            </a:r>
            <a:r>
              <a:rPr lang="ru-RU" sz="2200" b="0" dirty="0" err="1"/>
              <a:t>варіантом</a:t>
            </a:r>
            <a:r>
              <a:rPr lang="ru-RU" sz="2200" b="0" dirty="0"/>
              <a:t> </a:t>
            </a:r>
            <a:r>
              <a:rPr lang="ru-RU" sz="2200" b="0" dirty="0" err="1"/>
              <a:t>використання</a:t>
            </a:r>
            <a:r>
              <a:rPr lang="ru-RU" sz="2200" b="0" dirty="0"/>
              <a:t>. </a:t>
            </a:r>
            <a:endParaRPr lang="ru-RU" sz="2200" b="0" dirty="0" smtClean="0"/>
          </a:p>
          <a:p>
            <a:r>
              <a:rPr lang="ru-RU" sz="2200" b="0" dirty="0" err="1" smtClean="0"/>
              <a:t>Лінія</a:t>
            </a:r>
            <a:r>
              <a:rPr lang="ru-RU" sz="2200" b="0" dirty="0" smtClean="0"/>
              <a:t> </a:t>
            </a:r>
            <a:r>
              <a:rPr lang="ru-RU" sz="2200" b="0" dirty="0" err="1"/>
              <a:t>може</a:t>
            </a:r>
            <a:r>
              <a:rPr lang="ru-RU" sz="2200" b="0" dirty="0"/>
              <a:t> </a:t>
            </a:r>
            <a:r>
              <a:rPr lang="ru-RU" sz="2200" b="0" dirty="0" err="1"/>
              <a:t>мати</a:t>
            </a:r>
            <a:r>
              <a:rPr lang="ru-RU" sz="2200" b="0" dirty="0"/>
              <a:t> </a:t>
            </a:r>
            <a:r>
              <a:rPr lang="ru-RU" sz="2200" b="0" dirty="0" err="1"/>
              <a:t>умовні</a:t>
            </a:r>
            <a:r>
              <a:rPr lang="ru-RU" sz="2200" b="0" dirty="0"/>
              <a:t> </a:t>
            </a:r>
            <a:r>
              <a:rPr lang="ru-RU" sz="2200" b="0" dirty="0" err="1"/>
              <a:t>позначення</a:t>
            </a:r>
            <a:r>
              <a:rPr lang="ru-RU" sz="2200" b="0" dirty="0"/>
              <a:t>:</a:t>
            </a:r>
          </a:p>
          <a:p>
            <a:pPr marL="1257300" lvl="2" indent="-342900">
              <a:buFont typeface="Wingdings" pitchFamily="2" charset="2"/>
              <a:buChar char="Ø"/>
            </a:pPr>
            <a:r>
              <a:rPr lang="ru-RU" sz="2200" b="0" dirty="0" err="1" smtClean="0">
                <a:solidFill>
                  <a:srgbClr val="0000CC"/>
                </a:solidFill>
              </a:rPr>
              <a:t>імя</a:t>
            </a:r>
            <a:r>
              <a:rPr lang="ru-RU" sz="2200" b="0" dirty="0">
                <a:solidFill>
                  <a:srgbClr val="0000CC"/>
                </a:solidFill>
              </a:rPr>
              <a:t>;</a:t>
            </a:r>
          </a:p>
          <a:p>
            <a:pPr marL="1257300" lvl="2" indent="-342900">
              <a:buFont typeface="Wingdings" pitchFamily="2" charset="2"/>
              <a:buChar char="Ø"/>
            </a:pPr>
            <a:r>
              <a:rPr lang="ru-RU" sz="2200" b="0" dirty="0" err="1" smtClean="0">
                <a:solidFill>
                  <a:srgbClr val="0000CC"/>
                </a:solidFill>
              </a:rPr>
              <a:t>кратність</a:t>
            </a:r>
            <a:r>
              <a:rPr lang="ru-RU" sz="2200" b="0" dirty="0"/>
              <a:t>. </a:t>
            </a:r>
            <a:endParaRPr lang="ru-RU" sz="2200" b="0" dirty="0" smtClean="0"/>
          </a:p>
          <a:p>
            <a:pPr marL="1257300" lvl="2" indent="-342900">
              <a:buFont typeface="Wingdings" pitchFamily="2" charset="2"/>
              <a:buChar char="Ø"/>
            </a:pPr>
            <a:endParaRPr lang="ru-RU" sz="2200" b="0" dirty="0" smtClean="0"/>
          </a:p>
          <a:p>
            <a:r>
              <a:rPr lang="ru-RU" sz="2200" b="1" dirty="0" err="1" smtClean="0"/>
              <a:t>Кратність</a:t>
            </a:r>
            <a:r>
              <a:rPr lang="ru-RU" sz="2200" b="0" dirty="0" smtClean="0"/>
              <a:t> </a:t>
            </a:r>
            <a:r>
              <a:rPr lang="ru-RU" sz="2200" b="0" dirty="0"/>
              <a:t>(</a:t>
            </a:r>
            <a:r>
              <a:rPr lang="en-US" sz="2200" b="0" dirty="0"/>
              <a:t>multiplicity) </a:t>
            </a:r>
            <a:r>
              <a:rPr lang="ru-RU" sz="2200" b="0" dirty="0" err="1"/>
              <a:t>вказується</a:t>
            </a:r>
            <a:r>
              <a:rPr lang="ru-RU" sz="2200" b="0" dirty="0"/>
              <a:t> </a:t>
            </a:r>
            <a:r>
              <a:rPr lang="ru-RU" sz="2200" b="0" dirty="0" err="1"/>
              <a:t>поряд</a:t>
            </a:r>
            <a:r>
              <a:rPr lang="ru-RU" sz="2200" b="0" dirty="0"/>
              <a:t> з </a:t>
            </a:r>
            <a:r>
              <a:rPr lang="ru-RU" sz="2200" b="0" dirty="0" err="1"/>
              <a:t>позначенням</a:t>
            </a:r>
            <a:r>
              <a:rPr lang="ru-RU" sz="2200" b="0" dirty="0"/>
              <a:t> компонента </a:t>
            </a:r>
            <a:r>
              <a:rPr lang="ru-RU" sz="2200" b="0" dirty="0" err="1"/>
              <a:t>діаграми</a:t>
            </a:r>
            <a:r>
              <a:rPr lang="ru-RU" sz="2200" b="0" dirty="0"/>
              <a:t>, </a:t>
            </a:r>
            <a:r>
              <a:rPr lang="ru-RU" sz="2200" b="0" dirty="0" err="1"/>
              <a:t>який</a:t>
            </a:r>
            <a:r>
              <a:rPr lang="ru-RU" sz="2200" b="0" dirty="0"/>
              <a:t> є </a:t>
            </a:r>
            <a:r>
              <a:rPr lang="ru-RU" sz="2200" b="0" dirty="0" err="1"/>
              <a:t>учасником</a:t>
            </a:r>
            <a:r>
              <a:rPr lang="ru-RU" sz="2200" b="0" dirty="0"/>
              <a:t> </a:t>
            </a:r>
            <a:r>
              <a:rPr lang="ru-RU" sz="2200" b="0" dirty="0" err="1"/>
              <a:t>даної</a:t>
            </a:r>
            <a:r>
              <a:rPr lang="ru-RU" sz="2200" b="0" dirty="0"/>
              <a:t> </a:t>
            </a:r>
            <a:r>
              <a:rPr lang="ru-RU" sz="2200" b="0" dirty="0" err="1"/>
              <a:t>асоціації</a:t>
            </a:r>
            <a:r>
              <a:rPr lang="ru-RU" sz="2200" b="0" dirty="0"/>
              <a:t>, і </a:t>
            </a:r>
            <a:r>
              <a:rPr lang="ru-RU" sz="2200" b="0" dirty="0" err="1"/>
              <a:t>характеризує</a:t>
            </a:r>
            <a:r>
              <a:rPr lang="ru-RU" sz="2200" b="0" dirty="0"/>
              <a:t> </a:t>
            </a:r>
            <a:r>
              <a:rPr lang="ru-RU" sz="2200" dirty="0" err="1"/>
              <a:t>кількість</a:t>
            </a:r>
            <a:r>
              <a:rPr lang="ru-RU" sz="2200" dirty="0"/>
              <a:t> </a:t>
            </a:r>
            <a:r>
              <a:rPr lang="ru-RU" sz="2200" dirty="0" err="1"/>
              <a:t>примірників</a:t>
            </a:r>
            <a:r>
              <a:rPr lang="ru-RU" sz="2200" dirty="0"/>
              <a:t> </a:t>
            </a:r>
            <a:r>
              <a:rPr lang="ru-RU" sz="2200" dirty="0" err="1"/>
              <a:t>даного</a:t>
            </a:r>
            <a:r>
              <a:rPr lang="ru-RU" sz="2200" dirty="0"/>
              <a:t> компонента</a:t>
            </a:r>
            <a:r>
              <a:rPr lang="ru-RU" sz="2200" b="0" dirty="0"/>
              <a:t>, </a:t>
            </a:r>
            <a:r>
              <a:rPr lang="ru-RU" sz="2200" b="0" dirty="0" err="1"/>
              <a:t>які</a:t>
            </a:r>
            <a:r>
              <a:rPr lang="ru-RU" sz="2200" b="0" dirty="0"/>
              <a:t> </a:t>
            </a:r>
            <a:r>
              <a:rPr lang="ru-RU" sz="2200" b="0" dirty="0" err="1"/>
              <a:t>можуть</a:t>
            </a:r>
            <a:r>
              <a:rPr lang="ru-RU" sz="2200" b="0" dirty="0"/>
              <a:t> </a:t>
            </a:r>
            <a:r>
              <a:rPr lang="ru-RU" sz="2200" b="0" dirty="0" err="1"/>
              <a:t>виступати</a:t>
            </a:r>
            <a:r>
              <a:rPr lang="ru-RU" sz="2200" b="0" dirty="0"/>
              <a:t> в </a:t>
            </a:r>
            <a:r>
              <a:rPr lang="ru-RU" sz="2200" b="0" dirty="0" err="1"/>
              <a:t>якості</a:t>
            </a:r>
            <a:r>
              <a:rPr lang="ru-RU" sz="2200" b="0" dirty="0"/>
              <a:t> </a:t>
            </a:r>
            <a:r>
              <a:rPr lang="ru-RU" sz="2200" b="0" dirty="0" err="1"/>
              <a:t>елементів</a:t>
            </a:r>
            <a:r>
              <a:rPr lang="ru-RU" sz="2200" b="0" dirty="0"/>
              <a:t> </a:t>
            </a:r>
            <a:r>
              <a:rPr lang="ru-RU" sz="2200" b="0" dirty="0" err="1"/>
              <a:t>даної</a:t>
            </a:r>
            <a:r>
              <a:rPr lang="ru-RU" sz="2200" b="0" dirty="0"/>
              <a:t> </a:t>
            </a:r>
            <a:r>
              <a:rPr lang="ru-RU" sz="2200" b="0" dirty="0" err="1"/>
              <a:t>асоціації</a:t>
            </a:r>
            <a:r>
              <a:rPr lang="ru-RU" sz="2200" b="0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 flipH="1">
            <a:off x="0" y="107340"/>
            <a:ext cx="9143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600" b="1" dirty="0" smtClean="0">
                <a:solidFill>
                  <a:schemeClr val="bg1"/>
                </a:solidFill>
              </a:rPr>
              <a:t>Асоціація на діаграмі прецедентів </a:t>
            </a:r>
            <a:endParaRPr lang="ru-RU" sz="3600" b="1" dirty="0">
              <a:solidFill>
                <a:schemeClr val="bg1"/>
              </a:solidFill>
            </a:endParaRPr>
          </a:p>
        </p:txBody>
      </p:sp>
      <p:grpSp>
        <p:nvGrpSpPr>
          <p:cNvPr id="20" name="Групувати 19"/>
          <p:cNvGrpSpPr/>
          <p:nvPr/>
        </p:nvGrpSpPr>
        <p:grpSpPr>
          <a:xfrm>
            <a:off x="3061963" y="4716173"/>
            <a:ext cx="4176465" cy="1281118"/>
            <a:chOff x="2537514" y="4830043"/>
            <a:chExt cx="4332604" cy="1609725"/>
          </a:xfrm>
        </p:grpSpPr>
        <p:grpSp>
          <p:nvGrpSpPr>
            <p:cNvPr id="13" name="Групувати 12"/>
            <p:cNvGrpSpPr/>
            <p:nvPr/>
          </p:nvGrpSpPr>
          <p:grpSpPr>
            <a:xfrm>
              <a:off x="2537514" y="4941168"/>
              <a:ext cx="4332604" cy="1498600"/>
              <a:chOff x="673408" y="1948657"/>
              <a:chExt cx="4332604" cy="1498600"/>
            </a:xfrm>
          </p:grpSpPr>
          <p:sp>
            <p:nvSpPr>
              <p:cNvPr id="8" name="Freeform 11"/>
              <p:cNvSpPr>
                <a:spLocks noEditPoints="1"/>
              </p:cNvSpPr>
              <p:nvPr/>
            </p:nvSpPr>
            <p:spPr bwMode="auto">
              <a:xfrm>
                <a:off x="1186122" y="2088357"/>
                <a:ext cx="521203" cy="1000125"/>
              </a:xfrm>
              <a:custGeom>
                <a:avLst/>
                <a:gdLst>
                  <a:gd name="T0" fmla="*/ 0 w 249"/>
                  <a:gd name="T1" fmla="*/ 62 h 557"/>
                  <a:gd name="T2" fmla="*/ 249 w 249"/>
                  <a:gd name="T3" fmla="*/ 62 h 557"/>
                  <a:gd name="T4" fmla="*/ 125 w 249"/>
                  <a:gd name="T5" fmla="*/ 309 h 557"/>
                  <a:gd name="T6" fmla="*/ 249 w 249"/>
                  <a:gd name="T7" fmla="*/ 557 h 557"/>
                  <a:gd name="T8" fmla="*/ 125 w 249"/>
                  <a:gd name="T9" fmla="*/ 0 h 557"/>
                  <a:gd name="T10" fmla="*/ 125 w 249"/>
                  <a:gd name="T11" fmla="*/ 309 h 557"/>
                  <a:gd name="T12" fmla="*/ 0 w 249"/>
                  <a:gd name="T13" fmla="*/ 557 h 5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49"/>
                  <a:gd name="T22" fmla="*/ 0 h 557"/>
                  <a:gd name="T23" fmla="*/ 249 w 249"/>
                  <a:gd name="T24" fmla="*/ 557 h 55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49" h="557">
                    <a:moveTo>
                      <a:pt x="0" y="62"/>
                    </a:moveTo>
                    <a:lnTo>
                      <a:pt x="249" y="62"/>
                    </a:lnTo>
                    <a:moveTo>
                      <a:pt x="125" y="309"/>
                    </a:moveTo>
                    <a:lnTo>
                      <a:pt x="249" y="557"/>
                    </a:lnTo>
                    <a:moveTo>
                      <a:pt x="125" y="0"/>
                    </a:moveTo>
                    <a:lnTo>
                      <a:pt x="125" y="309"/>
                    </a:lnTo>
                    <a:lnTo>
                      <a:pt x="0" y="557"/>
                    </a:lnTo>
                  </a:path>
                </a:pathLst>
              </a:custGeom>
              <a:solidFill>
                <a:schemeClr val="bg1"/>
              </a:solidFill>
              <a:ln w="6350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12"/>
              <p:cNvSpPr>
                <a:spLocks noChangeArrowheads="1"/>
              </p:cNvSpPr>
              <p:nvPr/>
            </p:nvSpPr>
            <p:spPr bwMode="auto">
              <a:xfrm>
                <a:off x="673408" y="3142457"/>
                <a:ext cx="1443069" cy="3048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uk-UA" sz="2000" b="0">
                    <a:solidFill>
                      <a:srgbClr val="000000"/>
                    </a:solidFill>
                  </a:rPr>
                  <a:t>Користувач</a:t>
                </a:r>
                <a:endParaRPr lang="ru-RU" sz="2000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Freeform 24"/>
              <p:cNvSpPr>
                <a:spLocks/>
              </p:cNvSpPr>
              <p:nvPr/>
            </p:nvSpPr>
            <p:spPr bwMode="auto">
              <a:xfrm>
                <a:off x="2634285" y="1948657"/>
                <a:ext cx="2371727" cy="1017587"/>
              </a:xfrm>
              <a:custGeom>
                <a:avLst/>
                <a:gdLst>
                  <a:gd name="T0" fmla="*/ 0 w 1134"/>
                  <a:gd name="T1" fmla="*/ 283 h 567"/>
                  <a:gd name="T2" fmla="*/ 567 w 1134"/>
                  <a:gd name="T3" fmla="*/ 0 h 567"/>
                  <a:gd name="T4" fmla="*/ 1134 w 1134"/>
                  <a:gd name="T5" fmla="*/ 283 h 567"/>
                  <a:gd name="T6" fmla="*/ 1134 w 1134"/>
                  <a:gd name="T7" fmla="*/ 283 h 567"/>
                  <a:gd name="T8" fmla="*/ 567 w 1134"/>
                  <a:gd name="T9" fmla="*/ 567 h 567"/>
                  <a:gd name="T10" fmla="*/ 0 w 1134"/>
                  <a:gd name="T11" fmla="*/ 283 h 56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34"/>
                  <a:gd name="T19" fmla="*/ 0 h 567"/>
                  <a:gd name="T20" fmla="*/ 1134 w 1134"/>
                  <a:gd name="T21" fmla="*/ 567 h 56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34" h="567">
                    <a:moveTo>
                      <a:pt x="0" y="283"/>
                    </a:moveTo>
                    <a:cubicBezTo>
                      <a:pt x="0" y="127"/>
                      <a:pt x="253" y="0"/>
                      <a:pt x="567" y="0"/>
                    </a:cubicBezTo>
                    <a:cubicBezTo>
                      <a:pt x="880" y="0"/>
                      <a:pt x="1134" y="127"/>
                      <a:pt x="1134" y="283"/>
                    </a:cubicBezTo>
                    <a:cubicBezTo>
                      <a:pt x="1134" y="283"/>
                      <a:pt x="1134" y="283"/>
                      <a:pt x="1134" y="283"/>
                    </a:cubicBezTo>
                    <a:cubicBezTo>
                      <a:pt x="1134" y="440"/>
                      <a:pt x="880" y="567"/>
                      <a:pt x="567" y="567"/>
                    </a:cubicBezTo>
                    <a:cubicBezTo>
                      <a:pt x="253" y="567"/>
                      <a:pt x="0" y="440"/>
                      <a:pt x="0" y="283"/>
                    </a:cubicBezTo>
                  </a:path>
                </a:pathLst>
              </a:custGeom>
              <a:solidFill>
                <a:schemeClr val="bg1"/>
              </a:solidFill>
              <a:ln w="269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ru-RU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25"/>
              <p:cNvSpPr>
                <a:spLocks noChangeArrowheads="1"/>
              </p:cNvSpPr>
              <p:nvPr/>
            </p:nvSpPr>
            <p:spPr bwMode="auto">
              <a:xfrm>
                <a:off x="2971284" y="2088357"/>
                <a:ext cx="1697729" cy="6096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lang="ru-RU" sz="2000" b="0" dirty="0" err="1">
                    <a:solidFill>
                      <a:srgbClr val="000000"/>
                    </a:solidFill>
                  </a:rPr>
                  <a:t>Забронювати</a:t>
                </a:r>
                <a:endParaRPr lang="ru-RU" sz="2000" b="0" dirty="0">
                  <a:solidFill>
                    <a:srgbClr val="000000"/>
                  </a:solidFill>
                </a:endParaRPr>
              </a:p>
              <a:p>
                <a:pPr algn="ctr"/>
                <a:r>
                  <a:rPr lang="ru-RU" sz="2000" b="0" dirty="0">
                    <a:solidFill>
                      <a:srgbClr val="000000"/>
                    </a:solidFill>
                  </a:rPr>
                  <a:t> </a:t>
                </a:r>
                <a:r>
                  <a:rPr lang="ru-RU" sz="2000" b="0" dirty="0" err="1">
                    <a:solidFill>
                      <a:srgbClr val="000000"/>
                    </a:solidFill>
                  </a:rPr>
                  <a:t>білет</a:t>
                </a:r>
                <a:endParaRPr lang="ru-RU" sz="2000" b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Line 33"/>
              <p:cNvSpPr>
                <a:spLocks noChangeShapeType="1"/>
              </p:cNvSpPr>
              <p:nvPr/>
            </p:nvSpPr>
            <p:spPr bwMode="auto">
              <a:xfrm flipH="1" flipV="1">
                <a:off x="1707325" y="2199482"/>
                <a:ext cx="926960" cy="257175"/>
              </a:xfrm>
              <a:prstGeom prst="line">
                <a:avLst/>
              </a:prstGeom>
              <a:noFill/>
              <a:ln w="39688" cap="rnd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9" name="Freeform 10"/>
            <p:cNvSpPr>
              <a:spLocks/>
            </p:cNvSpPr>
            <p:nvPr/>
          </p:nvSpPr>
          <p:spPr bwMode="auto">
            <a:xfrm>
              <a:off x="3180104" y="4830043"/>
              <a:ext cx="261450" cy="222250"/>
            </a:xfrm>
            <a:custGeom>
              <a:avLst/>
              <a:gdLst>
                <a:gd name="T0" fmla="*/ 0 w 125"/>
                <a:gd name="T1" fmla="*/ 62 h 124"/>
                <a:gd name="T2" fmla="*/ 63 w 125"/>
                <a:gd name="T3" fmla="*/ 0 h 124"/>
                <a:gd name="T4" fmla="*/ 125 w 125"/>
                <a:gd name="T5" fmla="*/ 62 h 124"/>
                <a:gd name="T6" fmla="*/ 125 w 125"/>
                <a:gd name="T7" fmla="*/ 62 h 124"/>
                <a:gd name="T8" fmla="*/ 63 w 125"/>
                <a:gd name="T9" fmla="*/ 124 h 124"/>
                <a:gd name="T10" fmla="*/ 0 w 125"/>
                <a:gd name="T11" fmla="*/ 62 h 1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5"/>
                <a:gd name="T19" fmla="*/ 0 h 124"/>
                <a:gd name="T20" fmla="*/ 125 w 125"/>
                <a:gd name="T21" fmla="*/ 124 h 1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5" h="124">
                  <a:moveTo>
                    <a:pt x="0" y="62"/>
                  </a:moveTo>
                  <a:cubicBezTo>
                    <a:pt x="0" y="28"/>
                    <a:pt x="28" y="0"/>
                    <a:pt x="63" y="0"/>
                  </a:cubicBezTo>
                  <a:cubicBezTo>
                    <a:pt x="97" y="0"/>
                    <a:pt x="125" y="28"/>
                    <a:pt x="125" y="62"/>
                  </a:cubicBezTo>
                  <a:cubicBezTo>
                    <a:pt x="125" y="62"/>
                    <a:pt x="125" y="62"/>
                    <a:pt x="125" y="62"/>
                  </a:cubicBezTo>
                  <a:cubicBezTo>
                    <a:pt x="125" y="96"/>
                    <a:pt x="97" y="124"/>
                    <a:pt x="63" y="124"/>
                  </a:cubicBezTo>
                  <a:cubicBezTo>
                    <a:pt x="28" y="124"/>
                    <a:pt x="0" y="96"/>
                    <a:pt x="0" y="62"/>
                  </a:cubicBezTo>
                </a:path>
              </a:pathLst>
            </a:custGeom>
            <a:solidFill>
              <a:schemeClr val="bg1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3957588" y="5172066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0" dirty="0" smtClean="0"/>
              <a:t>1</a:t>
            </a:r>
            <a:endParaRPr lang="ru-RU" b="0" dirty="0"/>
          </a:p>
        </p:txBody>
      </p:sp>
      <p:sp>
        <p:nvSpPr>
          <p:cNvPr id="22" name="TextBox 21"/>
          <p:cNvSpPr txBox="1"/>
          <p:nvPr/>
        </p:nvSpPr>
        <p:spPr>
          <a:xfrm>
            <a:off x="4638210" y="5473878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0" dirty="0" smtClean="0"/>
              <a:t>*</a:t>
            </a:r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466917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551863" y="6597650"/>
            <a:ext cx="592137" cy="274638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>
                <a:solidFill>
                  <a:srgbClr val="FFFFFF"/>
                </a:solidFill>
              </a:rPr>
              <a:pPr/>
              <a:t>19</a:t>
            </a:fld>
            <a:endParaRPr lang="uk-UA" dirty="0">
              <a:solidFill>
                <a:srgbClr val="FFFFFF"/>
              </a:solidFill>
            </a:endParaRPr>
          </a:p>
        </p:txBody>
      </p:sp>
      <p:sp>
        <p:nvSpPr>
          <p:cNvPr id="3" name="Прямокутник 2"/>
          <p:cNvSpPr/>
          <p:nvPr/>
        </p:nvSpPr>
        <p:spPr>
          <a:xfrm>
            <a:off x="231304" y="1052736"/>
            <a:ext cx="891269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100" dirty="0" err="1" smtClean="0">
                <a:solidFill>
                  <a:srgbClr val="0000CC"/>
                </a:solidFill>
              </a:rPr>
              <a:t>Відношення</a:t>
            </a:r>
            <a:r>
              <a:rPr lang="ru-RU" sz="2100" dirty="0" smtClean="0">
                <a:solidFill>
                  <a:srgbClr val="0000CC"/>
                </a:solidFill>
              </a:rPr>
              <a:t> </a:t>
            </a:r>
            <a:r>
              <a:rPr lang="ru-RU" sz="2100" dirty="0" err="1" smtClean="0">
                <a:solidFill>
                  <a:srgbClr val="0000CC"/>
                </a:solidFill>
              </a:rPr>
              <a:t>розширення</a:t>
            </a:r>
            <a:r>
              <a:rPr lang="ru-RU" sz="2100" dirty="0" smtClean="0">
                <a:solidFill>
                  <a:srgbClr val="0000CC"/>
                </a:solidFill>
              </a:rPr>
              <a:t> </a:t>
            </a:r>
            <a:r>
              <a:rPr lang="ru-RU" sz="2100" b="0" dirty="0" smtClean="0"/>
              <a:t>- </a:t>
            </a:r>
            <a:r>
              <a:rPr lang="ru-RU" sz="2100" b="0" dirty="0" err="1"/>
              <a:t>визначає</a:t>
            </a:r>
            <a:r>
              <a:rPr lang="ru-RU" sz="2100" b="0" dirty="0"/>
              <a:t> </a:t>
            </a:r>
            <a:r>
              <a:rPr lang="ru-RU" sz="2100" b="0" dirty="0" err="1"/>
              <a:t>взаємозв'язок</a:t>
            </a:r>
            <a:r>
              <a:rPr lang="ru-RU" sz="2100" b="0" dirty="0"/>
              <a:t> </a:t>
            </a:r>
            <a:r>
              <a:rPr lang="ru-RU" sz="2100" b="0" dirty="0" err="1"/>
              <a:t>екземплярів</a:t>
            </a:r>
            <a:r>
              <a:rPr lang="ru-RU" sz="2100" b="0" dirty="0"/>
              <a:t> </a:t>
            </a:r>
            <a:r>
              <a:rPr lang="ru-RU" sz="2100" b="0" dirty="0" err="1"/>
              <a:t>окремого</a:t>
            </a:r>
            <a:r>
              <a:rPr lang="ru-RU" sz="2100" b="0" dirty="0"/>
              <a:t> </a:t>
            </a:r>
            <a:r>
              <a:rPr lang="ru-RU" sz="2100" b="0" dirty="0" smtClean="0"/>
              <a:t>прецедента з </a:t>
            </a:r>
            <a:r>
              <a:rPr lang="ru-RU" sz="2100" b="0" dirty="0" err="1"/>
              <a:t>більш</a:t>
            </a:r>
            <a:r>
              <a:rPr lang="ru-RU" sz="2100" b="0" dirty="0"/>
              <a:t> </a:t>
            </a:r>
            <a:r>
              <a:rPr lang="ru-RU" sz="2100" b="0" dirty="0" err="1"/>
              <a:t>загальним</a:t>
            </a:r>
            <a:r>
              <a:rPr lang="ru-RU" sz="2100" b="0" dirty="0"/>
              <a:t> </a:t>
            </a:r>
            <a:r>
              <a:rPr lang="ru-RU" sz="2100" b="0" dirty="0" err="1"/>
              <a:t>варіантом</a:t>
            </a:r>
            <a:r>
              <a:rPr lang="ru-RU" sz="2100" b="0" dirty="0"/>
              <a:t>, </a:t>
            </a:r>
            <a:r>
              <a:rPr lang="ru-RU" sz="2100" b="0" dirty="0" err="1"/>
              <a:t>властивості</a:t>
            </a:r>
            <a:r>
              <a:rPr lang="ru-RU" sz="2100" b="0" dirty="0"/>
              <a:t> </a:t>
            </a:r>
            <a:r>
              <a:rPr lang="ru-RU" sz="2100" b="0" dirty="0" err="1"/>
              <a:t>якого</a:t>
            </a:r>
            <a:r>
              <a:rPr lang="ru-RU" sz="2100" b="0" dirty="0"/>
              <a:t> </a:t>
            </a:r>
            <a:r>
              <a:rPr lang="ru-RU" sz="2100" b="0" dirty="0" err="1"/>
              <a:t>визначаються</a:t>
            </a:r>
            <a:r>
              <a:rPr lang="ru-RU" sz="2100" b="0" dirty="0"/>
              <a:t> на </a:t>
            </a:r>
            <a:r>
              <a:rPr lang="ru-RU" sz="2100" b="0" dirty="0" err="1"/>
              <a:t>основі</a:t>
            </a:r>
            <a:r>
              <a:rPr lang="ru-RU" sz="2100" b="0" dirty="0"/>
              <a:t> способу </a:t>
            </a:r>
            <a:r>
              <a:rPr lang="ru-RU" sz="2100" dirty="0" err="1"/>
              <a:t>спільного</a:t>
            </a:r>
            <a:r>
              <a:rPr lang="ru-RU" sz="2100" dirty="0"/>
              <a:t> </a:t>
            </a:r>
            <a:r>
              <a:rPr lang="ru-RU" sz="2100" dirty="0" err="1"/>
              <a:t>об'єднання</a:t>
            </a:r>
            <a:r>
              <a:rPr lang="ru-RU" sz="2100" dirty="0"/>
              <a:t> </a:t>
            </a:r>
            <a:r>
              <a:rPr lang="ru-RU" sz="2100" dirty="0" err="1"/>
              <a:t>даних</a:t>
            </a:r>
            <a:r>
              <a:rPr lang="ru-RU" sz="2100" dirty="0"/>
              <a:t> </a:t>
            </a:r>
            <a:r>
              <a:rPr lang="ru-RU" sz="2100" dirty="0" err="1"/>
              <a:t>екземплярів</a:t>
            </a:r>
            <a:r>
              <a:rPr lang="ru-RU" sz="2100" dirty="0"/>
              <a:t>.</a:t>
            </a:r>
          </a:p>
          <a:p>
            <a:pPr>
              <a:spcAft>
                <a:spcPts val="600"/>
              </a:spcAft>
            </a:pPr>
            <a:r>
              <a:rPr lang="ru-RU" sz="2100" b="0" dirty="0" err="1" smtClean="0"/>
              <a:t>Позначення</a:t>
            </a:r>
            <a:r>
              <a:rPr lang="ru-RU" sz="2100" b="0" dirty="0" smtClean="0"/>
              <a:t> - </a:t>
            </a:r>
            <a:r>
              <a:rPr lang="ru-RU" sz="2100" b="0" dirty="0"/>
              <a:t>пунктирна </a:t>
            </a:r>
            <a:r>
              <a:rPr lang="ru-RU" sz="2100" b="0" dirty="0" err="1"/>
              <a:t>лінією</a:t>
            </a:r>
            <a:r>
              <a:rPr lang="ru-RU" sz="2100" b="0" dirty="0"/>
              <a:t> </a:t>
            </a:r>
            <a:r>
              <a:rPr lang="ru-RU" sz="2100" b="0" dirty="0" err="1"/>
              <a:t>зі</a:t>
            </a:r>
            <a:r>
              <a:rPr lang="ru-RU" sz="2100" b="0" dirty="0"/>
              <a:t> </a:t>
            </a:r>
            <a:r>
              <a:rPr lang="ru-RU" sz="2100" b="0" dirty="0" err="1"/>
              <a:t>стрілкою</a:t>
            </a:r>
            <a:r>
              <a:rPr lang="ru-RU" sz="2100" b="0" dirty="0"/>
              <a:t> (</a:t>
            </a:r>
            <a:r>
              <a:rPr lang="ru-RU" sz="2100" b="0" dirty="0" err="1"/>
              <a:t>варіант</a:t>
            </a:r>
            <a:r>
              <a:rPr lang="ru-RU" sz="2100" b="0" dirty="0"/>
              <a:t> </a:t>
            </a:r>
            <a:r>
              <a:rPr lang="ru-RU" sz="2100" b="0" dirty="0" err="1"/>
              <a:t>відношення</a:t>
            </a:r>
            <a:r>
              <a:rPr lang="ru-RU" sz="2100" b="0" dirty="0"/>
              <a:t> </a:t>
            </a:r>
            <a:r>
              <a:rPr lang="ru-RU" sz="2100" b="0" dirty="0" err="1"/>
              <a:t>залежності</a:t>
            </a:r>
            <a:r>
              <a:rPr lang="ru-RU" sz="2100" b="0" dirty="0"/>
              <a:t>), </a:t>
            </a:r>
            <a:r>
              <a:rPr lang="ru-RU" sz="2100" b="0" dirty="0" err="1"/>
              <a:t>спрямованої</a:t>
            </a:r>
            <a:r>
              <a:rPr lang="ru-RU" sz="2100" b="0" dirty="0"/>
              <a:t> </a:t>
            </a:r>
            <a:r>
              <a:rPr lang="ru-RU" sz="2100" dirty="0" err="1"/>
              <a:t>від</a:t>
            </a:r>
            <a:r>
              <a:rPr lang="ru-RU" sz="2100" dirty="0"/>
              <a:t> того </a:t>
            </a:r>
            <a:r>
              <a:rPr lang="ru-RU" sz="2100" dirty="0" err="1"/>
              <a:t>варіанту</a:t>
            </a:r>
            <a:r>
              <a:rPr lang="ru-RU" sz="2100" dirty="0"/>
              <a:t> </a:t>
            </a:r>
            <a:r>
              <a:rPr lang="ru-RU" sz="2100" dirty="0" err="1"/>
              <a:t>використання</a:t>
            </a:r>
            <a:r>
              <a:rPr lang="ru-RU" sz="2100" dirty="0"/>
              <a:t>, </a:t>
            </a:r>
            <a:r>
              <a:rPr lang="ru-RU" sz="2100" dirty="0" err="1"/>
              <a:t>який</a:t>
            </a:r>
            <a:r>
              <a:rPr lang="ru-RU" sz="2100" dirty="0"/>
              <a:t> є </a:t>
            </a:r>
            <a:r>
              <a:rPr lang="ru-RU" sz="2100" dirty="0" err="1"/>
              <a:t>розширенням</a:t>
            </a:r>
            <a:r>
              <a:rPr lang="ru-RU" sz="2100" dirty="0"/>
              <a:t> </a:t>
            </a:r>
            <a:r>
              <a:rPr lang="ru-RU" sz="2100" b="0" dirty="0"/>
              <a:t>для початкового </a:t>
            </a:r>
            <a:r>
              <a:rPr lang="ru-RU" sz="2100" b="0" dirty="0" err="1"/>
              <a:t>варіанту</a:t>
            </a:r>
            <a:r>
              <a:rPr lang="ru-RU" sz="2100" b="0" dirty="0"/>
              <a:t> </a:t>
            </a:r>
            <a:r>
              <a:rPr lang="ru-RU" sz="2100" b="0" dirty="0" err="1"/>
              <a:t>використання</a:t>
            </a:r>
            <a:r>
              <a:rPr lang="ru-RU" sz="2100" b="0" dirty="0"/>
              <a:t>. </a:t>
            </a:r>
            <a:r>
              <a:rPr lang="ru-RU" sz="2100" b="0" dirty="0" err="1"/>
              <a:t>Лінія</a:t>
            </a:r>
            <a:r>
              <a:rPr lang="ru-RU" sz="2100" b="0" dirty="0"/>
              <a:t> </a:t>
            </a:r>
            <a:r>
              <a:rPr lang="ru-RU" sz="2100" b="0" dirty="0" err="1"/>
              <a:t>зі</a:t>
            </a:r>
            <a:r>
              <a:rPr lang="ru-RU" sz="2100" b="0" dirty="0"/>
              <a:t> </a:t>
            </a:r>
            <a:r>
              <a:rPr lang="ru-RU" sz="2100" b="0" dirty="0" err="1"/>
              <a:t>стрілкою</a:t>
            </a:r>
            <a:r>
              <a:rPr lang="ru-RU" sz="2100" b="0" dirty="0"/>
              <a:t> </a:t>
            </a:r>
            <a:r>
              <a:rPr lang="ru-RU" sz="2100" b="0" dirty="0" err="1"/>
              <a:t>позначається</a:t>
            </a:r>
            <a:r>
              <a:rPr lang="ru-RU" sz="2100" b="0" dirty="0"/>
              <a:t> </a:t>
            </a:r>
            <a:r>
              <a:rPr lang="ru-RU" sz="2100" b="0" dirty="0" err="1"/>
              <a:t>ключовим</a:t>
            </a:r>
            <a:r>
              <a:rPr lang="ru-RU" sz="2100" b="0" dirty="0"/>
              <a:t> словом </a:t>
            </a:r>
            <a:r>
              <a:rPr lang="ru-RU" sz="2100" b="0" dirty="0">
                <a:solidFill>
                  <a:srgbClr val="0000CC"/>
                </a:solidFill>
              </a:rPr>
              <a:t>«</a:t>
            </a:r>
            <a:r>
              <a:rPr lang="en-US" sz="2100" b="0" dirty="0">
                <a:solidFill>
                  <a:srgbClr val="0000CC"/>
                </a:solidFill>
              </a:rPr>
              <a:t>extend» (</a:t>
            </a:r>
            <a:r>
              <a:rPr lang="ru-RU" sz="2100" b="0" dirty="0" err="1">
                <a:solidFill>
                  <a:srgbClr val="0000CC"/>
                </a:solidFill>
              </a:rPr>
              <a:t>розширює</a:t>
            </a:r>
            <a:r>
              <a:rPr lang="ru-RU" sz="2100" b="0" dirty="0">
                <a:solidFill>
                  <a:srgbClr val="0000CC"/>
                </a:solidFill>
              </a:rPr>
              <a:t>).</a:t>
            </a:r>
          </a:p>
          <a:p>
            <a:pPr>
              <a:spcAft>
                <a:spcPts val="600"/>
              </a:spcAft>
            </a:pPr>
            <a:r>
              <a:rPr lang="ru-RU" sz="2100" b="0" dirty="0" smtClean="0"/>
              <a:t>Один </a:t>
            </a:r>
            <a:r>
              <a:rPr lang="ru-RU" sz="2100" b="0" dirty="0" err="1"/>
              <a:t>варіант</a:t>
            </a:r>
            <a:r>
              <a:rPr lang="ru-RU" sz="2100" b="0" dirty="0"/>
              <a:t> </a:t>
            </a:r>
            <a:r>
              <a:rPr lang="ru-RU" sz="2100" b="0" dirty="0" err="1"/>
              <a:t>використання</a:t>
            </a:r>
            <a:r>
              <a:rPr lang="ru-RU" sz="2100" b="0" dirty="0"/>
              <a:t> </a:t>
            </a:r>
            <a:r>
              <a:rPr lang="ru-RU" sz="2100" b="0" dirty="0" err="1"/>
              <a:t>може</a:t>
            </a:r>
            <a:r>
              <a:rPr lang="ru-RU" sz="2100" b="0" dirty="0"/>
              <a:t> бути </a:t>
            </a:r>
            <a:r>
              <a:rPr lang="ru-RU" sz="2100" b="0" dirty="0" err="1"/>
              <a:t>розширенням</a:t>
            </a:r>
            <a:r>
              <a:rPr lang="ru-RU" sz="2100" b="0" dirty="0"/>
              <a:t> для </a:t>
            </a:r>
            <a:r>
              <a:rPr lang="ru-RU" sz="2100" b="0" dirty="0" err="1"/>
              <a:t>декількох</a:t>
            </a:r>
            <a:r>
              <a:rPr lang="ru-RU" sz="2100" b="0" dirty="0"/>
              <a:t> </a:t>
            </a:r>
            <a:r>
              <a:rPr lang="ru-RU" sz="2100" b="0" dirty="0" err="1"/>
              <a:t>базових</a:t>
            </a:r>
            <a:r>
              <a:rPr lang="ru-RU" sz="2100" b="0" dirty="0"/>
              <a:t> </a:t>
            </a:r>
            <a:r>
              <a:rPr lang="ru-RU" sz="2100" b="0" dirty="0" err="1"/>
              <a:t>варіантів</a:t>
            </a:r>
            <a:r>
              <a:rPr lang="ru-RU" sz="2100" b="0" dirty="0"/>
              <a:t>, а </a:t>
            </a:r>
            <a:r>
              <a:rPr lang="ru-RU" sz="2100" b="0" dirty="0" err="1"/>
              <a:t>також</a:t>
            </a:r>
            <a:r>
              <a:rPr lang="ru-RU" sz="2100" b="0" dirty="0"/>
              <a:t> </a:t>
            </a:r>
            <a:r>
              <a:rPr lang="ru-RU" sz="2100" b="0" dirty="0" err="1"/>
              <a:t>мати</a:t>
            </a:r>
            <a:r>
              <a:rPr lang="ru-RU" sz="2100" b="0" dirty="0"/>
              <a:t> в </a:t>
            </a:r>
            <a:r>
              <a:rPr lang="ru-RU" sz="2100" b="0" dirty="0" err="1"/>
              <a:t>якості</a:t>
            </a:r>
            <a:r>
              <a:rPr lang="ru-RU" sz="2100" b="0" dirty="0"/>
              <a:t> </a:t>
            </a:r>
            <a:r>
              <a:rPr lang="ru-RU" sz="2100" b="0" dirty="0" err="1"/>
              <a:t>власних</a:t>
            </a:r>
            <a:r>
              <a:rPr lang="ru-RU" sz="2100" b="0" dirty="0"/>
              <a:t> </a:t>
            </a:r>
            <a:r>
              <a:rPr lang="ru-RU" sz="2100" b="0" dirty="0" err="1"/>
              <a:t>розширень</a:t>
            </a:r>
            <a:r>
              <a:rPr lang="ru-RU" sz="2100" b="0" dirty="0"/>
              <a:t> </a:t>
            </a:r>
            <a:r>
              <a:rPr lang="ru-RU" sz="2100" b="0" dirty="0" err="1"/>
              <a:t>кілька</a:t>
            </a:r>
            <a:r>
              <a:rPr lang="ru-RU" sz="2100" b="0" dirty="0"/>
              <a:t> </a:t>
            </a:r>
            <a:r>
              <a:rPr lang="ru-RU" sz="2100" b="0" dirty="0" err="1"/>
              <a:t>інших</a:t>
            </a:r>
            <a:r>
              <a:rPr lang="ru-RU" sz="2100" b="0" dirty="0"/>
              <a:t> </a:t>
            </a:r>
            <a:r>
              <a:rPr lang="ru-RU" sz="2100" b="0" dirty="0" err="1"/>
              <a:t>варіантів</a:t>
            </a:r>
            <a:r>
              <a:rPr lang="ru-RU" sz="2100" b="0" dirty="0"/>
              <a:t>.</a:t>
            </a:r>
          </a:p>
          <a:p>
            <a:pPr>
              <a:spcAft>
                <a:spcPts val="600"/>
              </a:spcAft>
            </a:pPr>
            <a:r>
              <a:rPr lang="ru-RU" sz="2100" b="0" dirty="0" err="1" smtClean="0"/>
              <a:t>Базовий</a:t>
            </a:r>
            <a:r>
              <a:rPr lang="ru-RU" sz="2100" b="0" dirty="0" smtClean="0"/>
              <a:t> </a:t>
            </a:r>
            <a:r>
              <a:rPr lang="ru-RU" sz="2100" b="0" dirty="0" err="1"/>
              <a:t>варіант</a:t>
            </a:r>
            <a:r>
              <a:rPr lang="ru-RU" sz="2100" b="0" dirty="0"/>
              <a:t> </a:t>
            </a:r>
            <a:r>
              <a:rPr lang="ru-RU" sz="2100" b="0" dirty="0" err="1"/>
              <a:t>використання</a:t>
            </a:r>
            <a:r>
              <a:rPr lang="ru-RU" sz="2100" b="0" dirty="0"/>
              <a:t> </a:t>
            </a:r>
            <a:r>
              <a:rPr lang="ru-RU" sz="2100" b="0" dirty="0" err="1"/>
              <a:t>може</a:t>
            </a:r>
            <a:r>
              <a:rPr lang="ru-RU" sz="2100" b="0" dirty="0"/>
              <a:t> </a:t>
            </a:r>
            <a:r>
              <a:rPr lang="ru-RU" sz="2100" b="0" dirty="0" err="1"/>
              <a:t>додатково</a:t>
            </a:r>
            <a:r>
              <a:rPr lang="ru-RU" sz="2100" b="0" dirty="0"/>
              <a:t> </a:t>
            </a:r>
            <a:r>
              <a:rPr lang="ru-RU" sz="2100" b="0" dirty="0" err="1"/>
              <a:t>ніяк</a:t>
            </a:r>
            <a:r>
              <a:rPr lang="ru-RU" sz="2100" b="0" dirty="0"/>
              <a:t> не </a:t>
            </a:r>
            <a:r>
              <a:rPr lang="ru-RU" sz="2100" b="0" dirty="0" err="1"/>
              <a:t>залежати</a:t>
            </a:r>
            <a:r>
              <a:rPr lang="ru-RU" sz="2100" b="0" dirty="0"/>
              <a:t> </a:t>
            </a:r>
            <a:r>
              <a:rPr lang="ru-RU" sz="2100" b="0" dirty="0" err="1"/>
              <a:t>від</a:t>
            </a:r>
            <a:r>
              <a:rPr lang="ru-RU" sz="2100" b="0" dirty="0"/>
              <a:t> </a:t>
            </a:r>
            <a:r>
              <a:rPr lang="ru-RU" sz="2100" b="0" dirty="0" err="1"/>
              <a:t>своїх</a:t>
            </a:r>
            <a:r>
              <a:rPr lang="ru-RU" sz="2100" b="0" dirty="0"/>
              <a:t> </a:t>
            </a:r>
            <a:r>
              <a:rPr lang="ru-RU" sz="2100" b="0" dirty="0" err="1"/>
              <a:t>розширень</a:t>
            </a:r>
            <a:r>
              <a:rPr lang="ru-RU" sz="2100" b="0" dirty="0"/>
              <a:t>.</a:t>
            </a:r>
          </a:p>
        </p:txBody>
      </p:sp>
      <p:sp>
        <p:nvSpPr>
          <p:cNvPr id="4" name="Прямокутник 3"/>
          <p:cNvSpPr/>
          <p:nvPr/>
        </p:nvSpPr>
        <p:spPr>
          <a:xfrm>
            <a:off x="231304" y="127556"/>
            <a:ext cx="87331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 err="1">
                <a:solidFill>
                  <a:schemeClr val="bg1"/>
                </a:solidFill>
              </a:rPr>
              <a:t>Відношення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err="1">
                <a:solidFill>
                  <a:schemeClr val="bg1"/>
                </a:solidFill>
              </a:rPr>
              <a:t>розширення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6824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366125" y="6597650"/>
            <a:ext cx="777875" cy="260350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/>
              <a:pPr/>
              <a:t>20</a:t>
            </a:fld>
            <a:endParaRPr lang="uk-UA" dirty="0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472" y="1426332"/>
            <a:ext cx="7128792" cy="4248472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кутник 3"/>
          <p:cNvSpPr/>
          <p:nvPr/>
        </p:nvSpPr>
        <p:spPr>
          <a:xfrm>
            <a:off x="231304" y="127556"/>
            <a:ext cx="87331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dirty="0" err="1">
                <a:solidFill>
                  <a:schemeClr val="bg1"/>
                </a:solidFill>
              </a:rPr>
              <a:t>Відношення</a:t>
            </a:r>
            <a:r>
              <a:rPr lang="ru-RU" sz="3600" dirty="0">
                <a:solidFill>
                  <a:schemeClr val="bg1"/>
                </a:solidFill>
              </a:rPr>
              <a:t> </a:t>
            </a:r>
            <a:r>
              <a:rPr lang="ru-RU" sz="3600" dirty="0" err="1">
                <a:solidFill>
                  <a:schemeClr val="bg1"/>
                </a:solidFill>
              </a:rPr>
              <a:t>розширення</a:t>
            </a:r>
            <a:r>
              <a:rPr lang="ru-RU" sz="3600" dirty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5" name="Пряма зі стрілкою 4"/>
          <p:cNvCxnSpPr>
            <a:stCxn id="9" idx="2"/>
          </p:cNvCxnSpPr>
          <p:nvPr/>
        </p:nvCxnSpPr>
        <p:spPr bwMode="auto">
          <a:xfrm>
            <a:off x="908466" y="1352352"/>
            <a:ext cx="999238" cy="3484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" name="Пряма зі стрілкою 6"/>
          <p:cNvCxnSpPr/>
          <p:nvPr/>
        </p:nvCxnSpPr>
        <p:spPr bwMode="auto">
          <a:xfrm flipH="1">
            <a:off x="5868144" y="1196752"/>
            <a:ext cx="1224136" cy="7200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-18764" y="706021"/>
            <a:ext cx="1854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0" dirty="0" smtClean="0"/>
              <a:t>Прецедент, що розширюється</a:t>
            </a:r>
            <a:endParaRPr lang="ru-RU" b="0" dirty="0"/>
          </a:p>
        </p:txBody>
      </p:sp>
      <p:sp>
        <p:nvSpPr>
          <p:cNvPr id="13" name="TextBox 12"/>
          <p:cNvSpPr txBox="1"/>
          <p:nvPr/>
        </p:nvSpPr>
        <p:spPr>
          <a:xfrm>
            <a:off x="7143316" y="802449"/>
            <a:ext cx="1692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0" dirty="0" smtClean="0"/>
              <a:t>Прецедент, що розширює</a:t>
            </a:r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1659675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366125" y="6597650"/>
            <a:ext cx="777875" cy="260350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/>
              <a:pPr/>
              <a:t>21</a:t>
            </a:fld>
            <a:endParaRPr lang="uk-UA" dirty="0"/>
          </a:p>
        </p:txBody>
      </p:sp>
      <p:sp>
        <p:nvSpPr>
          <p:cNvPr id="3" name="TextBox 2"/>
          <p:cNvSpPr txBox="1"/>
          <p:nvPr/>
        </p:nvSpPr>
        <p:spPr>
          <a:xfrm>
            <a:off x="25028" y="0"/>
            <a:ext cx="9118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600" b="1" dirty="0" smtClean="0">
                <a:solidFill>
                  <a:schemeClr val="bg1"/>
                </a:solidFill>
              </a:rPr>
              <a:t>Відношення включення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4" name="Прямокутник 3"/>
          <p:cNvSpPr/>
          <p:nvPr/>
        </p:nvSpPr>
        <p:spPr>
          <a:xfrm>
            <a:off x="25028" y="1052736"/>
            <a:ext cx="9077672" cy="4847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100" dirty="0" err="1" smtClean="0">
                <a:solidFill>
                  <a:srgbClr val="0000CC"/>
                </a:solidFill>
              </a:rPr>
              <a:t>Відношення</a:t>
            </a:r>
            <a:r>
              <a:rPr lang="ru-RU" sz="2100" dirty="0" smtClean="0">
                <a:solidFill>
                  <a:srgbClr val="0000CC"/>
                </a:solidFill>
              </a:rPr>
              <a:t> </a:t>
            </a:r>
            <a:r>
              <a:rPr lang="ru-RU" sz="2100" dirty="0" err="1" smtClean="0">
                <a:solidFill>
                  <a:srgbClr val="0000CC"/>
                </a:solidFill>
              </a:rPr>
              <a:t>включення</a:t>
            </a:r>
            <a:r>
              <a:rPr lang="ru-RU" sz="2100" dirty="0" smtClean="0">
                <a:solidFill>
                  <a:srgbClr val="0000CC"/>
                </a:solidFill>
              </a:rPr>
              <a:t> </a:t>
            </a:r>
            <a:r>
              <a:rPr lang="ru-RU" sz="2100" b="0" dirty="0" err="1"/>
              <a:t>між</a:t>
            </a:r>
            <a:r>
              <a:rPr lang="ru-RU" sz="2100" b="0" dirty="0"/>
              <a:t> </a:t>
            </a:r>
            <a:r>
              <a:rPr lang="ru-RU" sz="2100" b="0" dirty="0" err="1"/>
              <a:t>двома</a:t>
            </a:r>
            <a:r>
              <a:rPr lang="ru-RU" sz="2100" b="0" dirty="0"/>
              <a:t> </a:t>
            </a:r>
            <a:r>
              <a:rPr lang="ru-RU" sz="2100" b="0" dirty="0" err="1"/>
              <a:t>варіантами</a:t>
            </a:r>
            <a:r>
              <a:rPr lang="ru-RU" sz="2100" b="0" dirty="0"/>
              <a:t> </a:t>
            </a:r>
            <a:r>
              <a:rPr lang="ru-RU" sz="2100" b="0" dirty="0" err="1"/>
              <a:t>використання</a:t>
            </a:r>
            <a:r>
              <a:rPr lang="ru-RU" sz="2100" b="0" dirty="0"/>
              <a:t> </a:t>
            </a:r>
            <a:r>
              <a:rPr lang="ru-RU" sz="2100" b="0" dirty="0" err="1"/>
              <a:t>вказує</a:t>
            </a:r>
            <a:r>
              <a:rPr lang="ru-RU" sz="2100" b="0" dirty="0"/>
              <a:t>, </a:t>
            </a:r>
            <a:r>
              <a:rPr lang="ru-RU" sz="2100" b="0" dirty="0" err="1"/>
              <a:t>що</a:t>
            </a:r>
            <a:r>
              <a:rPr lang="ru-RU" sz="2100" b="0" dirty="0"/>
              <a:t> </a:t>
            </a:r>
            <a:r>
              <a:rPr lang="ru-RU" sz="2100" b="0" dirty="0" err="1" smtClean="0"/>
              <a:t>деяка</a:t>
            </a:r>
            <a:r>
              <a:rPr lang="ru-RU" sz="2100" b="0" dirty="0" smtClean="0"/>
              <a:t> задана </a:t>
            </a:r>
            <a:r>
              <a:rPr lang="ru-RU" sz="2100" b="0" dirty="0" err="1"/>
              <a:t>поведінка</a:t>
            </a:r>
            <a:r>
              <a:rPr lang="ru-RU" sz="2100" b="0" dirty="0"/>
              <a:t> для одного </a:t>
            </a:r>
            <a:r>
              <a:rPr lang="ru-RU" sz="2100" b="0" dirty="0" err="1"/>
              <a:t>варіанта</a:t>
            </a:r>
            <a:r>
              <a:rPr lang="ru-RU" sz="2100" b="0" dirty="0"/>
              <a:t> </a:t>
            </a:r>
            <a:r>
              <a:rPr lang="ru-RU" sz="2100" b="0" dirty="0" err="1"/>
              <a:t>використання</a:t>
            </a:r>
            <a:r>
              <a:rPr lang="ru-RU" sz="2100" b="0" dirty="0"/>
              <a:t> </a:t>
            </a:r>
            <a:r>
              <a:rPr lang="ru-RU" sz="2100" dirty="0" err="1"/>
              <a:t>включається</a:t>
            </a:r>
            <a:r>
              <a:rPr lang="ru-RU" sz="2100" dirty="0"/>
              <a:t> як </a:t>
            </a:r>
            <a:r>
              <a:rPr lang="ru-RU" sz="2100" dirty="0" err="1"/>
              <a:t>складовий</a:t>
            </a:r>
            <a:r>
              <a:rPr lang="ru-RU" sz="2100" dirty="0"/>
              <a:t> компонент в </a:t>
            </a:r>
            <a:r>
              <a:rPr lang="ru-RU" sz="2100" dirty="0" err="1"/>
              <a:t>послідовність</a:t>
            </a:r>
            <a:r>
              <a:rPr lang="ru-RU" sz="2100" dirty="0"/>
              <a:t> </a:t>
            </a:r>
            <a:r>
              <a:rPr lang="ru-RU" sz="2100" dirty="0" err="1"/>
              <a:t>поведінки</a:t>
            </a:r>
            <a:r>
              <a:rPr lang="ru-RU" sz="2100" dirty="0"/>
              <a:t> </a:t>
            </a:r>
            <a:r>
              <a:rPr lang="ru-RU" sz="2100" dirty="0" err="1"/>
              <a:t>іншого</a:t>
            </a:r>
            <a:r>
              <a:rPr lang="ru-RU" sz="2100" dirty="0"/>
              <a:t> </a:t>
            </a:r>
            <a:r>
              <a:rPr lang="ru-RU" sz="2100" b="0" dirty="0" err="1"/>
              <a:t>варіанту</a:t>
            </a:r>
            <a:r>
              <a:rPr lang="ru-RU" sz="2100" b="0" dirty="0"/>
              <a:t> </a:t>
            </a:r>
            <a:r>
              <a:rPr lang="ru-RU" sz="2100" b="0" dirty="0" err="1"/>
              <a:t>використання</a:t>
            </a:r>
            <a:r>
              <a:rPr lang="ru-RU" sz="2100" b="0" dirty="0"/>
              <a:t>.</a:t>
            </a:r>
          </a:p>
          <a:p>
            <a:pPr>
              <a:spcAft>
                <a:spcPts val="600"/>
              </a:spcAft>
            </a:pPr>
            <a:r>
              <a:rPr lang="ru-RU" sz="2100" b="0" dirty="0" smtClean="0"/>
              <a:t>Один </a:t>
            </a:r>
            <a:r>
              <a:rPr lang="ru-RU" sz="2100" b="0" dirty="0" err="1"/>
              <a:t>варіант</a:t>
            </a:r>
            <a:r>
              <a:rPr lang="ru-RU" sz="2100" b="0" dirty="0"/>
              <a:t> </a:t>
            </a:r>
            <a:r>
              <a:rPr lang="ru-RU" sz="2100" b="0" dirty="0" err="1"/>
              <a:t>використання</a:t>
            </a:r>
            <a:r>
              <a:rPr lang="ru-RU" sz="2100" b="0" dirty="0"/>
              <a:t> </a:t>
            </a:r>
            <a:r>
              <a:rPr lang="ru-RU" sz="2100" b="0" dirty="0" err="1"/>
              <a:t>може</a:t>
            </a:r>
            <a:r>
              <a:rPr lang="ru-RU" sz="2100" b="0" dirty="0"/>
              <a:t> бути включений в </a:t>
            </a:r>
            <a:r>
              <a:rPr lang="ru-RU" sz="2100" b="0" dirty="0" err="1"/>
              <a:t>кілька</a:t>
            </a:r>
            <a:r>
              <a:rPr lang="ru-RU" sz="2100" b="0" dirty="0"/>
              <a:t> </a:t>
            </a:r>
            <a:r>
              <a:rPr lang="ru-RU" sz="2100" b="0" dirty="0" err="1"/>
              <a:t>інших</a:t>
            </a:r>
            <a:r>
              <a:rPr lang="ru-RU" sz="2100" b="0" dirty="0"/>
              <a:t> </a:t>
            </a:r>
            <a:r>
              <a:rPr lang="ru-RU" sz="2100" b="0" dirty="0" err="1"/>
              <a:t>варіантів</a:t>
            </a:r>
            <a:r>
              <a:rPr lang="ru-RU" sz="2100" b="0" dirty="0"/>
              <a:t>, а </a:t>
            </a:r>
            <a:r>
              <a:rPr lang="ru-RU" sz="2100" b="0" dirty="0" err="1"/>
              <a:t>також</a:t>
            </a:r>
            <a:r>
              <a:rPr lang="ru-RU" sz="2100" b="0" dirty="0"/>
              <a:t> </a:t>
            </a:r>
            <a:r>
              <a:rPr lang="ru-RU" sz="2100" b="0" dirty="0" err="1"/>
              <a:t>включати</a:t>
            </a:r>
            <a:r>
              <a:rPr lang="ru-RU" sz="2100" b="0" dirty="0"/>
              <a:t> в себе </a:t>
            </a:r>
            <a:r>
              <a:rPr lang="ru-RU" sz="2100" b="0" dirty="0" err="1"/>
              <a:t>інші</a:t>
            </a:r>
            <a:r>
              <a:rPr lang="ru-RU" sz="2100" b="0" dirty="0"/>
              <a:t> </a:t>
            </a:r>
            <a:r>
              <a:rPr lang="ru-RU" sz="2100" b="0" dirty="0" err="1"/>
              <a:t>варіанти</a:t>
            </a:r>
            <a:r>
              <a:rPr lang="ru-RU" sz="2100" b="0" dirty="0"/>
              <a:t>.</a:t>
            </a:r>
          </a:p>
          <a:p>
            <a:pPr>
              <a:spcAft>
                <a:spcPts val="600"/>
              </a:spcAft>
            </a:pPr>
            <a:r>
              <a:rPr lang="ru-RU" sz="2100" b="0" dirty="0" err="1" smtClean="0"/>
              <a:t>Варіант</a:t>
            </a:r>
            <a:r>
              <a:rPr lang="ru-RU" sz="2100" b="0" dirty="0" smtClean="0"/>
              <a:t> </a:t>
            </a:r>
            <a:r>
              <a:rPr lang="ru-RU" sz="2100" b="0" dirty="0" err="1" smtClean="0"/>
              <a:t>використання</a:t>
            </a:r>
            <a:r>
              <a:rPr lang="ru-RU" sz="2100" b="0" dirty="0" smtClean="0"/>
              <a:t>, </a:t>
            </a:r>
            <a:r>
              <a:rPr lang="ru-RU" sz="2100" b="0" dirty="0" err="1" smtClean="0"/>
              <a:t>що</a:t>
            </a:r>
            <a:r>
              <a:rPr lang="ru-RU" sz="2100" b="0" dirty="0" smtClean="0"/>
              <a:t> </a:t>
            </a:r>
            <a:r>
              <a:rPr lang="ru-RU" sz="2100" b="0" dirty="0" err="1" smtClean="0"/>
              <a:t>включається</a:t>
            </a:r>
            <a:r>
              <a:rPr lang="ru-RU" sz="2100" b="0" dirty="0" smtClean="0"/>
              <a:t>, </a:t>
            </a:r>
            <a:r>
              <a:rPr lang="ru-RU" sz="2100" b="0" dirty="0" err="1" smtClean="0"/>
              <a:t>може</a:t>
            </a:r>
            <a:r>
              <a:rPr lang="ru-RU" sz="2100" b="0" dirty="0" smtClean="0"/>
              <a:t> </a:t>
            </a:r>
            <a:r>
              <a:rPr lang="ru-RU" sz="2100" b="0" dirty="0"/>
              <a:t>бути </a:t>
            </a:r>
            <a:r>
              <a:rPr lang="ru-RU" sz="2100" b="0" dirty="0" err="1"/>
              <a:t>незалежним</a:t>
            </a:r>
            <a:r>
              <a:rPr lang="ru-RU" sz="2100" b="0" dirty="0"/>
              <a:t> </a:t>
            </a:r>
            <a:r>
              <a:rPr lang="ru-RU" sz="2100" b="0" dirty="0" err="1"/>
              <a:t>від</a:t>
            </a:r>
            <a:r>
              <a:rPr lang="ru-RU" sz="2100" b="0" dirty="0"/>
              <a:t> базового </a:t>
            </a:r>
            <a:r>
              <a:rPr lang="ru-RU" sz="2100" b="0" dirty="0" err="1"/>
              <a:t>варіанту</a:t>
            </a:r>
            <a:r>
              <a:rPr lang="ru-RU" sz="2100" b="0" dirty="0"/>
              <a:t> в тому </a:t>
            </a:r>
            <a:r>
              <a:rPr lang="ru-RU" sz="2100" b="0" dirty="0" err="1"/>
              <a:t>сенсі</a:t>
            </a:r>
            <a:r>
              <a:rPr lang="ru-RU" sz="2100" b="0" dirty="0"/>
              <a:t>, </a:t>
            </a:r>
            <a:r>
              <a:rPr lang="ru-RU" sz="2100" b="0" dirty="0" err="1"/>
              <a:t>що</a:t>
            </a:r>
            <a:r>
              <a:rPr lang="ru-RU" sz="2100" b="0" dirty="0"/>
              <a:t> </a:t>
            </a:r>
            <a:r>
              <a:rPr lang="ru-RU" sz="2100" b="0" dirty="0" err="1"/>
              <a:t>він</a:t>
            </a:r>
            <a:r>
              <a:rPr lang="ru-RU" sz="2100" b="0" dirty="0"/>
              <a:t> </a:t>
            </a:r>
            <a:r>
              <a:rPr lang="ru-RU" sz="2100" b="0" dirty="0" err="1"/>
              <a:t>надає</a:t>
            </a:r>
            <a:r>
              <a:rPr lang="ru-RU" sz="2100" b="0" dirty="0"/>
              <a:t> </a:t>
            </a:r>
            <a:r>
              <a:rPr lang="ru-RU" sz="2100" b="0" dirty="0" err="1"/>
              <a:t>йому</a:t>
            </a:r>
            <a:r>
              <a:rPr lang="ru-RU" sz="2100" b="0" dirty="0"/>
              <a:t> </a:t>
            </a:r>
            <a:r>
              <a:rPr lang="ru-RU" sz="2100" b="0" dirty="0" err="1" smtClean="0"/>
              <a:t>деяку</a:t>
            </a:r>
            <a:r>
              <a:rPr lang="ru-RU" sz="2100" b="0" dirty="0" smtClean="0"/>
              <a:t> </a:t>
            </a:r>
            <a:r>
              <a:rPr lang="ru-RU" sz="2100" b="0" dirty="0" err="1" smtClean="0"/>
              <a:t>інкапсульовану</a:t>
            </a:r>
            <a:r>
              <a:rPr lang="ru-RU" sz="2100" b="0" dirty="0" smtClean="0"/>
              <a:t> </a:t>
            </a:r>
            <a:r>
              <a:rPr lang="ru-RU" sz="2100" b="0" dirty="0" err="1"/>
              <a:t>поведінку</a:t>
            </a:r>
            <a:r>
              <a:rPr lang="ru-RU" sz="2100" b="0" dirty="0"/>
              <a:t>, </a:t>
            </a:r>
            <a:r>
              <a:rPr lang="ru-RU" sz="2100" b="0" dirty="0" err="1"/>
              <a:t>деталі</a:t>
            </a:r>
            <a:r>
              <a:rPr lang="ru-RU" sz="2100" b="0" dirty="0"/>
              <a:t> </a:t>
            </a:r>
            <a:r>
              <a:rPr lang="ru-RU" sz="2100" b="0" dirty="0" err="1"/>
              <a:t>реалізації</a:t>
            </a:r>
            <a:r>
              <a:rPr lang="ru-RU" sz="2100" b="0" dirty="0"/>
              <a:t> </a:t>
            </a:r>
            <a:r>
              <a:rPr lang="ru-RU" sz="2100" b="0" dirty="0" err="1" smtClean="0"/>
              <a:t>якої</a:t>
            </a:r>
            <a:r>
              <a:rPr lang="ru-RU" sz="2100" b="0" dirty="0" smtClean="0"/>
              <a:t> </a:t>
            </a:r>
            <a:r>
              <a:rPr lang="ru-RU" sz="2100" b="0" dirty="0" err="1"/>
              <a:t>приховані</a:t>
            </a:r>
            <a:r>
              <a:rPr lang="ru-RU" sz="2100" b="0" dirty="0"/>
              <a:t> і </a:t>
            </a:r>
            <a:r>
              <a:rPr lang="ru-RU" sz="2100" b="0" dirty="0" err="1"/>
              <a:t>можуть</a:t>
            </a:r>
            <a:r>
              <a:rPr lang="ru-RU" sz="2100" b="0" dirty="0"/>
              <a:t> бути </a:t>
            </a:r>
            <a:r>
              <a:rPr lang="ru-RU" sz="2100" b="0" dirty="0" err="1"/>
              <a:t>перерозподілені</a:t>
            </a:r>
            <a:r>
              <a:rPr lang="ru-RU" sz="2100" b="0" dirty="0"/>
              <a:t> </a:t>
            </a:r>
            <a:r>
              <a:rPr lang="ru-RU" sz="2100" b="0" dirty="0" err="1"/>
              <a:t>між</a:t>
            </a:r>
            <a:r>
              <a:rPr lang="ru-RU" sz="2100" b="0" dirty="0"/>
              <a:t> </a:t>
            </a:r>
            <a:r>
              <a:rPr lang="ru-RU" sz="2100" b="0" dirty="0" err="1"/>
              <a:t>декількома</a:t>
            </a:r>
            <a:r>
              <a:rPr lang="ru-RU" sz="2100" b="0" dirty="0"/>
              <a:t> </a:t>
            </a:r>
            <a:r>
              <a:rPr lang="ru-RU" sz="2100" b="0" dirty="0" err="1" smtClean="0"/>
              <a:t>варіантами</a:t>
            </a:r>
            <a:r>
              <a:rPr lang="ru-RU" sz="2100" b="0" dirty="0" smtClean="0"/>
              <a:t> </a:t>
            </a:r>
            <a:r>
              <a:rPr lang="ru-RU" sz="2100" b="0" dirty="0" err="1" smtClean="0"/>
              <a:t>використання</a:t>
            </a:r>
            <a:r>
              <a:rPr lang="ru-RU" sz="2100" b="0" dirty="0" smtClean="0"/>
              <a:t>, </a:t>
            </a:r>
            <a:r>
              <a:rPr lang="ru-RU" sz="2100" b="0" dirty="0" err="1" smtClean="0"/>
              <a:t>що</a:t>
            </a:r>
            <a:r>
              <a:rPr lang="ru-RU" sz="2100" b="0" dirty="0" smtClean="0"/>
              <a:t> </a:t>
            </a:r>
            <a:r>
              <a:rPr lang="ru-RU" sz="2100" b="0" dirty="0" err="1" smtClean="0"/>
              <a:t>включаються</a:t>
            </a:r>
            <a:r>
              <a:rPr lang="ru-RU" sz="2100" b="0" dirty="0" smtClean="0"/>
              <a:t>.</a:t>
            </a:r>
            <a:endParaRPr lang="ru-RU" sz="2100" b="0" dirty="0"/>
          </a:p>
          <a:p>
            <a:pPr>
              <a:spcAft>
                <a:spcPts val="600"/>
              </a:spcAft>
            </a:pPr>
            <a:r>
              <a:rPr lang="ru-RU" sz="2100" b="0" dirty="0" err="1" smtClean="0"/>
              <a:t>Базовий</a:t>
            </a:r>
            <a:r>
              <a:rPr lang="ru-RU" sz="2100" b="0" dirty="0" smtClean="0"/>
              <a:t> </a:t>
            </a:r>
            <a:r>
              <a:rPr lang="ru-RU" sz="2100" b="0" dirty="0" err="1"/>
              <a:t>варіант</a:t>
            </a:r>
            <a:r>
              <a:rPr lang="ru-RU" sz="2100" b="0" dirty="0"/>
              <a:t> </a:t>
            </a:r>
            <a:r>
              <a:rPr lang="ru-RU" sz="2100" b="0" dirty="0" err="1"/>
              <a:t>може</a:t>
            </a:r>
            <a:r>
              <a:rPr lang="ru-RU" sz="2100" b="0" dirty="0"/>
              <a:t> </a:t>
            </a:r>
            <a:r>
              <a:rPr lang="ru-RU" sz="2100" b="0" dirty="0" err="1"/>
              <a:t>залежати</a:t>
            </a:r>
            <a:r>
              <a:rPr lang="ru-RU" sz="2100" b="0" dirty="0"/>
              <a:t> </a:t>
            </a:r>
            <a:r>
              <a:rPr lang="ru-RU" sz="2100" b="0" dirty="0" err="1"/>
              <a:t>тільки</a:t>
            </a:r>
            <a:r>
              <a:rPr lang="ru-RU" sz="2100" b="0" dirty="0"/>
              <a:t> </a:t>
            </a:r>
            <a:r>
              <a:rPr lang="ru-RU" sz="2100" b="0" dirty="0" err="1"/>
              <a:t>від</a:t>
            </a:r>
            <a:r>
              <a:rPr lang="ru-RU" sz="2100" b="0" dirty="0"/>
              <a:t> </a:t>
            </a:r>
            <a:r>
              <a:rPr lang="ru-RU" sz="2100" b="0" dirty="0" err="1"/>
              <a:t>результатів</a:t>
            </a:r>
            <a:r>
              <a:rPr lang="ru-RU" sz="2100" b="0" dirty="0"/>
              <a:t> </a:t>
            </a:r>
            <a:r>
              <a:rPr lang="ru-RU" sz="2100" b="0" dirty="0" err="1"/>
              <a:t>виконання</a:t>
            </a:r>
            <a:r>
              <a:rPr lang="ru-RU" sz="2100" b="0" dirty="0"/>
              <a:t> </a:t>
            </a:r>
            <a:r>
              <a:rPr lang="ru-RU" sz="2100" b="0" dirty="0" err="1" smtClean="0"/>
              <a:t>поведінки</a:t>
            </a:r>
            <a:r>
              <a:rPr lang="ru-RU" sz="2100" b="0" dirty="0" smtClean="0"/>
              <a:t>, </a:t>
            </a:r>
            <a:r>
              <a:rPr lang="ru-RU" sz="2100" b="0" dirty="0" err="1" smtClean="0"/>
              <a:t>що</a:t>
            </a:r>
            <a:r>
              <a:rPr lang="ru-RU" sz="2100" b="0" dirty="0" smtClean="0"/>
              <a:t> </a:t>
            </a:r>
            <a:r>
              <a:rPr lang="ru-RU" sz="2100" b="0" dirty="0" err="1" smtClean="0"/>
              <a:t>включається</a:t>
            </a:r>
            <a:r>
              <a:rPr lang="ru-RU" sz="2100" b="0" dirty="0" smtClean="0"/>
              <a:t> </a:t>
            </a:r>
            <a:r>
              <a:rPr lang="ru-RU" sz="2100" b="0" dirty="0"/>
              <a:t>в </a:t>
            </a:r>
            <a:r>
              <a:rPr lang="ru-RU" sz="2100" b="0" dirty="0" err="1" smtClean="0"/>
              <a:t>нього</a:t>
            </a:r>
            <a:r>
              <a:rPr lang="ru-RU" sz="2100" b="0" dirty="0" smtClean="0"/>
              <a:t>, </a:t>
            </a:r>
            <a:r>
              <a:rPr lang="ru-RU" sz="2100" b="0" dirty="0"/>
              <a:t>але не </a:t>
            </a:r>
            <a:r>
              <a:rPr lang="ru-RU" sz="2100" b="0" dirty="0" err="1"/>
              <a:t>від</a:t>
            </a:r>
            <a:r>
              <a:rPr lang="ru-RU" sz="2100" b="0" dirty="0"/>
              <a:t> </a:t>
            </a:r>
            <a:r>
              <a:rPr lang="ru-RU" sz="2100" b="0" dirty="0" err="1"/>
              <a:t>структури</a:t>
            </a:r>
            <a:r>
              <a:rPr lang="ru-RU" sz="2100" b="0" dirty="0"/>
              <a:t> </a:t>
            </a:r>
            <a:r>
              <a:rPr lang="ru-RU" sz="2100" b="0" dirty="0" err="1" smtClean="0"/>
              <a:t>варіантів</a:t>
            </a:r>
            <a:r>
              <a:rPr lang="ru-RU" sz="2100" b="0" dirty="0" smtClean="0"/>
              <a:t>, </a:t>
            </a:r>
            <a:r>
              <a:rPr lang="ru-RU" sz="2100" b="0" dirty="0" err="1" smtClean="0"/>
              <a:t>що</a:t>
            </a:r>
            <a:r>
              <a:rPr lang="ru-RU" sz="2100" b="0" dirty="0" smtClean="0"/>
              <a:t> </a:t>
            </a:r>
            <a:r>
              <a:rPr lang="ru-RU" sz="2100" b="0" dirty="0" err="1" smtClean="0"/>
              <a:t>включаються</a:t>
            </a:r>
            <a:endParaRPr lang="ru-RU" sz="2100" b="0" dirty="0"/>
          </a:p>
        </p:txBody>
      </p:sp>
    </p:spTree>
    <p:extLst>
      <p:ext uri="{BB962C8B-B14F-4D97-AF65-F5344CB8AC3E}">
        <p14:creationId xmlns:p14="http://schemas.microsoft.com/office/powerpoint/2010/main" val="1608666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366125" y="6597650"/>
            <a:ext cx="777875" cy="260350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/>
              <a:pPr/>
              <a:t>22</a:t>
            </a:fld>
            <a:endParaRPr lang="uk-UA" dirty="0"/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9669" y="3382429"/>
            <a:ext cx="5719387" cy="264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5028" y="0"/>
            <a:ext cx="9118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600" b="1" dirty="0" smtClean="0">
                <a:solidFill>
                  <a:schemeClr val="bg1"/>
                </a:solidFill>
              </a:rPr>
              <a:t>Відношення включення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3" name="Прямокутник 2"/>
          <p:cNvSpPr/>
          <p:nvPr/>
        </p:nvSpPr>
        <p:spPr>
          <a:xfrm>
            <a:off x="251520" y="908720"/>
            <a:ext cx="8712968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100" dirty="0" err="1" smtClean="0">
                <a:solidFill>
                  <a:srgbClr val="0000CC"/>
                </a:solidFill>
              </a:rPr>
              <a:t>Відношення</a:t>
            </a:r>
            <a:r>
              <a:rPr lang="ru-RU" sz="2100" dirty="0" smtClean="0">
                <a:solidFill>
                  <a:srgbClr val="0000CC"/>
                </a:solidFill>
              </a:rPr>
              <a:t> </a:t>
            </a:r>
            <a:r>
              <a:rPr lang="ru-RU" sz="2100" dirty="0" err="1" smtClean="0">
                <a:solidFill>
                  <a:srgbClr val="0000CC"/>
                </a:solidFill>
              </a:rPr>
              <a:t>включення</a:t>
            </a:r>
            <a:r>
              <a:rPr lang="ru-RU" sz="2100" b="0" dirty="0"/>
              <a:t>, </a:t>
            </a:r>
            <a:r>
              <a:rPr lang="ru-RU" sz="2100" b="0" dirty="0" err="1"/>
              <a:t>спрямоване</a:t>
            </a:r>
            <a:r>
              <a:rPr lang="ru-RU" sz="2100" b="0" dirty="0"/>
              <a:t> </a:t>
            </a:r>
            <a:r>
              <a:rPr lang="ru-RU" sz="2100" b="0" dirty="0" err="1"/>
              <a:t>від</a:t>
            </a:r>
            <a:r>
              <a:rPr lang="ru-RU" sz="2100" b="0" dirty="0"/>
              <a:t> </a:t>
            </a:r>
            <a:r>
              <a:rPr lang="ru-RU" sz="2100" b="0" dirty="0" err="1"/>
              <a:t>варіанту</a:t>
            </a:r>
            <a:r>
              <a:rPr lang="ru-RU" sz="2100" b="0" dirty="0"/>
              <a:t> </a:t>
            </a:r>
            <a:r>
              <a:rPr lang="ru-RU" sz="2100" b="0" dirty="0" err="1"/>
              <a:t>використання</a:t>
            </a:r>
            <a:r>
              <a:rPr lang="ru-RU" sz="2100" b="0" dirty="0"/>
              <a:t> А до </a:t>
            </a:r>
            <a:r>
              <a:rPr lang="ru-RU" sz="2100" b="0" dirty="0" err="1"/>
              <a:t>варіанту</a:t>
            </a:r>
            <a:r>
              <a:rPr lang="ru-RU" sz="2100" b="0" dirty="0"/>
              <a:t> </a:t>
            </a:r>
            <a:r>
              <a:rPr lang="ru-RU" sz="2100" b="0" dirty="0" err="1"/>
              <a:t>використання</a:t>
            </a:r>
            <a:r>
              <a:rPr lang="ru-RU" sz="2100" b="0" dirty="0"/>
              <a:t> В, </a:t>
            </a:r>
            <a:r>
              <a:rPr lang="ru-RU" sz="2100" b="0" dirty="0" err="1"/>
              <a:t>вказує</a:t>
            </a:r>
            <a:r>
              <a:rPr lang="ru-RU" sz="2100" b="0" dirty="0"/>
              <a:t>, </a:t>
            </a:r>
            <a:r>
              <a:rPr lang="ru-RU" sz="2100" b="0" dirty="0" err="1"/>
              <a:t>що</a:t>
            </a:r>
            <a:r>
              <a:rPr lang="ru-RU" sz="2100" b="0" dirty="0"/>
              <a:t> </a:t>
            </a:r>
            <a:r>
              <a:rPr lang="ru-RU" sz="2100" b="0" dirty="0" err="1"/>
              <a:t>кожен</a:t>
            </a:r>
            <a:r>
              <a:rPr lang="ru-RU" sz="2100" b="0" dirty="0"/>
              <a:t> </a:t>
            </a:r>
            <a:r>
              <a:rPr lang="ru-RU" sz="2100" b="0" dirty="0" err="1"/>
              <a:t>екземпляр</a:t>
            </a:r>
            <a:r>
              <a:rPr lang="ru-RU" sz="2100" b="0" dirty="0"/>
              <a:t> </a:t>
            </a:r>
            <a:r>
              <a:rPr lang="ru-RU" sz="2100" b="0" dirty="0" err="1"/>
              <a:t>варіанту</a:t>
            </a:r>
            <a:r>
              <a:rPr lang="ru-RU" sz="2100" b="0" dirty="0"/>
              <a:t> А </a:t>
            </a:r>
            <a:r>
              <a:rPr lang="ru-RU" sz="2100" b="0" dirty="0" err="1"/>
              <a:t>включає</a:t>
            </a:r>
            <a:r>
              <a:rPr lang="ru-RU" sz="2100" b="0" dirty="0"/>
              <a:t> в себе </a:t>
            </a:r>
            <a:r>
              <a:rPr lang="ru-RU" sz="2100" b="0" dirty="0" err="1"/>
              <a:t>функціональні</a:t>
            </a:r>
            <a:r>
              <a:rPr lang="ru-RU" sz="2100" b="0" dirty="0"/>
              <a:t> </a:t>
            </a:r>
            <a:r>
              <a:rPr lang="ru-RU" sz="2100" b="0" dirty="0" err="1"/>
              <a:t>властивості</a:t>
            </a:r>
            <a:r>
              <a:rPr lang="ru-RU" sz="2100" b="0" dirty="0"/>
              <a:t>, </a:t>
            </a:r>
            <a:r>
              <a:rPr lang="ru-RU" sz="2100" b="0" dirty="0" err="1"/>
              <a:t>задані</a:t>
            </a:r>
            <a:r>
              <a:rPr lang="ru-RU" sz="2100" b="0" dirty="0"/>
              <a:t> для </a:t>
            </a:r>
            <a:r>
              <a:rPr lang="ru-RU" sz="2100" b="0" dirty="0" err="1"/>
              <a:t>варіанту</a:t>
            </a:r>
            <a:r>
              <a:rPr lang="ru-RU" sz="2100" b="0" dirty="0"/>
              <a:t> В.</a:t>
            </a:r>
          </a:p>
          <a:p>
            <a:r>
              <a:rPr lang="ru-RU" sz="2100" dirty="0" err="1" smtClean="0"/>
              <a:t>Графічне</a:t>
            </a:r>
            <a:r>
              <a:rPr lang="ru-RU" sz="2100" dirty="0" smtClean="0"/>
              <a:t> </a:t>
            </a:r>
            <a:r>
              <a:rPr lang="ru-RU" sz="2100" dirty="0" err="1"/>
              <a:t>позначення</a:t>
            </a:r>
            <a:r>
              <a:rPr lang="ru-RU" sz="2100" dirty="0"/>
              <a:t> </a:t>
            </a:r>
            <a:r>
              <a:rPr lang="ru-RU" sz="2100" b="0" dirty="0"/>
              <a:t>- пунктирна </a:t>
            </a:r>
            <a:r>
              <a:rPr lang="ru-RU" sz="2100" b="0" dirty="0" err="1"/>
              <a:t>лінія</a:t>
            </a:r>
            <a:r>
              <a:rPr lang="ru-RU" sz="2100" b="0" dirty="0"/>
              <a:t> </a:t>
            </a:r>
            <a:r>
              <a:rPr lang="ru-RU" sz="2100" b="0" dirty="0" err="1"/>
              <a:t>зі</a:t>
            </a:r>
            <a:r>
              <a:rPr lang="ru-RU" sz="2100" b="0" dirty="0"/>
              <a:t> </a:t>
            </a:r>
            <a:r>
              <a:rPr lang="ru-RU" sz="2100" b="0" dirty="0" err="1"/>
              <a:t>стрілкою</a:t>
            </a:r>
            <a:r>
              <a:rPr lang="ru-RU" sz="2100" b="0" dirty="0"/>
              <a:t>, яка </a:t>
            </a:r>
            <a:r>
              <a:rPr lang="ru-RU" sz="2100" b="0" dirty="0" err="1"/>
              <a:t>позначається</a:t>
            </a:r>
            <a:r>
              <a:rPr lang="ru-RU" sz="2100" b="0" dirty="0"/>
              <a:t> </a:t>
            </a:r>
            <a:r>
              <a:rPr lang="ru-RU" sz="2100" b="0" dirty="0" err="1"/>
              <a:t>ключовим</a:t>
            </a:r>
            <a:r>
              <a:rPr lang="ru-RU" sz="2100" b="0" dirty="0"/>
              <a:t> словом </a:t>
            </a:r>
            <a:r>
              <a:rPr lang="ru-RU" sz="2100" b="0" dirty="0">
                <a:solidFill>
                  <a:srgbClr val="0000CC"/>
                </a:solidFill>
              </a:rPr>
              <a:t>«</a:t>
            </a:r>
            <a:r>
              <a:rPr lang="en-US" sz="2100" b="0" dirty="0">
                <a:solidFill>
                  <a:srgbClr val="0000CC"/>
                </a:solidFill>
              </a:rPr>
              <a:t>include» (</a:t>
            </a:r>
            <a:r>
              <a:rPr lang="ru-RU" sz="2100" b="0" dirty="0" err="1">
                <a:solidFill>
                  <a:srgbClr val="0000CC"/>
                </a:solidFill>
              </a:rPr>
              <a:t>включає</a:t>
            </a:r>
            <a:r>
              <a:rPr lang="ru-RU" sz="2100" b="0" dirty="0">
                <a:solidFill>
                  <a:srgbClr val="0000CC"/>
                </a:solidFill>
              </a:rPr>
              <a:t>).</a:t>
            </a:r>
          </a:p>
        </p:txBody>
      </p:sp>
      <p:cxnSp>
        <p:nvCxnSpPr>
          <p:cNvPr id="6" name="Пряма зі стрілкою 5"/>
          <p:cNvCxnSpPr/>
          <p:nvPr/>
        </p:nvCxnSpPr>
        <p:spPr bwMode="auto">
          <a:xfrm>
            <a:off x="1907704" y="3284984"/>
            <a:ext cx="648072" cy="6001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Пряма зі стрілкою 7"/>
          <p:cNvCxnSpPr/>
          <p:nvPr/>
        </p:nvCxnSpPr>
        <p:spPr bwMode="auto">
          <a:xfrm flipH="1">
            <a:off x="5652120" y="3717032"/>
            <a:ext cx="936104" cy="6480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6983760" y="3403245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0" dirty="0" smtClean="0"/>
              <a:t>Прецедент, що включається</a:t>
            </a:r>
            <a:endParaRPr lang="ru-RU" b="0" dirty="0"/>
          </a:p>
        </p:txBody>
      </p:sp>
      <p:sp>
        <p:nvSpPr>
          <p:cNvPr id="14" name="TextBox 13"/>
          <p:cNvSpPr txBox="1"/>
          <p:nvPr/>
        </p:nvSpPr>
        <p:spPr>
          <a:xfrm>
            <a:off x="141831" y="2984901"/>
            <a:ext cx="17340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0" dirty="0" smtClean="0"/>
              <a:t>Прецедент, в який включається інший</a:t>
            </a:r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180957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366125" y="6597650"/>
            <a:ext cx="777875" cy="260350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/>
              <a:pPr/>
              <a:t>23</a:t>
            </a:fld>
            <a:endParaRPr lang="uk-UA" dirty="0"/>
          </a:p>
        </p:txBody>
      </p:sp>
      <p:sp>
        <p:nvSpPr>
          <p:cNvPr id="3" name="Прямокутник 2"/>
          <p:cNvSpPr/>
          <p:nvPr/>
        </p:nvSpPr>
        <p:spPr>
          <a:xfrm>
            <a:off x="28600" y="847415"/>
            <a:ext cx="5350296" cy="5586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100" dirty="0" err="1" smtClean="0">
                <a:solidFill>
                  <a:srgbClr val="0000CC"/>
                </a:solidFill>
              </a:rPr>
              <a:t>Відношення</a:t>
            </a:r>
            <a:r>
              <a:rPr lang="ru-RU" sz="2100" dirty="0" smtClean="0">
                <a:solidFill>
                  <a:srgbClr val="0000CC"/>
                </a:solidFill>
              </a:rPr>
              <a:t> </a:t>
            </a:r>
            <a:r>
              <a:rPr lang="ru-RU" sz="2100" dirty="0" err="1" smtClean="0">
                <a:solidFill>
                  <a:srgbClr val="0000CC"/>
                </a:solidFill>
              </a:rPr>
              <a:t>узагальнення</a:t>
            </a:r>
            <a:r>
              <a:rPr lang="ru-RU" sz="2100" dirty="0" smtClean="0">
                <a:solidFill>
                  <a:srgbClr val="0000CC"/>
                </a:solidFill>
              </a:rPr>
              <a:t> </a:t>
            </a:r>
            <a:r>
              <a:rPr lang="ru-RU" sz="2100" b="0" dirty="0"/>
              <a:t>служить для </a:t>
            </a:r>
            <a:r>
              <a:rPr lang="ru-RU" sz="2100" b="0" dirty="0" err="1"/>
              <a:t>вказівки</a:t>
            </a:r>
            <a:r>
              <a:rPr lang="ru-RU" sz="2100" b="0" dirty="0"/>
              <a:t> того факту, </a:t>
            </a:r>
            <a:r>
              <a:rPr lang="ru-RU" sz="2100" b="0" dirty="0" err="1"/>
              <a:t>що</a:t>
            </a:r>
            <a:r>
              <a:rPr lang="ru-RU" sz="2100" b="0" dirty="0"/>
              <a:t> </a:t>
            </a:r>
            <a:r>
              <a:rPr lang="ru-RU" sz="2100" b="0" dirty="0" err="1"/>
              <a:t>деякий</a:t>
            </a:r>
            <a:r>
              <a:rPr lang="ru-RU" sz="2100" b="0" dirty="0"/>
              <a:t> </a:t>
            </a:r>
            <a:r>
              <a:rPr lang="ru-RU" sz="2100" b="0" dirty="0" err="1"/>
              <a:t>варіант</a:t>
            </a:r>
            <a:r>
              <a:rPr lang="ru-RU" sz="2100" b="0" dirty="0"/>
              <a:t> </a:t>
            </a:r>
            <a:r>
              <a:rPr lang="ru-RU" sz="2100" b="0" dirty="0" err="1"/>
              <a:t>використання</a:t>
            </a:r>
            <a:r>
              <a:rPr lang="ru-RU" sz="2100" b="0" dirty="0"/>
              <a:t> А </a:t>
            </a:r>
            <a:r>
              <a:rPr lang="ru-RU" sz="2100" b="0" dirty="0" err="1"/>
              <a:t>може</a:t>
            </a:r>
            <a:r>
              <a:rPr lang="ru-RU" sz="2100" b="0" dirty="0"/>
              <a:t> бути </a:t>
            </a:r>
            <a:r>
              <a:rPr lang="ru-RU" sz="2100" b="0" dirty="0" err="1" smtClean="0"/>
              <a:t>узагальнений</a:t>
            </a:r>
            <a:r>
              <a:rPr lang="ru-RU" sz="2100" b="0" dirty="0" smtClean="0"/>
              <a:t> </a:t>
            </a:r>
            <a:r>
              <a:rPr lang="ru-RU" sz="2100" b="0" dirty="0"/>
              <a:t>до </a:t>
            </a:r>
            <a:r>
              <a:rPr lang="ru-RU" sz="2100" b="0" dirty="0" err="1"/>
              <a:t>варіанту</a:t>
            </a:r>
            <a:r>
              <a:rPr lang="ru-RU" sz="2100" b="0" dirty="0"/>
              <a:t> </a:t>
            </a:r>
            <a:r>
              <a:rPr lang="ru-RU" sz="2100" b="0" dirty="0" err="1"/>
              <a:t>використання</a:t>
            </a:r>
            <a:r>
              <a:rPr lang="ru-RU" sz="2100" b="0" dirty="0"/>
              <a:t> В.</a:t>
            </a:r>
          </a:p>
          <a:p>
            <a:r>
              <a:rPr lang="ru-RU" sz="2100" b="0" dirty="0"/>
              <a:t>У </a:t>
            </a:r>
            <a:r>
              <a:rPr lang="ru-RU" sz="2100" b="0" dirty="0" err="1"/>
              <a:t>цьому</a:t>
            </a:r>
            <a:r>
              <a:rPr lang="ru-RU" sz="2100" b="0" dirty="0"/>
              <a:t> </a:t>
            </a:r>
            <a:r>
              <a:rPr lang="ru-RU" sz="2100" b="0" dirty="0" err="1"/>
              <a:t>випадку</a:t>
            </a:r>
            <a:r>
              <a:rPr lang="ru-RU" sz="2100" b="0" dirty="0"/>
              <a:t> </a:t>
            </a:r>
            <a:r>
              <a:rPr lang="ru-RU" sz="2100" b="0" dirty="0" err="1"/>
              <a:t>варіант</a:t>
            </a:r>
            <a:r>
              <a:rPr lang="ru-RU" sz="2100" b="0" dirty="0"/>
              <a:t> </a:t>
            </a:r>
            <a:r>
              <a:rPr lang="ru-RU" sz="2100" b="0" dirty="0" smtClean="0"/>
              <a:t>А є </a:t>
            </a:r>
            <a:r>
              <a:rPr lang="ru-RU" sz="2100" b="0" dirty="0" err="1"/>
              <a:t>спеціалізацією</a:t>
            </a:r>
            <a:r>
              <a:rPr lang="ru-RU" sz="2100" b="0" dirty="0"/>
              <a:t> </a:t>
            </a:r>
            <a:r>
              <a:rPr lang="ru-RU" sz="2100" b="0" dirty="0" err="1"/>
              <a:t>варіанту</a:t>
            </a:r>
            <a:r>
              <a:rPr lang="ru-RU" sz="2100" b="0" dirty="0"/>
              <a:t> В.</a:t>
            </a:r>
          </a:p>
          <a:p>
            <a:r>
              <a:rPr lang="ru-RU" sz="2100" b="0" dirty="0"/>
              <a:t>В - предок </a:t>
            </a:r>
            <a:r>
              <a:rPr lang="ru-RU" sz="2100" b="0" dirty="0" err="1"/>
              <a:t>або</a:t>
            </a:r>
            <a:r>
              <a:rPr lang="ru-RU" sz="2100" b="0" dirty="0"/>
              <a:t> </a:t>
            </a:r>
            <a:r>
              <a:rPr lang="ru-RU" sz="2100" b="0" dirty="0" err="1"/>
              <a:t>батько</a:t>
            </a:r>
            <a:r>
              <a:rPr lang="ru-RU" sz="2100" b="0" dirty="0"/>
              <a:t> по </a:t>
            </a:r>
            <a:r>
              <a:rPr lang="ru-RU" sz="2100" b="0" dirty="0" err="1"/>
              <a:t>відношенню</a:t>
            </a:r>
            <a:r>
              <a:rPr lang="ru-RU" sz="2100" b="0" dirty="0"/>
              <a:t> А, а </a:t>
            </a:r>
            <a:r>
              <a:rPr lang="ru-RU" sz="2100" b="0" dirty="0" err="1"/>
              <a:t>варіант</a:t>
            </a:r>
            <a:r>
              <a:rPr lang="ru-RU" sz="2100" b="0" dirty="0"/>
              <a:t> А - </a:t>
            </a:r>
            <a:r>
              <a:rPr lang="ru-RU" sz="2100" b="0" dirty="0" err="1"/>
              <a:t>нащадок</a:t>
            </a:r>
            <a:r>
              <a:rPr lang="ru-RU" sz="2100" b="0" dirty="0"/>
              <a:t> по </a:t>
            </a:r>
            <a:r>
              <a:rPr lang="ru-RU" sz="2100" b="0" dirty="0" err="1"/>
              <a:t>відношенню</a:t>
            </a:r>
            <a:r>
              <a:rPr lang="ru-RU" sz="2100" b="0" dirty="0"/>
              <a:t> до </a:t>
            </a:r>
            <a:r>
              <a:rPr lang="ru-RU" sz="2100" b="0" dirty="0" err="1"/>
              <a:t>варіанту</a:t>
            </a:r>
            <a:r>
              <a:rPr lang="ru-RU" sz="2100" b="0" dirty="0"/>
              <a:t> </a:t>
            </a:r>
            <a:r>
              <a:rPr lang="ru-RU" sz="2100" b="0" dirty="0" err="1"/>
              <a:t>використання</a:t>
            </a:r>
            <a:r>
              <a:rPr lang="ru-RU" sz="2100" b="0" dirty="0"/>
              <a:t> В.</a:t>
            </a:r>
          </a:p>
          <a:p>
            <a:r>
              <a:rPr lang="ru-RU" sz="2100" dirty="0" err="1">
                <a:solidFill>
                  <a:srgbClr val="0000CC"/>
                </a:solidFill>
              </a:rPr>
              <a:t>Нащадок</a:t>
            </a:r>
            <a:r>
              <a:rPr lang="ru-RU" sz="2100" dirty="0">
                <a:solidFill>
                  <a:srgbClr val="0000CC"/>
                </a:solidFill>
              </a:rPr>
              <a:t> </a:t>
            </a:r>
            <a:r>
              <a:rPr lang="ru-RU" sz="2100" dirty="0" err="1">
                <a:solidFill>
                  <a:srgbClr val="0000CC"/>
                </a:solidFill>
              </a:rPr>
              <a:t>успадковує</a:t>
            </a:r>
            <a:r>
              <a:rPr lang="ru-RU" sz="2100" dirty="0">
                <a:solidFill>
                  <a:srgbClr val="0000CC"/>
                </a:solidFill>
              </a:rPr>
              <a:t> </a:t>
            </a:r>
            <a:r>
              <a:rPr lang="ru-RU" sz="2100" dirty="0" err="1">
                <a:solidFill>
                  <a:srgbClr val="0000CC"/>
                </a:solidFill>
              </a:rPr>
              <a:t>всі</a:t>
            </a:r>
            <a:r>
              <a:rPr lang="ru-RU" sz="2100" dirty="0">
                <a:solidFill>
                  <a:srgbClr val="0000CC"/>
                </a:solidFill>
              </a:rPr>
              <a:t> </a:t>
            </a:r>
            <a:r>
              <a:rPr lang="ru-RU" sz="2100" dirty="0" err="1">
                <a:solidFill>
                  <a:srgbClr val="0000CC"/>
                </a:solidFill>
              </a:rPr>
              <a:t>властивості</a:t>
            </a:r>
            <a:r>
              <a:rPr lang="ru-RU" sz="2100" dirty="0">
                <a:solidFill>
                  <a:srgbClr val="0000CC"/>
                </a:solidFill>
              </a:rPr>
              <a:t> і </a:t>
            </a:r>
            <a:r>
              <a:rPr lang="ru-RU" sz="2100" dirty="0" err="1">
                <a:solidFill>
                  <a:srgbClr val="0000CC"/>
                </a:solidFill>
              </a:rPr>
              <a:t>поведінку</a:t>
            </a:r>
            <a:r>
              <a:rPr lang="ru-RU" sz="2100" dirty="0">
                <a:solidFill>
                  <a:srgbClr val="0000CC"/>
                </a:solidFill>
              </a:rPr>
              <a:t> </a:t>
            </a:r>
            <a:r>
              <a:rPr lang="ru-RU" sz="2100" dirty="0" err="1">
                <a:solidFill>
                  <a:srgbClr val="0000CC"/>
                </a:solidFill>
              </a:rPr>
              <a:t>свого</a:t>
            </a:r>
            <a:r>
              <a:rPr lang="ru-RU" sz="2100" dirty="0">
                <a:solidFill>
                  <a:srgbClr val="0000CC"/>
                </a:solidFill>
              </a:rPr>
              <a:t> батька, </a:t>
            </a:r>
            <a:r>
              <a:rPr lang="ru-RU" sz="2100" dirty="0" err="1">
                <a:solidFill>
                  <a:srgbClr val="0000CC"/>
                </a:solidFill>
              </a:rPr>
              <a:t>може</a:t>
            </a:r>
            <a:r>
              <a:rPr lang="ru-RU" sz="2100" dirty="0">
                <a:solidFill>
                  <a:srgbClr val="0000CC"/>
                </a:solidFill>
              </a:rPr>
              <a:t> бути </a:t>
            </a:r>
            <a:r>
              <a:rPr lang="ru-RU" sz="2100" dirty="0" err="1">
                <a:solidFill>
                  <a:srgbClr val="0000CC"/>
                </a:solidFill>
              </a:rPr>
              <a:t>доповнений</a:t>
            </a:r>
            <a:r>
              <a:rPr lang="ru-RU" sz="2100" dirty="0">
                <a:solidFill>
                  <a:srgbClr val="0000CC"/>
                </a:solidFill>
              </a:rPr>
              <a:t> </a:t>
            </a:r>
            <a:r>
              <a:rPr lang="ru-RU" sz="2100" dirty="0" err="1">
                <a:solidFill>
                  <a:srgbClr val="0000CC"/>
                </a:solidFill>
              </a:rPr>
              <a:t>новими</a:t>
            </a:r>
            <a:r>
              <a:rPr lang="ru-RU" sz="2100" dirty="0">
                <a:solidFill>
                  <a:srgbClr val="0000CC"/>
                </a:solidFill>
              </a:rPr>
              <a:t> </a:t>
            </a:r>
            <a:r>
              <a:rPr lang="ru-RU" sz="2100" dirty="0" err="1">
                <a:solidFill>
                  <a:srgbClr val="0000CC"/>
                </a:solidFill>
              </a:rPr>
              <a:t>властивостями</a:t>
            </a:r>
            <a:r>
              <a:rPr lang="ru-RU" sz="2100" dirty="0">
                <a:solidFill>
                  <a:srgbClr val="0000CC"/>
                </a:solidFill>
              </a:rPr>
              <a:t> і </a:t>
            </a:r>
            <a:r>
              <a:rPr lang="ru-RU" sz="2100" dirty="0" err="1">
                <a:solidFill>
                  <a:srgbClr val="0000CC"/>
                </a:solidFill>
              </a:rPr>
              <a:t>особливостями</a:t>
            </a:r>
            <a:r>
              <a:rPr lang="ru-RU" sz="2100" dirty="0">
                <a:solidFill>
                  <a:srgbClr val="0000CC"/>
                </a:solidFill>
              </a:rPr>
              <a:t> </a:t>
            </a:r>
            <a:r>
              <a:rPr lang="ru-RU" sz="2100" dirty="0" err="1">
                <a:solidFill>
                  <a:srgbClr val="0000CC"/>
                </a:solidFill>
              </a:rPr>
              <a:t>поведінки</a:t>
            </a:r>
            <a:r>
              <a:rPr lang="ru-RU" sz="2100" b="0" dirty="0">
                <a:solidFill>
                  <a:srgbClr val="0000CC"/>
                </a:solidFill>
              </a:rPr>
              <a:t>. </a:t>
            </a:r>
            <a:endParaRPr lang="en-US" sz="2100" b="0" dirty="0" smtClean="0">
              <a:solidFill>
                <a:srgbClr val="0000CC"/>
              </a:solidFill>
            </a:endParaRPr>
          </a:p>
          <a:p>
            <a:r>
              <a:rPr lang="ru-RU" sz="2100" b="0" dirty="0" err="1" smtClean="0"/>
              <a:t>Графічне</a:t>
            </a:r>
            <a:r>
              <a:rPr lang="ru-RU" sz="2100" b="0" dirty="0" smtClean="0"/>
              <a:t> </a:t>
            </a:r>
            <a:r>
              <a:rPr lang="ru-RU" sz="2100" b="0" dirty="0" err="1"/>
              <a:t>позначення</a:t>
            </a:r>
            <a:r>
              <a:rPr lang="ru-RU" sz="2100" b="0" dirty="0"/>
              <a:t> - </a:t>
            </a:r>
            <a:r>
              <a:rPr lang="ru-RU" sz="2100" b="0" dirty="0" err="1"/>
              <a:t>суцільна</a:t>
            </a:r>
            <a:r>
              <a:rPr lang="ru-RU" sz="2100" b="0" dirty="0"/>
              <a:t> </a:t>
            </a:r>
            <a:r>
              <a:rPr lang="ru-RU" sz="2100" b="0" dirty="0" err="1"/>
              <a:t>лінія</a:t>
            </a:r>
            <a:r>
              <a:rPr lang="ru-RU" sz="2100" b="0" dirty="0"/>
              <a:t> </a:t>
            </a:r>
            <a:r>
              <a:rPr lang="ru-RU" sz="2100" b="0" dirty="0" err="1"/>
              <a:t>зі</a:t>
            </a:r>
            <a:r>
              <a:rPr lang="ru-RU" sz="2100" b="0" dirty="0"/>
              <a:t> </a:t>
            </a:r>
            <a:r>
              <a:rPr lang="ru-RU" sz="2100" b="0" dirty="0" err="1"/>
              <a:t>стрілкою</a:t>
            </a:r>
            <a:r>
              <a:rPr lang="ru-RU" sz="2100" b="0" dirty="0"/>
              <a:t> в </a:t>
            </a:r>
            <a:r>
              <a:rPr lang="ru-RU" sz="2100" b="0" dirty="0" err="1"/>
              <a:t>формі</a:t>
            </a:r>
            <a:r>
              <a:rPr lang="ru-RU" sz="2100" b="0" dirty="0"/>
              <a:t> </a:t>
            </a:r>
            <a:r>
              <a:rPr lang="ru-RU" sz="2100" b="0" dirty="0" err="1"/>
              <a:t>незафарбовані</a:t>
            </a:r>
            <a:r>
              <a:rPr lang="ru-RU" sz="2100" b="0" dirty="0"/>
              <a:t> </a:t>
            </a:r>
            <a:r>
              <a:rPr lang="ru-RU" sz="2100" b="0" dirty="0" err="1"/>
              <a:t>трикутника</a:t>
            </a:r>
            <a:r>
              <a:rPr lang="ru-RU" sz="2100" b="0" dirty="0"/>
              <a:t>, яка </a:t>
            </a:r>
            <a:r>
              <a:rPr lang="ru-RU" sz="2100" b="0" dirty="0" err="1"/>
              <a:t>вказує</a:t>
            </a:r>
            <a:r>
              <a:rPr lang="ru-RU" sz="2100" b="0" dirty="0"/>
              <a:t> на </a:t>
            </a:r>
            <a:r>
              <a:rPr lang="ru-RU" sz="2100" b="0" dirty="0" err="1"/>
              <a:t>батьківський</a:t>
            </a:r>
            <a:r>
              <a:rPr lang="ru-RU" sz="2100" b="0" dirty="0"/>
              <a:t> </a:t>
            </a:r>
            <a:r>
              <a:rPr lang="ru-RU" sz="2100" b="0" dirty="0" err="1"/>
              <a:t>варіант</a:t>
            </a:r>
            <a:r>
              <a:rPr lang="ru-RU" sz="2100" b="0" dirty="0"/>
              <a:t> </a:t>
            </a:r>
            <a:r>
              <a:rPr lang="ru-RU" sz="2100" b="0" dirty="0" err="1"/>
              <a:t>використання</a:t>
            </a:r>
            <a:r>
              <a:rPr lang="ru-RU" sz="2100" b="0" dirty="0"/>
              <a:t>.</a:t>
            </a:r>
          </a:p>
        </p:txBody>
      </p:sp>
      <p:sp>
        <p:nvSpPr>
          <p:cNvPr id="4" name="Прямокутник 3"/>
          <p:cNvSpPr/>
          <p:nvPr/>
        </p:nvSpPr>
        <p:spPr>
          <a:xfrm>
            <a:off x="0" y="11663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 smtClean="0">
                <a:solidFill>
                  <a:schemeClr val="bg1"/>
                </a:solidFill>
              </a:rPr>
              <a:t>Відношення</a:t>
            </a:r>
            <a:r>
              <a:rPr lang="ru-RU" sz="3200" b="1" dirty="0" smtClean="0">
                <a:solidFill>
                  <a:schemeClr val="bg1"/>
                </a:solidFill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</a:rPr>
              <a:t>узагальнення</a:t>
            </a:r>
            <a:endParaRPr lang="ru-RU" sz="3200" b="1" dirty="0">
              <a:solidFill>
                <a:schemeClr val="bg1"/>
              </a:solidFill>
            </a:endParaRPr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3540" y="892898"/>
            <a:ext cx="3232956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86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3640488"/>
            <a:ext cx="3240360" cy="2371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282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366125" y="6597650"/>
            <a:ext cx="777875" cy="260350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/>
              <a:pPr/>
              <a:t>24</a:t>
            </a:fld>
            <a:endParaRPr lang="uk-UA" dirty="0"/>
          </a:p>
        </p:txBody>
      </p:sp>
      <p:sp>
        <p:nvSpPr>
          <p:cNvPr id="3" name="Прямокутник 2"/>
          <p:cNvSpPr/>
          <p:nvPr/>
        </p:nvSpPr>
        <p:spPr>
          <a:xfrm>
            <a:off x="323528" y="1028343"/>
            <a:ext cx="8496944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0" dirty="0" smtClean="0"/>
              <a:t>Один </a:t>
            </a:r>
            <a:r>
              <a:rPr lang="ru-RU" sz="2200" b="0" dirty="0" err="1"/>
              <a:t>варіант</a:t>
            </a:r>
            <a:r>
              <a:rPr lang="ru-RU" sz="2200" b="0" dirty="0"/>
              <a:t> </a:t>
            </a:r>
            <a:r>
              <a:rPr lang="ru-RU" sz="2200" b="0" dirty="0" err="1"/>
              <a:t>використання</a:t>
            </a:r>
            <a:r>
              <a:rPr lang="ru-RU" sz="2200" b="0" dirty="0"/>
              <a:t> </a:t>
            </a:r>
            <a:r>
              <a:rPr lang="ru-RU" sz="2200" b="0" dirty="0" err="1"/>
              <a:t>може</a:t>
            </a:r>
            <a:r>
              <a:rPr lang="ru-RU" sz="2200" b="0" dirty="0"/>
              <a:t> </a:t>
            </a:r>
            <a:r>
              <a:rPr lang="ru-RU" sz="2200" b="0" dirty="0" err="1"/>
              <a:t>мати</a:t>
            </a:r>
            <a:r>
              <a:rPr lang="ru-RU" sz="2200" b="0" dirty="0"/>
              <a:t> </a:t>
            </a:r>
            <a:r>
              <a:rPr lang="ru-RU" sz="2200" b="0" dirty="0" err="1"/>
              <a:t>кілька</a:t>
            </a:r>
            <a:r>
              <a:rPr lang="ru-RU" sz="2200" b="0" dirty="0"/>
              <a:t> </a:t>
            </a:r>
            <a:r>
              <a:rPr lang="ru-RU" sz="2200" b="0" dirty="0" err="1"/>
              <a:t>батьківських</a:t>
            </a:r>
            <a:r>
              <a:rPr lang="ru-RU" sz="2200" b="0" dirty="0"/>
              <a:t> </a:t>
            </a:r>
            <a:r>
              <a:rPr lang="ru-RU" sz="2200" b="0" dirty="0" err="1"/>
              <a:t>варіантів</a:t>
            </a:r>
            <a:r>
              <a:rPr lang="ru-RU" sz="2200" b="0" dirty="0"/>
              <a:t>. </a:t>
            </a:r>
            <a:endParaRPr lang="ru-RU" sz="2200" b="0" dirty="0" smtClean="0"/>
          </a:p>
          <a:p>
            <a:r>
              <a:rPr lang="ru-RU" sz="2200" b="0" dirty="0" smtClean="0"/>
              <a:t>В </a:t>
            </a:r>
            <a:r>
              <a:rPr lang="ru-RU" sz="2200" b="0" dirty="0" err="1"/>
              <a:t>цьому</a:t>
            </a:r>
            <a:r>
              <a:rPr lang="ru-RU" sz="2200" b="0" dirty="0"/>
              <a:t> </a:t>
            </a:r>
            <a:r>
              <a:rPr lang="ru-RU" sz="2200" b="0" dirty="0" err="1"/>
              <a:t>випадку</a:t>
            </a:r>
            <a:r>
              <a:rPr lang="ru-RU" sz="2200" b="0" dirty="0"/>
              <a:t> </a:t>
            </a:r>
            <a:r>
              <a:rPr lang="ru-RU" sz="2200" b="0" dirty="0" err="1"/>
              <a:t>реалізується</a:t>
            </a:r>
            <a:r>
              <a:rPr lang="ru-RU" sz="2200" b="0" dirty="0"/>
              <a:t> </a:t>
            </a:r>
            <a:r>
              <a:rPr lang="ru-RU" sz="2200" dirty="0" err="1">
                <a:solidFill>
                  <a:srgbClr val="0000CC"/>
                </a:solidFill>
              </a:rPr>
              <a:t>множинне</a:t>
            </a:r>
            <a:r>
              <a:rPr lang="ru-RU" sz="2200" dirty="0">
                <a:solidFill>
                  <a:srgbClr val="0000CC"/>
                </a:solidFill>
              </a:rPr>
              <a:t> </a:t>
            </a:r>
            <a:r>
              <a:rPr lang="ru-RU" sz="2200" dirty="0" err="1">
                <a:solidFill>
                  <a:srgbClr val="0000CC"/>
                </a:solidFill>
              </a:rPr>
              <a:t>успадкування</a:t>
            </a:r>
            <a:r>
              <a:rPr lang="ru-RU" sz="2200" dirty="0">
                <a:solidFill>
                  <a:srgbClr val="0000CC"/>
                </a:solidFill>
              </a:rPr>
              <a:t> </a:t>
            </a:r>
            <a:r>
              <a:rPr lang="ru-RU" sz="2200" b="0" dirty="0" err="1"/>
              <a:t>властивостей</a:t>
            </a:r>
            <a:r>
              <a:rPr lang="ru-RU" sz="2200" b="0" dirty="0"/>
              <a:t> і </a:t>
            </a:r>
            <a:r>
              <a:rPr lang="ru-RU" sz="2200" b="0" dirty="0" err="1"/>
              <a:t>поведінки</a:t>
            </a:r>
            <a:r>
              <a:rPr lang="ru-RU" sz="2200" b="0" dirty="0"/>
              <a:t> </a:t>
            </a:r>
            <a:r>
              <a:rPr lang="ru-RU" sz="2200" b="0" dirty="0" err="1" smtClean="0"/>
              <a:t>предків</a:t>
            </a:r>
            <a:r>
              <a:rPr lang="ru-RU" sz="2200" b="0" dirty="0"/>
              <a:t>.</a:t>
            </a:r>
          </a:p>
          <a:p>
            <a:r>
              <a:rPr lang="ru-RU" sz="2200" b="0" dirty="0"/>
              <a:t>Один </a:t>
            </a:r>
            <a:r>
              <a:rPr lang="ru-RU" sz="2200" b="0" dirty="0" err="1"/>
              <a:t>варіант</a:t>
            </a:r>
            <a:r>
              <a:rPr lang="ru-RU" sz="2200" b="0" dirty="0"/>
              <a:t> </a:t>
            </a:r>
            <a:r>
              <a:rPr lang="ru-RU" sz="2200" b="0" dirty="0" err="1"/>
              <a:t>використання</a:t>
            </a:r>
            <a:r>
              <a:rPr lang="ru-RU" sz="2200" b="0" dirty="0"/>
              <a:t> </a:t>
            </a:r>
            <a:r>
              <a:rPr lang="ru-RU" sz="2200" b="0" dirty="0" err="1"/>
              <a:t>може</a:t>
            </a:r>
            <a:r>
              <a:rPr lang="ru-RU" sz="2200" b="0" dirty="0"/>
              <a:t> бути предком для </a:t>
            </a:r>
            <a:r>
              <a:rPr lang="ru-RU" sz="2200" b="0" dirty="0" err="1"/>
              <a:t>декількох</a:t>
            </a:r>
            <a:r>
              <a:rPr lang="ru-RU" sz="2200" b="0" dirty="0"/>
              <a:t> </a:t>
            </a:r>
            <a:r>
              <a:rPr lang="ru-RU" sz="2200" b="0" dirty="0" err="1"/>
              <a:t>дочірніх</a:t>
            </a:r>
            <a:r>
              <a:rPr lang="ru-RU" sz="2200" b="0" dirty="0"/>
              <a:t> </a:t>
            </a:r>
            <a:r>
              <a:rPr lang="ru-RU" sz="2200" b="0" dirty="0" err="1"/>
              <a:t>варіантів</a:t>
            </a:r>
            <a:r>
              <a:rPr lang="ru-RU" sz="2200" b="0" dirty="0"/>
              <a:t>, </a:t>
            </a:r>
            <a:r>
              <a:rPr lang="ru-RU" sz="2200" b="0" dirty="0" err="1"/>
              <a:t>що</a:t>
            </a:r>
            <a:r>
              <a:rPr lang="ru-RU" sz="2200" b="0" dirty="0"/>
              <a:t> </a:t>
            </a:r>
            <a:r>
              <a:rPr lang="ru-RU" sz="2200" b="0" dirty="0" err="1"/>
              <a:t>відповідає</a:t>
            </a:r>
            <a:r>
              <a:rPr lang="ru-RU" sz="2200" b="0" dirty="0"/>
              <a:t> таксономическому характеру </a:t>
            </a:r>
            <a:r>
              <a:rPr lang="ru-RU" sz="2200" b="0" dirty="0" err="1" smtClean="0"/>
              <a:t>відно</a:t>
            </a:r>
            <a:r>
              <a:rPr lang="uk-UA" sz="2200" b="0" dirty="0" err="1" smtClean="0"/>
              <a:t>шення</a:t>
            </a:r>
            <a:r>
              <a:rPr lang="ru-RU" sz="2200" b="0" dirty="0" smtClean="0"/>
              <a:t> </a:t>
            </a:r>
            <a:r>
              <a:rPr lang="ru-RU" sz="2200" b="0" dirty="0" err="1"/>
              <a:t>узагальнення</a:t>
            </a:r>
            <a:r>
              <a:rPr lang="ru-RU" sz="2200" b="0" dirty="0"/>
              <a:t>.</a:t>
            </a:r>
          </a:p>
          <a:p>
            <a:r>
              <a:rPr lang="ru-RU" sz="2200" b="0" dirty="0" err="1"/>
              <a:t>Між</a:t>
            </a:r>
            <a:r>
              <a:rPr lang="ru-RU" sz="2200" b="0" dirty="0"/>
              <a:t> </a:t>
            </a:r>
            <a:r>
              <a:rPr lang="ru-RU" sz="2200" b="0" dirty="0" err="1"/>
              <a:t>окремими</a:t>
            </a:r>
            <a:r>
              <a:rPr lang="ru-RU" sz="2200" b="0" dirty="0"/>
              <a:t> </a:t>
            </a:r>
            <a:r>
              <a:rPr lang="ru-RU" sz="2200" b="0" dirty="0" err="1"/>
              <a:t>акторами</a:t>
            </a:r>
            <a:r>
              <a:rPr lang="ru-RU" sz="2200" b="0" dirty="0"/>
              <a:t> </a:t>
            </a:r>
            <a:r>
              <a:rPr lang="ru-RU" sz="2200" b="0" dirty="0" err="1"/>
              <a:t>також</a:t>
            </a:r>
            <a:r>
              <a:rPr lang="ru-RU" sz="2200" b="0" dirty="0"/>
              <a:t> </a:t>
            </a:r>
            <a:r>
              <a:rPr lang="ru-RU" sz="2200" b="0" dirty="0" err="1"/>
              <a:t>може</a:t>
            </a:r>
            <a:r>
              <a:rPr lang="ru-RU" sz="2200" b="0" dirty="0"/>
              <a:t> </a:t>
            </a:r>
            <a:r>
              <a:rPr lang="ru-RU" sz="2200" b="0" dirty="0" err="1"/>
              <a:t>існувати</a:t>
            </a:r>
            <a:r>
              <a:rPr lang="ru-RU" sz="2200" b="0" dirty="0"/>
              <a:t> </a:t>
            </a:r>
            <a:r>
              <a:rPr lang="ru-RU" sz="2200" b="0" dirty="0" err="1"/>
              <a:t>відношення</a:t>
            </a:r>
            <a:r>
              <a:rPr lang="ru-RU" sz="2200" b="0" dirty="0"/>
              <a:t> </a:t>
            </a:r>
            <a:r>
              <a:rPr lang="ru-RU" sz="2200" b="0" dirty="0" err="1"/>
              <a:t>узагальнення</a:t>
            </a:r>
            <a:r>
              <a:rPr lang="ru-RU" sz="2200" b="0" dirty="0"/>
              <a:t>. </a:t>
            </a:r>
            <a:endParaRPr lang="ru-RU" sz="2200" b="0" dirty="0" smtClean="0"/>
          </a:p>
          <a:p>
            <a:r>
              <a:rPr lang="ru-RU" sz="2200" dirty="0" smtClean="0"/>
              <a:t>Дане </a:t>
            </a:r>
            <a:r>
              <a:rPr lang="ru-RU" sz="2200" dirty="0" err="1"/>
              <a:t>відношення</a:t>
            </a:r>
            <a:r>
              <a:rPr lang="ru-RU" sz="2200" dirty="0"/>
              <a:t> - </a:t>
            </a:r>
            <a:r>
              <a:rPr lang="ru-RU" sz="2200" dirty="0" err="1"/>
              <a:t>спрямоване</a:t>
            </a:r>
            <a:r>
              <a:rPr lang="ru-RU" sz="2200" dirty="0"/>
              <a:t> і </a:t>
            </a:r>
            <a:r>
              <a:rPr lang="ru-RU" sz="2200" dirty="0" err="1"/>
              <a:t>вказує</a:t>
            </a:r>
            <a:r>
              <a:rPr lang="ru-RU" sz="2200" dirty="0"/>
              <a:t> на факт </a:t>
            </a:r>
            <a:r>
              <a:rPr lang="ru-RU" sz="2200" dirty="0" err="1"/>
              <a:t>спеціалізації</a:t>
            </a:r>
            <a:r>
              <a:rPr lang="ru-RU" sz="2200" dirty="0"/>
              <a:t> одних </a:t>
            </a:r>
            <a:r>
              <a:rPr lang="ru-RU" sz="2200" dirty="0" err="1"/>
              <a:t>акторів</a:t>
            </a:r>
            <a:r>
              <a:rPr lang="ru-RU" sz="2200" dirty="0"/>
              <a:t> </a:t>
            </a:r>
            <a:r>
              <a:rPr lang="ru-RU" sz="2200" dirty="0" err="1"/>
              <a:t>щодо</a:t>
            </a:r>
            <a:r>
              <a:rPr lang="ru-RU" sz="2200" dirty="0"/>
              <a:t> </a:t>
            </a:r>
            <a:r>
              <a:rPr lang="ru-RU" sz="2200" dirty="0" err="1"/>
              <a:t>інших</a:t>
            </a:r>
            <a:r>
              <a:rPr lang="ru-RU" sz="2200" b="0" dirty="0"/>
              <a:t>.</a:t>
            </a:r>
          </a:p>
        </p:txBody>
      </p:sp>
      <p:sp>
        <p:nvSpPr>
          <p:cNvPr id="4" name="Прямокутник 3"/>
          <p:cNvSpPr/>
          <p:nvPr/>
        </p:nvSpPr>
        <p:spPr>
          <a:xfrm>
            <a:off x="0" y="11663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 smtClean="0">
                <a:solidFill>
                  <a:schemeClr val="bg1"/>
                </a:solidFill>
              </a:rPr>
              <a:t>Відношення</a:t>
            </a:r>
            <a:r>
              <a:rPr lang="ru-RU" sz="3200" b="1" dirty="0" smtClean="0">
                <a:solidFill>
                  <a:schemeClr val="bg1"/>
                </a:solidFill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</a:rPr>
              <a:t>узагальнення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13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>
            <a:spLocks noChangeArrowheads="1"/>
          </p:cNvSpPr>
          <p:nvPr/>
        </p:nvSpPr>
        <p:spPr bwMode="auto">
          <a:xfrm>
            <a:off x="7888" y="188639"/>
            <a:ext cx="89644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ru-RU" sz="3600" b="1" dirty="0" smtClean="0">
                <a:solidFill>
                  <a:schemeClr val="bg1"/>
                </a:solidFill>
              </a:rPr>
              <a:t>? </a:t>
            </a:r>
            <a:r>
              <a:rPr lang="ru-RU" sz="3600" b="1" dirty="0" err="1" smtClean="0">
                <a:solidFill>
                  <a:schemeClr val="bg1"/>
                </a:solidFill>
              </a:rPr>
              <a:t>Діаграма</a:t>
            </a:r>
            <a:r>
              <a:rPr lang="ru-RU" sz="3600" b="1" dirty="0" smtClean="0">
                <a:solidFill>
                  <a:schemeClr val="bg1"/>
                </a:solidFill>
              </a:rPr>
              <a:t> </a:t>
            </a:r>
            <a:r>
              <a:rPr lang="ru-RU" sz="3600" b="1" dirty="0" err="1">
                <a:solidFill>
                  <a:schemeClr val="bg1"/>
                </a:solidFill>
              </a:rPr>
              <a:t>варіантів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err="1">
                <a:solidFill>
                  <a:schemeClr val="bg1"/>
                </a:solidFill>
              </a:rPr>
              <a:t>використання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16412" name="Rectangle 32"/>
          <p:cNvSpPr>
            <a:spLocks noChangeArrowheads="1"/>
          </p:cNvSpPr>
          <p:nvPr/>
        </p:nvSpPr>
        <p:spPr bwMode="auto">
          <a:xfrm>
            <a:off x="6538913" y="5554663"/>
            <a:ext cx="0" cy="274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lang="ru-RU" b="0">
              <a:solidFill>
                <a:srgbClr val="000000"/>
              </a:solidFill>
            </a:endParaRPr>
          </a:p>
        </p:txBody>
      </p:sp>
      <p:grpSp>
        <p:nvGrpSpPr>
          <p:cNvPr id="16428" name="Group 44"/>
          <p:cNvGrpSpPr>
            <a:grpSpLocks/>
          </p:cNvGrpSpPr>
          <p:nvPr/>
        </p:nvGrpSpPr>
        <p:grpSpPr bwMode="auto">
          <a:xfrm>
            <a:off x="473076" y="1408907"/>
            <a:ext cx="8240775" cy="4370387"/>
            <a:chOff x="385" y="1207"/>
            <a:chExt cx="4854" cy="2753"/>
          </a:xfrm>
        </p:grpSpPr>
        <p:sp>
          <p:nvSpPr>
            <p:cNvPr id="16388" name="AutoShape 7"/>
            <p:cNvSpPr>
              <a:spLocks noChangeAspect="1" noChangeArrowheads="1" noTextEdit="1"/>
            </p:cNvSpPr>
            <p:nvPr/>
          </p:nvSpPr>
          <p:spPr bwMode="auto">
            <a:xfrm>
              <a:off x="385" y="1207"/>
              <a:ext cx="4854" cy="27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>
                <a:solidFill>
                  <a:srgbClr val="000000"/>
                </a:solidFill>
              </a:endParaRPr>
            </a:p>
          </p:txBody>
        </p:sp>
        <p:sp>
          <p:nvSpPr>
            <p:cNvPr id="16389" name="Freeform 9"/>
            <p:cNvSpPr>
              <a:spLocks/>
            </p:cNvSpPr>
            <p:nvPr/>
          </p:nvSpPr>
          <p:spPr bwMode="auto">
            <a:xfrm>
              <a:off x="882" y="1495"/>
              <a:ext cx="154" cy="140"/>
            </a:xfrm>
            <a:custGeom>
              <a:avLst/>
              <a:gdLst>
                <a:gd name="T0" fmla="*/ 0 w 333"/>
                <a:gd name="T1" fmla="*/ 165 h 330"/>
                <a:gd name="T2" fmla="*/ 167 w 333"/>
                <a:gd name="T3" fmla="*/ 0 h 330"/>
                <a:gd name="T4" fmla="*/ 333 w 333"/>
                <a:gd name="T5" fmla="*/ 165 h 330"/>
                <a:gd name="T6" fmla="*/ 333 w 333"/>
                <a:gd name="T7" fmla="*/ 165 h 330"/>
                <a:gd name="T8" fmla="*/ 167 w 333"/>
                <a:gd name="T9" fmla="*/ 330 h 330"/>
                <a:gd name="T10" fmla="*/ 0 w 333"/>
                <a:gd name="T11" fmla="*/ 165 h 3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3"/>
                <a:gd name="T19" fmla="*/ 0 h 330"/>
                <a:gd name="T20" fmla="*/ 333 w 333"/>
                <a:gd name="T21" fmla="*/ 330 h 3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3" h="330">
                  <a:moveTo>
                    <a:pt x="0" y="165"/>
                  </a:moveTo>
                  <a:cubicBezTo>
                    <a:pt x="0" y="74"/>
                    <a:pt x="75" y="0"/>
                    <a:pt x="167" y="0"/>
                  </a:cubicBezTo>
                  <a:cubicBezTo>
                    <a:pt x="259" y="0"/>
                    <a:pt x="333" y="74"/>
                    <a:pt x="333" y="165"/>
                  </a:cubicBezTo>
                  <a:cubicBezTo>
                    <a:pt x="333" y="165"/>
                    <a:pt x="333" y="165"/>
                    <a:pt x="333" y="165"/>
                  </a:cubicBezTo>
                  <a:cubicBezTo>
                    <a:pt x="333" y="256"/>
                    <a:pt x="259" y="330"/>
                    <a:pt x="167" y="330"/>
                  </a:cubicBezTo>
                  <a:cubicBezTo>
                    <a:pt x="75" y="330"/>
                    <a:pt x="0" y="256"/>
                    <a:pt x="0" y="165"/>
                  </a:cubicBezTo>
                </a:path>
              </a:pathLst>
            </a:custGeom>
            <a:solidFill>
              <a:schemeClr val="bg1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390" name="Freeform 10"/>
            <p:cNvSpPr>
              <a:spLocks/>
            </p:cNvSpPr>
            <p:nvPr/>
          </p:nvSpPr>
          <p:spPr bwMode="auto">
            <a:xfrm>
              <a:off x="882" y="1495"/>
              <a:ext cx="154" cy="140"/>
            </a:xfrm>
            <a:custGeom>
              <a:avLst/>
              <a:gdLst>
                <a:gd name="T0" fmla="*/ 0 w 125"/>
                <a:gd name="T1" fmla="*/ 62 h 124"/>
                <a:gd name="T2" fmla="*/ 63 w 125"/>
                <a:gd name="T3" fmla="*/ 0 h 124"/>
                <a:gd name="T4" fmla="*/ 125 w 125"/>
                <a:gd name="T5" fmla="*/ 62 h 124"/>
                <a:gd name="T6" fmla="*/ 125 w 125"/>
                <a:gd name="T7" fmla="*/ 62 h 124"/>
                <a:gd name="T8" fmla="*/ 63 w 125"/>
                <a:gd name="T9" fmla="*/ 124 h 124"/>
                <a:gd name="T10" fmla="*/ 0 w 125"/>
                <a:gd name="T11" fmla="*/ 62 h 1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5"/>
                <a:gd name="T19" fmla="*/ 0 h 124"/>
                <a:gd name="T20" fmla="*/ 125 w 125"/>
                <a:gd name="T21" fmla="*/ 124 h 1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5" h="124">
                  <a:moveTo>
                    <a:pt x="0" y="62"/>
                  </a:moveTo>
                  <a:cubicBezTo>
                    <a:pt x="0" y="28"/>
                    <a:pt x="28" y="0"/>
                    <a:pt x="63" y="0"/>
                  </a:cubicBezTo>
                  <a:cubicBezTo>
                    <a:pt x="97" y="0"/>
                    <a:pt x="125" y="28"/>
                    <a:pt x="125" y="62"/>
                  </a:cubicBezTo>
                  <a:cubicBezTo>
                    <a:pt x="125" y="62"/>
                    <a:pt x="125" y="62"/>
                    <a:pt x="125" y="62"/>
                  </a:cubicBezTo>
                  <a:cubicBezTo>
                    <a:pt x="125" y="96"/>
                    <a:pt x="97" y="124"/>
                    <a:pt x="63" y="124"/>
                  </a:cubicBezTo>
                  <a:cubicBezTo>
                    <a:pt x="28" y="124"/>
                    <a:pt x="0" y="96"/>
                    <a:pt x="0" y="62"/>
                  </a:cubicBezTo>
                </a:path>
              </a:pathLst>
            </a:custGeom>
            <a:solidFill>
              <a:schemeClr val="bg1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391" name="Freeform 11"/>
            <p:cNvSpPr>
              <a:spLocks noEditPoints="1"/>
            </p:cNvSpPr>
            <p:nvPr/>
          </p:nvSpPr>
          <p:spPr bwMode="auto">
            <a:xfrm>
              <a:off x="805" y="1635"/>
              <a:ext cx="307" cy="630"/>
            </a:xfrm>
            <a:custGeom>
              <a:avLst/>
              <a:gdLst>
                <a:gd name="T0" fmla="*/ 0 w 249"/>
                <a:gd name="T1" fmla="*/ 62 h 557"/>
                <a:gd name="T2" fmla="*/ 249 w 249"/>
                <a:gd name="T3" fmla="*/ 62 h 557"/>
                <a:gd name="T4" fmla="*/ 125 w 249"/>
                <a:gd name="T5" fmla="*/ 309 h 557"/>
                <a:gd name="T6" fmla="*/ 249 w 249"/>
                <a:gd name="T7" fmla="*/ 557 h 557"/>
                <a:gd name="T8" fmla="*/ 125 w 249"/>
                <a:gd name="T9" fmla="*/ 0 h 557"/>
                <a:gd name="T10" fmla="*/ 125 w 249"/>
                <a:gd name="T11" fmla="*/ 309 h 557"/>
                <a:gd name="T12" fmla="*/ 0 w 249"/>
                <a:gd name="T13" fmla="*/ 557 h 5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9"/>
                <a:gd name="T22" fmla="*/ 0 h 557"/>
                <a:gd name="T23" fmla="*/ 249 w 249"/>
                <a:gd name="T24" fmla="*/ 557 h 5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9" h="557">
                  <a:moveTo>
                    <a:pt x="0" y="62"/>
                  </a:moveTo>
                  <a:lnTo>
                    <a:pt x="249" y="62"/>
                  </a:lnTo>
                  <a:moveTo>
                    <a:pt x="125" y="309"/>
                  </a:moveTo>
                  <a:lnTo>
                    <a:pt x="249" y="557"/>
                  </a:lnTo>
                  <a:moveTo>
                    <a:pt x="125" y="0"/>
                  </a:moveTo>
                  <a:lnTo>
                    <a:pt x="125" y="309"/>
                  </a:lnTo>
                  <a:lnTo>
                    <a:pt x="0" y="557"/>
                  </a:lnTo>
                </a:path>
              </a:pathLst>
            </a:custGeom>
            <a:solidFill>
              <a:schemeClr val="bg1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392" name="Rectangle 12"/>
            <p:cNvSpPr>
              <a:spLocks noChangeArrowheads="1"/>
            </p:cNvSpPr>
            <p:nvPr/>
          </p:nvSpPr>
          <p:spPr bwMode="auto">
            <a:xfrm>
              <a:off x="503" y="2299"/>
              <a:ext cx="850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uk-UA" sz="2000" b="0">
                  <a:solidFill>
                    <a:srgbClr val="000000"/>
                  </a:solidFill>
                </a:rPr>
                <a:t>Користувач</a:t>
              </a:r>
              <a:endParaRPr lang="ru-RU" sz="2000" b="0">
                <a:solidFill>
                  <a:srgbClr val="000000"/>
                </a:solidFill>
              </a:endParaRPr>
            </a:p>
          </p:txBody>
        </p:sp>
        <p:sp>
          <p:nvSpPr>
            <p:cNvPr id="16393" name="Freeform 13"/>
            <p:cNvSpPr>
              <a:spLocks/>
            </p:cNvSpPr>
            <p:nvPr/>
          </p:nvSpPr>
          <p:spPr bwMode="auto">
            <a:xfrm>
              <a:off x="882" y="2956"/>
              <a:ext cx="154" cy="141"/>
            </a:xfrm>
            <a:custGeom>
              <a:avLst/>
              <a:gdLst>
                <a:gd name="T0" fmla="*/ 0 w 333"/>
                <a:gd name="T1" fmla="*/ 165 h 329"/>
                <a:gd name="T2" fmla="*/ 167 w 333"/>
                <a:gd name="T3" fmla="*/ 0 h 329"/>
                <a:gd name="T4" fmla="*/ 333 w 333"/>
                <a:gd name="T5" fmla="*/ 165 h 329"/>
                <a:gd name="T6" fmla="*/ 333 w 333"/>
                <a:gd name="T7" fmla="*/ 165 h 329"/>
                <a:gd name="T8" fmla="*/ 167 w 333"/>
                <a:gd name="T9" fmla="*/ 329 h 329"/>
                <a:gd name="T10" fmla="*/ 0 w 333"/>
                <a:gd name="T11" fmla="*/ 165 h 3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3"/>
                <a:gd name="T19" fmla="*/ 0 h 329"/>
                <a:gd name="T20" fmla="*/ 333 w 333"/>
                <a:gd name="T21" fmla="*/ 329 h 32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3" h="329">
                  <a:moveTo>
                    <a:pt x="0" y="165"/>
                  </a:moveTo>
                  <a:cubicBezTo>
                    <a:pt x="0" y="73"/>
                    <a:pt x="75" y="0"/>
                    <a:pt x="167" y="0"/>
                  </a:cubicBezTo>
                  <a:cubicBezTo>
                    <a:pt x="259" y="0"/>
                    <a:pt x="333" y="73"/>
                    <a:pt x="333" y="165"/>
                  </a:cubicBezTo>
                  <a:cubicBezTo>
                    <a:pt x="333" y="165"/>
                    <a:pt x="333" y="165"/>
                    <a:pt x="333" y="165"/>
                  </a:cubicBezTo>
                  <a:cubicBezTo>
                    <a:pt x="333" y="256"/>
                    <a:pt x="259" y="329"/>
                    <a:pt x="167" y="329"/>
                  </a:cubicBezTo>
                  <a:cubicBezTo>
                    <a:pt x="75" y="329"/>
                    <a:pt x="0" y="256"/>
                    <a:pt x="0" y="165"/>
                  </a:cubicBezTo>
                </a:path>
              </a:pathLst>
            </a:custGeom>
            <a:solidFill>
              <a:schemeClr val="bg1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394" name="Freeform 14"/>
            <p:cNvSpPr>
              <a:spLocks/>
            </p:cNvSpPr>
            <p:nvPr/>
          </p:nvSpPr>
          <p:spPr bwMode="auto">
            <a:xfrm>
              <a:off x="882" y="2956"/>
              <a:ext cx="154" cy="141"/>
            </a:xfrm>
            <a:custGeom>
              <a:avLst/>
              <a:gdLst>
                <a:gd name="T0" fmla="*/ 0 w 125"/>
                <a:gd name="T1" fmla="*/ 62 h 124"/>
                <a:gd name="T2" fmla="*/ 63 w 125"/>
                <a:gd name="T3" fmla="*/ 0 h 124"/>
                <a:gd name="T4" fmla="*/ 125 w 125"/>
                <a:gd name="T5" fmla="*/ 62 h 124"/>
                <a:gd name="T6" fmla="*/ 125 w 125"/>
                <a:gd name="T7" fmla="*/ 62 h 124"/>
                <a:gd name="T8" fmla="*/ 63 w 125"/>
                <a:gd name="T9" fmla="*/ 124 h 124"/>
                <a:gd name="T10" fmla="*/ 0 w 125"/>
                <a:gd name="T11" fmla="*/ 62 h 1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5"/>
                <a:gd name="T19" fmla="*/ 0 h 124"/>
                <a:gd name="T20" fmla="*/ 125 w 125"/>
                <a:gd name="T21" fmla="*/ 124 h 1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5" h="124">
                  <a:moveTo>
                    <a:pt x="0" y="62"/>
                  </a:moveTo>
                  <a:cubicBezTo>
                    <a:pt x="0" y="28"/>
                    <a:pt x="28" y="0"/>
                    <a:pt x="63" y="0"/>
                  </a:cubicBezTo>
                  <a:cubicBezTo>
                    <a:pt x="97" y="0"/>
                    <a:pt x="125" y="28"/>
                    <a:pt x="125" y="62"/>
                  </a:cubicBezTo>
                  <a:cubicBezTo>
                    <a:pt x="125" y="62"/>
                    <a:pt x="125" y="62"/>
                    <a:pt x="125" y="62"/>
                  </a:cubicBezTo>
                  <a:cubicBezTo>
                    <a:pt x="125" y="96"/>
                    <a:pt x="97" y="124"/>
                    <a:pt x="63" y="124"/>
                  </a:cubicBezTo>
                  <a:cubicBezTo>
                    <a:pt x="28" y="124"/>
                    <a:pt x="0" y="96"/>
                    <a:pt x="0" y="62"/>
                  </a:cubicBezTo>
                </a:path>
              </a:pathLst>
            </a:custGeom>
            <a:solidFill>
              <a:schemeClr val="bg1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395" name="Freeform 15"/>
            <p:cNvSpPr>
              <a:spLocks noEditPoints="1"/>
            </p:cNvSpPr>
            <p:nvPr/>
          </p:nvSpPr>
          <p:spPr bwMode="auto">
            <a:xfrm>
              <a:off x="805" y="3097"/>
              <a:ext cx="307" cy="629"/>
            </a:xfrm>
            <a:custGeom>
              <a:avLst/>
              <a:gdLst>
                <a:gd name="T0" fmla="*/ 0 w 249"/>
                <a:gd name="T1" fmla="*/ 62 h 557"/>
                <a:gd name="T2" fmla="*/ 249 w 249"/>
                <a:gd name="T3" fmla="*/ 62 h 557"/>
                <a:gd name="T4" fmla="*/ 125 w 249"/>
                <a:gd name="T5" fmla="*/ 309 h 557"/>
                <a:gd name="T6" fmla="*/ 249 w 249"/>
                <a:gd name="T7" fmla="*/ 557 h 557"/>
                <a:gd name="T8" fmla="*/ 125 w 249"/>
                <a:gd name="T9" fmla="*/ 0 h 557"/>
                <a:gd name="T10" fmla="*/ 125 w 249"/>
                <a:gd name="T11" fmla="*/ 309 h 557"/>
                <a:gd name="T12" fmla="*/ 0 w 249"/>
                <a:gd name="T13" fmla="*/ 557 h 5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9"/>
                <a:gd name="T22" fmla="*/ 0 h 557"/>
                <a:gd name="T23" fmla="*/ 249 w 249"/>
                <a:gd name="T24" fmla="*/ 557 h 5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9" h="557">
                  <a:moveTo>
                    <a:pt x="0" y="62"/>
                  </a:moveTo>
                  <a:lnTo>
                    <a:pt x="249" y="62"/>
                  </a:lnTo>
                  <a:moveTo>
                    <a:pt x="125" y="309"/>
                  </a:moveTo>
                  <a:lnTo>
                    <a:pt x="249" y="557"/>
                  </a:lnTo>
                  <a:moveTo>
                    <a:pt x="125" y="0"/>
                  </a:moveTo>
                  <a:lnTo>
                    <a:pt x="125" y="309"/>
                  </a:lnTo>
                  <a:lnTo>
                    <a:pt x="0" y="557"/>
                  </a:lnTo>
                </a:path>
              </a:pathLst>
            </a:custGeom>
            <a:solidFill>
              <a:schemeClr val="bg1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396" name="Rectangle 16"/>
            <p:cNvSpPr>
              <a:spLocks noChangeArrowheads="1"/>
            </p:cNvSpPr>
            <p:nvPr/>
          </p:nvSpPr>
          <p:spPr bwMode="auto">
            <a:xfrm>
              <a:off x="459" y="3757"/>
              <a:ext cx="105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2000" b="0">
                  <a:solidFill>
                    <a:srgbClr val="000000"/>
                  </a:solidFill>
                </a:rPr>
                <a:t>Адміністратор</a:t>
              </a:r>
            </a:p>
          </p:txBody>
        </p:sp>
        <p:sp>
          <p:nvSpPr>
            <p:cNvPr id="16397" name="Freeform 17"/>
            <p:cNvSpPr>
              <a:spLocks/>
            </p:cNvSpPr>
            <p:nvPr/>
          </p:nvSpPr>
          <p:spPr bwMode="auto">
            <a:xfrm>
              <a:off x="3754" y="1238"/>
              <a:ext cx="1398" cy="639"/>
            </a:xfrm>
            <a:custGeom>
              <a:avLst/>
              <a:gdLst>
                <a:gd name="T0" fmla="*/ 0 w 3024"/>
                <a:gd name="T1" fmla="*/ 755 h 1511"/>
                <a:gd name="T2" fmla="*/ 1512 w 3024"/>
                <a:gd name="T3" fmla="*/ 0 h 1511"/>
                <a:gd name="T4" fmla="*/ 3024 w 3024"/>
                <a:gd name="T5" fmla="*/ 755 h 1511"/>
                <a:gd name="T6" fmla="*/ 3024 w 3024"/>
                <a:gd name="T7" fmla="*/ 755 h 1511"/>
                <a:gd name="T8" fmla="*/ 1512 w 3024"/>
                <a:gd name="T9" fmla="*/ 1511 h 1511"/>
                <a:gd name="T10" fmla="*/ 0 w 3024"/>
                <a:gd name="T11" fmla="*/ 755 h 15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24"/>
                <a:gd name="T19" fmla="*/ 0 h 1511"/>
                <a:gd name="T20" fmla="*/ 3024 w 3024"/>
                <a:gd name="T21" fmla="*/ 1511 h 151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24" h="1511">
                  <a:moveTo>
                    <a:pt x="0" y="755"/>
                  </a:moveTo>
                  <a:cubicBezTo>
                    <a:pt x="0" y="338"/>
                    <a:pt x="677" y="0"/>
                    <a:pt x="1512" y="0"/>
                  </a:cubicBezTo>
                  <a:cubicBezTo>
                    <a:pt x="2347" y="0"/>
                    <a:pt x="3024" y="338"/>
                    <a:pt x="3024" y="755"/>
                  </a:cubicBezTo>
                  <a:cubicBezTo>
                    <a:pt x="3024" y="755"/>
                    <a:pt x="3024" y="755"/>
                    <a:pt x="3024" y="755"/>
                  </a:cubicBezTo>
                  <a:cubicBezTo>
                    <a:pt x="3024" y="1173"/>
                    <a:pt x="2347" y="1511"/>
                    <a:pt x="1512" y="1511"/>
                  </a:cubicBezTo>
                  <a:cubicBezTo>
                    <a:pt x="677" y="1511"/>
                    <a:pt x="0" y="1173"/>
                    <a:pt x="0" y="755"/>
                  </a:cubicBezTo>
                </a:path>
              </a:pathLst>
            </a:custGeom>
            <a:solidFill>
              <a:schemeClr val="bg1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398" name="Freeform 18"/>
            <p:cNvSpPr>
              <a:spLocks/>
            </p:cNvSpPr>
            <p:nvPr/>
          </p:nvSpPr>
          <p:spPr bwMode="auto">
            <a:xfrm>
              <a:off x="3754" y="1238"/>
              <a:ext cx="1398" cy="639"/>
            </a:xfrm>
            <a:custGeom>
              <a:avLst/>
              <a:gdLst>
                <a:gd name="T0" fmla="*/ 0 w 1134"/>
                <a:gd name="T1" fmla="*/ 283 h 566"/>
                <a:gd name="T2" fmla="*/ 567 w 1134"/>
                <a:gd name="T3" fmla="*/ 0 h 566"/>
                <a:gd name="T4" fmla="*/ 1134 w 1134"/>
                <a:gd name="T5" fmla="*/ 283 h 566"/>
                <a:gd name="T6" fmla="*/ 1134 w 1134"/>
                <a:gd name="T7" fmla="*/ 283 h 566"/>
                <a:gd name="T8" fmla="*/ 567 w 1134"/>
                <a:gd name="T9" fmla="*/ 566 h 566"/>
                <a:gd name="T10" fmla="*/ 0 w 1134"/>
                <a:gd name="T11" fmla="*/ 283 h 5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34"/>
                <a:gd name="T19" fmla="*/ 0 h 566"/>
                <a:gd name="T20" fmla="*/ 1134 w 1134"/>
                <a:gd name="T21" fmla="*/ 566 h 56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34" h="566">
                  <a:moveTo>
                    <a:pt x="0" y="283"/>
                  </a:moveTo>
                  <a:cubicBezTo>
                    <a:pt x="0" y="126"/>
                    <a:pt x="253" y="0"/>
                    <a:pt x="567" y="0"/>
                  </a:cubicBezTo>
                  <a:cubicBezTo>
                    <a:pt x="880" y="0"/>
                    <a:pt x="1134" y="126"/>
                    <a:pt x="1134" y="283"/>
                  </a:cubicBezTo>
                  <a:cubicBezTo>
                    <a:pt x="1134" y="283"/>
                    <a:pt x="1134" y="283"/>
                    <a:pt x="1134" y="283"/>
                  </a:cubicBezTo>
                  <a:cubicBezTo>
                    <a:pt x="1134" y="440"/>
                    <a:pt x="880" y="566"/>
                    <a:pt x="567" y="566"/>
                  </a:cubicBezTo>
                  <a:cubicBezTo>
                    <a:pt x="253" y="566"/>
                    <a:pt x="0" y="440"/>
                    <a:pt x="0" y="283"/>
                  </a:cubicBezTo>
                </a:path>
              </a:pathLst>
            </a:custGeom>
            <a:solidFill>
              <a:schemeClr val="bg1"/>
            </a:solidFill>
            <a:ln w="2698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399" name="Rectangle 19"/>
            <p:cNvSpPr>
              <a:spLocks noChangeArrowheads="1"/>
            </p:cNvSpPr>
            <p:nvPr/>
          </p:nvSpPr>
          <p:spPr bwMode="auto">
            <a:xfrm>
              <a:off x="3934" y="1478"/>
              <a:ext cx="1019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2000" b="0">
                  <a:solidFill>
                    <a:srgbClr val="000000"/>
                  </a:solidFill>
                </a:rPr>
                <a:t>Вибрати рейс</a:t>
              </a:r>
            </a:p>
          </p:txBody>
        </p:sp>
        <p:sp>
          <p:nvSpPr>
            <p:cNvPr id="16400" name="Freeform 20"/>
            <p:cNvSpPr>
              <a:spLocks/>
            </p:cNvSpPr>
            <p:nvPr/>
          </p:nvSpPr>
          <p:spPr bwMode="auto">
            <a:xfrm>
              <a:off x="1664" y="2829"/>
              <a:ext cx="1391" cy="637"/>
            </a:xfrm>
            <a:custGeom>
              <a:avLst/>
              <a:gdLst>
                <a:gd name="T0" fmla="*/ 0 w 3010"/>
                <a:gd name="T1" fmla="*/ 753 h 1505"/>
                <a:gd name="T2" fmla="*/ 1505 w 3010"/>
                <a:gd name="T3" fmla="*/ 0 h 1505"/>
                <a:gd name="T4" fmla="*/ 3010 w 3010"/>
                <a:gd name="T5" fmla="*/ 753 h 1505"/>
                <a:gd name="T6" fmla="*/ 3010 w 3010"/>
                <a:gd name="T7" fmla="*/ 753 h 1505"/>
                <a:gd name="T8" fmla="*/ 1505 w 3010"/>
                <a:gd name="T9" fmla="*/ 1505 h 1505"/>
                <a:gd name="T10" fmla="*/ 0 w 3010"/>
                <a:gd name="T11" fmla="*/ 753 h 15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10"/>
                <a:gd name="T19" fmla="*/ 0 h 1505"/>
                <a:gd name="T20" fmla="*/ 3010 w 3010"/>
                <a:gd name="T21" fmla="*/ 1505 h 150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10" h="1505">
                  <a:moveTo>
                    <a:pt x="0" y="753"/>
                  </a:moveTo>
                  <a:cubicBezTo>
                    <a:pt x="0" y="337"/>
                    <a:pt x="674" y="0"/>
                    <a:pt x="1505" y="0"/>
                  </a:cubicBezTo>
                  <a:cubicBezTo>
                    <a:pt x="2336" y="0"/>
                    <a:pt x="3010" y="337"/>
                    <a:pt x="3010" y="753"/>
                  </a:cubicBezTo>
                  <a:cubicBezTo>
                    <a:pt x="3010" y="753"/>
                    <a:pt x="3010" y="753"/>
                    <a:pt x="3010" y="753"/>
                  </a:cubicBezTo>
                  <a:cubicBezTo>
                    <a:pt x="3010" y="1168"/>
                    <a:pt x="2336" y="1505"/>
                    <a:pt x="1505" y="1505"/>
                  </a:cubicBezTo>
                  <a:cubicBezTo>
                    <a:pt x="674" y="1505"/>
                    <a:pt x="0" y="1168"/>
                    <a:pt x="0" y="753"/>
                  </a:cubicBezTo>
                </a:path>
              </a:pathLst>
            </a:custGeom>
            <a:solidFill>
              <a:schemeClr val="bg1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401" name="Freeform 21"/>
            <p:cNvSpPr>
              <a:spLocks/>
            </p:cNvSpPr>
            <p:nvPr/>
          </p:nvSpPr>
          <p:spPr bwMode="auto">
            <a:xfrm>
              <a:off x="1664" y="2829"/>
              <a:ext cx="1391" cy="637"/>
            </a:xfrm>
            <a:custGeom>
              <a:avLst/>
              <a:gdLst>
                <a:gd name="T0" fmla="*/ 0 w 1129"/>
                <a:gd name="T1" fmla="*/ 282 h 564"/>
                <a:gd name="T2" fmla="*/ 564 w 1129"/>
                <a:gd name="T3" fmla="*/ 0 h 564"/>
                <a:gd name="T4" fmla="*/ 1129 w 1129"/>
                <a:gd name="T5" fmla="*/ 282 h 564"/>
                <a:gd name="T6" fmla="*/ 1129 w 1129"/>
                <a:gd name="T7" fmla="*/ 282 h 564"/>
                <a:gd name="T8" fmla="*/ 564 w 1129"/>
                <a:gd name="T9" fmla="*/ 564 h 564"/>
                <a:gd name="T10" fmla="*/ 0 w 1129"/>
                <a:gd name="T11" fmla="*/ 282 h 5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29"/>
                <a:gd name="T19" fmla="*/ 0 h 564"/>
                <a:gd name="T20" fmla="*/ 1129 w 1129"/>
                <a:gd name="T21" fmla="*/ 564 h 56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29" h="564">
                  <a:moveTo>
                    <a:pt x="0" y="282"/>
                  </a:moveTo>
                  <a:cubicBezTo>
                    <a:pt x="0" y="126"/>
                    <a:pt x="252" y="0"/>
                    <a:pt x="564" y="0"/>
                  </a:cubicBezTo>
                  <a:cubicBezTo>
                    <a:pt x="876" y="0"/>
                    <a:pt x="1129" y="126"/>
                    <a:pt x="1129" y="282"/>
                  </a:cubicBezTo>
                  <a:cubicBezTo>
                    <a:pt x="1129" y="282"/>
                    <a:pt x="1129" y="282"/>
                    <a:pt x="1129" y="282"/>
                  </a:cubicBezTo>
                  <a:cubicBezTo>
                    <a:pt x="1129" y="438"/>
                    <a:pt x="876" y="564"/>
                    <a:pt x="564" y="564"/>
                  </a:cubicBezTo>
                  <a:cubicBezTo>
                    <a:pt x="252" y="564"/>
                    <a:pt x="0" y="438"/>
                    <a:pt x="0" y="282"/>
                  </a:cubicBezTo>
                </a:path>
              </a:pathLst>
            </a:custGeom>
            <a:solidFill>
              <a:schemeClr val="bg1"/>
            </a:solidFill>
            <a:ln w="2698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402" name="Rectangle 22"/>
            <p:cNvSpPr>
              <a:spLocks noChangeArrowheads="1"/>
            </p:cNvSpPr>
            <p:nvPr/>
          </p:nvSpPr>
          <p:spPr bwMode="auto">
            <a:xfrm>
              <a:off x="2018" y="2976"/>
              <a:ext cx="838" cy="3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2000" b="0">
                  <a:solidFill>
                    <a:srgbClr val="000000"/>
                  </a:solidFill>
                </a:rPr>
                <a:t>Управляти </a:t>
              </a:r>
            </a:p>
            <a:p>
              <a:r>
                <a:rPr lang="ru-RU" sz="2000" b="0">
                  <a:solidFill>
                    <a:srgbClr val="000000"/>
                  </a:solidFill>
                </a:rPr>
                <a:t>рейсами</a:t>
              </a:r>
            </a:p>
          </p:txBody>
        </p:sp>
        <p:sp>
          <p:nvSpPr>
            <p:cNvPr id="16403" name="Freeform 23"/>
            <p:cNvSpPr>
              <a:spLocks/>
            </p:cNvSpPr>
            <p:nvPr/>
          </p:nvSpPr>
          <p:spPr bwMode="auto">
            <a:xfrm>
              <a:off x="1658" y="1547"/>
              <a:ext cx="1397" cy="641"/>
            </a:xfrm>
            <a:custGeom>
              <a:avLst/>
              <a:gdLst>
                <a:gd name="T0" fmla="*/ 0 w 3023"/>
                <a:gd name="T1" fmla="*/ 756 h 1511"/>
                <a:gd name="T2" fmla="*/ 1511 w 3023"/>
                <a:gd name="T3" fmla="*/ 0 h 1511"/>
                <a:gd name="T4" fmla="*/ 3023 w 3023"/>
                <a:gd name="T5" fmla="*/ 756 h 1511"/>
                <a:gd name="T6" fmla="*/ 3023 w 3023"/>
                <a:gd name="T7" fmla="*/ 756 h 1511"/>
                <a:gd name="T8" fmla="*/ 1511 w 3023"/>
                <a:gd name="T9" fmla="*/ 1511 h 1511"/>
                <a:gd name="T10" fmla="*/ 0 w 3023"/>
                <a:gd name="T11" fmla="*/ 756 h 15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23"/>
                <a:gd name="T19" fmla="*/ 0 h 1511"/>
                <a:gd name="T20" fmla="*/ 3023 w 3023"/>
                <a:gd name="T21" fmla="*/ 1511 h 151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23" h="1511">
                  <a:moveTo>
                    <a:pt x="0" y="756"/>
                  </a:moveTo>
                  <a:cubicBezTo>
                    <a:pt x="0" y="338"/>
                    <a:pt x="676" y="0"/>
                    <a:pt x="1511" y="0"/>
                  </a:cubicBezTo>
                  <a:cubicBezTo>
                    <a:pt x="2346" y="0"/>
                    <a:pt x="3023" y="338"/>
                    <a:pt x="3023" y="756"/>
                  </a:cubicBezTo>
                  <a:cubicBezTo>
                    <a:pt x="3023" y="756"/>
                    <a:pt x="3023" y="756"/>
                    <a:pt x="3023" y="756"/>
                  </a:cubicBezTo>
                  <a:cubicBezTo>
                    <a:pt x="3023" y="1173"/>
                    <a:pt x="2346" y="1511"/>
                    <a:pt x="1511" y="1511"/>
                  </a:cubicBezTo>
                  <a:cubicBezTo>
                    <a:pt x="676" y="1511"/>
                    <a:pt x="0" y="1173"/>
                    <a:pt x="0" y="756"/>
                  </a:cubicBezTo>
                </a:path>
              </a:pathLst>
            </a:custGeom>
            <a:solidFill>
              <a:schemeClr val="bg1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404" name="Freeform 24"/>
            <p:cNvSpPr>
              <a:spLocks/>
            </p:cNvSpPr>
            <p:nvPr/>
          </p:nvSpPr>
          <p:spPr bwMode="auto">
            <a:xfrm>
              <a:off x="1658" y="1547"/>
              <a:ext cx="1397" cy="641"/>
            </a:xfrm>
            <a:custGeom>
              <a:avLst/>
              <a:gdLst>
                <a:gd name="T0" fmla="*/ 0 w 1134"/>
                <a:gd name="T1" fmla="*/ 283 h 567"/>
                <a:gd name="T2" fmla="*/ 567 w 1134"/>
                <a:gd name="T3" fmla="*/ 0 h 567"/>
                <a:gd name="T4" fmla="*/ 1134 w 1134"/>
                <a:gd name="T5" fmla="*/ 283 h 567"/>
                <a:gd name="T6" fmla="*/ 1134 w 1134"/>
                <a:gd name="T7" fmla="*/ 283 h 567"/>
                <a:gd name="T8" fmla="*/ 567 w 1134"/>
                <a:gd name="T9" fmla="*/ 567 h 567"/>
                <a:gd name="T10" fmla="*/ 0 w 1134"/>
                <a:gd name="T11" fmla="*/ 283 h 5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34"/>
                <a:gd name="T19" fmla="*/ 0 h 567"/>
                <a:gd name="T20" fmla="*/ 1134 w 1134"/>
                <a:gd name="T21" fmla="*/ 567 h 56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34" h="567">
                  <a:moveTo>
                    <a:pt x="0" y="283"/>
                  </a:moveTo>
                  <a:cubicBezTo>
                    <a:pt x="0" y="127"/>
                    <a:pt x="253" y="0"/>
                    <a:pt x="567" y="0"/>
                  </a:cubicBezTo>
                  <a:cubicBezTo>
                    <a:pt x="880" y="0"/>
                    <a:pt x="1134" y="127"/>
                    <a:pt x="1134" y="283"/>
                  </a:cubicBezTo>
                  <a:cubicBezTo>
                    <a:pt x="1134" y="283"/>
                    <a:pt x="1134" y="283"/>
                    <a:pt x="1134" y="283"/>
                  </a:cubicBezTo>
                  <a:cubicBezTo>
                    <a:pt x="1134" y="440"/>
                    <a:pt x="880" y="567"/>
                    <a:pt x="567" y="567"/>
                  </a:cubicBezTo>
                  <a:cubicBezTo>
                    <a:pt x="253" y="567"/>
                    <a:pt x="0" y="440"/>
                    <a:pt x="0" y="283"/>
                  </a:cubicBezTo>
                </a:path>
              </a:pathLst>
            </a:custGeom>
            <a:solidFill>
              <a:schemeClr val="bg1"/>
            </a:solidFill>
            <a:ln w="2698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405" name="Rectangle 25"/>
            <p:cNvSpPr>
              <a:spLocks noChangeArrowheads="1"/>
            </p:cNvSpPr>
            <p:nvPr/>
          </p:nvSpPr>
          <p:spPr bwMode="auto">
            <a:xfrm>
              <a:off x="1877" y="1706"/>
              <a:ext cx="1000" cy="3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ru-RU" sz="2000" b="0" dirty="0" err="1">
                  <a:solidFill>
                    <a:srgbClr val="000000"/>
                  </a:solidFill>
                </a:rPr>
                <a:t>Забронювати</a:t>
              </a:r>
              <a:endParaRPr lang="ru-RU" sz="2000" b="0" dirty="0">
                <a:solidFill>
                  <a:srgbClr val="000000"/>
                </a:solidFill>
              </a:endParaRPr>
            </a:p>
            <a:p>
              <a:pPr algn="ctr"/>
              <a:r>
                <a:rPr lang="ru-RU" sz="2000" b="0" dirty="0">
                  <a:solidFill>
                    <a:srgbClr val="000000"/>
                  </a:solidFill>
                </a:rPr>
                <a:t> </a:t>
              </a:r>
              <a:r>
                <a:rPr lang="ru-RU" sz="2000" b="0" dirty="0" err="1">
                  <a:solidFill>
                    <a:srgbClr val="000000"/>
                  </a:solidFill>
                </a:rPr>
                <a:t>білет</a:t>
              </a:r>
              <a:endParaRPr lang="ru-RU" sz="2000" b="0" dirty="0">
                <a:solidFill>
                  <a:srgbClr val="000000"/>
                </a:solidFill>
              </a:endParaRPr>
            </a:p>
          </p:txBody>
        </p:sp>
        <p:sp>
          <p:nvSpPr>
            <p:cNvPr id="16406" name="Freeform 26"/>
            <p:cNvSpPr>
              <a:spLocks/>
            </p:cNvSpPr>
            <p:nvPr/>
          </p:nvSpPr>
          <p:spPr bwMode="auto">
            <a:xfrm>
              <a:off x="3727" y="2162"/>
              <a:ext cx="1450" cy="666"/>
            </a:xfrm>
            <a:custGeom>
              <a:avLst/>
              <a:gdLst>
                <a:gd name="T0" fmla="*/ 0 w 3140"/>
                <a:gd name="T1" fmla="*/ 785 h 1570"/>
                <a:gd name="T2" fmla="*/ 1570 w 3140"/>
                <a:gd name="T3" fmla="*/ 0 h 1570"/>
                <a:gd name="T4" fmla="*/ 3140 w 3140"/>
                <a:gd name="T5" fmla="*/ 785 h 1570"/>
                <a:gd name="T6" fmla="*/ 3140 w 3140"/>
                <a:gd name="T7" fmla="*/ 785 h 1570"/>
                <a:gd name="T8" fmla="*/ 1570 w 3140"/>
                <a:gd name="T9" fmla="*/ 1570 h 1570"/>
                <a:gd name="T10" fmla="*/ 0 w 3140"/>
                <a:gd name="T11" fmla="*/ 785 h 15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40"/>
                <a:gd name="T19" fmla="*/ 0 h 1570"/>
                <a:gd name="T20" fmla="*/ 3140 w 3140"/>
                <a:gd name="T21" fmla="*/ 1570 h 15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40" h="1570">
                  <a:moveTo>
                    <a:pt x="0" y="785"/>
                  </a:moveTo>
                  <a:cubicBezTo>
                    <a:pt x="0" y="351"/>
                    <a:pt x="703" y="0"/>
                    <a:pt x="1570" y="0"/>
                  </a:cubicBezTo>
                  <a:cubicBezTo>
                    <a:pt x="2437" y="0"/>
                    <a:pt x="3140" y="351"/>
                    <a:pt x="3140" y="785"/>
                  </a:cubicBezTo>
                  <a:cubicBezTo>
                    <a:pt x="3140" y="785"/>
                    <a:pt x="3140" y="785"/>
                    <a:pt x="3140" y="785"/>
                  </a:cubicBezTo>
                  <a:cubicBezTo>
                    <a:pt x="3140" y="1218"/>
                    <a:pt x="2437" y="1570"/>
                    <a:pt x="1570" y="1570"/>
                  </a:cubicBezTo>
                  <a:cubicBezTo>
                    <a:pt x="703" y="1570"/>
                    <a:pt x="0" y="1218"/>
                    <a:pt x="0" y="785"/>
                  </a:cubicBezTo>
                </a:path>
              </a:pathLst>
            </a:custGeom>
            <a:solidFill>
              <a:schemeClr val="bg1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407" name="Freeform 27"/>
            <p:cNvSpPr>
              <a:spLocks/>
            </p:cNvSpPr>
            <p:nvPr/>
          </p:nvSpPr>
          <p:spPr bwMode="auto">
            <a:xfrm>
              <a:off x="3727" y="2162"/>
              <a:ext cx="1450" cy="666"/>
            </a:xfrm>
            <a:custGeom>
              <a:avLst/>
              <a:gdLst>
                <a:gd name="T0" fmla="*/ 0 w 1177"/>
                <a:gd name="T1" fmla="*/ 294 h 589"/>
                <a:gd name="T2" fmla="*/ 589 w 1177"/>
                <a:gd name="T3" fmla="*/ 0 h 589"/>
                <a:gd name="T4" fmla="*/ 1177 w 1177"/>
                <a:gd name="T5" fmla="*/ 294 h 589"/>
                <a:gd name="T6" fmla="*/ 1177 w 1177"/>
                <a:gd name="T7" fmla="*/ 294 h 589"/>
                <a:gd name="T8" fmla="*/ 589 w 1177"/>
                <a:gd name="T9" fmla="*/ 589 h 589"/>
                <a:gd name="T10" fmla="*/ 0 w 1177"/>
                <a:gd name="T11" fmla="*/ 294 h 5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77"/>
                <a:gd name="T19" fmla="*/ 0 h 589"/>
                <a:gd name="T20" fmla="*/ 1177 w 1177"/>
                <a:gd name="T21" fmla="*/ 589 h 58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77" h="589">
                  <a:moveTo>
                    <a:pt x="0" y="294"/>
                  </a:moveTo>
                  <a:cubicBezTo>
                    <a:pt x="0" y="132"/>
                    <a:pt x="263" y="0"/>
                    <a:pt x="589" y="0"/>
                  </a:cubicBezTo>
                  <a:cubicBezTo>
                    <a:pt x="914" y="0"/>
                    <a:pt x="1177" y="132"/>
                    <a:pt x="1177" y="294"/>
                  </a:cubicBezTo>
                  <a:cubicBezTo>
                    <a:pt x="1177" y="294"/>
                    <a:pt x="1177" y="294"/>
                    <a:pt x="1177" y="294"/>
                  </a:cubicBezTo>
                  <a:cubicBezTo>
                    <a:pt x="1177" y="457"/>
                    <a:pt x="914" y="589"/>
                    <a:pt x="589" y="589"/>
                  </a:cubicBezTo>
                  <a:cubicBezTo>
                    <a:pt x="263" y="589"/>
                    <a:pt x="0" y="457"/>
                    <a:pt x="0" y="294"/>
                  </a:cubicBezTo>
                </a:path>
              </a:pathLst>
            </a:custGeom>
            <a:solidFill>
              <a:schemeClr val="bg1"/>
            </a:solidFill>
            <a:ln w="2698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408" name="Rectangle 28"/>
            <p:cNvSpPr>
              <a:spLocks noChangeArrowheads="1"/>
            </p:cNvSpPr>
            <p:nvPr/>
          </p:nvSpPr>
          <p:spPr bwMode="auto">
            <a:xfrm>
              <a:off x="4012" y="2341"/>
              <a:ext cx="958" cy="3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ru-RU" sz="2000" b="0">
                  <a:solidFill>
                    <a:srgbClr val="000000"/>
                  </a:solidFill>
                </a:rPr>
                <a:t>Працювати з</a:t>
              </a:r>
            </a:p>
            <a:p>
              <a:pPr algn="ctr"/>
              <a:r>
                <a:rPr lang="ru-RU" sz="2000" b="0">
                  <a:solidFill>
                    <a:srgbClr val="000000"/>
                  </a:solidFill>
                </a:rPr>
                <a:t> даними</a:t>
              </a:r>
            </a:p>
          </p:txBody>
        </p:sp>
        <p:sp>
          <p:nvSpPr>
            <p:cNvPr id="16409" name="Freeform 29"/>
            <p:cNvSpPr>
              <a:spLocks/>
            </p:cNvSpPr>
            <p:nvPr/>
          </p:nvSpPr>
          <p:spPr bwMode="auto">
            <a:xfrm>
              <a:off x="3697" y="3155"/>
              <a:ext cx="1510" cy="692"/>
            </a:xfrm>
            <a:custGeom>
              <a:avLst/>
              <a:gdLst>
                <a:gd name="T0" fmla="*/ 0 w 3266"/>
                <a:gd name="T1" fmla="*/ 817 h 1633"/>
                <a:gd name="T2" fmla="*/ 1633 w 3266"/>
                <a:gd name="T3" fmla="*/ 0 h 1633"/>
                <a:gd name="T4" fmla="*/ 3266 w 3266"/>
                <a:gd name="T5" fmla="*/ 817 h 1633"/>
                <a:gd name="T6" fmla="*/ 3266 w 3266"/>
                <a:gd name="T7" fmla="*/ 817 h 1633"/>
                <a:gd name="T8" fmla="*/ 1633 w 3266"/>
                <a:gd name="T9" fmla="*/ 1633 h 1633"/>
                <a:gd name="T10" fmla="*/ 0 w 3266"/>
                <a:gd name="T11" fmla="*/ 817 h 16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266"/>
                <a:gd name="T19" fmla="*/ 0 h 1633"/>
                <a:gd name="T20" fmla="*/ 3266 w 3266"/>
                <a:gd name="T21" fmla="*/ 1633 h 163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266" h="1633">
                  <a:moveTo>
                    <a:pt x="0" y="817"/>
                  </a:moveTo>
                  <a:cubicBezTo>
                    <a:pt x="0" y="366"/>
                    <a:pt x="731" y="0"/>
                    <a:pt x="1633" y="0"/>
                  </a:cubicBezTo>
                  <a:cubicBezTo>
                    <a:pt x="2534" y="0"/>
                    <a:pt x="3266" y="366"/>
                    <a:pt x="3266" y="817"/>
                  </a:cubicBezTo>
                  <a:cubicBezTo>
                    <a:pt x="3266" y="817"/>
                    <a:pt x="3266" y="817"/>
                    <a:pt x="3266" y="817"/>
                  </a:cubicBezTo>
                  <a:cubicBezTo>
                    <a:pt x="3266" y="1268"/>
                    <a:pt x="2534" y="1633"/>
                    <a:pt x="1633" y="1633"/>
                  </a:cubicBezTo>
                  <a:cubicBezTo>
                    <a:pt x="731" y="1633"/>
                    <a:pt x="0" y="1268"/>
                    <a:pt x="0" y="817"/>
                  </a:cubicBezTo>
                </a:path>
              </a:pathLst>
            </a:custGeom>
            <a:solidFill>
              <a:schemeClr val="bg1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410" name="Freeform 30"/>
            <p:cNvSpPr>
              <a:spLocks/>
            </p:cNvSpPr>
            <p:nvPr/>
          </p:nvSpPr>
          <p:spPr bwMode="auto">
            <a:xfrm>
              <a:off x="3697" y="3155"/>
              <a:ext cx="1510" cy="692"/>
            </a:xfrm>
            <a:custGeom>
              <a:avLst/>
              <a:gdLst>
                <a:gd name="T0" fmla="*/ 0 w 1225"/>
                <a:gd name="T1" fmla="*/ 306 h 612"/>
                <a:gd name="T2" fmla="*/ 613 w 1225"/>
                <a:gd name="T3" fmla="*/ 0 h 612"/>
                <a:gd name="T4" fmla="*/ 1225 w 1225"/>
                <a:gd name="T5" fmla="*/ 306 h 612"/>
                <a:gd name="T6" fmla="*/ 1225 w 1225"/>
                <a:gd name="T7" fmla="*/ 306 h 612"/>
                <a:gd name="T8" fmla="*/ 613 w 1225"/>
                <a:gd name="T9" fmla="*/ 612 h 612"/>
                <a:gd name="T10" fmla="*/ 0 w 1225"/>
                <a:gd name="T11" fmla="*/ 306 h 6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25"/>
                <a:gd name="T19" fmla="*/ 0 h 612"/>
                <a:gd name="T20" fmla="*/ 1225 w 1225"/>
                <a:gd name="T21" fmla="*/ 612 h 61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25" h="612">
                  <a:moveTo>
                    <a:pt x="0" y="306"/>
                  </a:moveTo>
                  <a:cubicBezTo>
                    <a:pt x="0" y="137"/>
                    <a:pt x="274" y="0"/>
                    <a:pt x="613" y="0"/>
                  </a:cubicBezTo>
                  <a:cubicBezTo>
                    <a:pt x="951" y="0"/>
                    <a:pt x="1225" y="137"/>
                    <a:pt x="1225" y="306"/>
                  </a:cubicBezTo>
                  <a:cubicBezTo>
                    <a:pt x="1225" y="306"/>
                    <a:pt x="1225" y="306"/>
                    <a:pt x="1225" y="306"/>
                  </a:cubicBezTo>
                  <a:cubicBezTo>
                    <a:pt x="1225" y="475"/>
                    <a:pt x="951" y="612"/>
                    <a:pt x="613" y="612"/>
                  </a:cubicBezTo>
                  <a:cubicBezTo>
                    <a:pt x="274" y="612"/>
                    <a:pt x="0" y="475"/>
                    <a:pt x="0" y="306"/>
                  </a:cubicBezTo>
                </a:path>
              </a:pathLst>
            </a:custGeom>
            <a:solidFill>
              <a:schemeClr val="bg1"/>
            </a:solidFill>
            <a:ln w="2698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411" name="Rectangle 31"/>
            <p:cNvSpPr>
              <a:spLocks noChangeArrowheads="1"/>
            </p:cNvSpPr>
            <p:nvPr/>
          </p:nvSpPr>
          <p:spPr bwMode="auto">
            <a:xfrm>
              <a:off x="3822" y="3309"/>
              <a:ext cx="1259" cy="3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ru-RU" sz="2000" b="0" dirty="0" err="1">
                  <a:solidFill>
                    <a:srgbClr val="000000"/>
                  </a:solidFill>
                </a:rPr>
                <a:t>Працювати</a:t>
              </a:r>
              <a:r>
                <a:rPr lang="ru-RU" sz="2000" b="0" dirty="0">
                  <a:solidFill>
                    <a:srgbClr val="000000"/>
                  </a:solidFill>
                </a:rPr>
                <a:t> з БД </a:t>
              </a:r>
            </a:p>
            <a:p>
              <a:pPr algn="ctr"/>
              <a:r>
                <a:rPr lang="ru-RU" sz="2000" b="0" dirty="0" err="1">
                  <a:solidFill>
                    <a:srgbClr val="000000"/>
                  </a:solidFill>
                </a:rPr>
                <a:t>аеропорта</a:t>
              </a:r>
              <a:r>
                <a:rPr lang="ru-RU" sz="2000" b="0" dirty="0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16413" name="Line 33"/>
            <p:cNvSpPr>
              <a:spLocks noChangeShapeType="1"/>
            </p:cNvSpPr>
            <p:nvPr/>
          </p:nvSpPr>
          <p:spPr bwMode="auto">
            <a:xfrm flipH="1" flipV="1">
              <a:off x="1112" y="1705"/>
              <a:ext cx="546" cy="162"/>
            </a:xfrm>
            <a:prstGeom prst="line">
              <a:avLst/>
            </a:prstGeom>
            <a:noFill/>
            <a:ln w="39688" cap="rnd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414" name="Freeform 34"/>
            <p:cNvSpPr>
              <a:spLocks/>
            </p:cNvSpPr>
            <p:nvPr/>
          </p:nvSpPr>
          <p:spPr bwMode="auto">
            <a:xfrm>
              <a:off x="1535" y="1787"/>
              <a:ext cx="123" cy="97"/>
            </a:xfrm>
            <a:custGeom>
              <a:avLst/>
              <a:gdLst>
                <a:gd name="T0" fmla="*/ 0 w 100"/>
                <a:gd name="T1" fmla="*/ 86 h 86"/>
                <a:gd name="T2" fmla="*/ 100 w 100"/>
                <a:gd name="T3" fmla="*/ 71 h 86"/>
                <a:gd name="T4" fmla="*/ 28 w 100"/>
                <a:gd name="T5" fmla="*/ 0 h 86"/>
                <a:gd name="T6" fmla="*/ 0 60000 65536"/>
                <a:gd name="T7" fmla="*/ 0 60000 65536"/>
                <a:gd name="T8" fmla="*/ 0 60000 65536"/>
                <a:gd name="T9" fmla="*/ 0 w 100"/>
                <a:gd name="T10" fmla="*/ 0 h 86"/>
                <a:gd name="T11" fmla="*/ 100 w 100"/>
                <a:gd name="T12" fmla="*/ 86 h 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" h="86">
                  <a:moveTo>
                    <a:pt x="0" y="86"/>
                  </a:moveTo>
                  <a:lnTo>
                    <a:pt x="100" y="71"/>
                  </a:lnTo>
                  <a:lnTo>
                    <a:pt x="28" y="0"/>
                  </a:lnTo>
                </a:path>
              </a:pathLst>
            </a:custGeom>
            <a:solidFill>
              <a:schemeClr val="bg1"/>
            </a:solidFill>
            <a:ln w="39688" cap="rnd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415" name="Line 35"/>
            <p:cNvSpPr>
              <a:spLocks noChangeShapeType="1"/>
            </p:cNvSpPr>
            <p:nvPr/>
          </p:nvSpPr>
          <p:spPr bwMode="auto">
            <a:xfrm flipH="1">
              <a:off x="1112" y="3147"/>
              <a:ext cx="552" cy="20"/>
            </a:xfrm>
            <a:prstGeom prst="line">
              <a:avLst/>
            </a:prstGeom>
            <a:noFill/>
            <a:ln w="39688" cap="rnd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416" name="Freeform 36"/>
            <p:cNvSpPr>
              <a:spLocks/>
            </p:cNvSpPr>
            <p:nvPr/>
          </p:nvSpPr>
          <p:spPr bwMode="auto">
            <a:xfrm>
              <a:off x="1551" y="3100"/>
              <a:ext cx="113" cy="102"/>
            </a:xfrm>
            <a:custGeom>
              <a:avLst/>
              <a:gdLst>
                <a:gd name="T0" fmla="*/ 3 w 92"/>
                <a:gd name="T1" fmla="*/ 90 h 90"/>
                <a:gd name="T2" fmla="*/ 92 w 92"/>
                <a:gd name="T3" fmla="*/ 42 h 90"/>
                <a:gd name="T4" fmla="*/ 0 w 92"/>
                <a:gd name="T5" fmla="*/ 0 h 90"/>
                <a:gd name="T6" fmla="*/ 0 60000 65536"/>
                <a:gd name="T7" fmla="*/ 0 60000 65536"/>
                <a:gd name="T8" fmla="*/ 0 60000 65536"/>
                <a:gd name="T9" fmla="*/ 0 w 92"/>
                <a:gd name="T10" fmla="*/ 0 h 90"/>
                <a:gd name="T11" fmla="*/ 92 w 92"/>
                <a:gd name="T12" fmla="*/ 90 h 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" h="90">
                  <a:moveTo>
                    <a:pt x="3" y="90"/>
                  </a:moveTo>
                  <a:lnTo>
                    <a:pt x="92" y="42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39688" cap="rnd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417" name="Line 37"/>
            <p:cNvSpPr>
              <a:spLocks noChangeShapeType="1"/>
            </p:cNvSpPr>
            <p:nvPr/>
          </p:nvSpPr>
          <p:spPr bwMode="auto">
            <a:xfrm flipH="1">
              <a:off x="3055" y="1557"/>
              <a:ext cx="699" cy="310"/>
            </a:xfrm>
            <a:prstGeom prst="line">
              <a:avLst/>
            </a:prstGeom>
            <a:noFill/>
            <a:ln w="39688" cap="rnd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418" name="Freeform 38"/>
            <p:cNvSpPr>
              <a:spLocks/>
            </p:cNvSpPr>
            <p:nvPr/>
          </p:nvSpPr>
          <p:spPr bwMode="auto">
            <a:xfrm>
              <a:off x="3630" y="1556"/>
              <a:ext cx="124" cy="92"/>
            </a:xfrm>
            <a:custGeom>
              <a:avLst/>
              <a:gdLst>
                <a:gd name="T0" fmla="*/ 39 w 101"/>
                <a:gd name="T1" fmla="*/ 81 h 81"/>
                <a:gd name="T2" fmla="*/ 101 w 101"/>
                <a:gd name="T3" fmla="*/ 1 h 81"/>
                <a:gd name="T4" fmla="*/ 0 w 101"/>
                <a:gd name="T5" fmla="*/ 0 h 81"/>
                <a:gd name="T6" fmla="*/ 0 60000 65536"/>
                <a:gd name="T7" fmla="*/ 0 60000 65536"/>
                <a:gd name="T8" fmla="*/ 0 60000 65536"/>
                <a:gd name="T9" fmla="*/ 0 w 101"/>
                <a:gd name="T10" fmla="*/ 0 h 81"/>
                <a:gd name="T11" fmla="*/ 101 w 101"/>
                <a:gd name="T12" fmla="*/ 81 h 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1" h="81">
                  <a:moveTo>
                    <a:pt x="39" y="81"/>
                  </a:moveTo>
                  <a:lnTo>
                    <a:pt x="101" y="1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39688" cap="rnd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419" name="Line 39"/>
            <p:cNvSpPr>
              <a:spLocks noChangeShapeType="1"/>
            </p:cNvSpPr>
            <p:nvPr/>
          </p:nvSpPr>
          <p:spPr bwMode="auto">
            <a:xfrm flipH="1" flipV="1">
              <a:off x="3075" y="1858"/>
              <a:ext cx="652" cy="636"/>
            </a:xfrm>
            <a:prstGeom prst="line">
              <a:avLst/>
            </a:prstGeom>
            <a:noFill/>
            <a:ln w="39688" cap="rnd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420" name="Freeform 40"/>
            <p:cNvSpPr>
              <a:spLocks/>
            </p:cNvSpPr>
            <p:nvPr/>
          </p:nvSpPr>
          <p:spPr bwMode="auto">
            <a:xfrm>
              <a:off x="3610" y="2386"/>
              <a:ext cx="117" cy="108"/>
            </a:xfrm>
            <a:custGeom>
              <a:avLst/>
              <a:gdLst>
                <a:gd name="T0" fmla="*/ 0 w 95"/>
                <a:gd name="T1" fmla="*/ 62 h 96"/>
                <a:gd name="T2" fmla="*/ 95 w 95"/>
                <a:gd name="T3" fmla="*/ 96 h 96"/>
                <a:gd name="T4" fmla="*/ 66 w 95"/>
                <a:gd name="T5" fmla="*/ 0 h 96"/>
                <a:gd name="T6" fmla="*/ 0 60000 65536"/>
                <a:gd name="T7" fmla="*/ 0 60000 65536"/>
                <a:gd name="T8" fmla="*/ 0 60000 65536"/>
                <a:gd name="T9" fmla="*/ 0 w 95"/>
                <a:gd name="T10" fmla="*/ 0 h 96"/>
                <a:gd name="T11" fmla="*/ 95 w 95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5" h="96">
                  <a:moveTo>
                    <a:pt x="0" y="62"/>
                  </a:moveTo>
                  <a:lnTo>
                    <a:pt x="95" y="96"/>
                  </a:lnTo>
                  <a:lnTo>
                    <a:pt x="66" y="0"/>
                  </a:lnTo>
                </a:path>
              </a:pathLst>
            </a:custGeom>
            <a:solidFill>
              <a:schemeClr val="bg1"/>
            </a:solidFill>
            <a:ln w="39688" cap="rnd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421" name="Line 41"/>
            <p:cNvSpPr>
              <a:spLocks noChangeShapeType="1"/>
            </p:cNvSpPr>
            <p:nvPr/>
          </p:nvSpPr>
          <p:spPr bwMode="auto">
            <a:xfrm flipV="1">
              <a:off x="4453" y="1877"/>
              <a:ext cx="1" cy="285"/>
            </a:xfrm>
            <a:prstGeom prst="line">
              <a:avLst/>
            </a:prstGeom>
            <a:noFill/>
            <a:ln w="39688" cap="rnd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422" name="Freeform 42"/>
            <p:cNvSpPr>
              <a:spLocks/>
            </p:cNvSpPr>
            <p:nvPr/>
          </p:nvSpPr>
          <p:spPr bwMode="auto">
            <a:xfrm>
              <a:off x="4396" y="2060"/>
              <a:ext cx="112" cy="102"/>
            </a:xfrm>
            <a:custGeom>
              <a:avLst/>
              <a:gdLst>
                <a:gd name="T0" fmla="*/ 0 w 91"/>
                <a:gd name="T1" fmla="*/ 0 h 90"/>
                <a:gd name="T2" fmla="*/ 46 w 91"/>
                <a:gd name="T3" fmla="*/ 90 h 90"/>
                <a:gd name="T4" fmla="*/ 91 w 91"/>
                <a:gd name="T5" fmla="*/ 0 h 90"/>
                <a:gd name="T6" fmla="*/ 0 60000 65536"/>
                <a:gd name="T7" fmla="*/ 0 60000 65536"/>
                <a:gd name="T8" fmla="*/ 0 60000 65536"/>
                <a:gd name="T9" fmla="*/ 0 w 91"/>
                <a:gd name="T10" fmla="*/ 0 h 90"/>
                <a:gd name="T11" fmla="*/ 91 w 91"/>
                <a:gd name="T12" fmla="*/ 90 h 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" h="90">
                  <a:moveTo>
                    <a:pt x="0" y="0"/>
                  </a:moveTo>
                  <a:lnTo>
                    <a:pt x="46" y="90"/>
                  </a:lnTo>
                  <a:lnTo>
                    <a:pt x="91" y="0"/>
                  </a:lnTo>
                </a:path>
              </a:pathLst>
            </a:custGeom>
            <a:solidFill>
              <a:schemeClr val="bg1"/>
            </a:solidFill>
            <a:ln w="39688" cap="rnd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423" name="Line 43"/>
            <p:cNvSpPr>
              <a:spLocks noChangeShapeType="1"/>
            </p:cNvSpPr>
            <p:nvPr/>
          </p:nvSpPr>
          <p:spPr bwMode="auto">
            <a:xfrm flipH="1">
              <a:off x="3055" y="2494"/>
              <a:ext cx="672" cy="653"/>
            </a:xfrm>
            <a:prstGeom prst="line">
              <a:avLst/>
            </a:prstGeom>
            <a:noFill/>
            <a:ln w="39688" cap="rnd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424" name="Freeform 44"/>
            <p:cNvSpPr>
              <a:spLocks/>
            </p:cNvSpPr>
            <p:nvPr/>
          </p:nvSpPr>
          <p:spPr bwMode="auto">
            <a:xfrm>
              <a:off x="3610" y="2494"/>
              <a:ext cx="117" cy="110"/>
            </a:xfrm>
            <a:custGeom>
              <a:avLst/>
              <a:gdLst>
                <a:gd name="T0" fmla="*/ 66 w 95"/>
                <a:gd name="T1" fmla="*/ 97 h 97"/>
                <a:gd name="T2" fmla="*/ 95 w 95"/>
                <a:gd name="T3" fmla="*/ 0 h 97"/>
                <a:gd name="T4" fmla="*/ 0 w 95"/>
                <a:gd name="T5" fmla="*/ 35 h 97"/>
                <a:gd name="T6" fmla="*/ 0 60000 65536"/>
                <a:gd name="T7" fmla="*/ 0 60000 65536"/>
                <a:gd name="T8" fmla="*/ 0 60000 65536"/>
                <a:gd name="T9" fmla="*/ 0 w 95"/>
                <a:gd name="T10" fmla="*/ 0 h 97"/>
                <a:gd name="T11" fmla="*/ 95 w 95"/>
                <a:gd name="T12" fmla="*/ 97 h 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5" h="97">
                  <a:moveTo>
                    <a:pt x="66" y="97"/>
                  </a:moveTo>
                  <a:lnTo>
                    <a:pt x="95" y="0"/>
                  </a:lnTo>
                  <a:lnTo>
                    <a:pt x="0" y="35"/>
                  </a:lnTo>
                </a:path>
              </a:pathLst>
            </a:custGeom>
            <a:solidFill>
              <a:schemeClr val="bg1"/>
            </a:solidFill>
            <a:ln w="39688" cap="rnd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425" name="Line 45"/>
            <p:cNvSpPr>
              <a:spLocks noChangeShapeType="1"/>
            </p:cNvSpPr>
            <p:nvPr/>
          </p:nvSpPr>
          <p:spPr bwMode="auto">
            <a:xfrm flipV="1">
              <a:off x="4453" y="2828"/>
              <a:ext cx="1" cy="327"/>
            </a:xfrm>
            <a:prstGeom prst="line">
              <a:avLst/>
            </a:prstGeom>
            <a:noFill/>
            <a:ln w="39688" cap="rnd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  <p:sp>
          <p:nvSpPr>
            <p:cNvPr id="16426" name="Freeform 46"/>
            <p:cNvSpPr>
              <a:spLocks/>
            </p:cNvSpPr>
            <p:nvPr/>
          </p:nvSpPr>
          <p:spPr bwMode="auto">
            <a:xfrm>
              <a:off x="4396" y="3054"/>
              <a:ext cx="112" cy="101"/>
            </a:xfrm>
            <a:custGeom>
              <a:avLst/>
              <a:gdLst>
                <a:gd name="T0" fmla="*/ 0 w 91"/>
                <a:gd name="T1" fmla="*/ 0 h 90"/>
                <a:gd name="T2" fmla="*/ 46 w 91"/>
                <a:gd name="T3" fmla="*/ 90 h 90"/>
                <a:gd name="T4" fmla="*/ 91 w 91"/>
                <a:gd name="T5" fmla="*/ 0 h 90"/>
                <a:gd name="T6" fmla="*/ 0 60000 65536"/>
                <a:gd name="T7" fmla="*/ 0 60000 65536"/>
                <a:gd name="T8" fmla="*/ 0 60000 65536"/>
                <a:gd name="T9" fmla="*/ 0 w 91"/>
                <a:gd name="T10" fmla="*/ 0 h 90"/>
                <a:gd name="T11" fmla="*/ 91 w 91"/>
                <a:gd name="T12" fmla="*/ 90 h 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" h="90">
                  <a:moveTo>
                    <a:pt x="0" y="0"/>
                  </a:moveTo>
                  <a:lnTo>
                    <a:pt x="46" y="90"/>
                  </a:lnTo>
                  <a:lnTo>
                    <a:pt x="91" y="0"/>
                  </a:lnTo>
                </a:path>
              </a:pathLst>
            </a:custGeom>
            <a:solidFill>
              <a:schemeClr val="bg1"/>
            </a:solidFill>
            <a:ln w="39688" cap="rnd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srgbClr val="000000"/>
                </a:solidFill>
              </a:endParaRPr>
            </a:p>
          </p:txBody>
        </p:sp>
      </p:grpSp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551863" y="6597650"/>
            <a:ext cx="592137" cy="274638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>
                <a:solidFill>
                  <a:srgbClr val="FFFFFF"/>
                </a:solidFill>
              </a:rPr>
              <a:pPr/>
              <a:t>25</a:t>
            </a:fld>
            <a:endParaRPr lang="uk-UA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79712" y="1088787"/>
            <a:ext cx="4629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 smtClean="0">
                <a:solidFill>
                  <a:srgbClr val="0000CC"/>
                </a:solidFill>
              </a:rPr>
              <a:t>Чи є правильною  є </a:t>
            </a:r>
            <a:r>
              <a:rPr lang="en-US" dirty="0" smtClean="0">
                <a:solidFill>
                  <a:srgbClr val="0000CC"/>
                </a:solidFill>
              </a:rPr>
              <a:t>Use case diagram?</a:t>
            </a:r>
            <a:endParaRPr lang="ru-RU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831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366125" y="6597650"/>
            <a:ext cx="777875" cy="260350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/>
              <a:pPr/>
              <a:t>26</a:t>
            </a:fld>
            <a:endParaRPr lang="uk-UA" dirty="0"/>
          </a:p>
        </p:txBody>
      </p:sp>
      <p:pic>
        <p:nvPicPr>
          <p:cNvPr id="3" name="Рисунок 2" descr="16-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196752"/>
            <a:ext cx="3822541" cy="298193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Прямоугольник 3"/>
          <p:cNvSpPr/>
          <p:nvPr/>
        </p:nvSpPr>
        <p:spPr>
          <a:xfrm>
            <a:off x="782630" y="0"/>
            <a:ext cx="77227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>
                <a:solidFill>
                  <a:schemeClr val="bg1"/>
                </a:solidFill>
              </a:rPr>
              <a:t>Моделювання поводження елемента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79512" y="908720"/>
            <a:ext cx="446449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b="0" dirty="0"/>
              <a:t>Моделювання поводження елемента здійснюється в такий спосіб:</a:t>
            </a:r>
          </a:p>
          <a:p>
            <a:pPr marL="342900" lvl="0" indent="-342900">
              <a:buFont typeface="+mj-lt"/>
              <a:buAutoNum type="arabicPeriod"/>
            </a:pPr>
            <a:r>
              <a:rPr lang="uk-UA" b="0" dirty="0"/>
              <a:t>Ідентифікувати акторів, що взаємодіють з даним елементом.  </a:t>
            </a:r>
          </a:p>
          <a:p>
            <a:pPr marL="342900" lvl="0" indent="-342900">
              <a:buFont typeface="+mj-lt"/>
              <a:buAutoNum type="arabicPeriod"/>
            </a:pPr>
            <a:r>
              <a:rPr lang="uk-UA" b="0" dirty="0"/>
              <a:t>Організувати акторів, виділивши загальні й спеціалізовані ролі. </a:t>
            </a:r>
          </a:p>
          <a:p>
            <a:pPr marL="342900" lvl="0" indent="-342900">
              <a:buFont typeface="+mj-lt"/>
              <a:buAutoNum type="arabicPeriod"/>
            </a:pPr>
            <a:r>
              <a:rPr lang="uk-UA" b="0" dirty="0"/>
              <a:t>Для кожного актора розглянути основні шляхи його взаємодії з елементами. </a:t>
            </a:r>
          </a:p>
          <a:p>
            <a:pPr marL="342900" lvl="0" indent="-342900">
              <a:buFont typeface="+mj-lt"/>
              <a:buAutoNum type="arabicPeriod"/>
            </a:pPr>
            <a:r>
              <a:rPr lang="uk-UA" b="0" dirty="0"/>
              <a:t>Розглянути альтернативні (виняткові) способи взаємодії акторів з елементом. </a:t>
            </a:r>
          </a:p>
          <a:p>
            <a:pPr marL="342900" indent="-342900">
              <a:buFont typeface="+mj-lt"/>
              <a:buAutoNum type="arabicPeriod"/>
            </a:pPr>
            <a:r>
              <a:rPr lang="uk-UA" b="0" dirty="0"/>
              <a:t>Організувати виявлене поводження у вигляді прецедентів, застосовуючи відношення включення й розширення для виділення загального й виняткового поводження</a:t>
            </a:r>
          </a:p>
        </p:txBody>
      </p:sp>
    </p:spTree>
    <p:extLst>
      <p:ext uri="{BB962C8B-B14F-4D97-AF65-F5344CB8AC3E}">
        <p14:creationId xmlns:p14="http://schemas.microsoft.com/office/powerpoint/2010/main" val="267086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960310"/>
            <a:ext cx="9144000" cy="517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indent="269875" algn="ctr"/>
            <a:r>
              <a:rPr lang="uk-UA" sz="2200" b="0" dirty="0"/>
              <a:t>Основні </a:t>
            </a:r>
            <a:r>
              <a:rPr lang="uk-UA" sz="2200" dirty="0">
                <a:solidFill>
                  <a:srgbClr val="0000CC"/>
                </a:solidFill>
              </a:rPr>
              <a:t>події</a:t>
            </a:r>
            <a:r>
              <a:rPr lang="uk-UA" sz="2200" b="0" dirty="0"/>
              <a:t>, що відбуваються під час роботи Internet- магазину, такі</a:t>
            </a:r>
            <a:r>
              <a:rPr lang="ru-RU" sz="2200" b="0" dirty="0"/>
              <a:t>:</a:t>
            </a:r>
          </a:p>
          <a:p>
            <a:pPr marL="342900" indent="-342900">
              <a:buClr>
                <a:srgbClr val="0000CC"/>
              </a:buClr>
              <a:buFont typeface="Wingdings" pitchFamily="2" charset="2"/>
              <a:buChar char="q"/>
            </a:pPr>
            <a:r>
              <a:rPr lang="uk-UA" sz="2200" dirty="0" smtClean="0"/>
              <a:t>Системний </a:t>
            </a:r>
            <a:r>
              <a:rPr lang="uk-UA" sz="2200" dirty="0"/>
              <a:t>адміністратор </a:t>
            </a:r>
            <a:r>
              <a:rPr lang="uk-UA" sz="2200" b="0" dirty="0"/>
              <a:t>торгової фірми розміщує на web-сайтах дані про товари та їх ціни. Дані оновлюються періодично;</a:t>
            </a:r>
            <a:endParaRPr lang="ru-RU" sz="2200" b="0" dirty="0"/>
          </a:p>
          <a:p>
            <a:pPr marL="342900" indent="-342900">
              <a:buClr>
                <a:srgbClr val="0000CC"/>
              </a:buClr>
              <a:buFont typeface="Wingdings" pitchFamily="2" charset="2"/>
              <a:buChar char="q"/>
            </a:pPr>
            <a:r>
              <a:rPr lang="uk-UA" sz="2200" dirty="0" smtClean="0"/>
              <a:t>Замовник</a:t>
            </a:r>
            <a:r>
              <a:rPr lang="uk-UA" sz="2200" b="0" dirty="0" smtClean="0"/>
              <a:t> </a:t>
            </a:r>
            <a:r>
              <a:rPr lang="uk-UA" sz="2200" b="0" dirty="0"/>
              <a:t>по web-сайтах здійснює пошук товару, ціна та функціональні параметри якого задовольняють його;</a:t>
            </a:r>
            <a:endParaRPr lang="ru-RU" sz="2200" b="0" dirty="0"/>
          </a:p>
          <a:p>
            <a:pPr marL="342900" indent="-342900">
              <a:buClr>
                <a:srgbClr val="0000CC"/>
              </a:buClr>
              <a:buFont typeface="Wingdings" pitchFamily="2" charset="2"/>
              <a:buChar char="q"/>
            </a:pPr>
            <a:r>
              <a:rPr lang="uk-UA" sz="2200" dirty="0" smtClean="0"/>
              <a:t>Замовлення </a:t>
            </a:r>
            <a:r>
              <a:rPr lang="uk-UA" sz="2200" dirty="0"/>
              <a:t>на поставку </a:t>
            </a:r>
            <a:r>
              <a:rPr lang="uk-UA" sz="2200" b="0" dirty="0"/>
              <a:t>певного </a:t>
            </a:r>
            <a:r>
              <a:rPr lang="uk-UA" sz="2200" dirty="0"/>
              <a:t>товару</a:t>
            </a:r>
            <a:r>
              <a:rPr lang="uk-UA" sz="2200" b="0" dirty="0"/>
              <a:t> та дата його доставки оформлюється замовником дистанційно згідно з можливостями web-сайта;</a:t>
            </a:r>
            <a:endParaRPr lang="ru-RU" sz="2200" b="0" dirty="0"/>
          </a:p>
          <a:p>
            <a:pPr marL="342900" indent="-342900">
              <a:buClr>
                <a:srgbClr val="0000CC"/>
              </a:buClr>
              <a:buFont typeface="Wingdings" pitchFamily="2" charset="2"/>
              <a:buChar char="q"/>
            </a:pPr>
            <a:r>
              <a:rPr lang="uk-UA" sz="2200" dirty="0" smtClean="0"/>
              <a:t>Оплата </a:t>
            </a:r>
            <a:r>
              <a:rPr lang="uk-UA" sz="2200" dirty="0"/>
              <a:t>товару </a:t>
            </a:r>
            <a:r>
              <a:rPr lang="uk-UA" sz="2200" b="0" dirty="0"/>
              <a:t>може здійснюватися готівкою та по платіжним карткам через банки замовника та </a:t>
            </a:r>
            <a:r>
              <a:rPr lang="uk-UA" sz="2200" b="0" dirty="0" err="1"/>
              <a:t>Інтернет-магазину</a:t>
            </a:r>
            <a:r>
              <a:rPr lang="uk-UA" sz="2200" b="0" dirty="0"/>
              <a:t>;</a:t>
            </a:r>
          </a:p>
          <a:p>
            <a:pPr marL="342900" indent="-342900">
              <a:buClr>
                <a:srgbClr val="0000CC"/>
              </a:buClr>
              <a:buFont typeface="Wingdings" pitchFamily="2" charset="2"/>
              <a:buChar char="q"/>
            </a:pPr>
            <a:r>
              <a:rPr lang="uk-UA" sz="2200" dirty="0"/>
              <a:t>Системний адміністратор </a:t>
            </a:r>
            <a:r>
              <a:rPr lang="uk-UA" sz="2200" b="0" dirty="0" err="1"/>
              <a:t>Інтернет-магазину</a:t>
            </a:r>
            <a:r>
              <a:rPr lang="uk-UA" sz="2200" b="0" dirty="0"/>
              <a:t> веде облік покупців і нараховує їм пільги під час оплати товару, якщо замовник придбав товару на суму, розмір якої більше за такий, що генерований планувальником програми. 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1032869" y="135163"/>
            <a:ext cx="81111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uk-UA" sz="3200" dirty="0" smtClean="0">
                <a:solidFill>
                  <a:schemeClr val="bg1"/>
                </a:solidFill>
              </a:rPr>
              <a:t>Приклад.  Опис </a:t>
            </a:r>
            <a:r>
              <a:rPr lang="uk-UA" sz="3200" dirty="0">
                <a:solidFill>
                  <a:schemeClr val="bg1"/>
                </a:solidFill>
              </a:rPr>
              <a:t>бізнес-логіки системи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551863" y="6597650"/>
            <a:ext cx="592137" cy="274638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/>
              <a:pPr/>
              <a:t>27</a:t>
            </a:fld>
            <a:endParaRPr lang="uk-UA" dirty="0"/>
          </a:p>
        </p:txBody>
      </p:sp>
      <p:pic>
        <p:nvPicPr>
          <p:cNvPr id="26628" name="Picture 4" descr="Интернет-магазины Украины. Каталог магазинов. Рейтинг магазинов. Поиск по магазинам.">
            <a:hlinkClick r:id="rId2"/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34938"/>
            <a:ext cx="1104900" cy="838200"/>
          </a:xfrm>
        </p:spPr>
      </p:pic>
    </p:spTree>
    <p:extLst>
      <p:ext uri="{BB962C8B-B14F-4D97-AF65-F5344CB8AC3E}">
        <p14:creationId xmlns:p14="http://schemas.microsoft.com/office/powerpoint/2010/main" val="442803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/>
          <p:cNvSpPr>
            <a:spLocks noChangeArrowheads="1"/>
          </p:cNvSpPr>
          <p:nvPr/>
        </p:nvSpPr>
        <p:spPr bwMode="auto">
          <a:xfrm>
            <a:off x="250825" y="1535659"/>
            <a:ext cx="8642350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342900" indent="-342900">
              <a:buClr>
                <a:srgbClr val="990000"/>
              </a:buClr>
              <a:buFont typeface="Wingdings" pitchFamily="2" charset="2"/>
              <a:buChar char="q"/>
            </a:pPr>
            <a:r>
              <a:rPr lang="uk-UA" sz="2200" b="0" dirty="0"/>
              <a:t> Якщо </a:t>
            </a:r>
            <a:r>
              <a:rPr lang="uk-UA" sz="2200" dirty="0"/>
              <a:t>замовник оплату здійснює по банківській картці</a:t>
            </a:r>
            <a:r>
              <a:rPr lang="uk-UA" sz="2200" b="0" dirty="0"/>
              <a:t>, то під час оформлення замовлення покупець вказує відповідні банківські реквізити: </a:t>
            </a:r>
          </a:p>
          <a:p>
            <a:pPr marL="1257300" lvl="2" indent="-342900">
              <a:buClr>
                <a:srgbClr val="0000CC"/>
              </a:buClr>
              <a:buFont typeface="Wingdings" pitchFamily="2" charset="2"/>
              <a:buChar char="Ø"/>
            </a:pPr>
            <a:r>
              <a:rPr lang="uk-UA" sz="2200" b="0" dirty="0"/>
              <a:t>номер картки, </a:t>
            </a:r>
          </a:p>
          <a:p>
            <a:pPr marL="1257300" lvl="2" indent="-342900">
              <a:buClr>
                <a:srgbClr val="0000CC"/>
              </a:buClr>
              <a:buFont typeface="Wingdings" pitchFamily="2" charset="2"/>
              <a:buChar char="Ø"/>
            </a:pPr>
            <a:r>
              <a:rPr lang="uk-UA" sz="2200" b="0" dirty="0"/>
              <a:t>назву банка, </a:t>
            </a:r>
          </a:p>
          <a:p>
            <a:pPr marL="1257300" lvl="2" indent="-342900">
              <a:buClr>
                <a:srgbClr val="0000CC"/>
              </a:buClr>
              <a:buFont typeface="Wingdings" pitchFamily="2" charset="2"/>
              <a:buChar char="Ø"/>
            </a:pPr>
            <a:r>
              <a:rPr lang="uk-UA" sz="2200" b="0" dirty="0"/>
              <a:t>своє прізвище </a:t>
            </a:r>
          </a:p>
          <a:p>
            <a:pPr marL="1257300" lvl="2" indent="-342900">
              <a:buClr>
                <a:srgbClr val="0000CC"/>
              </a:buClr>
              <a:buFont typeface="Wingdings" pitchFamily="2" charset="2"/>
              <a:buChar char="Ø"/>
            </a:pPr>
            <a:r>
              <a:rPr lang="uk-UA" sz="2200" b="0" dirty="0"/>
              <a:t>тощо. </a:t>
            </a:r>
          </a:p>
          <a:p>
            <a:pPr marL="342900" indent="-342900">
              <a:buClr>
                <a:srgbClr val="990000"/>
              </a:buClr>
              <a:buFont typeface="Wingdings" pitchFamily="2" charset="2"/>
              <a:buChar char="q"/>
            </a:pPr>
            <a:r>
              <a:rPr lang="uk-UA" sz="2200" b="0" dirty="0"/>
              <a:t>Якщо </a:t>
            </a:r>
            <a:r>
              <a:rPr lang="uk-UA" sz="2200" dirty="0"/>
              <a:t>замовник буде оплачувати вартість товару готівкою</a:t>
            </a:r>
            <a:r>
              <a:rPr lang="uk-UA" sz="2200" b="0" dirty="0"/>
              <a:t>, то в призначений термін торгова фірма відправляє йому товар з платіжними документами. </a:t>
            </a:r>
          </a:p>
          <a:p>
            <a:pPr marL="342900" indent="-342900">
              <a:buClr>
                <a:srgbClr val="990000"/>
              </a:buClr>
              <a:buFont typeface="Wingdings" pitchFamily="2" charset="2"/>
              <a:buChar char="q"/>
            </a:pPr>
            <a:r>
              <a:rPr lang="uk-UA" sz="2200" dirty="0"/>
              <a:t>Покупець</a:t>
            </a:r>
            <a:r>
              <a:rPr lang="uk-UA" sz="2200" b="0" dirty="0"/>
              <a:t> розраховується готівкою за придбаний товар з його постачальниками. </a:t>
            </a:r>
          </a:p>
        </p:txBody>
      </p:sp>
      <p:sp>
        <p:nvSpPr>
          <p:cNvPr id="27651" name="Text Box 5"/>
          <p:cNvSpPr txBox="1">
            <a:spLocks noChangeArrowheads="1"/>
          </p:cNvSpPr>
          <p:nvPr/>
        </p:nvSpPr>
        <p:spPr bwMode="auto">
          <a:xfrm>
            <a:off x="1979712" y="90487"/>
            <a:ext cx="5969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uk-UA" sz="3200" dirty="0">
                <a:solidFill>
                  <a:schemeClr val="bg1"/>
                </a:solidFill>
              </a:rPr>
              <a:t>Опис бізнес-логіки системи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551863" y="6597650"/>
            <a:ext cx="592137" cy="274638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/>
              <a:pPr/>
              <a:t>28</a:t>
            </a:fld>
            <a:endParaRPr lang="uk-UA" dirty="0"/>
          </a:p>
        </p:txBody>
      </p:sp>
      <p:pic>
        <p:nvPicPr>
          <p:cNvPr id="27652" name="Picture 6" descr="Интернет-магазины Украины. Каталог магазинов. Рейтинг магазинов. Поиск по магазинам.">
            <a:hlinkClick r:id="rId2"/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3813"/>
            <a:ext cx="1104900" cy="838200"/>
          </a:xfrm>
        </p:spPr>
      </p:pic>
    </p:spTree>
    <p:extLst>
      <p:ext uri="{BB962C8B-B14F-4D97-AF65-F5344CB8AC3E}">
        <p14:creationId xmlns:p14="http://schemas.microsoft.com/office/powerpoint/2010/main" val="4033156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0" y="918592"/>
            <a:ext cx="9036495" cy="5632311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pPr indent="269875" algn="just"/>
            <a:r>
              <a:rPr lang="uk-UA" sz="2000" b="0" dirty="0"/>
              <a:t>Під час оформлення замовлення, спілкуванню по e-</a:t>
            </a:r>
            <a:r>
              <a:rPr lang="uk-UA" sz="2000" b="0" dirty="0" err="1"/>
              <a:t>mail</a:t>
            </a:r>
            <a:r>
              <a:rPr lang="uk-UA" sz="2000" b="0" dirty="0"/>
              <a:t> з </a:t>
            </a:r>
            <a:r>
              <a:rPr lang="uk-UA" sz="2000" b="0" dirty="0" err="1"/>
              <a:t>Інтернет-магазином</a:t>
            </a:r>
            <a:r>
              <a:rPr lang="uk-UA" sz="2000" b="0" dirty="0"/>
              <a:t>, доставки товару може виникнути </a:t>
            </a:r>
            <a:r>
              <a:rPr lang="uk-UA" sz="2000" dirty="0" smtClean="0">
                <a:solidFill>
                  <a:srgbClr val="0000CC"/>
                </a:solidFill>
              </a:rPr>
              <a:t>критичні (виключні) </a:t>
            </a:r>
            <a:r>
              <a:rPr lang="uk-UA" sz="2000" dirty="0">
                <a:solidFill>
                  <a:srgbClr val="0000CC"/>
                </a:solidFill>
              </a:rPr>
              <a:t>ситуації:  </a:t>
            </a:r>
          </a:p>
          <a:p>
            <a:pPr marL="457200" indent="-457200" algn="just">
              <a:buClr>
                <a:srgbClr val="0000CC"/>
              </a:buClr>
              <a:buFont typeface="+mj-lt"/>
              <a:buAutoNum type="arabicPeriod"/>
            </a:pPr>
            <a:r>
              <a:rPr lang="uk-UA" sz="2000" b="0" dirty="0">
                <a:solidFill>
                  <a:srgbClr val="0000CC"/>
                </a:solidFill>
              </a:rPr>
              <a:t>товар є в каталозі, але замовлення не приймають через відсутність його на складі</a:t>
            </a:r>
            <a:r>
              <a:rPr lang="uk-UA" sz="2000" b="0" dirty="0"/>
              <a:t>; </a:t>
            </a:r>
          </a:p>
          <a:p>
            <a:pPr marL="457200" indent="-457200" algn="just">
              <a:buClr>
                <a:srgbClr val="0000CC"/>
              </a:buClr>
              <a:buFont typeface="+mj-lt"/>
              <a:buAutoNum type="arabicPeriod"/>
            </a:pPr>
            <a:r>
              <a:rPr lang="uk-UA" sz="2000" b="0" dirty="0">
                <a:solidFill>
                  <a:srgbClr val="990000"/>
                </a:solidFill>
              </a:rPr>
              <a:t>товар </a:t>
            </a:r>
            <a:r>
              <a:rPr lang="uk-UA" sz="2000" b="0" dirty="0" smtClean="0">
                <a:solidFill>
                  <a:srgbClr val="990000"/>
                </a:solidFill>
              </a:rPr>
              <a:t>замовлений, </a:t>
            </a:r>
            <a:r>
              <a:rPr lang="uk-UA" sz="2000" b="0" dirty="0">
                <a:solidFill>
                  <a:srgbClr val="990000"/>
                </a:solidFill>
              </a:rPr>
              <a:t>гроші перераховано, але замовнику доставили товар іншого асортименту.</a:t>
            </a:r>
            <a:r>
              <a:rPr lang="uk-UA" sz="2000" b="0" dirty="0"/>
              <a:t> </a:t>
            </a:r>
            <a:endParaRPr lang="uk-UA" sz="2000" b="0" dirty="0" smtClean="0"/>
          </a:p>
          <a:p>
            <a:pPr marL="457200" indent="-457200" algn="just">
              <a:buClr>
                <a:srgbClr val="0000CC"/>
              </a:buClr>
              <a:buFont typeface="+mj-lt"/>
              <a:buAutoNum type="arabicPeriod"/>
            </a:pPr>
            <a:r>
              <a:rPr lang="uk-UA" sz="2000" b="0" dirty="0" smtClean="0"/>
              <a:t>Товар замовлений, гроші не перераховані, доставка товару замовнику здійснена</a:t>
            </a:r>
          </a:p>
          <a:p>
            <a:pPr marL="457200" indent="-457200" algn="just">
              <a:buClr>
                <a:srgbClr val="0000CC"/>
              </a:buClr>
              <a:buFont typeface="+mj-lt"/>
              <a:buAutoNum type="arabicPeriod"/>
            </a:pPr>
            <a:r>
              <a:rPr lang="uk-UA" sz="2000" b="0" dirty="0" smtClean="0"/>
              <a:t>Товар замовлений, гроші перераховані, доставка не здійснена</a:t>
            </a:r>
          </a:p>
          <a:p>
            <a:pPr indent="269875" algn="just">
              <a:buClr>
                <a:srgbClr val="0000CC"/>
              </a:buClr>
              <a:buFont typeface="Wingdings" pitchFamily="2" charset="2"/>
              <a:buChar char="v"/>
            </a:pPr>
            <a:endParaRPr lang="uk-UA" sz="2000" b="0" dirty="0"/>
          </a:p>
          <a:p>
            <a:pPr indent="269875" algn="just"/>
            <a:r>
              <a:rPr lang="uk-UA" sz="2000" b="0" dirty="0"/>
              <a:t>В </a:t>
            </a:r>
            <a:r>
              <a:rPr lang="uk-UA" sz="2000" b="0" dirty="0">
                <a:solidFill>
                  <a:srgbClr val="0000CC"/>
                </a:solidFill>
              </a:rPr>
              <a:t>першому випадку магазин пропонує заміну товару йому рівнозначним. Замовник може погодитися або відмовитися від придбання товару. </a:t>
            </a:r>
          </a:p>
          <a:p>
            <a:pPr indent="269875" algn="just"/>
            <a:r>
              <a:rPr lang="uk-UA" sz="2000" b="0" dirty="0">
                <a:solidFill>
                  <a:srgbClr val="990000"/>
                </a:solidFill>
              </a:rPr>
              <a:t>В другому випадку замовник вимагає повернути </a:t>
            </a:r>
            <a:r>
              <a:rPr lang="uk-UA" sz="2000" b="0" dirty="0" smtClean="0">
                <a:solidFill>
                  <a:srgbClr val="990000"/>
                </a:solidFill>
              </a:rPr>
              <a:t>гроші і відмовляється від товару</a:t>
            </a:r>
            <a:r>
              <a:rPr lang="uk-UA" sz="2000" b="0" dirty="0" smtClean="0"/>
              <a:t>.</a:t>
            </a:r>
          </a:p>
          <a:p>
            <a:pPr indent="269875" algn="just"/>
            <a:r>
              <a:rPr lang="uk-UA" sz="2000" b="0" dirty="0" smtClean="0"/>
              <a:t>В третьому випадку виплачуються після доставки товару</a:t>
            </a:r>
          </a:p>
          <a:p>
            <a:pPr indent="269875" algn="just"/>
            <a:r>
              <a:rPr lang="uk-UA" sz="2000" b="0" dirty="0" smtClean="0"/>
              <a:t>В четвертому випадку замовник розшукує товар , зв’язавшись з адміністратором магазину.  </a:t>
            </a:r>
            <a:endParaRPr lang="uk-UA" sz="2000" b="0" dirty="0"/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1619672" y="90487"/>
            <a:ext cx="5969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uk-UA" sz="3200" dirty="0">
                <a:solidFill>
                  <a:schemeClr val="bg1"/>
                </a:solidFill>
              </a:rPr>
              <a:t>Опис бізнес-логіки системи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551863" y="6597650"/>
            <a:ext cx="592137" cy="274638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/>
              <a:pPr/>
              <a:t>29</a:t>
            </a:fld>
            <a:endParaRPr lang="uk-UA" dirty="0"/>
          </a:p>
        </p:txBody>
      </p:sp>
      <p:pic>
        <p:nvPicPr>
          <p:cNvPr id="28676" name="Picture 5" descr="Интернет-магазины Украины. Каталог магазинов. Рейтинг магазинов. Поиск по магазинам.">
            <a:hlinkClick r:id="rId2"/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14300"/>
            <a:ext cx="1104900" cy="838200"/>
          </a:xfrm>
        </p:spPr>
      </p:pic>
    </p:spTree>
    <p:extLst>
      <p:ext uri="{BB962C8B-B14F-4D97-AF65-F5344CB8AC3E}">
        <p14:creationId xmlns:p14="http://schemas.microsoft.com/office/powerpoint/2010/main" val="4031799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551863" y="6597650"/>
            <a:ext cx="592137" cy="274638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>
                <a:solidFill>
                  <a:srgbClr val="FFFFFF"/>
                </a:solidFill>
              </a:rPr>
              <a:pPr/>
              <a:t>30</a:t>
            </a:fld>
            <a:endParaRPr lang="uk-UA" dirty="0">
              <a:solidFill>
                <a:srgbClr val="FFFFFF"/>
              </a:solidFill>
            </a:endParaRPr>
          </a:p>
        </p:txBody>
      </p:sp>
      <p:sp>
        <p:nvSpPr>
          <p:cNvPr id="33794" name="Rectangle 3"/>
          <p:cNvSpPr>
            <a:spLocks noGrp="1"/>
          </p:cNvSpPr>
          <p:nvPr>
            <p:ph type="body" idx="4294967295"/>
          </p:nvPr>
        </p:nvSpPr>
        <p:spPr>
          <a:xfrm>
            <a:off x="0" y="817563"/>
            <a:ext cx="9144000" cy="5780087"/>
          </a:xfrm>
          <a:solidFill>
            <a:schemeClr val="bg1"/>
          </a:solidFill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uk-UA" sz="2000" b="1" dirty="0" smtClean="0"/>
              <a:t>Адміністратор системи </a:t>
            </a:r>
            <a:r>
              <a:rPr lang="uk-UA" sz="2000" dirty="0" smtClean="0"/>
              <a:t>заповнює базу даних сайта даними про товар, що знаходиться на складі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uk-UA" sz="2000" b="1" dirty="0" smtClean="0"/>
              <a:t>Покупець</a:t>
            </a:r>
            <a:r>
              <a:rPr lang="uk-UA" sz="2000" dirty="0" smtClean="0"/>
              <a:t> </a:t>
            </a:r>
            <a:r>
              <a:rPr lang="uk-UA" sz="2000" dirty="0" smtClean="0">
                <a:solidFill>
                  <a:srgbClr val="0000CC"/>
                </a:solidFill>
              </a:rPr>
              <a:t>завантажує</a:t>
            </a:r>
            <a:r>
              <a:rPr lang="uk-UA" sz="2000" dirty="0" smtClean="0"/>
              <a:t> сайт </a:t>
            </a:r>
            <a:r>
              <a:rPr lang="uk-UA" sz="2000" dirty="0" err="1" smtClean="0"/>
              <a:t>Інтернет-магазину</a:t>
            </a:r>
            <a:endParaRPr lang="uk-UA" sz="2000" dirty="0" smtClean="0"/>
          </a:p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uk-UA" sz="2000" dirty="0" smtClean="0"/>
              <a:t>Покупець </a:t>
            </a:r>
            <a:r>
              <a:rPr lang="uk-UA" sz="2000" dirty="0" smtClean="0">
                <a:solidFill>
                  <a:srgbClr val="0000CC"/>
                </a:solidFill>
              </a:rPr>
              <a:t>вибирає</a:t>
            </a:r>
            <a:r>
              <a:rPr lang="uk-UA" sz="2000" dirty="0" smtClean="0"/>
              <a:t> </a:t>
            </a:r>
            <a:r>
              <a:rPr lang="uk-UA" sz="2000" dirty="0" smtClean="0">
                <a:solidFill>
                  <a:srgbClr val="0000CC"/>
                </a:solidFill>
              </a:rPr>
              <a:t>каталог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uk-UA" sz="2000" dirty="0" smtClean="0"/>
              <a:t>Покупець </a:t>
            </a:r>
            <a:r>
              <a:rPr lang="uk-UA" sz="2000" dirty="0" smtClean="0">
                <a:solidFill>
                  <a:srgbClr val="0000CC"/>
                </a:solidFill>
              </a:rPr>
              <a:t>переглядає</a:t>
            </a:r>
            <a:r>
              <a:rPr lang="uk-UA" sz="2000" dirty="0" smtClean="0"/>
              <a:t> вміст каталогу представленої продукції, 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uk-UA" sz="2000" dirty="0" smtClean="0"/>
              <a:t>Покупець </a:t>
            </a:r>
            <a:r>
              <a:rPr lang="uk-UA" sz="2000" dirty="0" smtClean="0">
                <a:solidFill>
                  <a:srgbClr val="0000CC"/>
                </a:solidFill>
              </a:rPr>
              <a:t>вибирає товар </a:t>
            </a:r>
            <a:r>
              <a:rPr lang="uk-UA" sz="2000" dirty="0" smtClean="0"/>
              <a:t>із вибраного каталогу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uk-UA" sz="2000" dirty="0" smtClean="0"/>
              <a:t>Покупець </a:t>
            </a:r>
            <a:r>
              <a:rPr lang="uk-UA" sz="2000" dirty="0" smtClean="0">
                <a:solidFill>
                  <a:srgbClr val="0000CC"/>
                </a:solidFill>
              </a:rPr>
              <a:t>відправляє</a:t>
            </a:r>
            <a:r>
              <a:rPr lang="uk-UA" sz="2000" dirty="0" smtClean="0"/>
              <a:t> товар в корзину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uk-UA" sz="2000" dirty="0" smtClean="0"/>
              <a:t>Покупець </a:t>
            </a:r>
            <a:r>
              <a:rPr lang="uk-UA" sz="2000" dirty="0" smtClean="0">
                <a:solidFill>
                  <a:srgbClr val="0000CC"/>
                </a:solidFill>
              </a:rPr>
              <a:t>оформлює замовлення</a:t>
            </a:r>
            <a:r>
              <a:rPr lang="uk-UA" sz="2000" dirty="0" smtClean="0"/>
              <a:t>, вказуючи адресу для поставки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uk-UA" sz="2000" dirty="0" smtClean="0"/>
              <a:t>Покупець </a:t>
            </a:r>
            <a:r>
              <a:rPr lang="uk-UA" sz="2000" dirty="0" smtClean="0">
                <a:solidFill>
                  <a:srgbClr val="0000CC"/>
                </a:solidFill>
              </a:rPr>
              <a:t>вибирає варіант оплати </a:t>
            </a:r>
            <a:r>
              <a:rPr lang="uk-UA" sz="2000" dirty="0" smtClean="0"/>
              <a:t>товару   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uk-UA" sz="2000" dirty="0" smtClean="0"/>
              <a:t>Покупець </a:t>
            </a:r>
            <a:r>
              <a:rPr lang="uk-UA" sz="2000" dirty="0" smtClean="0">
                <a:solidFill>
                  <a:srgbClr val="0000CC"/>
                </a:solidFill>
              </a:rPr>
              <a:t>оплачує товар, </a:t>
            </a:r>
            <a:r>
              <a:rPr lang="uk-UA" sz="2000" dirty="0" smtClean="0"/>
              <a:t>вибравши режим оплати</a:t>
            </a:r>
            <a:r>
              <a:rPr lang="ru-RU" sz="2000" dirty="0" smtClean="0"/>
              <a:t>.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b="1" dirty="0" smtClean="0"/>
              <a:t>Банк</a:t>
            </a:r>
            <a:r>
              <a:rPr lang="ru-RU" sz="2000" dirty="0" smtClean="0"/>
              <a:t> </a:t>
            </a:r>
            <a:r>
              <a:rPr lang="ru-RU" sz="2000" dirty="0" err="1" smtClean="0"/>
              <a:t>приймає</a:t>
            </a:r>
            <a:r>
              <a:rPr lang="ru-RU" sz="2000" dirty="0" smtClean="0"/>
              <a:t> оплату, </a:t>
            </a:r>
            <a:r>
              <a:rPr lang="ru-RU" sz="2000" dirty="0" err="1" smtClean="0"/>
              <a:t>якщо</a:t>
            </a:r>
            <a:r>
              <a:rPr lang="ru-RU" sz="2000" dirty="0" smtClean="0"/>
              <a:t> </a:t>
            </a:r>
            <a:r>
              <a:rPr lang="ru-RU" sz="2000" dirty="0" err="1" smtClean="0"/>
              <a:t>вибраний</a:t>
            </a:r>
            <a:r>
              <a:rPr lang="ru-RU" sz="2000" dirty="0" smtClean="0"/>
              <a:t> режим оплата </a:t>
            </a:r>
            <a:r>
              <a:rPr lang="ru-RU" sz="2000" dirty="0" err="1" smtClean="0"/>
              <a:t>банківською</a:t>
            </a:r>
            <a:r>
              <a:rPr lang="ru-RU" sz="2000" dirty="0" smtClean="0"/>
              <a:t> </a:t>
            </a:r>
            <a:r>
              <a:rPr lang="ru-RU" sz="2000" dirty="0" err="1" smtClean="0"/>
              <a:t>карткою</a:t>
            </a:r>
            <a:r>
              <a:rPr lang="ru-RU" sz="2000" dirty="0" smtClean="0"/>
              <a:t> 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 err="1" smtClean="0"/>
              <a:t>Адміністратор</a:t>
            </a:r>
            <a:r>
              <a:rPr lang="ru-RU" sz="2000" dirty="0" smtClean="0"/>
              <a:t> </a:t>
            </a:r>
            <a:r>
              <a:rPr lang="ru-RU" sz="2000" dirty="0" err="1" smtClean="0"/>
              <a:t>системи</a:t>
            </a:r>
            <a:r>
              <a:rPr lang="ru-RU" sz="2000" dirty="0" smtClean="0"/>
              <a:t> (сайту) в </a:t>
            </a:r>
            <a:r>
              <a:rPr lang="ru-RU" sz="2000" dirty="0" err="1" smtClean="0"/>
              <a:t>цей</a:t>
            </a:r>
            <a:r>
              <a:rPr lang="ru-RU" sz="2000" dirty="0" smtClean="0"/>
              <a:t> </a:t>
            </a:r>
            <a:r>
              <a:rPr lang="ru-RU" sz="2000" dirty="0" err="1" smtClean="0"/>
              <a:t>самий</a:t>
            </a:r>
            <a:r>
              <a:rPr lang="ru-RU" sz="2000" dirty="0" smtClean="0"/>
              <a:t> час </a:t>
            </a:r>
            <a:r>
              <a:rPr lang="ru-RU" sz="2000" dirty="0" err="1" smtClean="0"/>
              <a:t>може</a:t>
            </a:r>
            <a:r>
              <a:rPr lang="ru-RU" sz="2000" dirty="0" smtClean="0"/>
              <a:t> </a:t>
            </a:r>
            <a:r>
              <a:rPr lang="ru-RU" sz="2000" dirty="0" err="1" smtClean="0">
                <a:solidFill>
                  <a:srgbClr val="0000CC"/>
                </a:solidFill>
              </a:rPr>
              <a:t>редагувати</a:t>
            </a:r>
            <a:r>
              <a:rPr lang="ru-RU" sz="2000" dirty="0" smtClean="0">
                <a:solidFill>
                  <a:srgbClr val="0000CC"/>
                </a:solidFill>
              </a:rPr>
              <a:t> каталог</a:t>
            </a:r>
            <a:r>
              <a:rPr lang="ru-RU" sz="2000" dirty="0" smtClean="0"/>
              <a:t> з </a:t>
            </a:r>
            <a:r>
              <a:rPr lang="uk-UA" sz="2000" dirty="0" smtClean="0"/>
              <a:t>продукцією 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uk-UA" sz="2000" dirty="0" smtClean="0"/>
              <a:t>Адміністратор системи може</a:t>
            </a:r>
            <a:r>
              <a:rPr lang="ru-RU" sz="2000" dirty="0" smtClean="0"/>
              <a:t> </a:t>
            </a:r>
            <a:r>
              <a:rPr lang="uk-UA" sz="2000" dirty="0" smtClean="0"/>
              <a:t>узгоджувати</a:t>
            </a:r>
            <a:r>
              <a:rPr lang="ru-RU" sz="2000" dirty="0" smtClean="0"/>
              <a:t> з </a:t>
            </a:r>
            <a:r>
              <a:rPr lang="uk-UA" sz="2000" dirty="0" smtClean="0"/>
              <a:t>покупцем умови придбання та оплати товару (в телефонному або </a:t>
            </a:r>
            <a:r>
              <a:rPr lang="en-US" sz="2000" dirty="0" smtClean="0"/>
              <a:t>online</a:t>
            </a:r>
            <a:r>
              <a:rPr lang="uk-UA" sz="2000" dirty="0" smtClean="0"/>
              <a:t> режимі), визначає </a:t>
            </a:r>
            <a:r>
              <a:rPr lang="uk-UA" sz="2000" dirty="0" err="1" smtClean="0"/>
              <a:t>пильги</a:t>
            </a:r>
            <a:r>
              <a:rPr lang="uk-UA" sz="2000" dirty="0" smtClean="0"/>
              <a:t>, знижки та бонуси для постійних клієнтів.  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uk-UA" sz="2000" b="1" dirty="0" smtClean="0"/>
              <a:t>Кур’єр</a:t>
            </a:r>
            <a:r>
              <a:rPr lang="uk-UA" sz="2000" dirty="0" smtClean="0"/>
              <a:t> доставляє товар покупцеві.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uk-UA" sz="2000" dirty="0" smtClean="0"/>
              <a:t>Здійснюється аналіз виключних ситуацій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uk-UA" sz="1800" dirty="0" smtClean="0"/>
              <a:t>Оскільки магазин паралельно працює з багатьма покупцями, але принцип його роботи один і той самий, то  можемо розглядати систему як таку, в якій </a:t>
            </a:r>
            <a:r>
              <a:rPr lang="uk-UA" sz="1800" dirty="0" err="1" smtClean="0"/>
              <a:t>Інтернет-магазин</a:t>
            </a:r>
            <a:r>
              <a:rPr lang="uk-UA" sz="1800" dirty="0" smtClean="0"/>
              <a:t> обслуговує лише  одного покупця</a:t>
            </a:r>
            <a:r>
              <a:rPr lang="uk-UA" sz="2000" dirty="0" smtClean="0"/>
              <a:t>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uk-UA" sz="2000" dirty="0" smtClean="0">
              <a:solidFill>
                <a:srgbClr val="0000CC"/>
              </a:solidFill>
            </a:endParaRPr>
          </a:p>
        </p:txBody>
      </p:sp>
      <p:sp>
        <p:nvSpPr>
          <p:cNvPr id="33795" name="Rectangle 4"/>
          <p:cNvSpPr>
            <a:spLocks noChangeArrowheads="1"/>
          </p:cNvSpPr>
          <p:nvPr/>
        </p:nvSpPr>
        <p:spPr bwMode="auto">
          <a:xfrm>
            <a:off x="1754981" y="-36513"/>
            <a:ext cx="56340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uk-UA" sz="3200" b="1" dirty="0">
                <a:solidFill>
                  <a:srgbClr val="FFFFFF"/>
                </a:solidFill>
              </a:rPr>
              <a:t>Сценарій роботи</a:t>
            </a:r>
            <a:r>
              <a:rPr lang="en-US" sz="3200" b="1" dirty="0">
                <a:solidFill>
                  <a:srgbClr val="FFFFFF"/>
                </a:solidFill>
              </a:rPr>
              <a:t> </a:t>
            </a:r>
            <a:r>
              <a:rPr lang="uk-UA" sz="3200" b="1" dirty="0">
                <a:solidFill>
                  <a:srgbClr val="FFFFFF"/>
                </a:solidFill>
              </a:rPr>
              <a:t>програми</a:t>
            </a:r>
            <a:endParaRPr lang="ru-RU" sz="3200" b="1" dirty="0">
              <a:solidFill>
                <a:srgbClr val="FFFFFF"/>
              </a:solidFill>
            </a:endParaRPr>
          </a:p>
        </p:txBody>
      </p:sp>
      <p:pic>
        <p:nvPicPr>
          <p:cNvPr id="5" name="Picture 5" descr="Интернет-магазины Украины. Каталог магазинов. Рейтинг магазинов. Поиск по магазинам.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2" y="0"/>
            <a:ext cx="11049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9130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16632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600" b="1" dirty="0" smtClean="0">
                <a:solidFill>
                  <a:schemeClr val="bg1"/>
                </a:solidFill>
              </a:rPr>
              <a:t>Визначення акторів за сценарієм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88680" y="1225689"/>
            <a:ext cx="2795488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uk-UA" sz="3600" dirty="0" smtClean="0"/>
          </a:p>
          <a:p>
            <a:pPr algn="ctr"/>
            <a:r>
              <a:rPr lang="uk-UA" sz="3600" dirty="0" smtClean="0"/>
              <a:t>Програмна система</a:t>
            </a:r>
          </a:p>
          <a:p>
            <a:pPr algn="ctr"/>
            <a:endParaRPr lang="ru-RU" sz="3600" dirty="0"/>
          </a:p>
        </p:txBody>
      </p:sp>
      <p:sp>
        <p:nvSpPr>
          <p:cNvPr id="8" name="TextBox 7"/>
          <p:cNvSpPr txBox="1"/>
          <p:nvPr/>
        </p:nvSpPr>
        <p:spPr>
          <a:xfrm>
            <a:off x="722608" y="3256742"/>
            <a:ext cx="14097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 err="1" smtClean="0"/>
              <a:t>Клієнт=</a:t>
            </a:r>
            <a:endParaRPr lang="uk-UA" dirty="0" smtClean="0"/>
          </a:p>
          <a:p>
            <a:r>
              <a:rPr lang="uk-UA" dirty="0" err="1" smtClean="0"/>
              <a:t>замовник=</a:t>
            </a:r>
            <a:endParaRPr lang="uk-UA" dirty="0" smtClean="0"/>
          </a:p>
          <a:p>
            <a:r>
              <a:rPr lang="uk-UA" dirty="0" smtClean="0"/>
              <a:t>покупець</a:t>
            </a:r>
            <a:endParaRPr lang="ru-RU" dirty="0"/>
          </a:p>
        </p:txBody>
      </p:sp>
      <p:cxnSp>
        <p:nvCxnSpPr>
          <p:cNvPr id="10" name="Пряма сполучна лінія 9"/>
          <p:cNvCxnSpPr/>
          <p:nvPr/>
        </p:nvCxnSpPr>
        <p:spPr bwMode="auto">
          <a:xfrm>
            <a:off x="1780871" y="2503067"/>
            <a:ext cx="150780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6999781" y="3776463"/>
            <a:ext cx="18938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smtClean="0"/>
              <a:t>Адміністратор </a:t>
            </a:r>
            <a:r>
              <a:rPr lang="uk-UA" dirty="0" err="1" smtClean="0"/>
              <a:t>системи=</a:t>
            </a:r>
            <a:endParaRPr lang="uk-UA" dirty="0" smtClean="0"/>
          </a:p>
          <a:p>
            <a:r>
              <a:rPr lang="uk-UA" dirty="0" err="1" smtClean="0"/>
              <a:t>менеджер=</a:t>
            </a:r>
            <a:endParaRPr lang="uk-UA" dirty="0" smtClean="0"/>
          </a:p>
          <a:p>
            <a:endParaRPr lang="ru-RU" dirty="0"/>
          </a:p>
        </p:txBody>
      </p:sp>
      <p:cxnSp>
        <p:nvCxnSpPr>
          <p:cNvPr id="16" name="Пряма сполучна лінія 15"/>
          <p:cNvCxnSpPr/>
          <p:nvPr/>
        </p:nvCxnSpPr>
        <p:spPr bwMode="auto">
          <a:xfrm flipH="1">
            <a:off x="6084168" y="2404009"/>
            <a:ext cx="127732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4366010" y="5589240"/>
            <a:ext cx="852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smtClean="0"/>
              <a:t>Банк </a:t>
            </a:r>
          </a:p>
          <a:p>
            <a:endParaRPr lang="ru-RU" dirty="0"/>
          </a:p>
        </p:txBody>
      </p:sp>
      <p:pic>
        <p:nvPicPr>
          <p:cNvPr id="66562" name="Picture 2" descr="Результат пошуку зображень за запитом &quot;беліе человечки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33" y="1566801"/>
            <a:ext cx="1864497" cy="1626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5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127" y="4178697"/>
            <a:ext cx="1476375" cy="135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3" name="Пряма сполучна лінія 22"/>
          <p:cNvCxnSpPr>
            <a:stCxn id="66563" idx="0"/>
          </p:cNvCxnSpPr>
          <p:nvPr/>
        </p:nvCxnSpPr>
        <p:spPr bwMode="auto">
          <a:xfrm flipV="1">
            <a:off x="4792315" y="3534013"/>
            <a:ext cx="0" cy="64468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665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1517896"/>
            <a:ext cx="1708826" cy="1708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5" name="Пряма сполучна лінія 24"/>
          <p:cNvCxnSpPr/>
          <p:nvPr/>
        </p:nvCxnSpPr>
        <p:spPr bwMode="auto">
          <a:xfrm>
            <a:off x="3779912" y="4178697"/>
            <a:ext cx="2592288" cy="13525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5" name="Picture 5" descr="Интернет-магазины Украины. Каталог магазинов. Рейтинг магазинов. Поиск по магазинам.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2" y="0"/>
            <a:ext cx="11049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3585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366125" y="6597650"/>
            <a:ext cx="777875" cy="260350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/>
              <a:pPr/>
              <a:t>32</a:t>
            </a:fld>
            <a:endParaRPr lang="uk-UA" dirty="0"/>
          </a:p>
        </p:txBody>
      </p:sp>
      <p:sp>
        <p:nvSpPr>
          <p:cNvPr id="3" name="TextBox 2"/>
          <p:cNvSpPr txBox="1"/>
          <p:nvPr/>
        </p:nvSpPr>
        <p:spPr>
          <a:xfrm>
            <a:off x="1907704" y="45263"/>
            <a:ext cx="58590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600" b="1" dirty="0" smtClean="0">
                <a:solidFill>
                  <a:schemeClr val="bg1"/>
                </a:solidFill>
              </a:rPr>
              <a:t>Визначення прецедентів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4" name="Прямокутник 3"/>
          <p:cNvSpPr/>
          <p:nvPr/>
        </p:nvSpPr>
        <p:spPr>
          <a:xfrm>
            <a:off x="2113335" y="1842774"/>
            <a:ext cx="6318448" cy="2834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uk-UA" sz="2200" b="0" dirty="0" smtClean="0">
                <a:solidFill>
                  <a:srgbClr val="0000CC"/>
                </a:solidFill>
              </a:rPr>
              <a:t>Завантажує</a:t>
            </a:r>
            <a:r>
              <a:rPr lang="uk-UA" sz="2200" b="0" dirty="0" smtClean="0"/>
              <a:t> сайт </a:t>
            </a:r>
            <a:r>
              <a:rPr lang="uk-UA" sz="2200" b="0" dirty="0" err="1"/>
              <a:t>Інтернет-магазину</a:t>
            </a:r>
            <a:endParaRPr lang="uk-UA" sz="2200" b="0" dirty="0"/>
          </a:p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uk-UA" sz="2200" b="0" dirty="0" smtClean="0">
                <a:solidFill>
                  <a:srgbClr val="0000CC"/>
                </a:solidFill>
              </a:rPr>
              <a:t>вибирає</a:t>
            </a:r>
            <a:r>
              <a:rPr lang="uk-UA" sz="2200" b="0" dirty="0" smtClean="0"/>
              <a:t> </a:t>
            </a:r>
            <a:r>
              <a:rPr lang="uk-UA" sz="2200" b="0" dirty="0"/>
              <a:t>каталог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uk-UA" sz="2200" b="0" dirty="0" smtClean="0">
                <a:solidFill>
                  <a:srgbClr val="0000CC"/>
                </a:solidFill>
              </a:rPr>
              <a:t>переглядає</a:t>
            </a:r>
            <a:r>
              <a:rPr lang="uk-UA" sz="2200" b="0" dirty="0" smtClean="0"/>
              <a:t> </a:t>
            </a:r>
            <a:r>
              <a:rPr lang="uk-UA" sz="2200" b="0" dirty="0"/>
              <a:t>вміст </a:t>
            </a:r>
            <a:r>
              <a:rPr lang="uk-UA" sz="2200" b="0" dirty="0" smtClean="0"/>
              <a:t>каталогу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uk-UA" sz="2200" b="0" dirty="0" smtClean="0">
                <a:solidFill>
                  <a:srgbClr val="0000CC"/>
                </a:solidFill>
              </a:rPr>
              <a:t>вибирає</a:t>
            </a:r>
            <a:r>
              <a:rPr lang="uk-UA" sz="2200" b="0" dirty="0" smtClean="0"/>
              <a:t> </a:t>
            </a:r>
            <a:r>
              <a:rPr lang="uk-UA" sz="2200" b="0" dirty="0"/>
              <a:t>товар із вибраного каталогу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uk-UA" sz="2200" b="0" dirty="0" smtClean="0">
                <a:solidFill>
                  <a:srgbClr val="0000CC"/>
                </a:solidFill>
              </a:rPr>
              <a:t>відправляє</a:t>
            </a:r>
            <a:r>
              <a:rPr lang="uk-UA" sz="2200" b="0" dirty="0" smtClean="0"/>
              <a:t> </a:t>
            </a:r>
            <a:r>
              <a:rPr lang="uk-UA" sz="2200" b="0" dirty="0"/>
              <a:t>товар в корзину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uk-UA" sz="2200" b="0" dirty="0" smtClean="0">
                <a:solidFill>
                  <a:srgbClr val="0000CC"/>
                </a:solidFill>
              </a:rPr>
              <a:t>оформлює</a:t>
            </a:r>
            <a:r>
              <a:rPr lang="uk-UA" sz="2200" b="0" dirty="0" smtClean="0"/>
              <a:t> </a:t>
            </a:r>
            <a:r>
              <a:rPr lang="uk-UA" sz="2200" b="0" dirty="0"/>
              <a:t>замовлення, </a:t>
            </a:r>
            <a:endParaRPr lang="uk-UA" sz="2200" b="0" dirty="0" smtClean="0"/>
          </a:p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uk-UA" sz="2200" b="0" dirty="0" smtClean="0">
                <a:solidFill>
                  <a:srgbClr val="0000CC"/>
                </a:solidFill>
              </a:rPr>
              <a:t>вибирає</a:t>
            </a:r>
            <a:r>
              <a:rPr lang="uk-UA" sz="2200" b="0" dirty="0" smtClean="0"/>
              <a:t> </a:t>
            </a:r>
            <a:r>
              <a:rPr lang="uk-UA" sz="2200" b="0" dirty="0"/>
              <a:t>варіант оплати товару   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uk-UA" sz="2200" b="0" dirty="0" smtClean="0">
                <a:solidFill>
                  <a:srgbClr val="0000CC"/>
                </a:solidFill>
              </a:rPr>
              <a:t>оплачує</a:t>
            </a:r>
            <a:r>
              <a:rPr lang="uk-UA" sz="2200" b="0" dirty="0" smtClean="0"/>
              <a:t> </a:t>
            </a:r>
            <a:r>
              <a:rPr lang="uk-UA" sz="2200" b="0" dirty="0"/>
              <a:t>товар</a:t>
            </a:r>
            <a:r>
              <a:rPr lang="uk-UA" sz="2200" b="0" dirty="0" smtClean="0"/>
              <a:t>,</a:t>
            </a:r>
          </a:p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uk-UA" sz="2200" b="0" dirty="0" smtClean="0">
                <a:solidFill>
                  <a:srgbClr val="0000CC"/>
                </a:solidFill>
              </a:rPr>
              <a:t>отримує</a:t>
            </a:r>
            <a:r>
              <a:rPr lang="uk-UA" sz="2200" b="0" dirty="0" smtClean="0"/>
              <a:t> товар</a:t>
            </a:r>
            <a:r>
              <a:rPr lang="ru-RU" sz="2200" b="0" dirty="0" smtClean="0"/>
              <a:t>.</a:t>
            </a:r>
            <a:endParaRPr lang="ru-RU" sz="2200" b="0" dirty="0"/>
          </a:p>
        </p:txBody>
      </p:sp>
      <p:pic>
        <p:nvPicPr>
          <p:cNvPr id="5" name="Picture 2" descr="Результат пошуку зображень за запитом &quot;беліе человечки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92" y="2132856"/>
            <a:ext cx="1864497" cy="1626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927902" y="1084094"/>
            <a:ext cx="6453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000" dirty="0" smtClean="0"/>
              <a:t>Прецеденти або варіанти використання  покупця</a:t>
            </a:r>
            <a:endParaRPr lang="ru-RU" sz="2000" dirty="0"/>
          </a:p>
        </p:txBody>
      </p:sp>
      <p:pic>
        <p:nvPicPr>
          <p:cNvPr id="7" name="Picture 5" descr="Интернет-магазины Украины. Каталог магазинов. Рейтинг магазинов. Поиск по магазинам.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2" y="0"/>
            <a:ext cx="11049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3004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366125" y="6597650"/>
            <a:ext cx="777875" cy="260350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/>
              <a:pPr/>
              <a:t>33</a:t>
            </a:fld>
            <a:endParaRPr lang="uk-UA" dirty="0"/>
          </a:p>
        </p:txBody>
      </p:sp>
      <p:sp>
        <p:nvSpPr>
          <p:cNvPr id="3" name="TextBox 2"/>
          <p:cNvSpPr txBox="1"/>
          <p:nvPr/>
        </p:nvSpPr>
        <p:spPr>
          <a:xfrm>
            <a:off x="1907704" y="45263"/>
            <a:ext cx="58590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600" b="1" dirty="0" smtClean="0">
                <a:solidFill>
                  <a:schemeClr val="bg1"/>
                </a:solidFill>
              </a:rPr>
              <a:t>Визначення прецедентів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64071" y="911004"/>
            <a:ext cx="73463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000" dirty="0" smtClean="0"/>
              <a:t>Прецеденти або варіанти використання  адміністратора</a:t>
            </a:r>
            <a:endParaRPr lang="ru-RU" sz="2000" dirty="0"/>
          </a:p>
        </p:txBody>
      </p:sp>
      <p:sp>
        <p:nvSpPr>
          <p:cNvPr id="5" name="Прямокутник 4"/>
          <p:cNvSpPr/>
          <p:nvPr/>
        </p:nvSpPr>
        <p:spPr>
          <a:xfrm>
            <a:off x="2176370" y="1556792"/>
            <a:ext cx="671611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uk-UA" sz="2000" b="0" dirty="0" smtClean="0"/>
              <a:t>супроводжує сайт</a:t>
            </a:r>
          </a:p>
          <a:p>
            <a:pPr marL="457200" indent="-457200">
              <a:buFont typeface="+mj-lt"/>
              <a:buAutoNum type="arabicPeriod"/>
            </a:pPr>
            <a:r>
              <a:rPr lang="uk-UA" sz="2000" b="0" dirty="0" smtClean="0"/>
              <a:t>заповнює базу даних товарів (ведення БД товарів)</a:t>
            </a:r>
            <a:endParaRPr lang="uk-UA" sz="2000" b="0" dirty="0"/>
          </a:p>
          <a:p>
            <a:pPr marL="457200" indent="-457200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b="0" dirty="0" err="1" smtClean="0"/>
              <a:t>редагує</a:t>
            </a:r>
            <a:r>
              <a:rPr lang="ru-RU" sz="2000" b="0" dirty="0" smtClean="0"/>
              <a:t> </a:t>
            </a:r>
            <a:r>
              <a:rPr lang="ru-RU" sz="2000" b="0" dirty="0"/>
              <a:t>каталог з </a:t>
            </a:r>
            <a:r>
              <a:rPr lang="uk-UA" sz="2000" b="0" dirty="0"/>
              <a:t>продукцією </a:t>
            </a:r>
          </a:p>
          <a:p>
            <a:pPr marL="457200" indent="-457200">
              <a:buFont typeface="+mj-lt"/>
              <a:buAutoNum type="arabicPeriod"/>
            </a:pPr>
            <a:r>
              <a:rPr lang="uk-UA" sz="2000" b="0" dirty="0" smtClean="0"/>
              <a:t>узгоджує</a:t>
            </a:r>
            <a:r>
              <a:rPr lang="ru-RU" sz="2000" b="0" dirty="0" smtClean="0"/>
              <a:t> </a:t>
            </a:r>
            <a:r>
              <a:rPr lang="ru-RU" sz="2000" b="0" dirty="0"/>
              <a:t>з </a:t>
            </a:r>
            <a:r>
              <a:rPr lang="uk-UA" sz="2000" b="0" dirty="0"/>
              <a:t>покупцем умови </a:t>
            </a:r>
            <a:r>
              <a:rPr lang="uk-UA" sz="2000" b="0" dirty="0" smtClean="0"/>
              <a:t>придбання </a:t>
            </a:r>
            <a:r>
              <a:rPr lang="uk-UA" sz="2000" b="0" dirty="0"/>
              <a:t>товару</a:t>
            </a:r>
            <a:r>
              <a:rPr lang="uk-UA" sz="2000" b="0" dirty="0" smtClean="0"/>
              <a:t> </a:t>
            </a:r>
            <a:endParaRPr lang="uk-UA" sz="2000" b="0" dirty="0"/>
          </a:p>
          <a:p>
            <a:pPr marL="457200" indent="-457200">
              <a:buFont typeface="+mj-lt"/>
              <a:buAutoNum type="arabicPeriod"/>
            </a:pPr>
            <a:r>
              <a:rPr lang="uk-UA" sz="2000" b="0" dirty="0"/>
              <a:t>узгоджує</a:t>
            </a:r>
            <a:r>
              <a:rPr lang="ru-RU" sz="2000" b="0" dirty="0"/>
              <a:t> з </a:t>
            </a:r>
            <a:r>
              <a:rPr lang="uk-UA" sz="2000" b="0" dirty="0"/>
              <a:t>покупцем </a:t>
            </a:r>
            <a:r>
              <a:rPr lang="uk-UA" sz="2000" b="0" dirty="0" smtClean="0"/>
              <a:t>режими оплати </a:t>
            </a:r>
            <a:r>
              <a:rPr lang="uk-UA" sz="2000" b="0" dirty="0"/>
              <a:t>товару </a:t>
            </a:r>
          </a:p>
          <a:p>
            <a:pPr marL="457200" indent="-457200">
              <a:buFont typeface="+mj-lt"/>
              <a:buAutoNum type="arabicPeriod"/>
            </a:pPr>
            <a:r>
              <a:rPr lang="uk-UA" sz="2000" b="0" dirty="0"/>
              <a:t>визначає </a:t>
            </a:r>
            <a:r>
              <a:rPr lang="uk-UA" sz="2000" b="0" dirty="0" smtClean="0"/>
              <a:t>пільги (ведення БД клієнтів)</a:t>
            </a:r>
          </a:p>
          <a:p>
            <a:pPr marL="457200" indent="-457200">
              <a:buFont typeface="+mj-lt"/>
              <a:buAutoNum type="arabicPeriod"/>
            </a:pPr>
            <a:r>
              <a:rPr lang="uk-UA" sz="2000" b="0" dirty="0" smtClean="0"/>
              <a:t>контролює доставку</a:t>
            </a:r>
            <a:endParaRPr lang="ru-RU" sz="2000" b="0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56181"/>
            <a:ext cx="1708826" cy="1708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 descr="Интернет-магазины Украины. Каталог магазинов. Рейтинг магазинов. Поиск по магазинам.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2" y="0"/>
            <a:ext cx="11049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038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Rectangle 7"/>
          <p:cNvSpPr>
            <a:spLocks noChangeArrowheads="1"/>
          </p:cNvSpPr>
          <p:nvPr/>
        </p:nvSpPr>
        <p:spPr bwMode="auto">
          <a:xfrm>
            <a:off x="3347864" y="962025"/>
            <a:ext cx="21788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uk-UA" b="0" i="1" dirty="0" err="1">
                <a:solidFill>
                  <a:srgbClr val="000000"/>
                </a:solidFill>
              </a:rPr>
              <a:t>File</a:t>
            </a:r>
            <a:r>
              <a:rPr lang="uk-UA" b="0" i="1" dirty="0">
                <a:solidFill>
                  <a:srgbClr val="000000"/>
                </a:solidFill>
              </a:rPr>
              <a:t> -&gt; </a:t>
            </a:r>
            <a:r>
              <a:rPr lang="uk-UA" b="0" i="1" dirty="0" err="1" smtClean="0">
                <a:solidFill>
                  <a:srgbClr val="000000"/>
                </a:solidFill>
              </a:rPr>
              <a:t>New</a:t>
            </a:r>
            <a:r>
              <a:rPr lang="uk-UA" b="0" i="1" dirty="0" smtClean="0">
                <a:solidFill>
                  <a:srgbClr val="000000"/>
                </a:solidFill>
              </a:rPr>
              <a:t>  </a:t>
            </a:r>
            <a:r>
              <a:rPr lang="en-US" b="0" i="1" dirty="0" smtClean="0">
                <a:solidFill>
                  <a:srgbClr val="000000"/>
                </a:solidFill>
              </a:rPr>
              <a:t>Model</a:t>
            </a:r>
            <a:r>
              <a:rPr lang="ru-RU" dirty="0" smtClean="0">
                <a:solidFill>
                  <a:srgbClr val="000000"/>
                </a:solidFill>
              </a:rPr>
              <a:t> </a:t>
            </a:r>
            <a:endParaRPr lang="ru-RU" dirty="0">
              <a:solidFill>
                <a:srgbClr val="000000"/>
              </a:solidFill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04311"/>
            <a:ext cx="8064896" cy="4793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551863" y="6597650"/>
            <a:ext cx="592137" cy="274638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>
                <a:solidFill>
                  <a:srgbClr val="FFFFFF"/>
                </a:solidFill>
              </a:rPr>
              <a:pPr/>
              <a:t>34</a:t>
            </a:fld>
            <a:endParaRPr lang="uk-UA" dirty="0">
              <a:solidFill>
                <a:srgbClr val="FFFFFF"/>
              </a:solidFill>
            </a:endParaRPr>
          </a:p>
        </p:txBody>
      </p:sp>
      <p:sp>
        <p:nvSpPr>
          <p:cNvPr id="3" name="Овал 2"/>
          <p:cNvSpPr/>
          <p:nvPr/>
        </p:nvSpPr>
        <p:spPr bwMode="auto">
          <a:xfrm>
            <a:off x="7236296" y="1988840"/>
            <a:ext cx="1080120" cy="100811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4872" y="0"/>
            <a:ext cx="914400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uk-UA" sz="2700" b="1" dirty="0">
                <a:solidFill>
                  <a:srgbClr val="FFFFFF"/>
                </a:solidFill>
              </a:rPr>
              <a:t>Проектування в середовищі </a:t>
            </a:r>
            <a:r>
              <a:rPr lang="en-US" sz="2700" b="1" dirty="0">
                <a:solidFill>
                  <a:srgbClr val="FFFFFF"/>
                </a:solidFill>
              </a:rPr>
              <a:t>Sybase</a:t>
            </a:r>
            <a:r>
              <a:rPr lang="uk-UA" sz="2700" b="1" dirty="0">
                <a:solidFill>
                  <a:srgbClr val="FFFFFF"/>
                </a:solidFill>
              </a:rPr>
              <a:t> </a:t>
            </a:r>
            <a:r>
              <a:rPr lang="uk-UA" sz="2700" b="1" dirty="0" err="1">
                <a:solidFill>
                  <a:srgbClr val="FFFFFF"/>
                </a:solidFill>
              </a:rPr>
              <a:t>Power</a:t>
            </a:r>
            <a:r>
              <a:rPr lang="uk-UA" sz="2700" b="1" dirty="0">
                <a:solidFill>
                  <a:srgbClr val="FFFFFF"/>
                </a:solidFill>
              </a:rPr>
              <a:t> </a:t>
            </a:r>
            <a:r>
              <a:rPr lang="uk-UA" sz="2700" b="1" dirty="0" err="1">
                <a:solidFill>
                  <a:srgbClr val="FFFFFF"/>
                </a:solidFill>
              </a:rPr>
              <a:t>Designer</a:t>
            </a:r>
            <a:r>
              <a:rPr lang="uk-UA" sz="2700" b="1" dirty="0">
                <a:solidFill>
                  <a:srgbClr val="FFFF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5269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5"/>
          <p:cNvSpPr>
            <a:spLocks noChangeArrowheads="1"/>
          </p:cNvSpPr>
          <p:nvPr/>
        </p:nvSpPr>
        <p:spPr bwMode="auto">
          <a:xfrm>
            <a:off x="1537243" y="1236207"/>
            <a:ext cx="599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b="0" i="1" dirty="0">
                <a:solidFill>
                  <a:srgbClr val="000000"/>
                </a:solidFill>
              </a:rPr>
              <a:t>View</a:t>
            </a:r>
            <a:r>
              <a:rPr lang="ru-RU" b="0" i="1" dirty="0">
                <a:solidFill>
                  <a:srgbClr val="000000"/>
                </a:solidFill>
              </a:rPr>
              <a:t> -&gt; </a:t>
            </a:r>
            <a:r>
              <a:rPr lang="en-US" b="0" i="1" dirty="0">
                <a:solidFill>
                  <a:srgbClr val="000000"/>
                </a:solidFill>
              </a:rPr>
              <a:t>Diagram</a:t>
            </a:r>
            <a:r>
              <a:rPr lang="ru-RU" b="0" i="1" dirty="0">
                <a:solidFill>
                  <a:srgbClr val="000000"/>
                </a:solidFill>
              </a:rPr>
              <a:t> -&gt; </a:t>
            </a:r>
            <a:r>
              <a:rPr lang="en-US" b="0" i="1" dirty="0">
                <a:solidFill>
                  <a:srgbClr val="000000"/>
                </a:solidFill>
              </a:rPr>
              <a:t>New Diagram</a:t>
            </a:r>
            <a:r>
              <a:rPr lang="ru-RU" b="0" i="1" dirty="0">
                <a:solidFill>
                  <a:srgbClr val="000000"/>
                </a:solidFill>
              </a:rPr>
              <a:t> -&gt; </a:t>
            </a:r>
            <a:r>
              <a:rPr lang="en-US" b="0" i="1" dirty="0">
                <a:solidFill>
                  <a:srgbClr val="000000"/>
                </a:solidFill>
              </a:rPr>
              <a:t>Use Case Diagram</a:t>
            </a:r>
            <a:r>
              <a:rPr lang="uk-UA" b="0" dirty="0">
                <a:solidFill>
                  <a:srgbClr val="000000"/>
                </a:solidFill>
              </a:rPr>
              <a:t>,</a:t>
            </a:r>
            <a:r>
              <a:rPr lang="ru-RU" dirty="0">
                <a:solidFill>
                  <a:srgbClr val="000000"/>
                </a:solidFill>
              </a:rPr>
              <a:t> </a:t>
            </a:r>
          </a:p>
        </p:txBody>
      </p:sp>
      <p:pic>
        <p:nvPicPr>
          <p:cNvPr id="10137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771019"/>
            <a:ext cx="8352928" cy="475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551863" y="6597650"/>
            <a:ext cx="592137" cy="274638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>
                <a:solidFill>
                  <a:srgbClr val="FFFFFF"/>
                </a:solidFill>
              </a:rPr>
              <a:pPr/>
              <a:t>35</a:t>
            </a:fld>
            <a:endParaRPr lang="uk-UA" dirty="0">
              <a:solidFill>
                <a:srgbClr val="FFFFFF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4872" y="0"/>
            <a:ext cx="914400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uk-UA" sz="2700" b="1" dirty="0">
                <a:solidFill>
                  <a:srgbClr val="FFFFFF"/>
                </a:solidFill>
              </a:rPr>
              <a:t>Проектування в середовищі </a:t>
            </a:r>
            <a:r>
              <a:rPr lang="en-US" sz="2700" b="1" dirty="0">
                <a:solidFill>
                  <a:srgbClr val="FFFFFF"/>
                </a:solidFill>
              </a:rPr>
              <a:t>Sybase</a:t>
            </a:r>
            <a:r>
              <a:rPr lang="uk-UA" sz="2700" b="1" dirty="0">
                <a:solidFill>
                  <a:srgbClr val="FFFFFF"/>
                </a:solidFill>
              </a:rPr>
              <a:t> </a:t>
            </a:r>
            <a:r>
              <a:rPr lang="uk-UA" sz="2700" b="1" dirty="0" err="1">
                <a:solidFill>
                  <a:srgbClr val="FFFFFF"/>
                </a:solidFill>
              </a:rPr>
              <a:t>Power</a:t>
            </a:r>
            <a:r>
              <a:rPr lang="uk-UA" sz="2700" b="1" dirty="0">
                <a:solidFill>
                  <a:srgbClr val="FFFFFF"/>
                </a:solidFill>
              </a:rPr>
              <a:t> </a:t>
            </a:r>
            <a:r>
              <a:rPr lang="uk-UA" sz="2700" b="1" dirty="0" err="1">
                <a:solidFill>
                  <a:srgbClr val="FFFFFF"/>
                </a:solidFill>
              </a:rPr>
              <a:t>Designer</a:t>
            </a:r>
            <a:r>
              <a:rPr lang="uk-UA" sz="2700" b="1" dirty="0">
                <a:solidFill>
                  <a:srgbClr val="FFFF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16455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/>
        </p:nvSpPr>
        <p:spPr bwMode="auto">
          <a:xfrm>
            <a:off x="44872" y="0"/>
            <a:ext cx="914400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uk-UA" sz="2700" b="1" dirty="0">
                <a:solidFill>
                  <a:srgbClr val="FFFFFF"/>
                </a:solidFill>
              </a:rPr>
              <a:t>Проектування в середовищі </a:t>
            </a:r>
            <a:r>
              <a:rPr lang="en-US" sz="2700" b="1" dirty="0">
                <a:solidFill>
                  <a:srgbClr val="FFFFFF"/>
                </a:solidFill>
              </a:rPr>
              <a:t>Sybase</a:t>
            </a:r>
            <a:r>
              <a:rPr lang="uk-UA" sz="2700" b="1" dirty="0">
                <a:solidFill>
                  <a:srgbClr val="FFFFFF"/>
                </a:solidFill>
              </a:rPr>
              <a:t> </a:t>
            </a:r>
            <a:r>
              <a:rPr lang="uk-UA" sz="2700" b="1" dirty="0" err="1">
                <a:solidFill>
                  <a:srgbClr val="FFFFFF"/>
                </a:solidFill>
              </a:rPr>
              <a:t>Power</a:t>
            </a:r>
            <a:r>
              <a:rPr lang="uk-UA" sz="2700" b="1" dirty="0">
                <a:solidFill>
                  <a:srgbClr val="FFFFFF"/>
                </a:solidFill>
              </a:rPr>
              <a:t> </a:t>
            </a:r>
            <a:r>
              <a:rPr lang="uk-UA" sz="2700" b="1" dirty="0" err="1">
                <a:solidFill>
                  <a:srgbClr val="FFFFFF"/>
                </a:solidFill>
              </a:rPr>
              <a:t>Designer</a:t>
            </a:r>
            <a:r>
              <a:rPr lang="uk-UA" sz="2700" b="1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551863" y="6597650"/>
            <a:ext cx="592137" cy="274638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>
                <a:solidFill>
                  <a:srgbClr val="FFFFFF"/>
                </a:solidFill>
              </a:rPr>
              <a:pPr/>
              <a:t>36</a:t>
            </a:fld>
            <a:endParaRPr lang="uk-UA" dirty="0">
              <a:solidFill>
                <a:srgbClr val="FFFFFF"/>
              </a:solidFill>
            </a:endParaRPr>
          </a:p>
        </p:txBody>
      </p:sp>
      <p:pic>
        <p:nvPicPr>
          <p:cNvPr id="64516" name="Рисунок 33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557338"/>
            <a:ext cx="8621713" cy="4772025"/>
          </a:xfrm>
          <a:noFill/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619672" y="1037315"/>
            <a:ext cx="599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b="0" i="1" dirty="0">
                <a:solidFill>
                  <a:srgbClr val="000000"/>
                </a:solidFill>
              </a:rPr>
              <a:t>View</a:t>
            </a:r>
            <a:r>
              <a:rPr lang="ru-RU" b="0" i="1" dirty="0">
                <a:solidFill>
                  <a:srgbClr val="000000"/>
                </a:solidFill>
              </a:rPr>
              <a:t> -&gt; </a:t>
            </a:r>
            <a:r>
              <a:rPr lang="en-US" b="0" i="1" dirty="0">
                <a:solidFill>
                  <a:srgbClr val="000000"/>
                </a:solidFill>
              </a:rPr>
              <a:t>Diagram</a:t>
            </a:r>
            <a:r>
              <a:rPr lang="ru-RU" b="0" i="1" dirty="0">
                <a:solidFill>
                  <a:srgbClr val="000000"/>
                </a:solidFill>
              </a:rPr>
              <a:t> -&gt; </a:t>
            </a:r>
            <a:r>
              <a:rPr lang="en-US" b="0" i="1" dirty="0">
                <a:solidFill>
                  <a:srgbClr val="000000"/>
                </a:solidFill>
              </a:rPr>
              <a:t>New Diagram</a:t>
            </a:r>
            <a:r>
              <a:rPr lang="ru-RU" b="0" i="1" dirty="0">
                <a:solidFill>
                  <a:srgbClr val="000000"/>
                </a:solidFill>
              </a:rPr>
              <a:t> -&gt; </a:t>
            </a:r>
            <a:r>
              <a:rPr lang="en-US" b="0" i="1" dirty="0">
                <a:solidFill>
                  <a:srgbClr val="000000"/>
                </a:solidFill>
              </a:rPr>
              <a:t>Use Case Diagram</a:t>
            </a:r>
            <a:r>
              <a:rPr lang="uk-UA" b="0" dirty="0">
                <a:solidFill>
                  <a:srgbClr val="000000"/>
                </a:solidFill>
              </a:rPr>
              <a:t>,</a:t>
            </a:r>
            <a:r>
              <a:rPr lang="ru-RU" dirty="0">
                <a:solidFill>
                  <a:srgbClr val="0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211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551863" y="6597650"/>
            <a:ext cx="592137" cy="274638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>
                <a:solidFill>
                  <a:srgbClr val="FFFFFF"/>
                </a:solidFill>
              </a:rPr>
              <a:pPr/>
              <a:t>37</a:t>
            </a:fld>
            <a:endParaRPr lang="uk-UA" dirty="0">
              <a:solidFill>
                <a:srgbClr val="FFFFFF"/>
              </a:solidFill>
            </a:endParaRPr>
          </a:p>
        </p:txBody>
      </p:sp>
      <p:pic>
        <p:nvPicPr>
          <p:cNvPr id="35842" name="Рисунок 7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6613"/>
            <a:ext cx="9144000" cy="5516562"/>
          </a:xfrm>
        </p:spPr>
      </p:pic>
      <p:sp>
        <p:nvSpPr>
          <p:cNvPr id="35843" name="Text Box 6"/>
          <p:cNvSpPr txBox="1">
            <a:spLocks noChangeArrowheads="1"/>
          </p:cNvSpPr>
          <p:nvPr/>
        </p:nvSpPr>
        <p:spPr bwMode="auto">
          <a:xfrm>
            <a:off x="1331640" y="116632"/>
            <a:ext cx="756084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uk-UA" sz="2800" dirty="0">
                <a:solidFill>
                  <a:schemeClr val="bg1"/>
                </a:solidFill>
              </a:rPr>
              <a:t>Приклад діаграми прецедентів. Версія 1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52320" y="1478816"/>
            <a:ext cx="1266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 smtClean="0"/>
              <a:t>Контекст </a:t>
            </a:r>
            <a:endParaRPr lang="ru-RU" dirty="0"/>
          </a:p>
        </p:txBody>
      </p:sp>
      <p:cxnSp>
        <p:nvCxnSpPr>
          <p:cNvPr id="5" name="Пряма зі стрілкою 4"/>
          <p:cNvCxnSpPr/>
          <p:nvPr/>
        </p:nvCxnSpPr>
        <p:spPr bwMode="auto">
          <a:xfrm flipH="1">
            <a:off x="6516216" y="1772816"/>
            <a:ext cx="936104" cy="3600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066220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551863" y="6597650"/>
            <a:ext cx="592137" cy="274638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>
                <a:solidFill>
                  <a:srgbClr val="FFFFFF"/>
                </a:solidFill>
              </a:rPr>
              <a:pPr/>
              <a:t>38</a:t>
            </a:fld>
            <a:endParaRPr lang="uk-UA" dirty="0">
              <a:solidFill>
                <a:srgbClr val="FFFFFF"/>
              </a:solidFill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0" y="116632"/>
            <a:ext cx="88924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uk-UA" sz="2800" dirty="0">
                <a:solidFill>
                  <a:schemeClr val="bg1"/>
                </a:solidFill>
              </a:rPr>
              <a:t>Приклад діаграми прецедентів. Версія </a:t>
            </a:r>
            <a:r>
              <a:rPr lang="uk-UA" sz="2800" dirty="0" smtClean="0">
                <a:solidFill>
                  <a:schemeClr val="bg1"/>
                </a:solidFill>
              </a:rPr>
              <a:t>2</a:t>
            </a:r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836712"/>
            <a:ext cx="8905875" cy="5702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4655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 idx="4294967295"/>
          </p:nvPr>
        </p:nvSpPr>
        <p:spPr>
          <a:xfrm>
            <a:off x="1" y="12700"/>
            <a:ext cx="9144000" cy="912813"/>
          </a:xfrm>
        </p:spPr>
        <p:txBody>
          <a:bodyPr/>
          <a:lstStyle/>
          <a:p>
            <a:r>
              <a:rPr lang="ru-RU" sz="3200" i="0" dirty="0" smtClean="0">
                <a:solidFill>
                  <a:schemeClr val="bg1"/>
                </a:solidFill>
              </a:rPr>
              <a:t>Приклад </a:t>
            </a:r>
            <a:r>
              <a:rPr lang="en-US" sz="3200" i="0" dirty="0" smtClean="0">
                <a:solidFill>
                  <a:schemeClr val="bg1"/>
                </a:solidFill>
              </a:rPr>
              <a:t>package diagram</a:t>
            </a:r>
          </a:p>
        </p:txBody>
      </p:sp>
      <p:pic>
        <p:nvPicPr>
          <p:cNvPr id="19459" name="Picture 3" descr="p4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0200" y="927100"/>
            <a:ext cx="7543800" cy="5486400"/>
          </a:xfrm>
          <a:noFill/>
        </p:spPr>
      </p:pic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551863" y="6597650"/>
            <a:ext cx="592137" cy="274638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/>
              <a:pPr/>
              <a:t>39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318332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 idx="4294967295"/>
          </p:nvPr>
        </p:nvSpPr>
        <p:spPr>
          <a:xfrm>
            <a:off x="0" y="-120351"/>
            <a:ext cx="9143999" cy="540481"/>
          </a:xfrm>
        </p:spPr>
        <p:txBody>
          <a:bodyPr/>
          <a:lstStyle/>
          <a:p>
            <a:r>
              <a:rPr lang="ru-RU" sz="3200" i="0" dirty="0" smtClean="0">
                <a:solidFill>
                  <a:schemeClr val="bg1"/>
                </a:solidFill>
              </a:rPr>
              <a:t>Приклад </a:t>
            </a:r>
            <a:r>
              <a:rPr lang="en-US" sz="3200" i="0" dirty="0" smtClean="0">
                <a:solidFill>
                  <a:schemeClr val="bg1"/>
                </a:solidFill>
              </a:rPr>
              <a:t>class diagram </a:t>
            </a:r>
          </a:p>
        </p:txBody>
      </p:sp>
      <p:pic>
        <p:nvPicPr>
          <p:cNvPr id="21507" name="Picture 5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052513"/>
            <a:ext cx="8351838" cy="5229225"/>
          </a:xfrm>
        </p:spPr>
      </p:pic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551863" y="6597650"/>
            <a:ext cx="592137" cy="274638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/>
              <a:pPr/>
              <a:t>40</a:t>
            </a:fld>
            <a:endParaRPr lang="uk-UA" dirty="0"/>
          </a:p>
        </p:txBody>
      </p:sp>
      <p:sp>
        <p:nvSpPr>
          <p:cNvPr id="3" name="TextBox 2"/>
          <p:cNvSpPr txBox="1"/>
          <p:nvPr/>
        </p:nvSpPr>
        <p:spPr>
          <a:xfrm>
            <a:off x="2878128" y="867847"/>
            <a:ext cx="2710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smtClean="0"/>
              <a:t>W</a:t>
            </a:r>
            <a:r>
              <a:rPr lang="uk-UA" b="0" dirty="0" err="1" smtClean="0"/>
              <a:t>hat</a:t>
            </a:r>
            <a:r>
              <a:rPr lang="uk-UA" b="0" dirty="0" smtClean="0"/>
              <a:t> </a:t>
            </a:r>
            <a:r>
              <a:rPr lang="en-US" b="0" dirty="0" smtClean="0"/>
              <a:t>error</a:t>
            </a:r>
            <a:r>
              <a:rPr lang="en-US" dirty="0"/>
              <a:t>s</a:t>
            </a:r>
            <a:r>
              <a:rPr lang="en-US" b="0" dirty="0" smtClean="0"/>
              <a:t> </a:t>
            </a:r>
            <a:r>
              <a:rPr lang="en-US" b="0" dirty="0"/>
              <a:t>do you </a:t>
            </a:r>
            <a:r>
              <a:rPr lang="en-US" b="0" dirty="0" smtClean="0"/>
              <a:t>find</a:t>
            </a:r>
            <a:r>
              <a:rPr lang="uk-UA" b="0" dirty="0" smtClean="0"/>
              <a:t>?</a:t>
            </a:r>
            <a:endParaRPr lang="uk-UA" b="0" dirty="0"/>
          </a:p>
        </p:txBody>
      </p:sp>
    </p:spTree>
    <p:extLst>
      <p:ext uri="{BB962C8B-B14F-4D97-AF65-F5344CB8AC3E}">
        <p14:creationId xmlns:p14="http://schemas.microsoft.com/office/powerpoint/2010/main" val="18777116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1371600"/>
            <a:ext cx="791527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 txBox="1">
            <a:spLocks/>
          </p:cNvSpPr>
          <p:nvPr/>
        </p:nvSpPr>
        <p:spPr bwMode="auto">
          <a:xfrm>
            <a:off x="0" y="-609"/>
            <a:ext cx="9144000" cy="433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ru-RU" sz="3200" i="0" dirty="0" smtClean="0">
                <a:solidFill>
                  <a:schemeClr val="bg1"/>
                </a:solidFill>
              </a:rPr>
              <a:t>Приклад </a:t>
            </a:r>
            <a:r>
              <a:rPr lang="en-US" sz="3200" i="0" dirty="0" smtClean="0">
                <a:solidFill>
                  <a:schemeClr val="bg1"/>
                </a:solidFill>
              </a:rPr>
              <a:t>class </a:t>
            </a:r>
            <a:r>
              <a:rPr lang="en-US" sz="3200" i="0" dirty="0" smtClean="0">
                <a:solidFill>
                  <a:schemeClr val="bg1"/>
                </a:solidFill>
              </a:rPr>
              <a:t>diagram</a:t>
            </a:r>
            <a:endParaRPr lang="en-US" sz="3200" i="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519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551863" y="6597650"/>
            <a:ext cx="592137" cy="274638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>
                <a:solidFill>
                  <a:srgbClr val="FFFFFF"/>
                </a:solidFill>
              </a:rPr>
              <a:pPr/>
              <a:t>42</a:t>
            </a:fld>
            <a:endParaRPr lang="uk-UA" dirty="0">
              <a:solidFill>
                <a:srgbClr val="FFFFFF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57693" y="984066"/>
            <a:ext cx="8390238" cy="2816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Схему </a:t>
            </a:r>
            <a:r>
              <a:rPr lang="ru-RU" dirty="0" err="1" smtClean="0"/>
              <a:t>діяльності</a:t>
            </a:r>
            <a:r>
              <a:rPr lang="ru-RU" dirty="0" smtClean="0"/>
              <a:t> </a:t>
            </a:r>
            <a:r>
              <a:rPr lang="ru-RU" dirty="0" err="1" smtClean="0"/>
              <a:t>можна</a:t>
            </a:r>
            <a:r>
              <a:rPr lang="ru-RU" dirty="0" smtClean="0"/>
              <a:t> </a:t>
            </a:r>
            <a:r>
              <a:rPr lang="ru-RU" dirty="0" err="1" smtClean="0"/>
              <a:t>використовувати</a:t>
            </a:r>
            <a:r>
              <a:rPr lang="ru-RU" dirty="0" smtClean="0"/>
              <a:t> для </a:t>
            </a:r>
            <a:r>
              <a:rPr lang="ru-RU" dirty="0" err="1" smtClean="0"/>
              <a:t>опису</a:t>
            </a:r>
            <a:r>
              <a:rPr lang="ru-RU" dirty="0" smtClean="0"/>
              <a:t> </a:t>
            </a:r>
            <a:r>
              <a:rPr lang="ru-RU" dirty="0" err="1" smtClean="0"/>
              <a:t>процесів</a:t>
            </a:r>
            <a:r>
              <a:rPr lang="ru-RU" dirty="0" smtClean="0"/>
              <a:t> </a:t>
            </a:r>
            <a:r>
              <a:rPr lang="ru-RU" dirty="0" err="1" smtClean="0"/>
              <a:t>декількох</a:t>
            </a:r>
            <a:r>
              <a:rPr lang="ru-RU" dirty="0" smtClean="0"/>
              <a:t> </a:t>
            </a:r>
            <a:r>
              <a:rPr lang="ru-RU" dirty="0" err="1" smtClean="0"/>
              <a:t>типів</a:t>
            </a:r>
            <a:r>
              <a:rPr lang="ru-RU" dirty="0" smtClean="0"/>
              <a:t>, таких як</a:t>
            </a:r>
            <a:r>
              <a:rPr lang="uk-UA" dirty="0" smtClean="0"/>
              <a:t>:</a:t>
            </a:r>
          </a:p>
          <a:p>
            <a:endParaRPr lang="ru-RU" dirty="0" smtClean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b="1" dirty="0" err="1" smtClean="0"/>
              <a:t>Бізнес-процес</a:t>
            </a:r>
            <a:r>
              <a:rPr lang="ru-RU" b="1" dirty="0" smtClean="0"/>
              <a:t> </a:t>
            </a:r>
            <a:r>
              <a:rPr lang="ru-RU" b="1" dirty="0" err="1" smtClean="0"/>
              <a:t>або</a:t>
            </a:r>
            <a:r>
              <a:rPr lang="ru-RU" b="1" dirty="0" smtClean="0"/>
              <a:t> </a:t>
            </a:r>
            <a:r>
              <a:rPr lang="ru-RU" b="1" dirty="0" err="1" smtClean="0"/>
              <a:t>потік</a:t>
            </a:r>
            <a:r>
              <a:rPr lang="ru-RU" b="1" dirty="0" smtClean="0"/>
              <a:t> </a:t>
            </a:r>
            <a:r>
              <a:rPr lang="ru-RU" b="1" dirty="0" err="1" smtClean="0"/>
              <a:t>роботи</a:t>
            </a:r>
            <a:r>
              <a:rPr lang="ru-RU" dirty="0" smtClean="0"/>
              <a:t>, в </a:t>
            </a:r>
            <a:r>
              <a:rPr lang="ru-RU" dirty="0" err="1" smtClean="0"/>
              <a:t>яких</a:t>
            </a:r>
            <a:r>
              <a:rPr lang="ru-RU" dirty="0" smtClean="0"/>
              <a:t> </a:t>
            </a:r>
            <a:r>
              <a:rPr lang="ru-RU" dirty="0" err="1" smtClean="0"/>
              <a:t>беруть</a:t>
            </a:r>
            <a:r>
              <a:rPr lang="ru-RU" dirty="0" smtClean="0"/>
              <a:t> участь </a:t>
            </a:r>
            <a:r>
              <a:rPr lang="ru-RU" dirty="0" err="1" smtClean="0"/>
              <a:t>користувачі</a:t>
            </a:r>
            <a:r>
              <a:rPr lang="ru-RU" dirty="0" smtClean="0"/>
              <a:t> і система.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b="1" dirty="0" smtClean="0"/>
              <a:t>Кроки в </a:t>
            </a:r>
            <a:r>
              <a:rPr lang="ru-RU" b="1" dirty="0" err="1" smtClean="0"/>
              <a:t>варіанті</a:t>
            </a:r>
            <a:r>
              <a:rPr lang="ru-RU" b="1" dirty="0" smtClean="0"/>
              <a:t> </a:t>
            </a:r>
            <a:r>
              <a:rPr lang="ru-RU" b="1" dirty="0" err="1" smtClean="0"/>
              <a:t>використання</a:t>
            </a:r>
            <a:r>
              <a:rPr lang="ru-RU" dirty="0" smtClean="0"/>
              <a:t>.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b="1" dirty="0" err="1" smtClean="0"/>
              <a:t>Програмний</a:t>
            </a:r>
            <a:r>
              <a:rPr lang="ru-RU" b="1" dirty="0" smtClean="0"/>
              <a:t> протокол</a:t>
            </a:r>
            <a:r>
              <a:rPr lang="ru-RU" dirty="0" smtClean="0"/>
              <a:t>, </a:t>
            </a:r>
            <a:r>
              <a:rPr lang="ru-RU" dirty="0" err="1" smtClean="0"/>
              <a:t>тобто</a:t>
            </a:r>
            <a:r>
              <a:rPr lang="ru-RU" dirty="0" smtClean="0"/>
              <a:t>  дозволена </a:t>
            </a:r>
            <a:r>
              <a:rPr lang="ru-RU" dirty="0" err="1" smtClean="0"/>
              <a:t>послідовність</a:t>
            </a:r>
            <a:r>
              <a:rPr lang="ru-RU" dirty="0" smtClean="0"/>
              <a:t> </a:t>
            </a:r>
            <a:r>
              <a:rPr lang="ru-RU" dirty="0" err="1" smtClean="0"/>
              <a:t>взаємодій</a:t>
            </a:r>
            <a:r>
              <a:rPr lang="ru-RU" dirty="0" smtClean="0"/>
              <a:t> </a:t>
            </a:r>
            <a:r>
              <a:rPr lang="ru-RU" dirty="0" err="1" smtClean="0"/>
              <a:t>між</a:t>
            </a:r>
            <a:r>
              <a:rPr lang="ru-RU" dirty="0" smtClean="0"/>
              <a:t> компонентами.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b="1" dirty="0" err="1" smtClean="0"/>
              <a:t>Програмний</a:t>
            </a:r>
            <a:r>
              <a:rPr lang="ru-RU" b="1" dirty="0" smtClean="0"/>
              <a:t> алгоритм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Прямокутник 1"/>
          <p:cNvSpPr/>
          <p:nvPr/>
        </p:nvSpPr>
        <p:spPr>
          <a:xfrm>
            <a:off x="395536" y="0"/>
            <a:ext cx="814883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Діаграма</a:t>
            </a:r>
            <a:r>
              <a:rPr lang="ru-RU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активностей </a:t>
            </a:r>
            <a:r>
              <a:rPr lang="en-US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(activity diagram)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9391596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/>
          <p:cNvSpPr/>
          <p:nvPr/>
        </p:nvSpPr>
        <p:spPr>
          <a:xfrm>
            <a:off x="-10683" y="764704"/>
            <a:ext cx="9144000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 err="1" smtClean="0">
                <a:latin typeface="Arial" pitchFamily="34" charset="0"/>
                <a:cs typeface="Arial" pitchFamily="34" charset="0"/>
              </a:rPr>
              <a:t>Процес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побудови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діаграми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активностей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можна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описати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у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вигляді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таких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дій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b="1" dirty="0" err="1" smtClean="0">
                <a:latin typeface="Arial" pitchFamily="34" charset="0"/>
                <a:cs typeface="Arial" pitchFamily="34" charset="0"/>
              </a:rPr>
              <a:t>Складання</a:t>
            </a:r>
            <a:r>
              <a:rPr lang="ru-RU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b="1" dirty="0" err="1" smtClean="0">
                <a:latin typeface="Arial" pitchFamily="34" charset="0"/>
                <a:cs typeface="Arial" pitchFamily="34" charset="0"/>
              </a:rPr>
              <a:t>переліку</a:t>
            </a:r>
            <a:r>
              <a:rPr lang="ru-RU" b="1" dirty="0" smtClean="0">
                <a:latin typeface="Arial" pitchFamily="34" charset="0"/>
                <a:cs typeface="Arial" pitchFamily="34" charset="0"/>
              </a:rPr>
              <a:t> діяльностей в </a:t>
            </a:r>
            <a:r>
              <a:rPr lang="ru-RU" b="1" dirty="0" err="1" smtClean="0">
                <a:latin typeface="Arial" pitchFamily="34" charset="0"/>
                <a:cs typeface="Arial" pitchFamily="34" charset="0"/>
              </a:rPr>
              <a:t>системі</a:t>
            </a:r>
            <a:endParaRPr lang="ru-RU" b="1" dirty="0" smtClean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Як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вихідні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дані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для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цієї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операції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добре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підходить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список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прецедентів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або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список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операцій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).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Доповнюватися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діаграмою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активності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може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кожен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сценарій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використання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.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Можна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також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спробувати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описати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зв'язок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між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ними.</a:t>
            </a:r>
          </a:p>
          <a:p>
            <a:pPr>
              <a:spcAft>
                <a:spcPts val="600"/>
              </a:spcAft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2.  </a:t>
            </a:r>
            <a:r>
              <a:rPr lang="ru-RU" b="1" dirty="0" err="1" smtClean="0">
                <a:latin typeface="Arial" pitchFamily="34" charset="0"/>
                <a:cs typeface="Arial" pitchFamily="34" charset="0"/>
              </a:rPr>
              <a:t>Ухвалення</a:t>
            </a:r>
            <a:r>
              <a:rPr lang="ru-RU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b="1" dirty="0" err="1" smtClean="0">
                <a:latin typeface="Arial" pitchFamily="34" charset="0"/>
                <a:cs typeface="Arial" pitchFamily="34" charset="0"/>
              </a:rPr>
              <a:t>рішення</a:t>
            </a:r>
            <a:r>
              <a:rPr lang="ru-RU" b="1" dirty="0" smtClean="0">
                <a:latin typeface="Arial" pitchFamily="34" charset="0"/>
                <a:cs typeface="Arial" pitchFamily="34" charset="0"/>
              </a:rPr>
              <a:t> про </a:t>
            </a:r>
            <a:r>
              <a:rPr lang="ru-RU" b="1" dirty="0" err="1" smtClean="0">
                <a:latin typeface="Arial" pitchFamily="34" charset="0"/>
                <a:cs typeface="Arial" pitchFamily="34" charset="0"/>
              </a:rPr>
              <a:t>необхідність</a:t>
            </a:r>
            <a:r>
              <a:rPr lang="ru-RU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b="1" dirty="0" err="1" smtClean="0">
                <a:latin typeface="Arial" pitchFamily="34" charset="0"/>
                <a:cs typeface="Arial" pitchFamily="34" charset="0"/>
              </a:rPr>
              <a:t>побудови</a:t>
            </a:r>
            <a:r>
              <a:rPr lang="ru-RU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b="1" dirty="0" err="1" smtClean="0">
                <a:latin typeface="Arial" pitchFamily="34" charset="0"/>
                <a:cs typeface="Arial" pitchFamily="34" charset="0"/>
              </a:rPr>
              <a:t>діаграми</a:t>
            </a:r>
            <a:r>
              <a:rPr lang="ru-RU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b="1" dirty="0" err="1" smtClean="0">
                <a:latin typeface="Arial" pitchFamily="34" charset="0"/>
                <a:cs typeface="Arial" pitchFamily="34" charset="0"/>
              </a:rPr>
              <a:t>діяльностей</a:t>
            </a:r>
            <a:endParaRPr lang="ru-RU" b="1" dirty="0" smtClean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3. </a:t>
            </a:r>
            <a:r>
              <a:rPr lang="ru-RU" b="1" dirty="0" err="1" smtClean="0">
                <a:latin typeface="Arial" pitchFamily="34" charset="0"/>
                <a:cs typeface="Arial" pitchFamily="34" charset="0"/>
              </a:rPr>
              <a:t>Визначення</a:t>
            </a:r>
            <a:r>
              <a:rPr lang="ru-RU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b="1" dirty="0" err="1" smtClean="0">
                <a:latin typeface="Arial" pitchFamily="34" charset="0"/>
                <a:cs typeface="Arial" pitchFamily="34" charset="0"/>
              </a:rPr>
              <a:t>залежностей</a:t>
            </a:r>
            <a:r>
              <a:rPr lang="ru-RU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b="1" dirty="0" err="1" smtClean="0">
                <a:latin typeface="Arial" pitchFamily="34" charset="0"/>
                <a:cs typeface="Arial" pitchFamily="34" charset="0"/>
              </a:rPr>
              <a:t>між</a:t>
            </a:r>
            <a:r>
              <a:rPr lang="ru-RU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b="1" dirty="0" err="1" smtClean="0">
                <a:latin typeface="Arial" pitchFamily="34" charset="0"/>
                <a:cs typeface="Arial" pitchFamily="34" charset="0"/>
              </a:rPr>
              <a:t>діяльностями</a:t>
            </a:r>
            <a:endParaRPr lang="ru-RU" b="1" dirty="0" smtClean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Для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кожної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активності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потрібно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знайти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активності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що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безпосередньо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передують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(і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наступні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за нею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теж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),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тобто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активності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, без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виконання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яких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потік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управління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не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може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перейти до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даної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діяльності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ru-RU" b="1" dirty="0" smtClean="0">
                <a:latin typeface="Arial" pitchFamily="34" charset="0"/>
                <a:cs typeface="Arial" pitchFamily="34" charset="0"/>
              </a:rPr>
              <a:t>4. </a:t>
            </a:r>
            <a:r>
              <a:rPr lang="ru-RU" b="1" dirty="0" err="1" smtClean="0">
                <a:latin typeface="Arial" pitchFamily="34" charset="0"/>
                <a:cs typeface="Arial" pitchFamily="34" charset="0"/>
              </a:rPr>
              <a:t>Виділення</a:t>
            </a:r>
            <a:r>
              <a:rPr lang="ru-RU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b="1" dirty="0" err="1" smtClean="0">
                <a:latin typeface="Arial" pitchFamily="34" charset="0"/>
                <a:cs typeface="Arial" pitchFamily="34" charset="0"/>
              </a:rPr>
              <a:t>паралельних</a:t>
            </a:r>
            <a:r>
              <a:rPr lang="ru-RU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b="1" dirty="0" err="1" smtClean="0">
                <a:latin typeface="Arial" pitchFamily="34" charset="0"/>
                <a:cs typeface="Arial" pitchFamily="34" charset="0"/>
              </a:rPr>
              <a:t>потоків</a:t>
            </a:r>
            <a:r>
              <a:rPr lang="ru-RU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b="1" dirty="0" err="1" smtClean="0">
                <a:latin typeface="Arial" pitchFamily="34" charset="0"/>
                <a:cs typeface="Arial" pitchFamily="34" charset="0"/>
              </a:rPr>
              <a:t>діяльностей</a:t>
            </a:r>
            <a:endParaRPr lang="ru-RU" b="1" dirty="0" smtClean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lang="ru-RU" dirty="0" err="1" smtClean="0">
                <a:latin typeface="Arial" pitchFamily="34" charset="0"/>
                <a:cs typeface="Arial" pitchFamily="34" charset="0"/>
              </a:rPr>
              <a:t>Виділіть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активності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які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мають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спільних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попередників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>
              <a:spcAft>
                <a:spcPts val="600"/>
              </a:spcAft>
            </a:pPr>
            <a:r>
              <a:rPr lang="ru-RU" b="1" dirty="0" smtClean="0">
                <a:latin typeface="Arial" pitchFamily="34" charset="0"/>
                <a:cs typeface="Arial" pitchFamily="34" charset="0"/>
              </a:rPr>
              <a:t>5. </a:t>
            </a:r>
            <a:r>
              <a:rPr lang="ru-RU" b="1" dirty="0" err="1" smtClean="0">
                <a:latin typeface="Arial" pitchFamily="34" charset="0"/>
                <a:cs typeface="Arial" pitchFamily="34" charset="0"/>
              </a:rPr>
              <a:t>Визначення</a:t>
            </a:r>
            <a:r>
              <a:rPr lang="ru-RU" b="1" dirty="0" smtClean="0">
                <a:latin typeface="Arial" pitchFamily="34" charset="0"/>
                <a:cs typeface="Arial" pitchFamily="34" charset="0"/>
              </a:rPr>
              <a:t> умов </a:t>
            </a:r>
            <a:r>
              <a:rPr lang="ru-RU" b="1" dirty="0" err="1" smtClean="0">
                <a:latin typeface="Arial" pitchFamily="34" charset="0"/>
                <a:cs typeface="Arial" pitchFamily="34" charset="0"/>
              </a:rPr>
              <a:t>переходів</a:t>
            </a:r>
            <a:endParaRPr lang="ru-RU" b="1" dirty="0" smtClean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600"/>
              </a:spcAft>
            </a:pPr>
            <a:r>
              <a:rPr lang="ru-RU" dirty="0" err="1" smtClean="0">
                <a:latin typeface="Arial" pitchFamily="34" charset="0"/>
                <a:cs typeface="Arial" pitchFamily="34" charset="0"/>
              </a:rPr>
              <a:t>Сформулюйте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вирази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які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можуть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приймати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тільки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два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значення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- "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істинно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"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або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"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хибно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",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відповідні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альтернативним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потокам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управління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>
              <a:spcAft>
                <a:spcPts val="600"/>
              </a:spcAft>
            </a:pPr>
            <a:r>
              <a:rPr lang="ru-RU" b="1" dirty="0" smtClean="0">
                <a:latin typeface="Arial" pitchFamily="34" charset="0"/>
                <a:cs typeface="Arial" pitchFamily="34" charset="0"/>
              </a:rPr>
              <a:t>6. </a:t>
            </a:r>
            <a:r>
              <a:rPr lang="ru-RU" b="1" dirty="0" err="1" smtClean="0">
                <a:latin typeface="Arial" pitchFamily="34" charset="0"/>
                <a:cs typeface="Arial" pitchFamily="34" charset="0"/>
              </a:rPr>
              <a:t>Уточнення</a:t>
            </a:r>
            <a:r>
              <a:rPr lang="ru-RU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b="1" dirty="0" err="1" smtClean="0">
                <a:latin typeface="Arial" pitchFamily="34" charset="0"/>
                <a:cs typeface="Arial" pitchFamily="34" charset="0"/>
              </a:rPr>
              <a:t>складних</a:t>
            </a:r>
            <a:r>
              <a:rPr lang="ru-RU" b="1" dirty="0" smtClean="0">
                <a:latin typeface="Arial" pitchFamily="34" charset="0"/>
                <a:cs typeface="Arial" pitchFamily="34" charset="0"/>
              </a:rPr>
              <a:t> діяльностей</a:t>
            </a:r>
            <a:endParaRPr lang="ru-RU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Прямокутник 2"/>
          <p:cNvSpPr/>
          <p:nvPr/>
        </p:nvSpPr>
        <p:spPr>
          <a:xfrm>
            <a:off x="10683" y="22574"/>
            <a:ext cx="91333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28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Поради</a:t>
            </a:r>
            <a:r>
              <a:rPr lang="ru-RU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8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щодо</a:t>
            </a:r>
            <a:r>
              <a:rPr lang="ru-RU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8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побудови</a:t>
            </a:r>
            <a:r>
              <a:rPr lang="ru-RU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8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діаграм</a:t>
            </a:r>
            <a:r>
              <a:rPr lang="ru-RU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активностей</a:t>
            </a:r>
          </a:p>
        </p:txBody>
      </p:sp>
    </p:spTree>
    <p:extLst>
      <p:ext uri="{BB962C8B-B14F-4D97-AF65-F5344CB8AC3E}">
        <p14:creationId xmlns:p14="http://schemas.microsoft.com/office/powerpoint/2010/main" val="37573412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551863" y="6597650"/>
            <a:ext cx="592137" cy="274638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>
                <a:solidFill>
                  <a:srgbClr val="FFFFFF"/>
                </a:solidFill>
              </a:rPr>
              <a:pPr/>
              <a:t>44</a:t>
            </a:fld>
            <a:endParaRPr lang="uk-UA" dirty="0">
              <a:solidFill>
                <a:srgbClr val="FFFFFF"/>
              </a:solidFill>
            </a:endParaRPr>
          </a:p>
        </p:txBody>
      </p:sp>
      <p:pic>
        <p:nvPicPr>
          <p:cNvPr id="4098" name="Picture 2" descr="Простой поток управлени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48" y="977212"/>
            <a:ext cx="4095149" cy="5139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0" y="-22654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 smtClean="0">
                <a:solidFill>
                  <a:schemeClr val="bg1"/>
                </a:solidFill>
                <a:latin typeface="Segoe UI" panose="020B0502040204020203" pitchFamily="34" charset="0"/>
              </a:rPr>
              <a:t>Прості</a:t>
            </a:r>
            <a:r>
              <a:rPr lang="ru-RU" sz="3200" b="1" dirty="0" smtClean="0">
                <a:solidFill>
                  <a:schemeClr val="bg1"/>
                </a:solidFill>
                <a:latin typeface="Segoe UI" panose="020B0502040204020203" pitchFamily="34" charset="0"/>
              </a:rPr>
              <a:t> </a:t>
            </a:r>
            <a:r>
              <a:rPr lang="ru-RU" sz="3200" b="1" dirty="0">
                <a:solidFill>
                  <a:schemeClr val="bg1"/>
                </a:solidFill>
                <a:latin typeface="Segoe UI" panose="020B0502040204020203" pitchFamily="34" charset="0"/>
              </a:rPr>
              <a:t>потоки </a:t>
            </a:r>
            <a:r>
              <a:rPr lang="ru-RU" sz="3200" b="1" dirty="0" err="1" smtClean="0">
                <a:solidFill>
                  <a:schemeClr val="bg1"/>
                </a:solidFill>
                <a:latin typeface="Segoe UI" panose="020B0502040204020203" pitchFamily="34" charset="0"/>
              </a:rPr>
              <a:t>управління</a:t>
            </a:r>
            <a:endParaRPr lang="ru-RU" sz="3200" b="1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5" name="Таблиця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673274"/>
              </p:ext>
            </p:extLst>
          </p:nvPr>
        </p:nvGraphicFramePr>
        <p:xfrm>
          <a:off x="4263081" y="510249"/>
          <a:ext cx="4880918" cy="5758671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408942"/>
                <a:gridCol w="842577"/>
                <a:gridCol w="3629399"/>
              </a:tblGrid>
              <a:tr h="5593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  <a:latin typeface="+mn-lt"/>
                        </a:rPr>
                        <a:t>Фігура</a:t>
                      </a:r>
                      <a:endParaRPr lang="ru-RU" sz="120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+mn-lt"/>
                        </a:rPr>
                        <a:t>Елемент</a:t>
                      </a:r>
                      <a:endParaRPr lang="ru-RU" sz="120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 smtClean="0">
                          <a:effectLst/>
                          <a:latin typeface="+mn-lt"/>
                        </a:rPr>
                        <a:t>Крок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дії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, в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якому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користувачі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або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програма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виконують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будь-яку задачу.</a:t>
                      </a:r>
                      <a:endParaRPr lang="ru-RU" sz="120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6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+mn-lt"/>
                        </a:rPr>
                        <a:t>1</a:t>
                      </a:r>
                      <a:endParaRPr lang="ru-RU" sz="120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 err="1" smtClean="0">
                          <a:effectLst/>
                          <a:latin typeface="+mn-lt"/>
                        </a:rPr>
                        <a:t>Дія</a:t>
                      </a:r>
                      <a:endParaRPr lang="ru-RU" sz="1200" b="1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 smtClean="0">
                          <a:effectLst/>
                          <a:latin typeface="+mn-lt"/>
                        </a:rPr>
                        <a:t>Крок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дії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, в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якому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користувачі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або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програма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виконують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будь-яку задачу.</a:t>
                      </a:r>
                      <a:endParaRPr lang="ru-RU" sz="120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6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+mn-lt"/>
                        </a:rPr>
                        <a:t>2</a:t>
                      </a:r>
                      <a:endParaRPr lang="ru-RU" sz="120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Поток </a:t>
                      </a:r>
                      <a:r>
                        <a:rPr lang="ru-RU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управління</a:t>
                      </a:r>
                      <a:endParaRPr lang="ru-RU" sz="1200" b="1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 smtClean="0">
                          <a:effectLst/>
                          <a:latin typeface="+mn-lt"/>
                        </a:rPr>
                        <a:t>З'єднувач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,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який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показує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потік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управління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між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діями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.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Щоб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інтерпретувати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схему,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уявіть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,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що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токен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переходить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від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одного виду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діяльності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до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іншого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.</a:t>
                      </a:r>
                      <a:endParaRPr lang="ru-RU" sz="120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+mn-lt"/>
                        </a:rPr>
                        <a:t>3</a:t>
                      </a:r>
                      <a:endParaRPr lang="ru-RU" sz="120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Початковий</a:t>
                      </a:r>
                      <a:r>
                        <a:rPr lang="ru-RU" sz="12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вузол</a:t>
                      </a:r>
                      <a:endParaRPr lang="ru-RU" sz="1200" b="1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 smtClean="0">
                          <a:effectLst/>
                          <a:latin typeface="+mn-lt"/>
                        </a:rPr>
                        <a:t>Вказує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перший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крок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або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кроки в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дії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. На початку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дії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токен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переходить з початкового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вузла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.</a:t>
                      </a:r>
                      <a:endParaRPr lang="ru-RU" sz="120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3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+mn-lt"/>
                        </a:rPr>
                        <a:t>4</a:t>
                      </a:r>
                      <a:endParaRPr lang="ru-RU" sz="120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 err="1" smtClean="0">
                          <a:effectLst/>
                          <a:latin typeface="+mn-lt"/>
                        </a:rPr>
                        <a:t>Кінцевий</a:t>
                      </a:r>
                      <a:r>
                        <a:rPr lang="ru-RU" sz="1200" b="1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b="1" dirty="0" err="1" smtClean="0">
                          <a:effectLst/>
                          <a:latin typeface="+mn-lt"/>
                        </a:rPr>
                        <a:t>вузол</a:t>
                      </a:r>
                      <a:endParaRPr lang="ru-RU" sz="1200" b="1" dirty="0" smtClean="0">
                        <a:effectLst/>
                        <a:latin typeface="+mn-lt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 smtClean="0">
                          <a:effectLst/>
                          <a:latin typeface="+mn-lt"/>
                        </a:rPr>
                        <a:t>Закінчення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дії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.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Після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прибуття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токена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дія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завершується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.. </a:t>
                      </a:r>
                      <a:endParaRPr lang="ru-RU" sz="120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+mn-lt"/>
                        </a:rPr>
                        <a:t>5</a:t>
                      </a:r>
                      <a:endParaRPr lang="ru-RU" sz="120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 err="1" smtClean="0">
                          <a:effectLst/>
                          <a:latin typeface="+mn-lt"/>
                        </a:rPr>
                        <a:t>Вузол</a:t>
                      </a:r>
                      <a:r>
                        <a:rPr lang="ru-RU" sz="1200" b="1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b="1" dirty="0" err="1" smtClean="0">
                          <a:effectLst/>
                          <a:latin typeface="+mn-lt"/>
                        </a:rPr>
                        <a:t>рішення</a:t>
                      </a:r>
                      <a:endParaRPr lang="ru-RU" sz="1200" b="1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 smtClean="0">
                          <a:effectLst/>
                          <a:latin typeface="+mn-lt"/>
                        </a:rPr>
                        <a:t>Умовна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гілку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в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потоці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.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Має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один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вхід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і два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або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більше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виходів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.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Вхідний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токен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з'являється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тільки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в одному з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виходів</a:t>
                      </a:r>
                      <a:endParaRPr lang="ru-RU" sz="120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01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6</a:t>
                      </a:r>
                      <a:endParaRPr lang="ru-RU" sz="120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1200" b="1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Сторожова умова</a:t>
                      </a:r>
                      <a:endParaRPr lang="ru-RU" sz="1200" b="1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Умова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, яке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задає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,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чи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може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токен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проходити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уздовж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з'єднувача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.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Найчастіше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використовується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на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вихідних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потоках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вузла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рішення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.</a:t>
                      </a:r>
                      <a:endParaRPr lang="ru-RU" sz="120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204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7</a:t>
                      </a:r>
                      <a:endParaRPr lang="ru-RU" sz="120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Вузол</a:t>
                      </a:r>
                      <a:r>
                        <a:rPr lang="ru-RU" sz="1200" b="1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</a:t>
                      </a:r>
                      <a:r>
                        <a:rPr lang="ru-RU" sz="1200" b="1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злиття</a:t>
                      </a:r>
                      <a:endParaRPr lang="ru-RU" sz="1200" b="1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Потрібний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для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злиття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потоків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,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розділених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вузлом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решенія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.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Має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два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або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більше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входів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і один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вихід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.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Токен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на будь-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якому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вході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з'являється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на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виході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.</a:t>
                      </a:r>
                      <a:endParaRPr lang="ru-RU" sz="120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83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8</a:t>
                      </a:r>
                      <a:endParaRPr lang="ru-RU" sz="120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Коментар</a:t>
                      </a:r>
                      <a:endParaRPr lang="ru-RU" sz="1200" b="1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Надає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додаткову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інформацію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про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елементи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, з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якими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пов'язаний</a:t>
                      </a:r>
                      <a:r>
                        <a:rPr lang="ru-RU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.</a:t>
                      </a:r>
                      <a:endParaRPr lang="ru-RU" sz="120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01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120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9</a:t>
                      </a:r>
                      <a:endParaRPr lang="ru-RU" sz="120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 err="1" smtClean="0">
                          <a:effectLst/>
                          <a:latin typeface="+mn-lt"/>
                        </a:rPr>
                        <a:t>Дія</a:t>
                      </a:r>
                      <a:r>
                        <a:rPr lang="ru-RU" sz="1200" b="1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b="1" dirty="0" err="1" smtClean="0">
                          <a:effectLst/>
                          <a:latin typeface="+mn-lt"/>
                        </a:rPr>
                        <a:t>виклику</a:t>
                      </a:r>
                      <a:r>
                        <a:rPr lang="ru-RU" sz="1200" b="1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b="1" dirty="0" err="1" smtClean="0">
                          <a:effectLst/>
                          <a:latin typeface="+mn-lt"/>
                        </a:rPr>
                        <a:t>поведінки</a:t>
                      </a:r>
                      <a:endParaRPr lang="ru-RU" sz="1200" b="1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 smtClean="0">
                          <a:effectLst/>
                          <a:latin typeface="+mn-lt"/>
                        </a:rPr>
                        <a:t>Дія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, яке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визначається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більш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детально на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іншій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схемі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dirty="0" err="1" smtClean="0">
                          <a:effectLst/>
                          <a:latin typeface="+mn-lt"/>
                        </a:rPr>
                        <a:t>діяльності</a:t>
                      </a:r>
                      <a:r>
                        <a:rPr lang="ru-RU" sz="1200" dirty="0" smtClean="0">
                          <a:effectLst/>
                          <a:latin typeface="+mn-lt"/>
                        </a:rPr>
                        <a:t>..</a:t>
                      </a:r>
                      <a:endParaRPr lang="ru-RU" sz="120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21510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92696"/>
            <a:ext cx="8280920" cy="5904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Прямокутник 1"/>
          <p:cNvSpPr/>
          <p:nvPr/>
        </p:nvSpPr>
        <p:spPr>
          <a:xfrm>
            <a:off x="395536" y="0"/>
            <a:ext cx="814883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Діаграма</a:t>
            </a:r>
            <a:r>
              <a:rPr lang="ru-RU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активностей </a:t>
            </a:r>
            <a:r>
              <a:rPr lang="en-US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(activity diagram)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4382577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38" y="766763"/>
            <a:ext cx="7324725" cy="532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Прямокутник 2"/>
          <p:cNvSpPr/>
          <p:nvPr/>
        </p:nvSpPr>
        <p:spPr>
          <a:xfrm>
            <a:off x="395536" y="0"/>
            <a:ext cx="814883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Діаграма</a:t>
            </a:r>
            <a:r>
              <a:rPr lang="ru-RU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активностей </a:t>
            </a:r>
            <a:r>
              <a:rPr lang="en-US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(activity diagram)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2538577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44" y="959520"/>
            <a:ext cx="4188867" cy="534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Прямокутник 15"/>
          <p:cNvSpPr/>
          <p:nvPr/>
        </p:nvSpPr>
        <p:spPr>
          <a:xfrm>
            <a:off x="0" y="-88900"/>
            <a:ext cx="1074762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Паралельн</a:t>
            </a:r>
            <a:r>
              <a:rPr lang="uk-UA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і</a:t>
            </a:r>
            <a:r>
              <a:rPr lang="ru-RU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потоки на </a:t>
            </a:r>
            <a:r>
              <a:rPr lang="ru-RU" sz="32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діаграмі</a:t>
            </a:r>
            <a:r>
              <a:rPr lang="ru-RU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діяльності</a:t>
            </a:r>
            <a:endParaRPr lang="ru-RU" sz="3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Таблиця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093945"/>
              </p:ext>
            </p:extLst>
          </p:nvPr>
        </p:nvGraphicFramePr>
        <p:xfrm>
          <a:off x="4263082" y="815049"/>
          <a:ext cx="4880918" cy="4877863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408942"/>
                <a:gridCol w="992176"/>
                <a:gridCol w="3479800"/>
              </a:tblGrid>
              <a:tr h="5593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 err="1">
                          <a:effectLst/>
                          <a:latin typeface="+mn-lt"/>
                        </a:rPr>
                        <a:t>Фігура</a:t>
                      </a:r>
                      <a:endParaRPr lang="ru-RU" sz="1400" b="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 err="1">
                          <a:effectLst/>
                          <a:latin typeface="+mn-lt"/>
                        </a:rPr>
                        <a:t>Елемент</a:t>
                      </a:r>
                      <a:endParaRPr lang="ru-RU" sz="1400" b="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Крок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дії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, в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якому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користувачі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або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програма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виконують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будь-яку задачу.</a:t>
                      </a:r>
                      <a:endParaRPr lang="ru-RU" sz="1400" b="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6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>
                          <a:effectLst/>
                          <a:latin typeface="+mn-lt"/>
                        </a:rPr>
                        <a:t>1</a:t>
                      </a:r>
                      <a:endParaRPr lang="ru-RU" sz="1400" b="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 err="1" smtClean="0">
                          <a:effectLst/>
                          <a:latin typeface="+mn-lt"/>
                        </a:rPr>
                        <a:t>Вузол</a:t>
                      </a:r>
                      <a:r>
                        <a:rPr lang="ru-RU" sz="1400" b="1" dirty="0" smtClean="0">
                          <a:effectLst/>
                          <a:latin typeface="+mn-lt"/>
                        </a:rPr>
                        <a:t>   </a:t>
                      </a:r>
                      <a:r>
                        <a:rPr lang="ru-RU" sz="1400" b="1" dirty="0" err="1" smtClean="0">
                          <a:effectLst/>
                          <a:latin typeface="+mn-lt"/>
                        </a:rPr>
                        <a:t>розгалуження</a:t>
                      </a:r>
                      <a:endParaRPr lang="ru-RU" sz="1400" b="1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Розділяє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єдиний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потік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на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паралельні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потоки.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Кожен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вхідний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токен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створює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токен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на кожному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вихідному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соединителе.</a:t>
                      </a:r>
                      <a:endParaRPr lang="ru-RU" sz="1400" b="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6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>
                          <a:effectLst/>
                          <a:latin typeface="+mn-lt"/>
                        </a:rPr>
                        <a:t>2</a:t>
                      </a:r>
                      <a:endParaRPr lang="ru-RU" sz="1400" b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Приєднаний</a:t>
                      </a:r>
                      <a:r>
                        <a:rPr lang="ru-RU" sz="1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вузол</a:t>
                      </a:r>
                      <a:endParaRPr lang="ru-RU" sz="1400" b="1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Об'єднує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паралельні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потоки в один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потік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.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Якщо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кожен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вхідний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потік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очікує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токен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,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створюється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токен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на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виході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.</a:t>
                      </a:r>
                      <a:endParaRPr lang="ru-RU" sz="1400" b="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1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1400" b="0" dirty="0" smtClean="0">
                          <a:effectLst/>
                          <a:latin typeface="+mn-lt"/>
                          <a:ea typeface="Calibri"/>
                          <a:cs typeface="Arial" pitchFamily="34" charset="0"/>
                        </a:rPr>
                        <a:t>3</a:t>
                      </a:r>
                      <a:endParaRPr lang="ru-RU" sz="1400" b="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Дія</a:t>
                      </a:r>
                      <a:r>
                        <a:rPr lang="ru-RU" sz="14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відправки</a:t>
                      </a:r>
                      <a:r>
                        <a:rPr lang="ru-RU" sz="14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сигналу</a:t>
                      </a:r>
                      <a:endParaRPr lang="ru-RU" sz="1400" b="1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Дія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, яка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відправляє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повідомлення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або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сигнал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іншої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дії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або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паралельного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потоку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тої</a:t>
                      </a:r>
                      <a:r>
                        <a:rPr lang="ru-RU" sz="1400" b="0" baseline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baseline="0" dirty="0" err="1" smtClean="0">
                          <a:effectLst/>
                          <a:latin typeface="+mn-lt"/>
                        </a:rPr>
                        <a:t>самої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дії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. Тип і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вміст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повідомлення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видно з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назви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дії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або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задаються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в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додаткових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коментарях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.</a:t>
                      </a:r>
                      <a:endParaRPr lang="ru-RU" sz="1400" b="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3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>
                          <a:effectLst/>
                          <a:latin typeface="+mn-lt"/>
                        </a:rPr>
                        <a:t>4</a:t>
                      </a:r>
                      <a:endParaRPr lang="ru-RU" sz="1400" b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 err="1" smtClean="0">
                          <a:effectLst/>
                          <a:latin typeface="+mn-lt"/>
                        </a:rPr>
                        <a:t>Прийняти</a:t>
                      </a:r>
                      <a:r>
                        <a:rPr lang="ru-RU" sz="1400" b="1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1" dirty="0" err="1" smtClean="0">
                          <a:effectLst/>
                          <a:latin typeface="+mn-lt"/>
                        </a:rPr>
                        <a:t>дію</a:t>
                      </a:r>
                      <a:r>
                        <a:rPr lang="ru-RU" sz="1400" b="1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1" dirty="0" err="1" smtClean="0">
                          <a:effectLst/>
                          <a:latin typeface="+mn-lt"/>
                        </a:rPr>
                        <a:t>події</a:t>
                      </a:r>
                      <a:r>
                        <a:rPr lang="ru-RU" sz="1400" b="1" dirty="0" smtClean="0">
                          <a:effectLst/>
                          <a:latin typeface="+mn-lt"/>
                        </a:rPr>
                        <a:t>.</a:t>
                      </a:r>
                      <a:endParaRPr lang="ru-RU" sz="1400" b="1" dirty="0" smtClean="0">
                        <a:effectLst/>
                        <a:latin typeface="+mn-lt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Дія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, яка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очікує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повідомлення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або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сигнал,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щоб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продовжитися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. Тип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повідомлення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, яке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може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бути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отримано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дією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, видно з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назви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або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задається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в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додаткових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400" b="0" dirty="0" err="1" smtClean="0">
                          <a:effectLst/>
                          <a:latin typeface="+mn-lt"/>
                        </a:rPr>
                        <a:t>коментарях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.</a:t>
                      </a:r>
                      <a:endParaRPr lang="ru-RU" sz="1400" b="0" dirty="0">
                        <a:effectLst/>
                        <a:latin typeface="+mn-lt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588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072" y="1124744"/>
            <a:ext cx="5591175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Прямокутник 2"/>
          <p:cNvSpPr/>
          <p:nvPr/>
        </p:nvSpPr>
        <p:spPr>
          <a:xfrm>
            <a:off x="-98853" y="-118961"/>
            <a:ext cx="924285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Опис</a:t>
            </a:r>
            <a:r>
              <a:rPr lang="ru-RU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потоку </a:t>
            </a:r>
            <a:r>
              <a:rPr lang="ru-RU" sz="28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даних</a:t>
            </a:r>
            <a:r>
              <a:rPr lang="ru-RU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ru-RU" sz="28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що</a:t>
            </a:r>
            <a:r>
              <a:rPr lang="ru-RU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28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входять</a:t>
            </a:r>
            <a:r>
              <a:rPr lang="ru-RU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і </a:t>
            </a:r>
            <a:r>
              <a:rPr lang="ru-RU" sz="28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виходять</a:t>
            </a:r>
            <a:r>
              <a:rPr lang="ru-RU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з </a:t>
            </a:r>
            <a:r>
              <a:rPr lang="ru-RU" sz="28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вкладених</a:t>
            </a:r>
            <a:r>
              <a:rPr lang="ru-RU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активностей</a:t>
            </a:r>
            <a:endParaRPr lang="ru-RU" sz="2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3886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97708" y="1106097"/>
            <a:ext cx="8662087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</a:rPr>
              <a:t>Схема </a:t>
            </a:r>
            <a:r>
              <a:rPr lang="ru-RU" dirty="0" err="1">
                <a:solidFill>
                  <a:srgbClr val="000000"/>
                </a:solidFill>
              </a:rPr>
              <a:t>послідовностей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ru-RU" dirty="0" err="1">
                <a:solidFill>
                  <a:srgbClr val="000000"/>
                </a:solidFill>
              </a:rPr>
              <a:t>показує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ru-RU" dirty="0" err="1">
                <a:solidFill>
                  <a:srgbClr val="000000"/>
                </a:solidFill>
              </a:rPr>
              <a:t>взаємодію</a:t>
            </a:r>
            <a:r>
              <a:rPr lang="ru-RU" dirty="0">
                <a:solidFill>
                  <a:srgbClr val="000000"/>
                </a:solidFill>
              </a:rPr>
              <a:t>, </a:t>
            </a:r>
            <a:r>
              <a:rPr lang="ru-RU" dirty="0" smtClean="0">
                <a:solidFill>
                  <a:srgbClr val="000000"/>
                </a:solidFill>
              </a:rPr>
              <a:t>яка </a:t>
            </a:r>
            <a:r>
              <a:rPr lang="ru-RU" dirty="0" err="1">
                <a:solidFill>
                  <a:srgbClr val="000000"/>
                </a:solidFill>
              </a:rPr>
              <a:t>представляє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ru-RU" b="1" dirty="0" err="1">
                <a:solidFill>
                  <a:srgbClr val="000000"/>
                </a:solidFill>
              </a:rPr>
              <a:t>послідовність</a:t>
            </a:r>
            <a:r>
              <a:rPr lang="ru-RU" b="1" dirty="0">
                <a:solidFill>
                  <a:srgbClr val="000000"/>
                </a:solidFill>
              </a:rPr>
              <a:t> </a:t>
            </a:r>
            <a:r>
              <a:rPr lang="ru-RU" b="1" dirty="0" err="1">
                <a:solidFill>
                  <a:srgbClr val="000000"/>
                </a:solidFill>
              </a:rPr>
              <a:t>повідомлень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ru-RU" dirty="0" err="1">
                <a:solidFill>
                  <a:srgbClr val="000000"/>
                </a:solidFill>
              </a:rPr>
              <a:t>між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ru-RU" dirty="0" err="1">
                <a:solidFill>
                  <a:srgbClr val="000000"/>
                </a:solidFill>
              </a:rPr>
              <a:t>екземплярами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ru-RU" dirty="0" err="1">
                <a:solidFill>
                  <a:srgbClr val="000000"/>
                </a:solidFill>
              </a:rPr>
              <a:t>класів</a:t>
            </a:r>
            <a:r>
              <a:rPr lang="ru-RU" dirty="0">
                <a:solidFill>
                  <a:srgbClr val="000000"/>
                </a:solidFill>
              </a:rPr>
              <a:t>, </a:t>
            </a:r>
            <a:r>
              <a:rPr lang="ru-RU" dirty="0" err="1">
                <a:solidFill>
                  <a:srgbClr val="000000"/>
                </a:solidFill>
              </a:rPr>
              <a:t>компонентів</a:t>
            </a:r>
            <a:r>
              <a:rPr lang="ru-RU" dirty="0">
                <a:solidFill>
                  <a:srgbClr val="000000"/>
                </a:solidFill>
              </a:rPr>
              <a:t>, підсистем </a:t>
            </a:r>
            <a:r>
              <a:rPr lang="ru-RU" dirty="0" err="1">
                <a:solidFill>
                  <a:srgbClr val="000000"/>
                </a:solidFill>
              </a:rPr>
              <a:t>або</a:t>
            </a:r>
            <a:r>
              <a:rPr lang="ru-RU" dirty="0">
                <a:solidFill>
                  <a:srgbClr val="000000"/>
                </a:solidFill>
              </a:rPr>
              <a:t> </a:t>
            </a:r>
            <a:r>
              <a:rPr lang="ru-RU" dirty="0" err="1">
                <a:solidFill>
                  <a:srgbClr val="000000"/>
                </a:solidFill>
              </a:rPr>
              <a:t>суб'єктів</a:t>
            </a:r>
            <a:r>
              <a:rPr lang="ru-RU" dirty="0" smtClean="0">
                <a:solidFill>
                  <a:srgbClr val="000000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endParaRPr lang="ru-RU" dirty="0" smtClean="0">
              <a:solidFill>
                <a:srgbClr val="000000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ru-RU" b="1" dirty="0" err="1" smtClean="0"/>
              <a:t>Схеми</a:t>
            </a:r>
            <a:r>
              <a:rPr lang="ru-RU" b="1" dirty="0" smtClean="0"/>
              <a:t> </a:t>
            </a:r>
            <a:r>
              <a:rPr lang="ru-RU" b="1" dirty="0" err="1" smtClean="0"/>
              <a:t>послідовностей</a:t>
            </a:r>
            <a:r>
              <a:rPr lang="ru-RU" b="1" dirty="0" smtClean="0"/>
              <a:t> </a:t>
            </a:r>
            <a:r>
              <a:rPr lang="ru-RU" b="1" dirty="0" err="1" smtClean="0"/>
              <a:t>можна</a:t>
            </a:r>
            <a:r>
              <a:rPr lang="ru-RU" b="1" dirty="0" smtClean="0"/>
              <a:t> </a:t>
            </a:r>
            <a:r>
              <a:rPr lang="ru-RU" b="1" dirty="0" err="1" smtClean="0"/>
              <a:t>використовувати</a:t>
            </a:r>
            <a:r>
              <a:rPr lang="ru-RU" b="1" dirty="0" smtClean="0"/>
              <a:t> в </a:t>
            </a:r>
            <a:r>
              <a:rPr lang="ru-RU" b="1" dirty="0" err="1" smtClean="0"/>
              <a:t>різних</a:t>
            </a:r>
            <a:r>
              <a:rPr lang="ru-RU" b="1" dirty="0" smtClean="0"/>
              <a:t> </a:t>
            </a:r>
            <a:r>
              <a:rPr lang="ru-RU" b="1" dirty="0" err="1" smtClean="0"/>
              <a:t>цілях</a:t>
            </a:r>
            <a:r>
              <a:rPr lang="ru-RU" b="1" dirty="0" smtClean="0"/>
              <a:t> і на </a:t>
            </a:r>
            <a:r>
              <a:rPr lang="ru-RU" b="1" dirty="0" err="1" smtClean="0"/>
              <a:t>різних</a:t>
            </a:r>
            <a:r>
              <a:rPr lang="ru-RU" b="1" dirty="0" smtClean="0"/>
              <a:t> </a:t>
            </a:r>
            <a:r>
              <a:rPr lang="ru-RU" b="1" dirty="0" err="1" smtClean="0"/>
              <a:t>рівнях</a:t>
            </a:r>
            <a:r>
              <a:rPr lang="ru-RU" b="1" dirty="0" smtClean="0"/>
              <a:t> </a:t>
            </a:r>
            <a:r>
              <a:rPr lang="ru-RU" b="1" dirty="0" err="1" smtClean="0"/>
              <a:t>деталізації</a:t>
            </a:r>
            <a:r>
              <a:rPr lang="ru-RU" b="1" dirty="0" smtClean="0"/>
              <a:t> </a:t>
            </a:r>
            <a:r>
              <a:rPr lang="ru-RU" b="1" dirty="0" err="1" smtClean="0"/>
              <a:t>програми</a:t>
            </a:r>
            <a:r>
              <a:rPr lang="ru-RU" dirty="0" smtClean="0"/>
              <a:t>: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 err="1" smtClean="0"/>
              <a:t>Якщо</a:t>
            </a:r>
            <a:r>
              <a:rPr lang="ru-RU" dirty="0" smtClean="0"/>
              <a:t> є схема </a:t>
            </a:r>
            <a:r>
              <a:rPr lang="ru-RU" dirty="0" err="1" smtClean="0"/>
              <a:t>варіантів</a:t>
            </a:r>
            <a:r>
              <a:rPr lang="ru-RU" dirty="0" smtClean="0"/>
              <a:t> </a:t>
            </a:r>
            <a:r>
              <a:rPr lang="ru-RU" dirty="0" err="1" smtClean="0"/>
              <a:t>використання</a:t>
            </a:r>
            <a:r>
              <a:rPr lang="ru-RU" dirty="0" smtClean="0"/>
              <a:t>, яка </a:t>
            </a:r>
            <a:r>
              <a:rPr lang="ru-RU" dirty="0" err="1" smtClean="0"/>
              <a:t>узагальнює</a:t>
            </a:r>
            <a:r>
              <a:rPr lang="ru-RU" dirty="0" smtClean="0"/>
              <a:t> </a:t>
            </a:r>
            <a:r>
              <a:rPr lang="ru-RU" dirty="0" err="1" smtClean="0"/>
              <a:t>відомості</a:t>
            </a:r>
            <a:r>
              <a:rPr lang="ru-RU" dirty="0" smtClean="0"/>
              <a:t> про </a:t>
            </a:r>
            <a:r>
              <a:rPr lang="ru-RU" dirty="0" err="1" smtClean="0"/>
              <a:t>користувачів</a:t>
            </a:r>
            <a:r>
              <a:rPr lang="ru-RU" dirty="0" smtClean="0"/>
              <a:t> </a:t>
            </a:r>
            <a:r>
              <a:rPr lang="ru-RU" dirty="0" err="1" smtClean="0"/>
              <a:t>системи</a:t>
            </a:r>
            <a:r>
              <a:rPr lang="ru-RU" dirty="0" smtClean="0"/>
              <a:t>  та </a:t>
            </a:r>
            <a:r>
              <a:rPr lang="ru-RU" dirty="0" err="1" smtClean="0"/>
              <a:t>їх</a:t>
            </a:r>
            <a:r>
              <a:rPr lang="ru-RU" dirty="0" smtClean="0"/>
              <a:t> мету, </a:t>
            </a:r>
            <a:r>
              <a:rPr lang="ru-RU" dirty="0" err="1" smtClean="0"/>
              <a:t>можна</a:t>
            </a:r>
            <a:r>
              <a:rPr lang="ru-RU" dirty="0" smtClean="0"/>
              <a:t> </a:t>
            </a:r>
            <a:r>
              <a:rPr lang="ru-RU" dirty="0" err="1" smtClean="0"/>
              <a:t>створити</a:t>
            </a:r>
            <a:r>
              <a:rPr lang="ru-RU" dirty="0" smtClean="0"/>
              <a:t> </a:t>
            </a:r>
            <a:r>
              <a:rPr lang="ru-RU" dirty="0" err="1" smtClean="0"/>
              <a:t>схеми</a:t>
            </a:r>
            <a:r>
              <a:rPr lang="ru-RU" dirty="0" smtClean="0"/>
              <a:t> </a:t>
            </a:r>
            <a:r>
              <a:rPr lang="ru-RU" dirty="0" err="1" smtClean="0"/>
              <a:t>послідовностей</a:t>
            </a:r>
            <a:r>
              <a:rPr lang="ru-RU" dirty="0" smtClean="0"/>
              <a:t>, </a:t>
            </a:r>
            <a:r>
              <a:rPr lang="ru-RU" dirty="0" err="1" smtClean="0"/>
              <a:t>щоб</a:t>
            </a:r>
            <a:r>
              <a:rPr lang="ru-RU" dirty="0" smtClean="0"/>
              <a:t> </a:t>
            </a:r>
            <a:r>
              <a:rPr lang="ru-RU" dirty="0" err="1" smtClean="0"/>
              <a:t>описати</a:t>
            </a:r>
            <a:r>
              <a:rPr lang="ru-RU" dirty="0" smtClean="0"/>
              <a:t>, як </a:t>
            </a:r>
            <a:r>
              <a:rPr lang="ru-RU" dirty="0" err="1" smtClean="0"/>
              <a:t>основні</a:t>
            </a:r>
            <a:r>
              <a:rPr lang="ru-RU" dirty="0" smtClean="0"/>
              <a:t> </a:t>
            </a:r>
            <a:r>
              <a:rPr lang="ru-RU" dirty="0" err="1" smtClean="0"/>
              <a:t>компоненти</a:t>
            </a:r>
            <a:r>
              <a:rPr lang="ru-RU" dirty="0" smtClean="0"/>
              <a:t> </a:t>
            </a:r>
            <a:r>
              <a:rPr lang="ru-RU" dirty="0" err="1" smtClean="0"/>
              <a:t>системи</a:t>
            </a:r>
            <a:r>
              <a:rPr lang="ru-RU" dirty="0" smtClean="0"/>
              <a:t> </a:t>
            </a:r>
            <a:r>
              <a:rPr lang="ru-RU" dirty="0" err="1" smtClean="0"/>
              <a:t>взаємодіють</a:t>
            </a:r>
            <a:r>
              <a:rPr lang="ru-RU" dirty="0" smtClean="0"/>
              <a:t> для </a:t>
            </a:r>
            <a:r>
              <a:rPr lang="ru-RU" dirty="0" err="1" smtClean="0"/>
              <a:t>досягнення</a:t>
            </a:r>
            <a:r>
              <a:rPr lang="ru-RU" dirty="0" smtClean="0"/>
              <a:t> мети будь-</a:t>
            </a:r>
            <a:r>
              <a:rPr lang="ru-RU" dirty="0" err="1" smtClean="0"/>
              <a:t>якого</a:t>
            </a:r>
            <a:r>
              <a:rPr lang="ru-RU" dirty="0" smtClean="0"/>
              <a:t> виду </a:t>
            </a:r>
            <a:r>
              <a:rPr lang="ru-RU" dirty="0" err="1" smtClean="0"/>
              <a:t>використання</a:t>
            </a:r>
            <a:r>
              <a:rPr lang="ru-RU" dirty="0" smtClean="0"/>
              <a:t>. 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 err="1" smtClean="0"/>
              <a:t>Якщо</a:t>
            </a:r>
            <a:r>
              <a:rPr lang="ru-RU" dirty="0" smtClean="0"/>
              <a:t> </a:t>
            </a:r>
            <a:r>
              <a:rPr lang="ru-RU" dirty="0" err="1" smtClean="0"/>
              <a:t>визначені</a:t>
            </a:r>
            <a:r>
              <a:rPr lang="ru-RU" dirty="0" smtClean="0"/>
              <a:t> </a:t>
            </a:r>
            <a:r>
              <a:rPr lang="ru-RU" dirty="0" err="1" smtClean="0"/>
              <a:t>повідомлення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надходять</a:t>
            </a:r>
            <a:r>
              <a:rPr lang="ru-RU" dirty="0" smtClean="0"/>
              <a:t> в </a:t>
            </a:r>
            <a:r>
              <a:rPr lang="ru-RU" dirty="0" err="1" smtClean="0"/>
              <a:t>інтерфейс</a:t>
            </a:r>
            <a:r>
              <a:rPr lang="ru-RU" dirty="0" smtClean="0"/>
              <a:t> компонента, </a:t>
            </a:r>
            <a:r>
              <a:rPr lang="ru-RU" dirty="0" err="1" smtClean="0"/>
              <a:t>можна</a:t>
            </a:r>
            <a:r>
              <a:rPr lang="ru-RU" dirty="0" smtClean="0"/>
              <a:t> </a:t>
            </a:r>
            <a:r>
              <a:rPr lang="ru-RU" dirty="0" err="1" smtClean="0"/>
              <a:t>створити</a:t>
            </a:r>
            <a:r>
              <a:rPr lang="ru-RU" dirty="0" smtClean="0"/>
              <a:t> </a:t>
            </a:r>
            <a:r>
              <a:rPr lang="ru-RU" dirty="0" err="1" smtClean="0"/>
              <a:t>схеми</a:t>
            </a:r>
            <a:r>
              <a:rPr lang="ru-RU" dirty="0" smtClean="0"/>
              <a:t> </a:t>
            </a:r>
            <a:r>
              <a:rPr lang="ru-RU" dirty="0" err="1" smtClean="0"/>
              <a:t>послідовностей</a:t>
            </a:r>
            <a:r>
              <a:rPr lang="ru-RU" dirty="0" smtClean="0"/>
              <a:t>, </a:t>
            </a:r>
            <a:r>
              <a:rPr lang="ru-RU" dirty="0" err="1" smtClean="0"/>
              <a:t>щоб</a:t>
            </a:r>
            <a:r>
              <a:rPr lang="ru-RU" dirty="0" smtClean="0"/>
              <a:t> </a:t>
            </a:r>
            <a:r>
              <a:rPr lang="ru-RU" dirty="0" err="1" smtClean="0"/>
              <a:t>описати</a:t>
            </a:r>
            <a:r>
              <a:rPr lang="ru-RU" dirty="0" smtClean="0"/>
              <a:t>, як </a:t>
            </a:r>
            <a:r>
              <a:rPr lang="ru-RU" dirty="0" err="1" smtClean="0"/>
              <a:t>внутрішні</a:t>
            </a:r>
            <a:r>
              <a:rPr lang="ru-RU" dirty="0" smtClean="0"/>
              <a:t> </a:t>
            </a:r>
            <a:r>
              <a:rPr lang="ru-RU" dirty="0" err="1" smtClean="0"/>
              <a:t>частини</a:t>
            </a:r>
            <a:r>
              <a:rPr lang="ru-RU" dirty="0" smtClean="0"/>
              <a:t> компонента </a:t>
            </a:r>
            <a:r>
              <a:rPr lang="ru-RU" dirty="0" err="1" smtClean="0"/>
              <a:t>взаємодіють</a:t>
            </a:r>
            <a:r>
              <a:rPr lang="ru-RU" dirty="0" smtClean="0"/>
              <a:t> для </a:t>
            </a:r>
            <a:r>
              <a:rPr lang="ru-RU" dirty="0" err="1" smtClean="0"/>
              <a:t>досягнення</a:t>
            </a:r>
            <a:r>
              <a:rPr lang="ru-RU" dirty="0" smtClean="0"/>
              <a:t> результату, </a:t>
            </a:r>
            <a:r>
              <a:rPr lang="ru-RU" dirty="0" err="1" smtClean="0"/>
              <a:t>необхідного</a:t>
            </a:r>
            <a:r>
              <a:rPr lang="ru-RU" dirty="0" smtClean="0"/>
              <a:t> для кожного </a:t>
            </a:r>
            <a:r>
              <a:rPr lang="ru-RU" dirty="0" err="1" smtClean="0"/>
              <a:t>вхідного</a:t>
            </a:r>
            <a:r>
              <a:rPr lang="ru-RU" dirty="0" smtClean="0"/>
              <a:t> </a:t>
            </a:r>
            <a:r>
              <a:rPr lang="ru-RU" dirty="0" err="1" smtClean="0"/>
              <a:t>повідомлення</a:t>
            </a:r>
            <a:endParaRPr lang="ru-RU" dirty="0" smtClean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 err="1" smtClean="0"/>
              <a:t>Можна</a:t>
            </a:r>
            <a:r>
              <a:rPr lang="ru-RU" dirty="0" smtClean="0"/>
              <a:t> легко </a:t>
            </a:r>
            <a:r>
              <a:rPr lang="ru-RU" dirty="0" err="1" smtClean="0"/>
              <a:t>побачити</a:t>
            </a:r>
            <a:r>
              <a:rPr lang="ru-RU" dirty="0" smtClean="0"/>
              <a:t>, як </a:t>
            </a:r>
            <a:r>
              <a:rPr lang="ru-RU" dirty="0" err="1" smtClean="0"/>
              <a:t>завдання</a:t>
            </a:r>
            <a:r>
              <a:rPr lang="ru-RU" dirty="0" smtClean="0"/>
              <a:t> </a:t>
            </a:r>
            <a:r>
              <a:rPr lang="ru-RU" dirty="0" err="1" smtClean="0"/>
              <a:t>розподіляються</a:t>
            </a:r>
            <a:r>
              <a:rPr lang="ru-RU" dirty="0" smtClean="0"/>
              <a:t> </a:t>
            </a:r>
            <a:r>
              <a:rPr lang="ru-RU" dirty="0" err="1" smtClean="0"/>
              <a:t>між</a:t>
            </a:r>
            <a:r>
              <a:rPr lang="ru-RU" dirty="0" smtClean="0"/>
              <a:t> компонентами.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dirty="0" err="1" smtClean="0"/>
              <a:t>Можна</a:t>
            </a:r>
            <a:r>
              <a:rPr lang="ru-RU" dirty="0" smtClean="0"/>
              <a:t> </a:t>
            </a:r>
            <a:r>
              <a:rPr lang="ru-RU" dirty="0" err="1" smtClean="0"/>
              <a:t>визначити</a:t>
            </a:r>
            <a:r>
              <a:rPr lang="ru-RU" dirty="0" smtClean="0"/>
              <a:t> </a:t>
            </a:r>
            <a:r>
              <a:rPr lang="ru-RU" dirty="0" err="1" smtClean="0"/>
              <a:t>шаблони</a:t>
            </a:r>
            <a:r>
              <a:rPr lang="ru-RU" dirty="0" smtClean="0"/>
              <a:t> </a:t>
            </a:r>
            <a:r>
              <a:rPr lang="ru-RU" dirty="0" err="1" smtClean="0"/>
              <a:t>взаємодії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утрудняють</a:t>
            </a:r>
            <a:r>
              <a:rPr lang="ru-RU" dirty="0" smtClean="0"/>
              <a:t> </a:t>
            </a:r>
            <a:r>
              <a:rPr lang="ru-RU" dirty="0" err="1" smtClean="0"/>
              <a:t>оновлення</a:t>
            </a:r>
            <a:r>
              <a:rPr lang="ru-RU" dirty="0" smtClean="0"/>
              <a:t> </a:t>
            </a:r>
            <a:r>
              <a:rPr lang="ru-RU" dirty="0" err="1" smtClean="0"/>
              <a:t>програми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2157011" y="0"/>
            <a:ext cx="48299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b="1" dirty="0" smtClean="0">
                <a:solidFill>
                  <a:schemeClr val="bg1"/>
                </a:solidFill>
              </a:rPr>
              <a:t>Діаграма послідовностей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8747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57011" y="0"/>
            <a:ext cx="48299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b="1" dirty="0" smtClean="0">
                <a:solidFill>
                  <a:schemeClr val="bg1"/>
                </a:solidFill>
              </a:rPr>
              <a:t>Діаграма послідовностей</a:t>
            </a:r>
            <a:endParaRPr lang="ru-RU" sz="3200" b="1" dirty="0">
              <a:solidFill>
                <a:schemeClr val="bg1"/>
              </a:solidFill>
            </a:endParaRPr>
          </a:p>
        </p:txBody>
      </p:sp>
      <p:pic>
        <p:nvPicPr>
          <p:cNvPr id="4098" name="Picture 2" descr="Parts of a sequence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49" y="980728"/>
            <a:ext cx="5372100" cy="4943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258049" y="1396314"/>
            <a:ext cx="1885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err="1" smtClean="0"/>
              <a:t>Розшифровка</a:t>
            </a:r>
            <a:r>
              <a:rPr lang="uk-UA" dirty="0" smtClean="0"/>
              <a:t> номерів на наступних слайдах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2515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я 1"/>
          <p:cNvGraphicFramePr>
            <a:graphicFrameLocks noGrp="1"/>
          </p:cNvGraphicFramePr>
          <p:nvPr>
            <p:extLst/>
          </p:nvPr>
        </p:nvGraphicFramePr>
        <p:xfrm>
          <a:off x="0" y="692696"/>
          <a:ext cx="9144000" cy="667056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859694"/>
                <a:gridCol w="1484923"/>
                <a:gridCol w="6799383"/>
              </a:tblGrid>
              <a:tr h="972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Фігура</a:t>
                      </a:r>
                      <a:endParaRPr lang="ru-RU" sz="16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Елемент</a:t>
                      </a:r>
                      <a:endParaRPr lang="ru-RU" sz="16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 smtClean="0">
                          <a:effectLst/>
                        </a:rPr>
                        <a:t>Опис</a:t>
                      </a:r>
                      <a:endParaRPr lang="ru-RU" sz="16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 anchor="ctr"/>
                </a:tc>
              </a:tr>
              <a:tr h="3586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</a:t>
                      </a:r>
                      <a:endParaRPr lang="ru-RU" sz="16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Лінія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життя</a:t>
                      </a:r>
                      <a:endParaRPr lang="ru-RU" sz="16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Вертикальна </a:t>
                      </a:r>
                      <a:r>
                        <a:rPr lang="ru-RU" sz="1600" dirty="0" err="1">
                          <a:effectLst/>
                        </a:rPr>
                        <a:t>лінія</a:t>
                      </a:r>
                      <a:r>
                        <a:rPr lang="ru-RU" sz="1600" dirty="0">
                          <a:effectLst/>
                        </a:rPr>
                        <a:t>, яка </a:t>
                      </a:r>
                      <a:r>
                        <a:rPr lang="ru-RU" sz="1600" dirty="0" err="1">
                          <a:effectLst/>
                        </a:rPr>
                        <a:t>представляє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послідовність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подій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ru-RU" sz="1600" dirty="0" err="1">
                          <a:effectLst/>
                        </a:rPr>
                        <a:t>що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відбуваються</a:t>
                      </a:r>
                      <a:r>
                        <a:rPr lang="ru-RU" sz="1600" dirty="0">
                          <a:effectLst/>
                        </a:rPr>
                        <a:t> в </a:t>
                      </a:r>
                      <a:r>
                        <a:rPr lang="ru-RU" sz="1600" dirty="0" err="1">
                          <a:effectLst/>
                        </a:rPr>
                        <a:t>учаснику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під</a:t>
                      </a:r>
                      <a:r>
                        <a:rPr lang="ru-RU" sz="1600" dirty="0">
                          <a:effectLst/>
                        </a:rPr>
                        <a:t> час </a:t>
                      </a:r>
                      <a:r>
                        <a:rPr lang="ru-RU" sz="1600" dirty="0" err="1">
                          <a:effectLst/>
                        </a:rPr>
                        <a:t>взаємодії</a:t>
                      </a:r>
                      <a:r>
                        <a:rPr lang="ru-RU" sz="1600" dirty="0">
                          <a:effectLst/>
                        </a:rPr>
                        <a:t>, коли час </a:t>
                      </a:r>
                      <a:r>
                        <a:rPr lang="ru-RU" sz="1600" dirty="0" err="1">
                          <a:effectLst/>
                        </a:rPr>
                        <a:t>спрямований</a:t>
                      </a:r>
                      <a:r>
                        <a:rPr lang="ru-RU" sz="1600" dirty="0">
                          <a:effectLst/>
                        </a:rPr>
                        <a:t> вниз по </a:t>
                      </a:r>
                      <a:r>
                        <a:rPr lang="ru-RU" sz="1600" dirty="0" err="1">
                          <a:effectLst/>
                        </a:rPr>
                        <a:t>цій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лінії</a:t>
                      </a:r>
                      <a:r>
                        <a:rPr lang="ru-RU" sz="1600" dirty="0">
                          <a:effectLst/>
                        </a:rPr>
                        <a:t>.  </a:t>
                      </a:r>
                      <a:r>
                        <a:rPr lang="ru-RU" sz="1600" dirty="0" err="1">
                          <a:effectLst/>
                        </a:rPr>
                        <a:t>Цей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учасник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може</a:t>
                      </a:r>
                      <a:r>
                        <a:rPr lang="ru-RU" sz="1600" dirty="0">
                          <a:effectLst/>
                        </a:rPr>
                        <a:t> бути </a:t>
                      </a:r>
                      <a:r>
                        <a:rPr lang="ru-RU" sz="1600" dirty="0" err="1">
                          <a:effectLst/>
                        </a:rPr>
                        <a:t>екземпляром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класу</a:t>
                      </a:r>
                      <a:r>
                        <a:rPr lang="ru-RU" sz="1600" dirty="0">
                          <a:effectLst/>
                        </a:rPr>
                        <a:t>, компонента </a:t>
                      </a:r>
                      <a:r>
                        <a:rPr lang="ru-RU" sz="1600" dirty="0" err="1">
                          <a:effectLst/>
                        </a:rPr>
                        <a:t>або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суб'єкта</a:t>
                      </a:r>
                      <a:r>
                        <a:rPr lang="ru-RU" sz="1600" dirty="0">
                          <a:effectLst/>
                        </a:rPr>
                        <a:t>. </a:t>
                      </a:r>
                      <a:endParaRPr lang="ru-RU" sz="16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</a:tr>
              <a:tr h="4457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2</a:t>
                      </a:r>
                      <a:endParaRPr lang="ru-RU" sz="16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Actor</a:t>
                      </a:r>
                      <a:endParaRPr lang="ru-RU" sz="16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Учасник, що є зовнішнім по відношенню до системи, що розробляється.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Можна зробити так, щоб символ суб'єкта відображувався у верхній частині лінії життя, задавши її властивість Суб'єкт.</a:t>
                      </a:r>
                      <a:endParaRPr lang="ru-RU" sz="16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</a:tr>
              <a:tr h="5328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3</a:t>
                      </a:r>
                      <a:endParaRPr lang="ru-RU" sz="16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Синхронне повідомлення</a:t>
                      </a:r>
                      <a:endParaRPr lang="ru-RU" sz="16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Відправник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чекає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відповіді</a:t>
                      </a:r>
                      <a:r>
                        <a:rPr lang="ru-RU" sz="1600" dirty="0">
                          <a:effectLst/>
                        </a:rPr>
                        <a:t> на </a:t>
                      </a:r>
                      <a:r>
                        <a:rPr lang="ru-RU" sz="1600" dirty="0" err="1">
                          <a:effectLst/>
                        </a:rPr>
                        <a:t>синхронне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повідомлення</a:t>
                      </a:r>
                      <a:r>
                        <a:rPr lang="ru-RU" sz="1600" dirty="0">
                          <a:effectLst/>
                        </a:rPr>
                        <a:t> перед </a:t>
                      </a:r>
                      <a:r>
                        <a:rPr lang="ru-RU" sz="1600" dirty="0" err="1">
                          <a:effectLst/>
                        </a:rPr>
                        <a:t>тим</a:t>
                      </a:r>
                      <a:r>
                        <a:rPr lang="ru-RU" sz="1600" dirty="0">
                          <a:effectLst/>
                        </a:rPr>
                        <a:t>, як </a:t>
                      </a:r>
                      <a:r>
                        <a:rPr lang="ru-RU" sz="1600" dirty="0" err="1">
                          <a:effectLst/>
                        </a:rPr>
                        <a:t>продовжити</a:t>
                      </a:r>
                      <a:r>
                        <a:rPr lang="ru-RU" sz="1600" dirty="0">
                          <a:effectLst/>
                        </a:rPr>
                        <a:t> роботу.  На </a:t>
                      </a:r>
                      <a:r>
                        <a:rPr lang="ru-RU" sz="1600" dirty="0" err="1">
                          <a:effectLst/>
                        </a:rPr>
                        <a:t>схемі</a:t>
                      </a:r>
                      <a:r>
                        <a:rPr lang="ru-RU" sz="1600" dirty="0">
                          <a:effectLst/>
                        </a:rPr>
                        <a:t> показаний і </a:t>
                      </a:r>
                      <a:r>
                        <a:rPr lang="ru-RU" sz="1600" dirty="0" err="1">
                          <a:effectLst/>
                        </a:rPr>
                        <a:t>виклик</a:t>
                      </a:r>
                      <a:r>
                        <a:rPr lang="ru-RU" sz="1600" dirty="0">
                          <a:effectLst/>
                        </a:rPr>
                        <a:t>, і </a:t>
                      </a:r>
                      <a:r>
                        <a:rPr lang="ru-RU" sz="1600" dirty="0" err="1">
                          <a:effectLst/>
                        </a:rPr>
                        <a:t>повернення</a:t>
                      </a:r>
                      <a:r>
                        <a:rPr lang="ru-RU" sz="1600" dirty="0">
                          <a:effectLst/>
                        </a:rPr>
                        <a:t>.  </a:t>
                      </a:r>
                      <a:r>
                        <a:rPr lang="ru-RU" sz="1600" dirty="0" err="1">
                          <a:effectLst/>
                        </a:rPr>
                        <a:t>Синхронні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повідомлення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використовуються</a:t>
                      </a:r>
                      <a:r>
                        <a:rPr lang="ru-RU" sz="1600" dirty="0">
                          <a:effectLst/>
                        </a:rPr>
                        <a:t> для </a:t>
                      </a:r>
                      <a:r>
                        <a:rPr lang="ru-RU" sz="1600" dirty="0" err="1">
                          <a:effectLst/>
                        </a:rPr>
                        <a:t>представлення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звичайних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викликів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функцій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усередині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програми</a:t>
                      </a:r>
                      <a:r>
                        <a:rPr lang="ru-RU" sz="1600" dirty="0">
                          <a:effectLst/>
                        </a:rPr>
                        <a:t>, а </a:t>
                      </a:r>
                      <a:r>
                        <a:rPr lang="ru-RU" sz="1600" dirty="0" err="1">
                          <a:effectLst/>
                        </a:rPr>
                        <a:t>також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інших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видів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повідомлень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ru-RU" sz="1600" dirty="0" err="1">
                          <a:effectLst/>
                        </a:rPr>
                        <a:t>які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застосовуються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аналогічним</a:t>
                      </a:r>
                      <a:r>
                        <a:rPr lang="ru-RU" sz="1600" dirty="0">
                          <a:effectLst/>
                        </a:rPr>
                        <a:t> чином. </a:t>
                      </a:r>
                      <a:endParaRPr lang="ru-RU" sz="16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</a:tr>
              <a:tr h="4457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4</a:t>
                      </a:r>
                      <a:endParaRPr lang="ru-RU" sz="16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Асинхронне повідомлення</a:t>
                      </a:r>
                      <a:endParaRPr lang="ru-RU" sz="16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Повідомлення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ru-RU" sz="1600" dirty="0" err="1">
                          <a:effectLst/>
                        </a:rPr>
                        <a:t>що</a:t>
                      </a:r>
                      <a:r>
                        <a:rPr lang="ru-RU" sz="1600" dirty="0">
                          <a:effectLst/>
                        </a:rPr>
                        <a:t> не </a:t>
                      </a:r>
                      <a:r>
                        <a:rPr lang="ru-RU" sz="1600" dirty="0" err="1">
                          <a:effectLst/>
                        </a:rPr>
                        <a:t>вимагає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відповіді</a:t>
                      </a:r>
                      <a:r>
                        <a:rPr lang="ru-RU" sz="1600" dirty="0">
                          <a:effectLst/>
                        </a:rPr>
                        <a:t> перед </a:t>
                      </a:r>
                      <a:r>
                        <a:rPr lang="ru-RU" sz="1600" dirty="0" err="1">
                          <a:effectLst/>
                        </a:rPr>
                        <a:t>продовженням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роботи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відправника</a:t>
                      </a:r>
                      <a:r>
                        <a:rPr lang="ru-RU" sz="1600" dirty="0">
                          <a:effectLst/>
                        </a:rPr>
                        <a:t>.  </a:t>
                      </a:r>
                      <a:r>
                        <a:rPr lang="ru-RU" sz="1600" dirty="0" err="1">
                          <a:effectLst/>
                        </a:rPr>
                        <a:t>Асинхронне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повідомлення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показує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тільки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виклик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від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відправника</a:t>
                      </a:r>
                      <a:r>
                        <a:rPr lang="ru-RU" sz="1600" dirty="0">
                          <a:effectLst/>
                        </a:rPr>
                        <a:t>.  </a:t>
                      </a:r>
                      <a:r>
                        <a:rPr lang="ru-RU" sz="1600" dirty="0" err="1">
                          <a:effectLst/>
                        </a:rPr>
                        <a:t>Використовується</a:t>
                      </a:r>
                      <a:r>
                        <a:rPr lang="ru-RU" sz="1600" dirty="0">
                          <a:effectLst/>
                        </a:rPr>
                        <a:t> для </a:t>
                      </a:r>
                      <a:r>
                        <a:rPr lang="ru-RU" sz="1600" dirty="0" err="1">
                          <a:effectLst/>
                        </a:rPr>
                        <a:t>представлення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взаємодії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між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окремими</a:t>
                      </a:r>
                      <a:r>
                        <a:rPr lang="ru-RU" sz="1600" dirty="0">
                          <a:effectLst/>
                        </a:rPr>
                        <a:t> потоками </a:t>
                      </a:r>
                      <a:r>
                        <a:rPr lang="ru-RU" sz="1600" dirty="0" err="1">
                          <a:effectLst/>
                        </a:rPr>
                        <a:t>або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створення</a:t>
                      </a:r>
                      <a:r>
                        <a:rPr lang="ru-RU" sz="1600" dirty="0">
                          <a:effectLst/>
                        </a:rPr>
                        <a:t> нового потоку. </a:t>
                      </a:r>
                      <a:endParaRPr lang="ru-RU" sz="16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</a:tr>
              <a:tr h="6199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5</a:t>
                      </a:r>
                      <a:endParaRPr lang="ru-RU" sz="16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Входження виконання</a:t>
                      </a:r>
                      <a:endParaRPr lang="ru-RU" sz="16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Вертикальний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затінений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прямокутник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ru-RU" sz="1600" dirty="0" err="1">
                          <a:effectLst/>
                        </a:rPr>
                        <a:t>який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з'являється</a:t>
                      </a:r>
                      <a:r>
                        <a:rPr lang="ru-RU" sz="1600" dirty="0">
                          <a:effectLst/>
                        </a:rPr>
                        <a:t> на </a:t>
                      </a:r>
                      <a:r>
                        <a:rPr lang="ru-RU" sz="1600" dirty="0" err="1">
                          <a:effectLst/>
                        </a:rPr>
                        <a:t>лінії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життя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учасника</a:t>
                      </a:r>
                      <a:r>
                        <a:rPr lang="ru-RU" sz="1600" dirty="0">
                          <a:effectLst/>
                        </a:rPr>
                        <a:t> і </a:t>
                      </a:r>
                      <a:r>
                        <a:rPr lang="ru-RU" sz="1600" dirty="0" err="1">
                          <a:effectLst/>
                        </a:rPr>
                        <a:t>представляє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період</a:t>
                      </a:r>
                      <a:r>
                        <a:rPr lang="ru-RU" sz="1600" dirty="0">
                          <a:effectLst/>
                        </a:rPr>
                        <a:t>, коли </a:t>
                      </a:r>
                      <a:r>
                        <a:rPr lang="ru-RU" sz="1600" dirty="0" err="1">
                          <a:effectLst/>
                        </a:rPr>
                        <a:t>учасник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виконує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операцію</a:t>
                      </a:r>
                      <a:r>
                        <a:rPr lang="ru-RU" sz="1600" dirty="0">
                          <a:effectLst/>
                        </a:rPr>
                        <a:t>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Виконання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починається</a:t>
                      </a:r>
                      <a:r>
                        <a:rPr lang="ru-RU" sz="1600" dirty="0">
                          <a:effectLst/>
                        </a:rPr>
                        <a:t>, коли </a:t>
                      </a:r>
                      <a:r>
                        <a:rPr lang="ru-RU" sz="1600" dirty="0" err="1">
                          <a:effectLst/>
                        </a:rPr>
                        <a:t>учасник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отримує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повідомлення</a:t>
                      </a:r>
                      <a:r>
                        <a:rPr lang="ru-RU" sz="1600" dirty="0">
                          <a:effectLst/>
                        </a:rPr>
                        <a:t>.  </a:t>
                      </a:r>
                      <a:r>
                        <a:rPr lang="ru-RU" sz="1600" dirty="0" err="1">
                          <a:effectLst/>
                        </a:rPr>
                        <a:t>Якщо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повідомлення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ru-RU" sz="1600" dirty="0" err="1">
                          <a:effectLst/>
                        </a:rPr>
                        <a:t>що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ініціює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ru-RU" sz="1600" dirty="0" err="1">
                          <a:effectLst/>
                        </a:rPr>
                        <a:t>було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синхронним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ru-RU" sz="1600" dirty="0" err="1">
                          <a:effectLst/>
                        </a:rPr>
                        <a:t>виконання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закінчується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стрілкою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повернення</a:t>
                      </a:r>
                      <a:r>
                        <a:rPr lang="ru-RU" sz="1600" dirty="0">
                          <a:effectLst/>
                        </a:rPr>
                        <a:t> до </a:t>
                      </a:r>
                      <a:r>
                        <a:rPr lang="ru-RU" sz="1600" dirty="0" err="1">
                          <a:effectLst/>
                        </a:rPr>
                        <a:t>відправника</a:t>
                      </a:r>
                      <a:r>
                        <a:rPr lang="ru-RU" sz="1600" dirty="0">
                          <a:effectLst/>
                        </a:rPr>
                        <a:t>. </a:t>
                      </a:r>
                      <a:endParaRPr lang="ru-RU" sz="16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051720" y="0"/>
            <a:ext cx="48299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b="1" dirty="0" smtClean="0">
                <a:solidFill>
                  <a:schemeClr val="bg1"/>
                </a:solidFill>
              </a:rPr>
              <a:t>Діаграма послідовностей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368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я 1"/>
          <p:cNvGraphicFramePr>
            <a:graphicFrameLocks noGrp="1"/>
          </p:cNvGraphicFramePr>
          <p:nvPr>
            <p:extLst/>
          </p:nvPr>
        </p:nvGraphicFramePr>
        <p:xfrm>
          <a:off x="0" y="836712"/>
          <a:ext cx="9144000" cy="562078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859693"/>
                <a:gridCol w="1484923"/>
                <a:gridCol w="6799384"/>
              </a:tblGrid>
              <a:tr h="918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Фігура</a:t>
                      </a:r>
                      <a:endParaRPr lang="ru-RU" sz="18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Елемент</a:t>
                      </a:r>
                      <a:endParaRPr lang="ru-RU" sz="18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Описання</a:t>
                      </a:r>
                      <a:endParaRPr lang="ru-RU" sz="18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 anchor="ctr"/>
                </a:tc>
              </a:tr>
              <a:tr h="2844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6</a:t>
                      </a:r>
                      <a:endParaRPr lang="ru-RU" sz="18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Повідомлення зворотного виклику</a:t>
                      </a:r>
                      <a:endParaRPr lang="ru-RU" sz="18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Повідомлення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що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повертається</a:t>
                      </a:r>
                      <a:r>
                        <a:rPr lang="ru-RU" sz="1800" dirty="0">
                          <a:effectLst/>
                        </a:rPr>
                        <a:t> назад </a:t>
                      </a:r>
                      <a:r>
                        <a:rPr lang="ru-RU" sz="1800" dirty="0" err="1">
                          <a:effectLst/>
                        </a:rPr>
                        <a:t>учасникові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який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чекає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повернення</a:t>
                      </a:r>
                      <a:r>
                        <a:rPr lang="ru-RU" sz="1800" dirty="0">
                          <a:effectLst/>
                        </a:rPr>
                        <a:t> з </a:t>
                      </a:r>
                      <a:r>
                        <a:rPr lang="ru-RU" sz="1800" dirty="0" err="1">
                          <a:effectLst/>
                        </a:rPr>
                        <a:t>попереднього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виклику</a:t>
                      </a:r>
                      <a:r>
                        <a:rPr lang="ru-RU" sz="1800" dirty="0">
                          <a:effectLst/>
                        </a:rPr>
                        <a:t>.  </a:t>
                      </a:r>
                      <a:r>
                        <a:rPr lang="ru-RU" sz="1800" dirty="0" err="1">
                          <a:effectLst/>
                        </a:rPr>
                        <a:t>Результуюче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входження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виконання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відображується</a:t>
                      </a:r>
                      <a:r>
                        <a:rPr lang="ru-RU" sz="1800" dirty="0">
                          <a:effectLst/>
                        </a:rPr>
                        <a:t> поверх </a:t>
                      </a:r>
                      <a:r>
                        <a:rPr lang="ru-RU" sz="1800" dirty="0" err="1">
                          <a:effectLst/>
                        </a:rPr>
                        <a:t>існуючого</a:t>
                      </a:r>
                      <a:r>
                        <a:rPr lang="ru-RU" sz="1800" dirty="0">
                          <a:effectLst/>
                        </a:rPr>
                        <a:t>. </a:t>
                      </a:r>
                      <a:endParaRPr lang="ru-RU" sz="18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</a:tr>
              <a:tr h="23630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7</a:t>
                      </a:r>
                      <a:endParaRPr lang="ru-RU" sz="18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Повідомлення самому собі</a:t>
                      </a:r>
                      <a:endParaRPr lang="ru-RU" sz="18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Повідомлення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від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учасника</a:t>
                      </a:r>
                      <a:r>
                        <a:rPr lang="ru-RU" sz="1800" dirty="0">
                          <a:effectLst/>
                        </a:rPr>
                        <a:t> самому </a:t>
                      </a:r>
                      <a:r>
                        <a:rPr lang="ru-RU" sz="1800" dirty="0" err="1">
                          <a:effectLst/>
                        </a:rPr>
                        <a:t>собі</a:t>
                      </a:r>
                      <a:r>
                        <a:rPr lang="ru-RU" sz="1800" dirty="0">
                          <a:effectLst/>
                        </a:rPr>
                        <a:t>.  </a:t>
                      </a:r>
                      <a:r>
                        <a:rPr lang="ru-RU" sz="1800" dirty="0" err="1">
                          <a:effectLst/>
                        </a:rPr>
                        <a:t>Результуюче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входження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виконання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відображується</a:t>
                      </a:r>
                      <a:r>
                        <a:rPr lang="ru-RU" sz="1800" dirty="0">
                          <a:effectLst/>
                        </a:rPr>
                        <a:t> поверх </a:t>
                      </a:r>
                      <a:r>
                        <a:rPr lang="ru-RU" sz="1800" dirty="0" err="1">
                          <a:effectLst/>
                        </a:rPr>
                        <a:t>відправляючого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виконання</a:t>
                      </a:r>
                      <a:r>
                        <a:rPr lang="ru-RU" sz="1800" dirty="0">
                          <a:effectLst/>
                        </a:rPr>
                        <a:t>. </a:t>
                      </a:r>
                      <a:endParaRPr lang="ru-RU" sz="18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</a:tr>
              <a:tr h="23630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8</a:t>
                      </a:r>
                      <a:endParaRPr lang="ru-RU" sz="18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Повідомлення про створення</a:t>
                      </a:r>
                      <a:endParaRPr lang="ru-RU" sz="18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Повідомлення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що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створює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учасника</a:t>
                      </a:r>
                      <a:r>
                        <a:rPr lang="ru-RU" sz="1800" dirty="0">
                          <a:effectLst/>
                        </a:rPr>
                        <a:t>.  </a:t>
                      </a:r>
                      <a:r>
                        <a:rPr lang="ru-RU" sz="1800" dirty="0" err="1">
                          <a:effectLst/>
                        </a:rPr>
                        <a:t>Якщо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учасник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отримує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повідомлення</a:t>
                      </a:r>
                      <a:r>
                        <a:rPr lang="ru-RU" sz="1800" dirty="0">
                          <a:effectLst/>
                        </a:rPr>
                        <a:t> про </a:t>
                      </a:r>
                      <a:r>
                        <a:rPr lang="ru-RU" sz="1800" dirty="0" err="1">
                          <a:effectLst/>
                        </a:rPr>
                        <a:t>створення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він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має</a:t>
                      </a:r>
                      <a:r>
                        <a:rPr lang="ru-RU" sz="1800" dirty="0">
                          <a:effectLst/>
                        </a:rPr>
                        <a:t> бути першим, </a:t>
                      </a:r>
                      <a:r>
                        <a:rPr lang="ru-RU" sz="1800" dirty="0" err="1">
                          <a:effectLst/>
                        </a:rPr>
                        <a:t>хто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його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отримує</a:t>
                      </a:r>
                      <a:r>
                        <a:rPr lang="ru-RU" sz="1800" dirty="0">
                          <a:effectLst/>
                        </a:rPr>
                        <a:t>. </a:t>
                      </a:r>
                      <a:endParaRPr lang="ru-RU" sz="18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</a:tr>
              <a:tr h="1399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9</a:t>
                      </a:r>
                      <a:endParaRPr lang="ru-RU" sz="18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Знайдене повідомлення</a:t>
                      </a:r>
                      <a:endParaRPr lang="ru-RU" sz="18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Асинхронне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повідомлення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від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невідомого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або</a:t>
                      </a:r>
                      <a:r>
                        <a:rPr lang="ru-RU" sz="1800" dirty="0">
                          <a:effectLst/>
                        </a:rPr>
                        <a:t> не </a:t>
                      </a:r>
                      <a:r>
                        <a:rPr lang="ru-RU" sz="1800" dirty="0" err="1">
                          <a:effectLst/>
                        </a:rPr>
                        <a:t>вказаного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учасника</a:t>
                      </a:r>
                      <a:r>
                        <a:rPr lang="ru-RU" sz="1800" dirty="0">
                          <a:effectLst/>
                        </a:rPr>
                        <a:t>.</a:t>
                      </a:r>
                      <a:endParaRPr lang="ru-RU" sz="18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</a:tr>
              <a:tr h="1399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10</a:t>
                      </a:r>
                      <a:endParaRPr lang="ru-RU" sz="18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Загублене повідомлення</a:t>
                      </a:r>
                      <a:endParaRPr lang="ru-RU" sz="18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Асинхронне повідомлення невідомого або не вказаного учасника.</a:t>
                      </a:r>
                      <a:endParaRPr lang="ru-RU" sz="18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</a:tr>
              <a:tr h="1399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11</a:t>
                      </a:r>
                      <a:endParaRPr lang="ru-RU" sz="18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Коментар</a:t>
                      </a:r>
                      <a:endParaRPr lang="ru-RU" sz="18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Коментар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можна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приєднати</a:t>
                      </a:r>
                      <a:r>
                        <a:rPr lang="ru-RU" sz="1800" dirty="0">
                          <a:effectLst/>
                        </a:rPr>
                        <a:t> до будь-</a:t>
                      </a:r>
                      <a:r>
                        <a:rPr lang="ru-RU" sz="1800" dirty="0" err="1">
                          <a:effectLst/>
                        </a:rPr>
                        <a:t>якої</a:t>
                      </a:r>
                      <a:r>
                        <a:rPr lang="ru-RU" sz="1800" dirty="0">
                          <a:effectLst/>
                        </a:rPr>
                        <a:t> точки </a:t>
                      </a:r>
                      <a:r>
                        <a:rPr lang="ru-RU" sz="1800" dirty="0" err="1">
                          <a:effectLst/>
                        </a:rPr>
                        <a:t>лінії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життя</a:t>
                      </a:r>
                      <a:r>
                        <a:rPr lang="ru-RU" sz="1800" dirty="0">
                          <a:effectLst/>
                        </a:rPr>
                        <a:t>.</a:t>
                      </a:r>
                      <a:endParaRPr lang="ru-RU" sz="18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051720" y="0"/>
            <a:ext cx="48299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b="1" dirty="0" smtClean="0">
                <a:solidFill>
                  <a:schemeClr val="bg1"/>
                </a:solidFill>
              </a:rPr>
              <a:t>Діаграма послідовностей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133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я 1"/>
          <p:cNvGraphicFramePr>
            <a:graphicFrameLocks noGrp="1"/>
          </p:cNvGraphicFramePr>
          <p:nvPr>
            <p:extLst/>
          </p:nvPr>
        </p:nvGraphicFramePr>
        <p:xfrm>
          <a:off x="13021" y="612879"/>
          <a:ext cx="9117957" cy="6981521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857245"/>
                <a:gridCol w="1480694"/>
                <a:gridCol w="6780018"/>
              </a:tblGrid>
              <a:tr h="5248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Фігура</a:t>
                      </a:r>
                      <a:endParaRPr lang="ru-RU" sz="18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Елемент</a:t>
                      </a:r>
                      <a:endParaRPr lang="ru-RU" sz="18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 smtClean="0">
                          <a:effectLst/>
                        </a:rPr>
                        <a:t>Опис</a:t>
                      </a:r>
                      <a:endParaRPr lang="ru-RU" sz="18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 anchor="ctr">
                    <a:solidFill>
                      <a:schemeClr val="accent6"/>
                    </a:solidFill>
                  </a:tcPr>
                </a:tc>
              </a:tr>
              <a:tr h="38081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</a:rPr>
                        <a:t>12</a:t>
                      </a:r>
                      <a:endParaRPr lang="ru-RU" sz="18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Використання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взаємодії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733" marR="14733" marT="18416" marB="18416">
                    <a:solidFill>
                      <a:srgbClr val="E7E7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Укладає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в себе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послідовність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повідомлень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які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визначені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на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іншій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схемі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Щоб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створити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використання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взаємодії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клацніть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інструмент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і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виконаєте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перетягання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поверх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ліній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життя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які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треба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включити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в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нього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4733" marR="14733" marT="18416" marB="18416">
                    <a:solidFill>
                      <a:srgbClr val="E7E7FF"/>
                    </a:solidFill>
                  </a:tcPr>
                </a:tc>
              </a:tr>
              <a:tr h="6216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13</a:t>
                      </a:r>
                      <a:endParaRPr lang="ru-RU" sz="18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Об'єднаний фрагмент</a:t>
                      </a:r>
                      <a:endParaRPr lang="ru-RU" sz="18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Колекція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фрагментів</a:t>
                      </a:r>
                      <a:r>
                        <a:rPr lang="ru-RU" sz="1800" dirty="0">
                          <a:effectLst/>
                        </a:rPr>
                        <a:t>.  </a:t>
                      </a:r>
                      <a:r>
                        <a:rPr lang="ru-RU" sz="1800" dirty="0" err="1">
                          <a:effectLst/>
                        </a:rPr>
                        <a:t>Кожен</a:t>
                      </a:r>
                      <a:r>
                        <a:rPr lang="ru-RU" sz="1800" dirty="0">
                          <a:effectLst/>
                        </a:rPr>
                        <a:t> фрагмент </a:t>
                      </a:r>
                      <a:r>
                        <a:rPr lang="ru-RU" sz="1800" dirty="0" err="1">
                          <a:effectLst/>
                        </a:rPr>
                        <a:t>може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включати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одне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або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декілька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повідомлень</a:t>
                      </a:r>
                      <a:r>
                        <a:rPr lang="ru-RU" sz="1800" dirty="0">
                          <a:effectLst/>
                        </a:rPr>
                        <a:t>.  </a:t>
                      </a:r>
                      <a:r>
                        <a:rPr lang="ru-RU" sz="1800" dirty="0" err="1">
                          <a:effectLst/>
                        </a:rPr>
                        <a:t>Існує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декілька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видів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об'єднаних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фрагментів</a:t>
                      </a:r>
                      <a:r>
                        <a:rPr lang="ru-RU" sz="1800" dirty="0">
                          <a:effectLst/>
                        </a:rPr>
                        <a:t>.  </a:t>
                      </a:r>
                      <a:r>
                        <a:rPr lang="ru-RU" sz="1800" dirty="0" err="1">
                          <a:effectLst/>
                        </a:rPr>
                        <a:t>Детальніше</a:t>
                      </a:r>
                      <a:r>
                        <a:rPr lang="ru-RU" sz="1800" dirty="0">
                          <a:effectLst/>
                        </a:rPr>
                        <a:t> за см в </a:t>
                      </a:r>
                      <a:r>
                        <a:rPr lang="ru-RU" sz="1800" dirty="0" err="1">
                          <a:effectLst/>
                        </a:rPr>
                        <a:t>розділі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Опис</a:t>
                      </a:r>
                      <a:r>
                        <a:rPr lang="ru-RU" sz="1800" dirty="0">
                          <a:effectLst/>
                        </a:rPr>
                        <a:t> потоку </a:t>
                      </a:r>
                      <a:r>
                        <a:rPr lang="ru-RU" sz="1800" dirty="0" err="1">
                          <a:effectLst/>
                        </a:rPr>
                        <a:t>управління</a:t>
                      </a:r>
                      <a:r>
                        <a:rPr lang="ru-RU" sz="1800" dirty="0">
                          <a:effectLst/>
                        </a:rPr>
                        <a:t> з </a:t>
                      </a:r>
                      <a:r>
                        <a:rPr lang="ru-RU" sz="1800" dirty="0" err="1">
                          <a:effectLst/>
                        </a:rPr>
                        <a:t>використанням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фрагментів</a:t>
                      </a:r>
                      <a:r>
                        <a:rPr lang="ru-RU" sz="1800" dirty="0">
                          <a:effectLst/>
                        </a:rPr>
                        <a:t> на схемах </a:t>
                      </a:r>
                      <a:r>
                        <a:rPr lang="ru-RU" sz="1800" dirty="0" err="1">
                          <a:effectLst/>
                        </a:rPr>
                        <a:t>послідовностей</a:t>
                      </a:r>
                      <a:r>
                        <a:rPr lang="ru-RU" sz="1800" dirty="0">
                          <a:effectLst/>
                        </a:rPr>
                        <a:t> UML.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Щоб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створити</a:t>
                      </a:r>
                      <a:r>
                        <a:rPr lang="ru-RU" sz="1800" dirty="0">
                          <a:effectLst/>
                        </a:rPr>
                        <a:t> фрагмент, </a:t>
                      </a:r>
                      <a:r>
                        <a:rPr lang="ru-RU" sz="1800" dirty="0" err="1">
                          <a:effectLst/>
                        </a:rPr>
                        <a:t>клацніть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повідомлення</a:t>
                      </a:r>
                      <a:r>
                        <a:rPr lang="ru-RU" sz="1800" dirty="0">
                          <a:effectLst/>
                        </a:rPr>
                        <a:t> правою </a:t>
                      </a:r>
                      <a:r>
                        <a:rPr lang="ru-RU" sz="1800" dirty="0" err="1">
                          <a:effectLst/>
                        </a:rPr>
                        <a:t>кнопкою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миші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наведіть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покажчик</a:t>
                      </a:r>
                      <a:r>
                        <a:rPr lang="ru-RU" sz="1800" dirty="0">
                          <a:effectLst/>
                        </a:rPr>
                        <a:t> на пункт </a:t>
                      </a:r>
                      <a:r>
                        <a:rPr lang="ru-RU" sz="1800" dirty="0" err="1">
                          <a:effectLst/>
                        </a:rPr>
                        <a:t>Розмістити</a:t>
                      </a:r>
                      <a:r>
                        <a:rPr lang="ru-RU" sz="1800" dirty="0">
                          <a:effectLst/>
                        </a:rPr>
                        <a:t> у </a:t>
                      </a:r>
                      <a:r>
                        <a:rPr lang="ru-RU" sz="1800" dirty="0" err="1">
                          <a:effectLst/>
                        </a:rPr>
                        <a:t>фрагменті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після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чого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виберіть</a:t>
                      </a:r>
                      <a:r>
                        <a:rPr lang="ru-RU" sz="1800" dirty="0">
                          <a:effectLst/>
                        </a:rPr>
                        <a:t> тип фрагмента.</a:t>
                      </a:r>
                      <a:endParaRPr lang="ru-RU" sz="18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</a:tr>
              <a:tr h="2844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14</a:t>
                      </a:r>
                      <a:endParaRPr lang="ru-RU" sz="18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Умова</a:t>
                      </a:r>
                      <a:r>
                        <a:rPr lang="ru-RU" sz="1800" dirty="0">
                          <a:effectLst/>
                        </a:rPr>
                        <a:t> фрагмента</a:t>
                      </a:r>
                      <a:endParaRPr lang="ru-RU" sz="18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Може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використовуватися</a:t>
                      </a:r>
                      <a:r>
                        <a:rPr lang="ru-RU" sz="1800" dirty="0">
                          <a:effectLst/>
                        </a:rPr>
                        <a:t> для установки </a:t>
                      </a:r>
                      <a:r>
                        <a:rPr lang="ru-RU" sz="1800" dirty="0" err="1">
                          <a:effectLst/>
                        </a:rPr>
                        <a:t>умови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залежної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від</a:t>
                      </a:r>
                      <a:r>
                        <a:rPr lang="ru-RU" sz="1800" dirty="0">
                          <a:effectLst/>
                        </a:rPr>
                        <a:t> того, </a:t>
                      </a:r>
                      <a:r>
                        <a:rPr lang="ru-RU" sz="1800" dirty="0" err="1">
                          <a:effectLst/>
                        </a:rPr>
                        <a:t>чи</a:t>
                      </a:r>
                      <a:r>
                        <a:rPr lang="ru-RU" sz="1800" dirty="0">
                          <a:effectLst/>
                        </a:rPr>
                        <a:t> буде </a:t>
                      </a:r>
                      <a:r>
                        <a:rPr lang="ru-RU" sz="1800" dirty="0" err="1">
                          <a:effectLst/>
                        </a:rPr>
                        <a:t>знайдений</a:t>
                      </a:r>
                      <a:r>
                        <a:rPr lang="ru-RU" sz="1800" dirty="0">
                          <a:effectLst/>
                        </a:rPr>
                        <a:t> фрагмент.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Щоб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задати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умову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виберіть</a:t>
                      </a:r>
                      <a:r>
                        <a:rPr lang="ru-RU" sz="1800" dirty="0">
                          <a:effectLst/>
                        </a:rPr>
                        <a:t> фрагмент, </a:t>
                      </a:r>
                      <a:r>
                        <a:rPr lang="ru-RU" sz="1800" dirty="0" err="1">
                          <a:effectLst/>
                        </a:rPr>
                        <a:t>виберіть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умову</a:t>
                      </a:r>
                      <a:r>
                        <a:rPr lang="ru-RU" sz="1800" dirty="0">
                          <a:effectLst/>
                        </a:rPr>
                        <a:t> і </a:t>
                      </a:r>
                      <a:r>
                        <a:rPr lang="ru-RU" sz="1800" dirty="0" err="1">
                          <a:effectLst/>
                        </a:rPr>
                        <a:t>введіть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значення</a:t>
                      </a:r>
                      <a:r>
                        <a:rPr lang="ru-RU" sz="1800" dirty="0">
                          <a:effectLst/>
                        </a:rPr>
                        <a:t>.</a:t>
                      </a:r>
                      <a:endParaRPr lang="ru-RU" sz="18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</a:tr>
              <a:tr h="23630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X</a:t>
                      </a:r>
                      <a:endParaRPr lang="ru-RU" sz="18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Подія знищення</a:t>
                      </a:r>
                      <a:endParaRPr lang="ru-RU" sz="180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Представляє</a:t>
                      </a:r>
                      <a:r>
                        <a:rPr lang="ru-RU" sz="1800" dirty="0">
                          <a:effectLst/>
                        </a:rPr>
                        <a:t> точку, в </a:t>
                      </a:r>
                      <a:r>
                        <a:rPr lang="ru-RU" sz="1800" dirty="0" err="1">
                          <a:effectLst/>
                        </a:rPr>
                        <a:t>якій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об'єкт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видалений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або</a:t>
                      </a:r>
                      <a:r>
                        <a:rPr lang="ru-RU" sz="1800" dirty="0">
                          <a:effectLst/>
                        </a:rPr>
                        <a:t> не </a:t>
                      </a:r>
                      <a:r>
                        <a:rPr lang="ru-RU" sz="1800" dirty="0" err="1">
                          <a:effectLst/>
                        </a:rPr>
                        <a:t>доступніший</a:t>
                      </a:r>
                      <a:r>
                        <a:rPr lang="ru-RU" sz="1800" dirty="0">
                          <a:effectLst/>
                        </a:rPr>
                        <a:t>.  </a:t>
                      </a:r>
                      <a:r>
                        <a:rPr lang="ru-RU" sz="1800" dirty="0" err="1">
                          <a:effectLst/>
                        </a:rPr>
                        <a:t>Відображується</a:t>
                      </a:r>
                      <a:r>
                        <a:rPr lang="ru-RU" sz="1800" dirty="0">
                          <a:effectLst/>
                        </a:rPr>
                        <a:t> в </a:t>
                      </a:r>
                      <a:r>
                        <a:rPr lang="ru-RU" sz="1800" dirty="0" err="1">
                          <a:effectLst/>
                        </a:rPr>
                        <a:t>нижній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частині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кожної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лінії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життя</a:t>
                      </a:r>
                      <a:r>
                        <a:rPr lang="ru-RU" sz="1800" dirty="0">
                          <a:effectLst/>
                        </a:rPr>
                        <a:t>. </a:t>
                      </a:r>
                      <a:endParaRPr lang="ru-RU" sz="18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14733" marR="14733" marT="18416" marB="18416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51720" y="0"/>
            <a:ext cx="48299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b="1" dirty="0" smtClean="0">
                <a:solidFill>
                  <a:schemeClr val="bg1"/>
                </a:solidFill>
              </a:rPr>
              <a:t>Діаграма послідовностей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936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/>
          <p:cNvSpPr/>
          <p:nvPr/>
        </p:nvSpPr>
        <p:spPr>
          <a:xfrm>
            <a:off x="329726" y="764704"/>
            <a:ext cx="864096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uk-UA" sz="2000" b="0" i="1" dirty="0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Автомат</a:t>
            </a:r>
            <a:r>
              <a:rPr lang="uk-UA" sz="2000" b="0" dirty="0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(</a:t>
            </a:r>
            <a:r>
              <a:rPr lang="uk-UA" sz="2000" b="0" dirty="0" err="1">
                <a:latin typeface="Arial" pitchFamily="34" charset="0"/>
                <a:cs typeface="Arial" pitchFamily="34" charset="0"/>
              </a:rPr>
              <a:t>State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 </a:t>
            </a:r>
            <a:r>
              <a:rPr lang="uk-UA" sz="2000" b="0" dirty="0" err="1">
                <a:latin typeface="Arial" pitchFamily="34" charset="0"/>
                <a:cs typeface="Arial" pitchFamily="34" charset="0"/>
              </a:rPr>
              <a:t>machine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) описує поводження в термінах послідовності станів, через які проходить об'єкт протягом свого життєвого циклу, відповідаючи на різні події, а також його реакцій на ці події. </a:t>
            </a:r>
            <a:endParaRPr lang="ru-RU" sz="2000" b="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uk-UA" sz="2000" b="0" i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Стан</a:t>
            </a:r>
            <a:r>
              <a:rPr lang="uk-UA" sz="2000" b="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(</a:t>
            </a:r>
            <a:r>
              <a:rPr lang="uk-UA" sz="2000" b="0" dirty="0" err="1">
                <a:latin typeface="Arial" pitchFamily="34" charset="0"/>
                <a:cs typeface="Arial" pitchFamily="34" charset="0"/>
              </a:rPr>
              <a:t>State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) – це ситуація в житті об'єкта, протягом якої він задовольняє деякій умові, виконує певну діяльність або очікує якоїсь події. </a:t>
            </a:r>
            <a:endParaRPr lang="ru-RU" sz="2000" b="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uk-UA" sz="2000" b="0" i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Подія</a:t>
            </a:r>
            <a:r>
              <a:rPr lang="uk-UA" sz="2000" b="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(</a:t>
            </a:r>
            <a:r>
              <a:rPr lang="uk-UA" sz="2000" b="0" dirty="0" err="1">
                <a:latin typeface="Arial" pitchFamily="34" charset="0"/>
                <a:cs typeface="Arial" pitchFamily="34" charset="0"/>
              </a:rPr>
              <a:t>Event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) – це специфікація істотного факту, що має місце в просторі й у часі. У контексті автоматів подія – це якийсь стимул, що ініціює перехід з одного стану в інше. </a:t>
            </a:r>
            <a:endParaRPr lang="ru-RU" sz="2000" b="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uk-UA" sz="2000" b="0" i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Перехід</a:t>
            </a:r>
            <a:r>
              <a:rPr lang="uk-UA" sz="2000" b="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(</a:t>
            </a:r>
            <a:r>
              <a:rPr lang="uk-UA" sz="2000" b="0" dirty="0" err="1">
                <a:latin typeface="Arial" pitchFamily="34" charset="0"/>
                <a:cs typeface="Arial" pitchFamily="34" charset="0"/>
              </a:rPr>
              <a:t>Transition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) – це відношення між двома станами. Перехід показує, що об'єкт, який перебуває в першому стані, повинен виконати певні дії й перейти в другий стан, як тільки відбудеться зазначена подія й будуть задоволені певні умови. </a:t>
            </a:r>
            <a:endParaRPr lang="ru-RU" sz="2000" b="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uk-UA" sz="2000" b="0" i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Діяльність</a:t>
            </a:r>
            <a:r>
              <a:rPr lang="uk-UA" sz="2000" b="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(</a:t>
            </a:r>
            <a:r>
              <a:rPr lang="uk-UA" sz="2000" b="0" dirty="0" err="1">
                <a:latin typeface="Arial" pitchFamily="34" charset="0"/>
                <a:cs typeface="Arial" pitchFamily="34" charset="0"/>
              </a:rPr>
              <a:t>Activity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) – це неатомарне обчислення усередині автомата, що протікає в часі. </a:t>
            </a:r>
            <a:endParaRPr lang="ru-RU" sz="2000" b="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uk-UA" sz="2000" b="0" i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Дія</a:t>
            </a:r>
            <a:r>
              <a:rPr lang="uk-UA" sz="2000" b="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(</a:t>
            </a:r>
            <a:r>
              <a:rPr lang="uk-UA" sz="2000" b="0" dirty="0" err="1">
                <a:latin typeface="Arial" pitchFamily="34" charset="0"/>
                <a:cs typeface="Arial" pitchFamily="34" charset="0"/>
              </a:rPr>
              <a:t>Action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) – це атомарне обчислення, що приводить до зміни стану моделі або поверненню значення. </a:t>
            </a:r>
            <a:endParaRPr lang="ru-RU" sz="2000" b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0" y="35046"/>
            <a:ext cx="914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0"/>
            <a:r>
              <a:rPr lang="uk-UA" sz="2800" b="1" dirty="0">
                <a:solidFill>
                  <a:schemeClr val="bg1"/>
                </a:solidFill>
              </a:rPr>
              <a:t>Діаграма станів та </a:t>
            </a:r>
            <a:r>
              <a:rPr lang="uk-UA" sz="2800" b="1" dirty="0" smtClean="0">
                <a:solidFill>
                  <a:schemeClr val="bg1"/>
                </a:solidFill>
              </a:rPr>
              <a:t>переходів</a:t>
            </a:r>
            <a:r>
              <a:rPr lang="en-US" sz="2800" b="1" dirty="0" smtClean="0">
                <a:solidFill>
                  <a:schemeClr val="bg1"/>
                </a:solidFill>
              </a:rPr>
              <a:t>. </a:t>
            </a:r>
            <a:r>
              <a:rPr lang="uk-UA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Терміни й </a:t>
            </a:r>
            <a:r>
              <a:rPr lang="uk-UA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поняття</a:t>
            </a:r>
            <a:endParaRPr lang="ru-RU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61946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1" y="0"/>
            <a:ext cx="89646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8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Statechart</a:t>
            </a:r>
            <a:r>
              <a:rPr lang="en-US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diagram </a:t>
            </a:r>
            <a:r>
              <a:rPr lang="en-US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uk-UA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Діаграма </a:t>
            </a:r>
            <a:r>
              <a:rPr lang="uk-UA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станів та </a:t>
            </a:r>
            <a:r>
              <a:rPr lang="uk-UA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переходів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ru-R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0" y="765175"/>
            <a:ext cx="9143999" cy="58832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tabLst>
                <a:tab pos="228600" algn="l"/>
                <a:tab pos="539750" algn="l"/>
              </a:tabLst>
            </a:pPr>
            <a:r>
              <a:rPr lang="uk-UA" sz="2000" b="1" dirty="0">
                <a:latin typeface="Arial" pitchFamily="34" charset="0"/>
                <a:cs typeface="Arial" pitchFamily="34" charset="0"/>
              </a:rPr>
              <a:t>Перехід визначається п'ятьма елементами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:</a:t>
            </a:r>
            <a:endParaRPr lang="ru-RU" sz="2000" b="0" dirty="0">
              <a:latin typeface="Arial" pitchFamily="34" charset="0"/>
              <a:cs typeface="Arial" pitchFamily="34" charset="0"/>
            </a:endParaRPr>
          </a:p>
          <a:p>
            <a:pPr>
              <a:tabLst>
                <a:tab pos="228600" algn="l"/>
                <a:tab pos="539750" algn="l"/>
              </a:tabLst>
            </a:pPr>
            <a:r>
              <a:rPr lang="uk-UA" sz="2000" b="0" i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вихідний стан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 – </a:t>
            </a:r>
            <a:r>
              <a:rPr lang="uk-UA" sz="2000" b="0" dirty="0" err="1">
                <a:latin typeface="Arial" pitchFamily="34" charset="0"/>
                <a:cs typeface="Arial" pitchFamily="34" charset="0"/>
              </a:rPr>
              <a:t>стан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, з якого відбувається перехід.; </a:t>
            </a:r>
            <a:endParaRPr lang="ru-RU" sz="2000" b="0" dirty="0">
              <a:latin typeface="Arial" pitchFamily="34" charset="0"/>
              <a:cs typeface="Arial" pitchFamily="34" charset="0"/>
            </a:endParaRPr>
          </a:p>
          <a:p>
            <a:pPr>
              <a:tabLst>
                <a:tab pos="228600" algn="l"/>
                <a:tab pos="539750" algn="l"/>
              </a:tabLst>
            </a:pPr>
            <a:r>
              <a:rPr lang="uk-UA" sz="2000" b="0" i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подія-тригер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 – це подія, при одержанні якої може спрацювати перехід при виконанні сторожової умови; </a:t>
            </a:r>
            <a:endParaRPr lang="ru-RU" sz="2000" b="0" dirty="0">
              <a:latin typeface="Arial" pitchFamily="34" charset="0"/>
              <a:cs typeface="Arial" pitchFamily="34" charset="0"/>
            </a:endParaRPr>
          </a:p>
          <a:p>
            <a:pPr>
              <a:tabLst>
                <a:tab pos="228600" algn="l"/>
                <a:tab pos="539750" algn="l"/>
              </a:tabLst>
            </a:pPr>
            <a:r>
              <a:rPr lang="uk-UA" sz="2000" b="0" i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сторожова умова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 – </a:t>
            </a:r>
            <a:r>
              <a:rPr lang="uk-UA" sz="2000" b="0" dirty="0" err="1">
                <a:latin typeface="Arial" pitchFamily="34" charset="0"/>
                <a:cs typeface="Arial" pitchFamily="34" charset="0"/>
              </a:rPr>
              <a:t>булівський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 вираз, що обчислюється при одержанні події-тригера. </a:t>
            </a:r>
            <a:endParaRPr lang="ru-RU" sz="2000" b="0" dirty="0">
              <a:latin typeface="Arial" pitchFamily="34" charset="0"/>
              <a:cs typeface="Arial" pitchFamily="34" charset="0"/>
            </a:endParaRPr>
          </a:p>
          <a:p>
            <a:pPr>
              <a:tabLst>
                <a:tab pos="228600" algn="l"/>
                <a:tab pos="539750" algn="l"/>
              </a:tabLst>
            </a:pPr>
            <a:r>
              <a:rPr lang="uk-UA" sz="2000" b="0" i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дія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 – атомарне обчислення, що може безпосередньо впливати на об'єкт, що перебуває в області видимості; </a:t>
            </a:r>
            <a:endParaRPr lang="ru-RU" sz="2000" b="0" dirty="0">
              <a:latin typeface="Arial" pitchFamily="34" charset="0"/>
              <a:cs typeface="Arial" pitchFamily="34" charset="0"/>
            </a:endParaRPr>
          </a:p>
          <a:p>
            <a:pPr>
              <a:tabLst>
                <a:tab pos="228600" algn="l"/>
                <a:tab pos="539750" algn="l"/>
              </a:tabLst>
            </a:pPr>
            <a:r>
              <a:rPr lang="uk-UA" sz="2000" b="0" i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цільовий стан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 – </a:t>
            </a:r>
            <a:r>
              <a:rPr lang="uk-UA" sz="2000" b="0" dirty="0" err="1">
                <a:latin typeface="Arial" pitchFamily="34" charset="0"/>
                <a:cs typeface="Arial" pitchFamily="34" charset="0"/>
              </a:rPr>
              <a:t>стан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, що стає активним після завершення переходу. </a:t>
            </a:r>
            <a:endParaRPr lang="ru-RU" sz="2000" b="0" dirty="0">
              <a:latin typeface="Arial" pitchFamily="34" charset="0"/>
              <a:cs typeface="Arial" pitchFamily="34" charset="0"/>
            </a:endParaRPr>
          </a:p>
          <a:p>
            <a:pPr>
              <a:tabLst>
                <a:tab pos="228600" algn="l"/>
                <a:tab pos="539750" algn="l"/>
              </a:tabLst>
            </a:pPr>
            <a:r>
              <a:rPr lang="uk-UA" sz="2000" b="0" dirty="0">
                <a:latin typeface="Arial" pitchFamily="34" charset="0"/>
                <a:cs typeface="Arial" pitchFamily="34" charset="0"/>
              </a:rPr>
              <a:t>Перехід називається </a:t>
            </a:r>
            <a:r>
              <a:rPr lang="uk-UA" sz="2000" b="0" i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тригерним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, якщо його специфікує тригер-подія, пов'язана із зовнішніми умовами стосовно розглянутого стану. У цьому випадку поруч зі стрілкою тригерного переходу обов'язково вказується ім'я події. Найчастіше задають імена функцій, що викликаються об'єктами системи. </a:t>
            </a:r>
          </a:p>
          <a:p>
            <a:pPr>
              <a:tabLst>
                <a:tab pos="228600" algn="l"/>
                <a:tab pos="539750" algn="l"/>
              </a:tabLst>
            </a:pPr>
            <a:r>
              <a:rPr lang="uk-UA" sz="2000" b="0" dirty="0">
                <a:latin typeface="Arial" pitchFamily="34" charset="0"/>
                <a:cs typeface="Arial" pitchFamily="34" charset="0"/>
              </a:rPr>
              <a:t>Перехід називається </a:t>
            </a:r>
            <a:r>
              <a:rPr lang="uk-UA" sz="2000" b="0" i="1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нетригерним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, якщо він відбувається по завершенні виконання діяльності в даному стані. Для них поруч зі стрілкою переходу не вказується жодного імені події, а у вихідному стані повинна бути описана внутрішня діяльність, по закінченні якої відбудеться той або інший </a:t>
            </a:r>
            <a:r>
              <a:rPr lang="uk-UA" sz="2000" b="0" dirty="0" err="1">
                <a:latin typeface="Arial" pitchFamily="34" charset="0"/>
                <a:cs typeface="Arial" pitchFamily="34" charset="0"/>
              </a:rPr>
              <a:t>нетригерний</a:t>
            </a:r>
            <a:r>
              <a:rPr lang="uk-UA" sz="2000" b="0" dirty="0">
                <a:latin typeface="Arial" pitchFamily="34" charset="0"/>
                <a:cs typeface="Arial" pitchFamily="34" charset="0"/>
              </a:rPr>
              <a:t> перехід.</a:t>
            </a:r>
            <a:r>
              <a:rPr lang="uk-UA" sz="20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300442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" y="-3584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6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Графічні позначення на </a:t>
            </a:r>
            <a:r>
              <a:rPr lang="en-US" sz="36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statechart</a:t>
            </a:r>
            <a:r>
              <a:rPr lang="en-US" sz="3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diagram</a:t>
            </a:r>
            <a:endParaRPr lang="ru-RU" sz="36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" name="Групувати 9"/>
          <p:cNvGrpSpPr/>
          <p:nvPr/>
        </p:nvGrpSpPr>
        <p:grpSpPr>
          <a:xfrm>
            <a:off x="4777092" y="904191"/>
            <a:ext cx="2714966" cy="1516697"/>
            <a:chOff x="714106" y="887524"/>
            <a:chExt cx="3024336" cy="1800200"/>
          </a:xfrm>
        </p:grpSpPr>
        <p:sp>
          <p:nvSpPr>
            <p:cNvPr id="3" name="Округлений прямокутник 2"/>
            <p:cNvSpPr/>
            <p:nvPr/>
          </p:nvSpPr>
          <p:spPr>
            <a:xfrm>
              <a:off x="714106" y="887524"/>
              <a:ext cx="3024336" cy="18002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5" name="Пряма сполучна лінія 4"/>
            <p:cNvCxnSpPr/>
            <p:nvPr/>
          </p:nvCxnSpPr>
          <p:spPr>
            <a:xfrm>
              <a:off x="714106" y="1557763"/>
              <a:ext cx="302433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951687" y="1095127"/>
              <a:ext cx="2210690" cy="5479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b="0" dirty="0" smtClean="0"/>
                <a:t>Назва стану</a:t>
              </a:r>
              <a:endParaRPr lang="ru-RU" b="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51687" y="1681892"/>
              <a:ext cx="25491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b="0" dirty="0" smtClean="0"/>
                <a:t>Внутрішні дії в даному стані</a:t>
              </a:r>
              <a:endParaRPr lang="ru-RU" b="0" dirty="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409132" y="1468878"/>
            <a:ext cx="1996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 smtClean="0"/>
              <a:t>Стан об’єкта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99316" y="3190761"/>
            <a:ext cx="30805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 smtClean="0"/>
              <a:t>Перехід </a:t>
            </a:r>
            <a:r>
              <a:rPr lang="uk-UA" dirty="0" err="1" smtClean="0"/>
              <a:t>нетригірний</a:t>
            </a:r>
            <a:endParaRPr lang="ru-RU" dirty="0"/>
          </a:p>
        </p:txBody>
      </p:sp>
      <p:grpSp>
        <p:nvGrpSpPr>
          <p:cNvPr id="25" name="Групувати 24"/>
          <p:cNvGrpSpPr/>
          <p:nvPr/>
        </p:nvGrpSpPr>
        <p:grpSpPr>
          <a:xfrm>
            <a:off x="3779912" y="2673930"/>
            <a:ext cx="4919839" cy="1222105"/>
            <a:chOff x="3779912" y="2998983"/>
            <a:chExt cx="4919839" cy="1222105"/>
          </a:xfrm>
        </p:grpSpPr>
        <p:sp>
          <p:nvSpPr>
            <p:cNvPr id="12" name="Округлений прямокутник 11"/>
            <p:cNvSpPr/>
            <p:nvPr/>
          </p:nvSpPr>
          <p:spPr>
            <a:xfrm>
              <a:off x="3779912" y="3284983"/>
              <a:ext cx="1584176" cy="93610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круглений прямокутник 14"/>
            <p:cNvSpPr/>
            <p:nvPr/>
          </p:nvSpPr>
          <p:spPr>
            <a:xfrm>
              <a:off x="7009340" y="3278595"/>
              <a:ext cx="1584176" cy="93610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6" name="Пряма зі стрілкою 15"/>
            <p:cNvCxnSpPr>
              <a:stCxn id="12" idx="3"/>
              <a:endCxn id="15" idx="1"/>
            </p:cNvCxnSpPr>
            <p:nvPr/>
          </p:nvCxnSpPr>
          <p:spPr>
            <a:xfrm flipV="1">
              <a:off x="5364088" y="3746648"/>
              <a:ext cx="1645252" cy="63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3898931" y="3395899"/>
              <a:ext cx="134613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uk-UA" sz="2000" b="0" dirty="0" smtClean="0"/>
                <a:t>Перевірка </a:t>
              </a:r>
            </a:p>
            <a:p>
              <a:r>
                <a:rPr lang="uk-UA" sz="2000" b="0" dirty="0" smtClean="0"/>
                <a:t>пін коду</a:t>
              </a:r>
              <a:endParaRPr lang="ru-RU" sz="2000" b="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128359" y="3399093"/>
              <a:ext cx="157139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uk-UA" sz="2000" b="0" dirty="0" smtClean="0"/>
                <a:t>Повернення </a:t>
              </a:r>
            </a:p>
            <a:p>
              <a:r>
                <a:rPr lang="uk-UA" sz="2000" b="0" dirty="0" smtClean="0"/>
                <a:t>карточки</a:t>
              </a:r>
              <a:endParaRPr lang="ru-RU" sz="2000" b="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513645" y="2998983"/>
              <a:ext cx="129868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uk-UA" sz="2000" b="0" dirty="0" smtClean="0"/>
                <a:t>Відміна </a:t>
              </a:r>
            </a:p>
            <a:p>
              <a:r>
                <a:rPr lang="uk-UA" sz="2000" b="0" dirty="0" smtClean="0"/>
                <a:t>транзакції</a:t>
              </a:r>
              <a:endParaRPr lang="ru-RU" sz="2000" b="0" dirty="0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456411" y="4700800"/>
            <a:ext cx="27663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 smtClean="0"/>
              <a:t>Перехід </a:t>
            </a:r>
            <a:r>
              <a:rPr lang="uk-UA" dirty="0" err="1" smtClean="0"/>
              <a:t>тригірний</a:t>
            </a:r>
            <a:endParaRPr lang="uk-UA" dirty="0" smtClean="0"/>
          </a:p>
          <a:p>
            <a:r>
              <a:rPr lang="uk-UA" dirty="0"/>
              <a:t>і</a:t>
            </a:r>
            <a:r>
              <a:rPr lang="uk-UA" dirty="0" smtClean="0"/>
              <a:t>з сторожовою </a:t>
            </a:r>
          </a:p>
          <a:p>
            <a:r>
              <a:rPr lang="uk-UA" dirty="0" smtClean="0"/>
              <a:t>умовою</a:t>
            </a:r>
            <a:endParaRPr lang="ru-RU" dirty="0"/>
          </a:p>
        </p:txBody>
      </p:sp>
      <p:sp>
        <p:nvSpPr>
          <p:cNvPr id="26" name="Округлений прямокутник 25"/>
          <p:cNvSpPr/>
          <p:nvPr/>
        </p:nvSpPr>
        <p:spPr>
          <a:xfrm>
            <a:off x="3406194" y="4790764"/>
            <a:ext cx="1584176" cy="93610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3525213" y="4904874"/>
            <a:ext cx="1346138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uk-UA" sz="2000" b="0" dirty="0" smtClean="0"/>
              <a:t>Перевірка </a:t>
            </a:r>
          </a:p>
          <a:p>
            <a:r>
              <a:rPr lang="uk-UA" sz="2000" b="0" dirty="0" smtClean="0"/>
              <a:t>пін коду</a:t>
            </a:r>
            <a:endParaRPr lang="ru-RU" sz="2000" b="0" dirty="0"/>
          </a:p>
        </p:txBody>
      </p:sp>
      <p:sp>
        <p:nvSpPr>
          <p:cNvPr id="28" name="Округлений прямокутник 27"/>
          <p:cNvSpPr/>
          <p:nvPr/>
        </p:nvSpPr>
        <p:spPr>
          <a:xfrm>
            <a:off x="6433204" y="4240716"/>
            <a:ext cx="2117708" cy="93610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6643504" y="4354826"/>
            <a:ext cx="1998689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uk-UA" sz="2000" b="0" dirty="0" smtClean="0"/>
              <a:t>Очікування</a:t>
            </a:r>
          </a:p>
          <a:p>
            <a:r>
              <a:rPr lang="uk-UA" sz="2000" b="0" dirty="0" smtClean="0"/>
              <a:t>вибору команди </a:t>
            </a:r>
            <a:endParaRPr lang="ru-RU" sz="2000" b="0" dirty="0"/>
          </a:p>
        </p:txBody>
      </p:sp>
      <p:sp>
        <p:nvSpPr>
          <p:cNvPr id="30" name="Округлений прямокутник 29"/>
          <p:cNvSpPr/>
          <p:nvPr/>
        </p:nvSpPr>
        <p:spPr>
          <a:xfrm>
            <a:off x="6515624" y="5433077"/>
            <a:ext cx="2085954" cy="93610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/>
          <p:cNvSpPr txBox="1"/>
          <p:nvPr/>
        </p:nvSpPr>
        <p:spPr>
          <a:xfrm>
            <a:off x="6793781" y="5579973"/>
            <a:ext cx="1558568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uk-UA" sz="2000" b="0" dirty="0" smtClean="0"/>
              <a:t>Завершення </a:t>
            </a:r>
          </a:p>
          <a:p>
            <a:r>
              <a:rPr lang="uk-UA" sz="2000" b="0" dirty="0" smtClean="0"/>
              <a:t>роботи</a:t>
            </a:r>
            <a:endParaRPr lang="ru-RU" sz="2000" b="0" dirty="0"/>
          </a:p>
        </p:txBody>
      </p:sp>
      <p:cxnSp>
        <p:nvCxnSpPr>
          <p:cNvPr id="80897" name="Пряма зі стрілкою 80896"/>
          <p:cNvCxnSpPr>
            <a:stCxn id="26" idx="3"/>
            <a:endCxn id="28" idx="1"/>
          </p:cNvCxnSpPr>
          <p:nvPr/>
        </p:nvCxnSpPr>
        <p:spPr>
          <a:xfrm flipV="1">
            <a:off x="4990370" y="4708769"/>
            <a:ext cx="1442834" cy="5500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900" name="Пряма зі стрілкою 80899"/>
          <p:cNvCxnSpPr>
            <a:stCxn id="26" idx="3"/>
            <a:endCxn id="30" idx="1"/>
          </p:cNvCxnSpPr>
          <p:nvPr/>
        </p:nvCxnSpPr>
        <p:spPr>
          <a:xfrm>
            <a:off x="4990370" y="5258817"/>
            <a:ext cx="1525254" cy="6423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901" name="TextBox 80900"/>
          <p:cNvSpPr txBox="1"/>
          <p:nvPr/>
        </p:nvSpPr>
        <p:spPr>
          <a:xfrm>
            <a:off x="4817429" y="4326317"/>
            <a:ext cx="15623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/>
              <a:t>[</a:t>
            </a:r>
            <a:r>
              <a:rPr lang="uk-UA" sz="2000" b="0" dirty="0" smtClean="0"/>
              <a:t>Код вірний</a:t>
            </a:r>
            <a:r>
              <a:rPr lang="en-US" sz="2000" b="0" dirty="0" smtClean="0"/>
              <a:t>]</a:t>
            </a:r>
            <a:endParaRPr lang="ru-RU" sz="2000" b="0" dirty="0"/>
          </a:p>
        </p:txBody>
      </p:sp>
      <p:sp>
        <p:nvSpPr>
          <p:cNvPr id="42" name="TextBox 41"/>
          <p:cNvSpPr txBox="1"/>
          <p:nvPr/>
        </p:nvSpPr>
        <p:spPr>
          <a:xfrm>
            <a:off x="4732469" y="5887749"/>
            <a:ext cx="18140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/>
              <a:t>[</a:t>
            </a:r>
            <a:r>
              <a:rPr lang="uk-UA" sz="2000" b="0" dirty="0" smtClean="0"/>
              <a:t>Код невірний</a:t>
            </a:r>
            <a:r>
              <a:rPr lang="en-US" sz="2000" b="0" dirty="0" smtClean="0"/>
              <a:t>]</a:t>
            </a:r>
            <a:endParaRPr lang="ru-RU" sz="2000" b="0" dirty="0"/>
          </a:p>
        </p:txBody>
      </p:sp>
    </p:spTree>
    <p:extLst>
      <p:ext uri="{BB962C8B-B14F-4D97-AF65-F5344CB8AC3E}">
        <p14:creationId xmlns:p14="http://schemas.microsoft.com/office/powerpoint/2010/main" val="1527607484"/>
      </p:ext>
    </p:extLst>
  </p:cSld>
  <p:clrMapOvr>
    <a:masterClrMapping/>
  </p:clrMapOvr>
  <p:transition>
    <p:fade thruBlk="1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" y="-3584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6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Графічні позначення на </a:t>
            </a:r>
            <a:r>
              <a:rPr lang="en-US" sz="36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statechart</a:t>
            </a:r>
            <a:r>
              <a:rPr lang="en-US" sz="36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diagram</a:t>
            </a:r>
            <a:endParaRPr lang="ru-RU" sz="36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Рисунок 2" descr="Пример составного состояния с двумя вложенными последовательными подсостояниями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695" y="2636912"/>
            <a:ext cx="6264696" cy="268240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Прямокутник 3"/>
          <p:cNvSpPr/>
          <p:nvPr/>
        </p:nvSpPr>
        <p:spPr>
          <a:xfrm>
            <a:off x="899591" y="716503"/>
            <a:ext cx="667490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dirty="0"/>
              <a:t>Приклад складеного стану із двома вкладеними послідовними </a:t>
            </a:r>
            <a:r>
              <a:rPr lang="uk-UA" dirty="0" err="1" smtClean="0"/>
              <a:t>підстанами</a:t>
            </a:r>
            <a:r>
              <a:rPr lang="uk-UA" dirty="0" smtClean="0"/>
              <a:t>, циклом, сторожовою умовою, виразом дії </a:t>
            </a:r>
            <a:endParaRPr lang="ru-RU" dirty="0"/>
          </a:p>
        </p:txBody>
      </p:sp>
      <p:cxnSp>
        <p:nvCxnSpPr>
          <p:cNvPr id="6" name="Пряма зі стрілкою 5"/>
          <p:cNvCxnSpPr/>
          <p:nvPr/>
        </p:nvCxnSpPr>
        <p:spPr>
          <a:xfrm flipH="1">
            <a:off x="6156176" y="1916832"/>
            <a:ext cx="216024" cy="16561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 зі стрілкою 7"/>
          <p:cNvCxnSpPr/>
          <p:nvPr/>
        </p:nvCxnSpPr>
        <p:spPr>
          <a:xfrm>
            <a:off x="3995936" y="1916832"/>
            <a:ext cx="2268252" cy="2304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 зі стрілкою 15"/>
          <p:cNvCxnSpPr/>
          <p:nvPr/>
        </p:nvCxnSpPr>
        <p:spPr>
          <a:xfrm>
            <a:off x="2195736" y="1916832"/>
            <a:ext cx="2934326" cy="25202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103232"/>
      </p:ext>
    </p:extLst>
  </p:cSld>
  <p:clrMapOvr>
    <a:masterClrMapping/>
  </p:clrMapOvr>
  <p:transition>
    <p:fade thruBlk="1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519588" y="14514"/>
            <a:ext cx="66641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StateChart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diagram </a:t>
            </a:r>
            <a:r>
              <a:rPr lang="uk-UA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для Інтернет магазину</a:t>
            </a:r>
            <a:endParaRPr lang="ru-R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19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7734"/>
            <a:ext cx="9144000" cy="6320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5735478"/>
      </p:ext>
    </p:extLst>
  </p:cSld>
  <p:clrMapOvr>
    <a:masterClrMapping/>
  </p:clrMapOvr>
  <p:transition>
    <p:fade thruBlk="1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01613" y="1268760"/>
            <a:ext cx="8763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tabLst>
                <a:tab pos="228600" algn="l"/>
                <a:tab pos="539750" algn="l"/>
              </a:tabLst>
            </a:pPr>
            <a:r>
              <a:rPr lang="uk-UA" dirty="0">
                <a:solidFill>
                  <a:prstClr val="black"/>
                </a:solidFill>
              </a:rPr>
              <a:t>На діаграмі кооперації розміщаються:</a:t>
            </a:r>
            <a:endParaRPr lang="ru-RU" dirty="0">
              <a:solidFill>
                <a:prstClr val="black"/>
              </a:solidFill>
            </a:endParaRPr>
          </a:p>
          <a:p>
            <a:pPr lvl="1">
              <a:buClr>
                <a:srgbClr val="0000CC"/>
              </a:buClr>
              <a:buFont typeface="Wingdings" pitchFamily="2" charset="2"/>
              <a:buChar char="Ш"/>
              <a:tabLst>
                <a:tab pos="228600" algn="l"/>
                <a:tab pos="539750" algn="l"/>
              </a:tabLst>
            </a:pPr>
            <a:r>
              <a:rPr lang="uk-UA" dirty="0">
                <a:solidFill>
                  <a:prstClr val="black"/>
                </a:solidFill>
              </a:rPr>
              <a:t>об'єкти (екземпляри класів), </a:t>
            </a:r>
            <a:endParaRPr lang="ru-RU" dirty="0">
              <a:solidFill>
                <a:prstClr val="black"/>
              </a:solidFill>
            </a:endParaRPr>
          </a:p>
          <a:p>
            <a:pPr lvl="1">
              <a:buClr>
                <a:srgbClr val="0000CC"/>
              </a:buClr>
              <a:buFont typeface="Wingdings" pitchFamily="2" charset="2"/>
              <a:buChar char="Ш"/>
              <a:tabLst>
                <a:tab pos="228600" algn="l"/>
                <a:tab pos="539750" algn="l"/>
              </a:tabLst>
            </a:pPr>
            <a:r>
              <a:rPr lang="uk-UA" dirty="0">
                <a:solidFill>
                  <a:prstClr val="black"/>
                </a:solidFill>
              </a:rPr>
              <a:t>зв'язки між ними (екземпляри асоціацій)</a:t>
            </a:r>
            <a:endParaRPr lang="ru-RU" dirty="0">
              <a:solidFill>
                <a:prstClr val="black"/>
              </a:solidFill>
            </a:endParaRPr>
          </a:p>
          <a:p>
            <a:pPr lvl="1">
              <a:buClr>
                <a:srgbClr val="0000CC"/>
              </a:buClr>
              <a:buFont typeface="Wingdings" pitchFamily="2" charset="2"/>
              <a:buChar char="Ш"/>
              <a:tabLst>
                <a:tab pos="228600" algn="l"/>
                <a:tab pos="539750" algn="l"/>
              </a:tabLst>
            </a:pPr>
            <a:r>
              <a:rPr lang="uk-UA" dirty="0">
                <a:solidFill>
                  <a:prstClr val="black"/>
                </a:solidFill>
              </a:rPr>
              <a:t>повідомлення. </a:t>
            </a:r>
            <a:endParaRPr lang="uk-UA" i="1" dirty="0">
              <a:solidFill>
                <a:prstClr val="black"/>
              </a:solidFill>
            </a:endParaRPr>
          </a:p>
          <a:p>
            <a:pPr lvl="0">
              <a:tabLst>
                <a:tab pos="228600" algn="l"/>
                <a:tab pos="539750" algn="l"/>
              </a:tabLst>
            </a:pPr>
            <a:r>
              <a:rPr lang="uk-UA" i="1" dirty="0">
                <a:solidFill>
                  <a:srgbClr val="0000CC"/>
                </a:solidFill>
              </a:rPr>
              <a:t>Зв'язки</a:t>
            </a:r>
            <a:r>
              <a:rPr lang="uk-UA" dirty="0">
                <a:solidFill>
                  <a:srgbClr val="0000CC"/>
                </a:solidFill>
              </a:rPr>
              <a:t> </a:t>
            </a:r>
            <a:r>
              <a:rPr lang="uk-UA" dirty="0">
                <a:solidFill>
                  <a:prstClr val="black"/>
                </a:solidFill>
              </a:rPr>
              <a:t>доповнюються стрілками повідомлень, при цьому показуються тільки ті об'єкти, які беруть участь у реалізації кооперації. </a:t>
            </a:r>
          </a:p>
          <a:p>
            <a:pPr lvl="0">
              <a:tabLst>
                <a:tab pos="228600" algn="l"/>
                <a:tab pos="539750" algn="l"/>
              </a:tabLst>
            </a:pPr>
            <a:r>
              <a:rPr lang="uk-UA" i="1" dirty="0">
                <a:solidFill>
                  <a:srgbClr val="0000CC"/>
                </a:solidFill>
              </a:rPr>
              <a:t>Структурні відносини між об'єктами</a:t>
            </a:r>
            <a:r>
              <a:rPr lang="uk-UA" dirty="0">
                <a:solidFill>
                  <a:prstClr val="black"/>
                </a:solidFill>
              </a:rPr>
              <a:t> показують у вигляді різних сполучних ліній. </a:t>
            </a:r>
          </a:p>
          <a:p>
            <a:pPr lvl="0">
              <a:tabLst>
                <a:tab pos="228600" algn="l"/>
                <a:tab pos="539750" algn="l"/>
              </a:tabLst>
            </a:pPr>
            <a:r>
              <a:rPr lang="uk-UA" dirty="0">
                <a:solidFill>
                  <a:prstClr val="black"/>
                </a:solidFill>
              </a:rPr>
              <a:t>Зв'язки можуть доповнюватися </a:t>
            </a:r>
            <a:r>
              <a:rPr lang="uk-UA" dirty="0">
                <a:solidFill>
                  <a:srgbClr val="0000CC"/>
                </a:solidFill>
              </a:rPr>
              <a:t>іменами ролей</a:t>
            </a:r>
            <a:r>
              <a:rPr lang="uk-UA" dirty="0">
                <a:solidFill>
                  <a:prstClr val="black"/>
                </a:solidFill>
              </a:rPr>
              <a:t>, які грають об'єкти в даному взаємозв'язку. </a:t>
            </a:r>
          </a:p>
          <a:p>
            <a:pPr lvl="0">
              <a:tabLst>
                <a:tab pos="228600" algn="l"/>
                <a:tab pos="539750" algn="l"/>
              </a:tabLst>
            </a:pPr>
            <a:r>
              <a:rPr lang="uk-UA" i="1" dirty="0">
                <a:solidFill>
                  <a:srgbClr val="0000CC"/>
                </a:solidFill>
              </a:rPr>
              <a:t>Динамічні взаємозв'язки</a:t>
            </a:r>
            <a:r>
              <a:rPr lang="uk-UA" dirty="0">
                <a:solidFill>
                  <a:prstClr val="black"/>
                </a:solidFill>
              </a:rPr>
              <a:t>  показують потоки повідомлень у формі стрілок із вказівкою напрямку поруч зі сполучними лініями між об'єктами, при цьому задаються імена повідомлень й їхні порядкові номери в загальній послідовності повідомлень</a:t>
            </a:r>
            <a:r>
              <a:rPr lang="ru-RU" dirty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411413" y="0"/>
            <a:ext cx="38454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Communication diagram</a:t>
            </a:r>
            <a:endParaRPr lang="ru-R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3643604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323850" y="1052513"/>
            <a:ext cx="3708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FFFF00"/>
            </a:outerShdw>
          </a:effectLst>
        </p:spPr>
        <p:txBody>
          <a:bodyPr wrap="none">
            <a:spAutoFit/>
          </a:bodyPr>
          <a:lstStyle/>
          <a:p>
            <a:r>
              <a:rPr lang="uk-UA" sz="2800"/>
              <a:t>Діаграма кооперації</a:t>
            </a:r>
            <a:endParaRPr lang="ru-RU" sz="2800"/>
          </a:p>
        </p:txBody>
      </p:sp>
      <p:graphicFrame>
        <p:nvGraphicFramePr>
          <p:cNvPr id="79879" name="Object 7"/>
          <p:cNvGraphicFramePr>
            <a:graphicFrameLocks noChangeAspect="1"/>
          </p:cNvGraphicFramePr>
          <p:nvPr/>
        </p:nvGraphicFramePr>
        <p:xfrm>
          <a:off x="0" y="633413"/>
          <a:ext cx="9144000" cy="622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Точечный рисунок" r:id="rId3" imgW="5923810" imgH="5590476" progId="Paint.Picture">
                  <p:embed/>
                </p:oleObj>
              </mc:Choice>
              <mc:Fallback>
                <p:oleObj name="Точечный рисунок" r:id="rId3" imgW="5923810" imgH="5590476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3413"/>
                        <a:ext cx="9144000" cy="6224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uk-UA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Приклад 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Communication 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</a:t>
            </a:r>
            <a:endParaRPr lang="ru-R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9881" name="Picture 9" descr="internet-magazin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5852640"/>
            <a:ext cx="1191368" cy="10053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1536129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411413" y="0"/>
            <a:ext cx="374012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Deployment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</a:t>
            </a:r>
            <a:endParaRPr lang="ru-R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72994" y="826002"/>
            <a:ext cx="861266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 smtClean="0"/>
              <a:t>У </a:t>
            </a:r>
            <a:r>
              <a:rPr lang="ru-RU" dirty="0" err="1" smtClean="0"/>
              <a:t>контексті</a:t>
            </a:r>
            <a:r>
              <a:rPr lang="ru-RU" dirty="0" smtClean="0"/>
              <a:t> </a:t>
            </a:r>
            <a:r>
              <a:rPr lang="ru-RU" dirty="0" err="1" smtClean="0"/>
              <a:t>уніфікованої</a:t>
            </a:r>
            <a:r>
              <a:rPr lang="ru-RU" dirty="0" smtClean="0"/>
              <a:t> </a:t>
            </a:r>
            <a:r>
              <a:rPr lang="ru-RU" dirty="0" err="1" smtClean="0"/>
              <a:t>мови</a:t>
            </a:r>
            <a:r>
              <a:rPr lang="ru-RU" dirty="0" smtClean="0"/>
              <a:t> </a:t>
            </a:r>
            <a:r>
              <a:rPr lang="ru-RU" dirty="0" err="1" smtClean="0"/>
              <a:t>моделювання</a:t>
            </a:r>
            <a:r>
              <a:rPr lang="ru-RU" dirty="0" smtClean="0"/>
              <a:t> (UML) </a:t>
            </a:r>
            <a:r>
              <a:rPr lang="ru-RU" dirty="0" err="1" smtClean="0"/>
              <a:t>діаграма</a:t>
            </a:r>
            <a:r>
              <a:rPr lang="ru-RU" dirty="0" smtClean="0"/>
              <a:t> </a:t>
            </a:r>
            <a:r>
              <a:rPr lang="ru-RU" dirty="0" err="1" smtClean="0"/>
              <a:t>розгортання</a:t>
            </a:r>
            <a:r>
              <a:rPr lang="ru-RU" dirty="0" smtClean="0"/>
              <a:t> </a:t>
            </a:r>
            <a:r>
              <a:rPr lang="ru-RU" dirty="0" err="1" smtClean="0"/>
              <a:t>підпадає</a:t>
            </a:r>
            <a:r>
              <a:rPr lang="ru-RU" dirty="0" smtClean="0"/>
              <a:t> </a:t>
            </a:r>
            <a:r>
              <a:rPr lang="ru-RU" dirty="0" err="1" smtClean="0"/>
              <a:t>під</a:t>
            </a:r>
            <a:r>
              <a:rPr lang="ru-RU" dirty="0" smtClean="0"/>
              <a:t> </a:t>
            </a:r>
            <a:r>
              <a:rPr lang="ru-RU" dirty="0" err="1" smtClean="0"/>
              <a:t>сімейство</a:t>
            </a:r>
            <a:r>
              <a:rPr lang="ru-RU" dirty="0" smtClean="0"/>
              <a:t> </a:t>
            </a:r>
            <a:r>
              <a:rPr lang="ru-RU" dirty="0" err="1" smtClean="0"/>
              <a:t>структурних</a:t>
            </a:r>
            <a:r>
              <a:rPr lang="ru-RU" dirty="0" smtClean="0"/>
              <a:t> </a:t>
            </a:r>
            <a:r>
              <a:rPr lang="ru-RU" dirty="0" err="1" smtClean="0"/>
              <a:t>діаграм</a:t>
            </a:r>
            <a:r>
              <a:rPr lang="ru-RU" dirty="0" smtClean="0"/>
              <a:t>, </a:t>
            </a:r>
            <a:r>
              <a:rPr lang="ru-RU" dirty="0" err="1" smtClean="0"/>
              <a:t>оскільки</a:t>
            </a:r>
            <a:r>
              <a:rPr lang="ru-RU" dirty="0" smtClean="0"/>
              <a:t> вона </a:t>
            </a:r>
            <a:r>
              <a:rPr lang="ru-RU" dirty="0" err="1" smtClean="0"/>
              <a:t>описує</a:t>
            </a:r>
            <a:r>
              <a:rPr lang="ru-RU" dirty="0" smtClean="0"/>
              <a:t> аспект </a:t>
            </a:r>
            <a:r>
              <a:rPr lang="ru-RU" dirty="0" err="1" smtClean="0"/>
              <a:t>самої</a:t>
            </a:r>
            <a:r>
              <a:rPr lang="ru-RU" dirty="0" smtClean="0"/>
              <a:t> </a:t>
            </a:r>
            <a:r>
              <a:rPr lang="ru-RU" dirty="0" err="1" smtClean="0"/>
              <a:t>системи</a:t>
            </a:r>
            <a:r>
              <a:rPr lang="ru-RU" dirty="0" smtClean="0"/>
              <a:t>. </a:t>
            </a:r>
            <a:endParaRPr lang="en-US" dirty="0" smtClean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 smtClean="0"/>
              <a:t>У </a:t>
            </a:r>
            <a:r>
              <a:rPr lang="ru-RU" dirty="0" err="1" smtClean="0"/>
              <a:t>цьому</a:t>
            </a:r>
            <a:r>
              <a:rPr lang="ru-RU" dirty="0" smtClean="0"/>
              <a:t> </a:t>
            </a:r>
            <a:r>
              <a:rPr lang="ru-RU" dirty="0" err="1" smtClean="0"/>
              <a:t>випадку</a:t>
            </a:r>
            <a:r>
              <a:rPr lang="ru-RU" dirty="0" smtClean="0"/>
              <a:t> схема </a:t>
            </a:r>
            <a:r>
              <a:rPr lang="ru-RU" dirty="0" err="1" smtClean="0"/>
              <a:t>розгортання</a:t>
            </a:r>
            <a:r>
              <a:rPr lang="ru-RU" dirty="0" smtClean="0"/>
              <a:t> </a:t>
            </a:r>
            <a:r>
              <a:rPr lang="ru-RU" dirty="0" err="1" smtClean="0"/>
              <a:t>описує</a:t>
            </a:r>
            <a:r>
              <a:rPr lang="ru-RU" dirty="0" smtClean="0"/>
              <a:t> </a:t>
            </a:r>
            <a:r>
              <a:rPr lang="ru-RU" dirty="0" err="1" smtClean="0"/>
              <a:t>фізичне</a:t>
            </a:r>
            <a:r>
              <a:rPr lang="ru-RU" dirty="0" smtClean="0"/>
              <a:t> </a:t>
            </a:r>
            <a:r>
              <a:rPr lang="ru-RU" dirty="0" err="1" smtClean="0"/>
              <a:t>розгортання</a:t>
            </a:r>
            <a:r>
              <a:rPr lang="ru-RU" dirty="0" smtClean="0"/>
              <a:t> </a:t>
            </a:r>
            <a:r>
              <a:rPr lang="ru-RU" dirty="0" err="1" smtClean="0"/>
              <a:t>інформації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генерується</a:t>
            </a:r>
            <a:r>
              <a:rPr lang="ru-RU" dirty="0" smtClean="0"/>
              <a:t> </a:t>
            </a:r>
            <a:r>
              <a:rPr lang="ru-RU" dirty="0" err="1" smtClean="0"/>
              <a:t>програмним</a:t>
            </a:r>
            <a:r>
              <a:rPr lang="ru-RU" dirty="0" smtClean="0"/>
              <a:t> </a:t>
            </a:r>
            <a:r>
              <a:rPr lang="ru-RU" dirty="0" err="1" smtClean="0"/>
              <a:t>забезпеченням</a:t>
            </a:r>
            <a:r>
              <a:rPr lang="ru-RU" dirty="0" smtClean="0"/>
              <a:t> на </a:t>
            </a:r>
            <a:r>
              <a:rPr lang="ru-RU" dirty="0" err="1" smtClean="0"/>
              <a:t>апаратних</a:t>
            </a:r>
            <a:r>
              <a:rPr lang="ru-RU" dirty="0" smtClean="0"/>
              <a:t> компонентах. </a:t>
            </a:r>
            <a:endParaRPr lang="en-US" dirty="0" smtClean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 err="1" smtClean="0"/>
              <a:t>Діаграми</a:t>
            </a:r>
            <a:r>
              <a:rPr lang="ru-RU" dirty="0" smtClean="0"/>
              <a:t> </a:t>
            </a:r>
            <a:r>
              <a:rPr lang="ru-RU" dirty="0" err="1" smtClean="0"/>
              <a:t>розгортання</a:t>
            </a:r>
            <a:r>
              <a:rPr lang="ru-RU" dirty="0" smtClean="0"/>
              <a:t> </a:t>
            </a:r>
            <a:r>
              <a:rPr lang="ru-RU" dirty="0" err="1" smtClean="0"/>
              <a:t>складаються</a:t>
            </a:r>
            <a:r>
              <a:rPr lang="ru-RU" dirty="0" smtClean="0"/>
              <a:t> з </a:t>
            </a:r>
            <a:r>
              <a:rPr lang="ru-RU" dirty="0" err="1" smtClean="0"/>
              <a:t>декількох</a:t>
            </a:r>
            <a:r>
              <a:rPr lang="ru-RU" dirty="0" smtClean="0"/>
              <a:t> </a:t>
            </a:r>
            <a:r>
              <a:rPr lang="uk-UA" dirty="0" smtClean="0"/>
              <a:t>фігур </a:t>
            </a:r>
            <a:r>
              <a:rPr lang="en-US" dirty="0" smtClean="0"/>
              <a:t>UML. </a:t>
            </a:r>
            <a:endParaRPr lang="uk-UA" dirty="0" smtClean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 err="1" smtClean="0"/>
              <a:t>Тривимірні</a:t>
            </a:r>
            <a:r>
              <a:rPr lang="ru-RU" dirty="0" smtClean="0"/>
              <a:t> коробки, </a:t>
            </a:r>
            <a:r>
              <a:rPr lang="ru-RU" dirty="0" err="1" smtClean="0"/>
              <a:t>відомі</a:t>
            </a:r>
            <a:r>
              <a:rPr lang="ru-RU" dirty="0" smtClean="0"/>
              <a:t> як </a:t>
            </a:r>
            <a:r>
              <a:rPr lang="ru-RU" dirty="0" err="1" smtClean="0"/>
              <a:t>вузли</a:t>
            </a:r>
            <a:r>
              <a:rPr lang="ru-RU" dirty="0" smtClean="0"/>
              <a:t>, </a:t>
            </a:r>
            <a:r>
              <a:rPr lang="ru-RU" dirty="0" err="1" smtClean="0"/>
              <a:t>являють</a:t>
            </a:r>
            <a:r>
              <a:rPr lang="ru-RU" dirty="0" smtClean="0"/>
              <a:t> собою </a:t>
            </a:r>
            <a:r>
              <a:rPr lang="ru-RU" dirty="0" err="1" smtClean="0"/>
              <a:t>основні</a:t>
            </a:r>
            <a:r>
              <a:rPr lang="ru-RU" dirty="0" smtClean="0"/>
              <a:t> </a:t>
            </a:r>
            <a:r>
              <a:rPr lang="ru-RU" dirty="0" err="1" smtClean="0"/>
              <a:t>програмні</a:t>
            </a:r>
            <a:r>
              <a:rPr lang="ru-RU" dirty="0" smtClean="0"/>
              <a:t> </a:t>
            </a:r>
            <a:r>
              <a:rPr lang="ru-RU" dirty="0" err="1" smtClean="0"/>
              <a:t>або</a:t>
            </a:r>
            <a:r>
              <a:rPr lang="ru-RU" dirty="0" smtClean="0"/>
              <a:t> </a:t>
            </a:r>
            <a:r>
              <a:rPr lang="ru-RU" dirty="0" err="1" smtClean="0"/>
              <a:t>апаратні</a:t>
            </a:r>
            <a:r>
              <a:rPr lang="ru-RU" dirty="0" smtClean="0"/>
              <a:t> </a:t>
            </a:r>
            <a:r>
              <a:rPr lang="ru-RU" dirty="0" err="1" smtClean="0"/>
              <a:t>елементи</a:t>
            </a:r>
            <a:r>
              <a:rPr lang="ru-RU" dirty="0" smtClean="0"/>
              <a:t>, </a:t>
            </a:r>
            <a:r>
              <a:rPr lang="ru-RU" dirty="0" err="1" smtClean="0"/>
              <a:t>або</a:t>
            </a:r>
            <a:r>
              <a:rPr lang="ru-RU" dirty="0" smtClean="0"/>
              <a:t> </a:t>
            </a:r>
            <a:r>
              <a:rPr lang="ru-RU" dirty="0" err="1" smtClean="0"/>
              <a:t>вузли</a:t>
            </a:r>
            <a:r>
              <a:rPr lang="ru-RU" dirty="0" smtClean="0"/>
              <a:t>, в </a:t>
            </a:r>
            <a:r>
              <a:rPr lang="ru-RU" dirty="0" err="1" smtClean="0"/>
              <a:t>системі</a:t>
            </a:r>
            <a:r>
              <a:rPr lang="ru-RU" dirty="0" smtClean="0"/>
              <a:t>.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 err="1" smtClean="0"/>
              <a:t>Лінії</a:t>
            </a:r>
            <a:r>
              <a:rPr lang="ru-RU" dirty="0" smtClean="0"/>
              <a:t> </a:t>
            </a:r>
            <a:r>
              <a:rPr lang="ru-RU" dirty="0" err="1" smtClean="0"/>
              <a:t>від</a:t>
            </a:r>
            <a:r>
              <a:rPr lang="ru-RU" dirty="0" smtClean="0"/>
              <a:t> </a:t>
            </a:r>
            <a:r>
              <a:rPr lang="ru-RU" dirty="0" err="1" smtClean="0"/>
              <a:t>вузла</a:t>
            </a:r>
            <a:r>
              <a:rPr lang="ru-RU" dirty="0" smtClean="0"/>
              <a:t> до </a:t>
            </a:r>
            <a:r>
              <a:rPr lang="ru-RU" dirty="0" err="1" smtClean="0"/>
              <a:t>вузла</a:t>
            </a:r>
            <a:r>
              <a:rPr lang="ru-RU" dirty="0" smtClean="0"/>
              <a:t> </a:t>
            </a:r>
            <a:r>
              <a:rPr lang="ru-RU" dirty="0" err="1" smtClean="0"/>
              <a:t>вказують</a:t>
            </a:r>
            <a:r>
              <a:rPr lang="ru-RU" dirty="0" smtClean="0"/>
              <a:t> на </a:t>
            </a:r>
            <a:r>
              <a:rPr lang="ru-RU" dirty="0" err="1" smtClean="0"/>
              <a:t>відносини</a:t>
            </a:r>
            <a:r>
              <a:rPr lang="ru-RU" dirty="0" smtClean="0"/>
              <a:t>, а </a:t>
            </a:r>
            <a:r>
              <a:rPr lang="ru-RU" dirty="0" err="1" smtClean="0"/>
              <a:t>менші</a:t>
            </a:r>
            <a:r>
              <a:rPr lang="ru-RU" dirty="0" smtClean="0"/>
              <a:t> </a:t>
            </a:r>
            <a:r>
              <a:rPr lang="ru-RU" dirty="0" err="1" smtClean="0"/>
              <a:t>фігури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містяться</a:t>
            </a:r>
            <a:r>
              <a:rPr lang="ru-RU" dirty="0" smtClean="0"/>
              <a:t> в полях, </a:t>
            </a:r>
            <a:r>
              <a:rPr lang="ru-RU" dirty="0" err="1" smtClean="0"/>
              <a:t>являють</a:t>
            </a:r>
            <a:r>
              <a:rPr lang="ru-RU" dirty="0" smtClean="0"/>
              <a:t> собою </a:t>
            </a:r>
            <a:r>
              <a:rPr lang="ru-RU" dirty="0" err="1" smtClean="0"/>
              <a:t>артефакти</a:t>
            </a:r>
            <a:r>
              <a:rPr lang="ru-RU" dirty="0" smtClean="0"/>
              <a:t> </a:t>
            </a:r>
            <a:r>
              <a:rPr lang="ru-RU" dirty="0" err="1" smtClean="0"/>
              <a:t>програмного</a:t>
            </a:r>
            <a:r>
              <a:rPr lang="ru-RU" dirty="0" smtClean="0"/>
              <a:t> </a:t>
            </a:r>
            <a:r>
              <a:rPr lang="ru-RU" dirty="0" err="1" smtClean="0"/>
              <a:t>забезпечення</a:t>
            </a:r>
            <a:r>
              <a:rPr lang="ru-RU" dirty="0" smtClean="0"/>
              <a:t>, </a:t>
            </a:r>
            <a:r>
              <a:rPr lang="ru-RU" dirty="0" err="1" smtClean="0"/>
              <a:t>які</a:t>
            </a:r>
            <a:r>
              <a:rPr lang="ru-RU" dirty="0" smtClean="0"/>
              <a:t> </a:t>
            </a:r>
            <a:r>
              <a:rPr lang="ru-RU" dirty="0" err="1" smtClean="0"/>
              <a:t>розгортаються</a:t>
            </a:r>
            <a:r>
              <a:rPr lang="ru-RU" dirty="0" smtClean="0"/>
              <a:t>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 err="1" smtClean="0"/>
              <a:t>Діаграми</a:t>
            </a:r>
            <a:r>
              <a:rPr lang="ru-RU" dirty="0" smtClean="0"/>
              <a:t> </a:t>
            </a:r>
            <a:r>
              <a:rPr lang="ru-RU" dirty="0" err="1" smtClean="0"/>
              <a:t>розгортання</a:t>
            </a:r>
            <a:r>
              <a:rPr lang="ru-RU" dirty="0" smtClean="0"/>
              <a:t> </a:t>
            </a:r>
            <a:r>
              <a:rPr lang="ru-RU" dirty="0" err="1" smtClean="0"/>
              <a:t>застосовуються</a:t>
            </a:r>
            <a:r>
              <a:rPr lang="ru-RU" dirty="0" smtClean="0"/>
              <a:t> для </a:t>
            </a:r>
            <a:r>
              <a:rPr lang="ru-RU" dirty="0" err="1" smtClean="0"/>
              <a:t>зображення</a:t>
            </a:r>
            <a:r>
              <a:rPr lang="ru-RU" dirty="0" smtClean="0"/>
              <a:t> </a:t>
            </a:r>
            <a:r>
              <a:rPr lang="ru-RU" dirty="0" err="1" smtClean="0"/>
              <a:t>елементів</a:t>
            </a:r>
            <a:r>
              <a:rPr lang="ru-RU" dirty="0" smtClean="0"/>
              <a:t> </a:t>
            </a:r>
            <a:r>
              <a:rPr lang="ru-RU" dirty="0" err="1" smtClean="0"/>
              <a:t>програмного</a:t>
            </a:r>
            <a:r>
              <a:rPr lang="ru-RU" dirty="0" smtClean="0"/>
              <a:t> </a:t>
            </a:r>
            <a:r>
              <a:rPr lang="ru-RU" dirty="0" err="1" smtClean="0"/>
              <a:t>забезпечення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розгортаються</a:t>
            </a:r>
            <a:r>
              <a:rPr lang="ru-RU" dirty="0" smtClean="0"/>
              <a:t>, на </a:t>
            </a:r>
            <a:r>
              <a:rPr lang="ru-RU" dirty="0" err="1" smtClean="0"/>
              <a:t>певних</a:t>
            </a:r>
            <a:r>
              <a:rPr lang="ru-RU" dirty="0" smtClean="0"/>
              <a:t> </a:t>
            </a:r>
            <a:r>
              <a:rPr lang="ru-RU" dirty="0" err="1" smtClean="0"/>
              <a:t>елементах</a:t>
            </a:r>
            <a:r>
              <a:rPr lang="ru-RU" dirty="0" smtClean="0"/>
              <a:t> </a:t>
            </a:r>
            <a:r>
              <a:rPr lang="ru-RU" dirty="0" err="1" smtClean="0"/>
              <a:t>апаратного</a:t>
            </a:r>
            <a:r>
              <a:rPr lang="ru-RU" dirty="0" smtClean="0"/>
              <a:t> </a:t>
            </a:r>
            <a:r>
              <a:rPr lang="ru-RU" dirty="0" err="1" smtClean="0"/>
              <a:t>забезпечення</a:t>
            </a:r>
            <a:r>
              <a:rPr lang="ru-RU" dirty="0" smtClean="0"/>
              <a:t>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 smtClean="0"/>
              <a:t>Для </a:t>
            </a:r>
            <a:r>
              <a:rPr lang="ru-RU" dirty="0" err="1" smtClean="0"/>
              <a:t>ілюстрації</a:t>
            </a:r>
            <a:r>
              <a:rPr lang="ru-RU" dirty="0" smtClean="0"/>
              <a:t> </a:t>
            </a:r>
            <a:r>
              <a:rPr lang="ru-RU" dirty="0" err="1" smtClean="0"/>
              <a:t>процесу</a:t>
            </a:r>
            <a:r>
              <a:rPr lang="ru-RU" dirty="0" smtClean="0"/>
              <a:t> </a:t>
            </a:r>
            <a:r>
              <a:rPr lang="ru-RU" dirty="0" err="1" smtClean="0"/>
              <a:t>виконання</a:t>
            </a:r>
            <a:r>
              <a:rPr lang="ru-RU" dirty="0" smtClean="0"/>
              <a:t> ПЗ на </a:t>
            </a:r>
            <a:r>
              <a:rPr lang="ru-RU" dirty="0" err="1" smtClean="0"/>
              <a:t>апаратних</a:t>
            </a:r>
            <a:r>
              <a:rPr lang="ru-RU" dirty="0" smtClean="0"/>
              <a:t> </a:t>
            </a:r>
            <a:r>
              <a:rPr lang="ru-RU" dirty="0" err="1" smtClean="0"/>
              <a:t>засобах</a:t>
            </a:r>
            <a:r>
              <a:rPr lang="ru-RU" dirty="0" smtClean="0"/>
              <a:t>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 smtClean="0"/>
              <a:t>Для </a:t>
            </a:r>
            <a:r>
              <a:rPr lang="ru-RU" dirty="0" err="1" smtClean="0"/>
              <a:t>зображення</a:t>
            </a:r>
            <a:r>
              <a:rPr lang="ru-RU" dirty="0" smtClean="0"/>
              <a:t> </a:t>
            </a:r>
            <a:r>
              <a:rPr lang="ru-RU" dirty="0" err="1" smtClean="0"/>
              <a:t>топології</a:t>
            </a:r>
            <a:r>
              <a:rPr lang="ru-RU" dirty="0" smtClean="0"/>
              <a:t> </a:t>
            </a:r>
            <a:r>
              <a:rPr lang="ru-RU" dirty="0" err="1" smtClean="0"/>
              <a:t>апаратної</a:t>
            </a:r>
            <a:r>
              <a:rPr lang="ru-RU" dirty="0" smtClean="0"/>
              <a:t> </a:t>
            </a:r>
            <a:r>
              <a:rPr lang="ru-RU" dirty="0" err="1" smtClean="0"/>
              <a:t>системи</a:t>
            </a:r>
            <a:r>
              <a:rPr lang="ru-RU" dirty="0" smtClean="0"/>
              <a:t>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044996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411413" y="0"/>
            <a:ext cx="374012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Deployment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</a:t>
            </a:r>
            <a:endParaRPr lang="ru-R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8" y="786584"/>
            <a:ext cx="7176701" cy="545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6327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uk-UA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Елементи 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Deployment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</a:t>
            </a:r>
            <a:endParaRPr lang="ru-R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921744"/>
            <a:ext cx="9008076" cy="4508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b="1" dirty="0" smtClean="0"/>
              <a:t>Артефакт</a:t>
            </a:r>
            <a:r>
              <a:rPr lang="ru-RU" dirty="0" smtClean="0"/>
              <a:t>: Продукт, </a:t>
            </a:r>
            <a:r>
              <a:rPr lang="ru-RU" dirty="0" err="1" smtClean="0"/>
              <a:t>розроблений</a:t>
            </a:r>
            <a:r>
              <a:rPr lang="ru-RU" dirty="0" smtClean="0"/>
              <a:t> </a:t>
            </a:r>
            <a:r>
              <a:rPr lang="ru-RU" dirty="0" err="1" smtClean="0"/>
              <a:t>програмним</a:t>
            </a:r>
            <a:r>
              <a:rPr lang="ru-RU" dirty="0" smtClean="0"/>
              <a:t> </a:t>
            </a:r>
            <a:r>
              <a:rPr lang="ru-RU" dirty="0" err="1" smtClean="0"/>
              <a:t>забезпеченням</a:t>
            </a:r>
            <a:r>
              <a:rPr lang="ru-RU" dirty="0" smtClean="0"/>
              <a:t>, </a:t>
            </a:r>
            <a:r>
              <a:rPr lang="ru-RU" dirty="0" err="1" smtClean="0"/>
              <a:t>символізується</a:t>
            </a:r>
            <a:r>
              <a:rPr lang="ru-RU" dirty="0" smtClean="0"/>
              <a:t> </a:t>
            </a:r>
            <a:r>
              <a:rPr lang="ru-RU" dirty="0" err="1" smtClean="0"/>
              <a:t>прямокутником</a:t>
            </a:r>
            <a:r>
              <a:rPr lang="ru-RU" dirty="0" smtClean="0"/>
              <a:t> з </a:t>
            </a:r>
            <a:r>
              <a:rPr lang="ru-RU" dirty="0" err="1" smtClean="0"/>
              <a:t>ім'ям</a:t>
            </a:r>
            <a:r>
              <a:rPr lang="ru-RU" dirty="0" smtClean="0"/>
              <a:t> і словом "артефакт", </a:t>
            </a:r>
            <a:r>
              <a:rPr lang="ru-RU" dirty="0" err="1" smtClean="0"/>
              <a:t>укладеним</a:t>
            </a:r>
            <a:r>
              <a:rPr lang="ru-RU" dirty="0" smtClean="0"/>
              <a:t> </a:t>
            </a:r>
            <a:r>
              <a:rPr lang="ru-RU" dirty="0" err="1" smtClean="0"/>
              <a:t>подвійними</a:t>
            </a:r>
            <a:r>
              <a:rPr lang="ru-RU" dirty="0" smtClean="0"/>
              <a:t> </a:t>
            </a:r>
            <a:r>
              <a:rPr lang="ru-RU" dirty="0" err="1" smtClean="0"/>
              <a:t>стрілками</a:t>
            </a:r>
            <a:r>
              <a:rPr lang="ru-RU" dirty="0" smtClean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b="1" dirty="0" err="1" smtClean="0"/>
              <a:t>Асоціація</a:t>
            </a:r>
            <a:r>
              <a:rPr lang="ru-RU" dirty="0" smtClean="0"/>
              <a:t>: </a:t>
            </a:r>
            <a:r>
              <a:rPr lang="ru-RU" dirty="0" err="1" smtClean="0"/>
              <a:t>Лінія</a:t>
            </a:r>
            <a:r>
              <a:rPr lang="ru-RU" dirty="0" smtClean="0"/>
              <a:t>, яка </a:t>
            </a:r>
            <a:r>
              <a:rPr lang="ru-RU" dirty="0" err="1" smtClean="0"/>
              <a:t>вказує</a:t>
            </a:r>
            <a:r>
              <a:rPr lang="ru-RU" dirty="0" smtClean="0"/>
              <a:t> </a:t>
            </a:r>
            <a:r>
              <a:rPr lang="ru-RU" dirty="0" err="1" smtClean="0"/>
              <a:t>повідомлення</a:t>
            </a:r>
            <a:r>
              <a:rPr lang="ru-RU" dirty="0" smtClean="0"/>
              <a:t> </a:t>
            </a:r>
            <a:r>
              <a:rPr lang="ru-RU" dirty="0" err="1" smtClean="0"/>
              <a:t>або</a:t>
            </a:r>
            <a:r>
              <a:rPr lang="ru-RU" dirty="0" smtClean="0"/>
              <a:t> </a:t>
            </a:r>
            <a:r>
              <a:rPr lang="ru-RU" dirty="0" err="1" smtClean="0"/>
              <a:t>інший</a:t>
            </a:r>
            <a:r>
              <a:rPr lang="ru-RU" dirty="0" smtClean="0"/>
              <a:t> тип </a:t>
            </a:r>
            <a:r>
              <a:rPr lang="ru-RU" dirty="0" err="1" smtClean="0"/>
              <a:t>зв'язку</a:t>
            </a:r>
            <a:r>
              <a:rPr lang="ru-RU" dirty="0" smtClean="0"/>
              <a:t> </a:t>
            </a:r>
            <a:r>
              <a:rPr lang="ru-RU" dirty="0" err="1" smtClean="0"/>
              <a:t>між</a:t>
            </a:r>
            <a:r>
              <a:rPr lang="ru-RU" dirty="0" smtClean="0"/>
              <a:t> </a:t>
            </a:r>
            <a:r>
              <a:rPr lang="ru-RU" dirty="0" err="1" smtClean="0"/>
              <a:t>вузлами</a:t>
            </a:r>
            <a:r>
              <a:rPr lang="ru-RU" dirty="0" smtClean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b="1" dirty="0" smtClean="0"/>
              <a:t>Компонент</a:t>
            </a:r>
            <a:r>
              <a:rPr lang="ru-RU" dirty="0" smtClean="0"/>
              <a:t>: </a:t>
            </a:r>
            <a:r>
              <a:rPr lang="ru-RU" dirty="0" err="1" smtClean="0"/>
              <a:t>прямокутник</a:t>
            </a:r>
            <a:r>
              <a:rPr lang="ru-RU" dirty="0" smtClean="0"/>
              <a:t> з </a:t>
            </a:r>
            <a:r>
              <a:rPr lang="ru-RU" dirty="0" err="1" smtClean="0"/>
              <a:t>двома</a:t>
            </a:r>
            <a:r>
              <a:rPr lang="ru-RU" dirty="0" smtClean="0"/>
              <a:t> вкладками,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вказує</a:t>
            </a:r>
            <a:r>
              <a:rPr lang="ru-RU" dirty="0" smtClean="0"/>
              <a:t> на </a:t>
            </a:r>
            <a:r>
              <a:rPr lang="ru-RU" dirty="0" err="1" smtClean="0"/>
              <a:t>елемент</a:t>
            </a:r>
            <a:r>
              <a:rPr lang="ru-RU" dirty="0" smtClean="0"/>
              <a:t> </a:t>
            </a:r>
            <a:r>
              <a:rPr lang="ru-RU" dirty="0" err="1" smtClean="0"/>
              <a:t>програмного</a:t>
            </a:r>
            <a:r>
              <a:rPr lang="ru-RU" dirty="0" smtClean="0"/>
              <a:t> </a:t>
            </a:r>
            <a:r>
              <a:rPr lang="ru-RU" dirty="0" err="1" smtClean="0"/>
              <a:t>забезпечення</a:t>
            </a:r>
            <a:r>
              <a:rPr lang="ru-RU" dirty="0" smtClean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b="1" dirty="0" err="1" smtClean="0"/>
              <a:t>Залежність</a:t>
            </a:r>
            <a:r>
              <a:rPr lang="ru-RU" dirty="0" smtClean="0"/>
              <a:t>: пунктирна </a:t>
            </a:r>
            <a:r>
              <a:rPr lang="ru-RU" dirty="0" err="1" smtClean="0"/>
              <a:t>лінія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закінчується</a:t>
            </a:r>
            <a:r>
              <a:rPr lang="ru-RU" dirty="0" smtClean="0"/>
              <a:t> </a:t>
            </a:r>
            <a:r>
              <a:rPr lang="ru-RU" dirty="0" err="1" smtClean="0"/>
              <a:t>стрілкою</a:t>
            </a:r>
            <a:r>
              <a:rPr lang="ru-RU" dirty="0" smtClean="0"/>
              <a:t>, яка </a:t>
            </a:r>
            <a:r>
              <a:rPr lang="ru-RU" dirty="0" err="1" smtClean="0"/>
              <a:t>вказує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один </a:t>
            </a:r>
            <a:r>
              <a:rPr lang="ru-RU" dirty="0" err="1" smtClean="0"/>
              <a:t>вузол</a:t>
            </a:r>
            <a:r>
              <a:rPr lang="ru-RU" dirty="0" smtClean="0"/>
              <a:t> </a:t>
            </a:r>
            <a:r>
              <a:rPr lang="ru-RU" dirty="0" err="1" smtClean="0"/>
              <a:t>або</a:t>
            </a:r>
            <a:r>
              <a:rPr lang="ru-RU" dirty="0" smtClean="0"/>
              <a:t> компонент </a:t>
            </a:r>
            <a:r>
              <a:rPr lang="ru-RU" dirty="0" err="1" smtClean="0"/>
              <a:t>залежить</a:t>
            </a:r>
            <a:r>
              <a:rPr lang="ru-RU" dirty="0" smtClean="0"/>
              <a:t> </a:t>
            </a:r>
            <a:r>
              <a:rPr lang="ru-RU" dirty="0" err="1" smtClean="0"/>
              <a:t>від</a:t>
            </a:r>
            <a:r>
              <a:rPr lang="ru-RU" dirty="0" smtClean="0"/>
              <a:t> </a:t>
            </a:r>
            <a:r>
              <a:rPr lang="ru-RU" dirty="0" err="1" smtClean="0"/>
              <a:t>іншого</a:t>
            </a:r>
            <a:r>
              <a:rPr lang="ru-RU" dirty="0" smtClean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b="1" dirty="0" err="1" smtClean="0"/>
              <a:t>Інтерфейс</a:t>
            </a:r>
            <a:r>
              <a:rPr lang="ru-RU" dirty="0" smtClean="0"/>
              <a:t>: коло,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вказує</a:t>
            </a:r>
            <a:r>
              <a:rPr lang="ru-RU" dirty="0" smtClean="0"/>
              <a:t> на </a:t>
            </a:r>
            <a:r>
              <a:rPr lang="ru-RU" dirty="0" err="1" smtClean="0"/>
              <a:t>договірні</a:t>
            </a:r>
            <a:r>
              <a:rPr lang="ru-RU" dirty="0" smtClean="0"/>
              <a:t> </a:t>
            </a:r>
            <a:r>
              <a:rPr lang="ru-RU" dirty="0" err="1" smtClean="0"/>
              <a:t>відносини</a:t>
            </a:r>
            <a:r>
              <a:rPr lang="ru-RU" dirty="0" smtClean="0"/>
              <a:t>. </a:t>
            </a:r>
            <a:r>
              <a:rPr lang="ru-RU" dirty="0" err="1" smtClean="0"/>
              <a:t>Ті</a:t>
            </a:r>
            <a:r>
              <a:rPr lang="ru-RU" dirty="0" smtClean="0"/>
              <a:t> </a:t>
            </a:r>
            <a:r>
              <a:rPr lang="ru-RU" dirty="0" err="1" smtClean="0"/>
              <a:t>об'єкти</a:t>
            </a:r>
            <a:r>
              <a:rPr lang="ru-RU" dirty="0" smtClean="0"/>
              <a:t>, </a:t>
            </a:r>
            <a:r>
              <a:rPr lang="ru-RU" dirty="0" err="1" smtClean="0"/>
              <a:t>які</a:t>
            </a:r>
            <a:r>
              <a:rPr lang="ru-RU" dirty="0" smtClean="0"/>
              <a:t> </a:t>
            </a:r>
            <a:r>
              <a:rPr lang="ru-RU" dirty="0" err="1" smtClean="0"/>
              <a:t>реалізують</a:t>
            </a:r>
            <a:r>
              <a:rPr lang="ru-RU" dirty="0" smtClean="0"/>
              <a:t> </a:t>
            </a:r>
            <a:r>
              <a:rPr lang="ru-RU" dirty="0" err="1" smtClean="0"/>
              <a:t>інтерфейс</a:t>
            </a:r>
            <a:r>
              <a:rPr lang="ru-RU" dirty="0" smtClean="0"/>
              <a:t>, </a:t>
            </a:r>
            <a:r>
              <a:rPr lang="ru-RU" dirty="0" err="1" smtClean="0"/>
              <a:t>повинні</a:t>
            </a:r>
            <a:r>
              <a:rPr lang="ru-RU" dirty="0" smtClean="0"/>
              <a:t> </a:t>
            </a:r>
            <a:r>
              <a:rPr lang="ru-RU" dirty="0" err="1" smtClean="0"/>
              <a:t>виконати</a:t>
            </a:r>
            <a:r>
              <a:rPr lang="ru-RU" dirty="0" smtClean="0"/>
              <a:t> </a:t>
            </a:r>
            <a:r>
              <a:rPr lang="ru-RU" dirty="0" err="1" smtClean="0"/>
              <a:t>певні</a:t>
            </a:r>
            <a:r>
              <a:rPr lang="ru-RU" dirty="0" smtClean="0"/>
              <a:t> </a:t>
            </a:r>
            <a:r>
              <a:rPr lang="ru-RU" dirty="0" err="1" smtClean="0"/>
              <a:t>зобов'язання</a:t>
            </a:r>
            <a:r>
              <a:rPr lang="ru-RU" dirty="0" smtClean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b="1" dirty="0" err="1" smtClean="0"/>
              <a:t>Вузол</a:t>
            </a:r>
            <a:r>
              <a:rPr lang="ru-RU" dirty="0" smtClean="0"/>
              <a:t>: </a:t>
            </a:r>
            <a:r>
              <a:rPr lang="ru-RU" dirty="0" err="1" smtClean="0"/>
              <a:t>апаратний</a:t>
            </a:r>
            <a:r>
              <a:rPr lang="ru-RU" dirty="0" smtClean="0"/>
              <a:t> </a:t>
            </a:r>
            <a:r>
              <a:rPr lang="ru-RU" dirty="0" err="1" smtClean="0"/>
              <a:t>або</a:t>
            </a:r>
            <a:r>
              <a:rPr lang="ru-RU" dirty="0" smtClean="0"/>
              <a:t> </a:t>
            </a:r>
            <a:r>
              <a:rPr lang="ru-RU" dirty="0" err="1" smtClean="0"/>
              <a:t>програмний</a:t>
            </a:r>
            <a:r>
              <a:rPr lang="ru-RU" dirty="0" smtClean="0"/>
              <a:t> </a:t>
            </a:r>
            <a:r>
              <a:rPr lang="ru-RU" dirty="0" err="1" smtClean="0"/>
              <a:t>об'єкт</a:t>
            </a:r>
            <a:r>
              <a:rPr lang="ru-RU" dirty="0" smtClean="0"/>
              <a:t>, показаний </a:t>
            </a:r>
            <a:r>
              <a:rPr lang="ru-RU" dirty="0" err="1" smtClean="0"/>
              <a:t>тривимірним</a:t>
            </a:r>
            <a:r>
              <a:rPr lang="ru-RU" dirty="0" smtClean="0"/>
              <a:t> </a:t>
            </a:r>
            <a:r>
              <a:rPr lang="ru-RU" dirty="0" err="1" smtClean="0"/>
              <a:t>вікном</a:t>
            </a:r>
            <a:r>
              <a:rPr lang="ru-RU" dirty="0" smtClean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b="1" dirty="0" err="1" smtClean="0"/>
              <a:t>Вузол</a:t>
            </a:r>
            <a:r>
              <a:rPr lang="ru-RU" b="1" dirty="0" smtClean="0"/>
              <a:t> як контейнер</a:t>
            </a:r>
            <a:r>
              <a:rPr lang="ru-RU" dirty="0" smtClean="0"/>
              <a:t>: </a:t>
            </a:r>
            <a:r>
              <a:rPr lang="ru-RU" dirty="0" err="1" smtClean="0"/>
              <a:t>Вузол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містить</a:t>
            </a:r>
            <a:r>
              <a:rPr lang="ru-RU" dirty="0" smtClean="0"/>
              <a:t> </a:t>
            </a:r>
            <a:r>
              <a:rPr lang="ru-RU" dirty="0" err="1" smtClean="0"/>
              <a:t>інший</a:t>
            </a:r>
            <a:r>
              <a:rPr lang="ru-RU" dirty="0" smtClean="0"/>
              <a:t> </a:t>
            </a:r>
            <a:r>
              <a:rPr lang="ru-RU" dirty="0" err="1" smtClean="0"/>
              <a:t>вузол</a:t>
            </a:r>
            <a:r>
              <a:rPr lang="ru-RU" dirty="0" smtClean="0"/>
              <a:t> </a:t>
            </a:r>
            <a:r>
              <a:rPr lang="ru-RU" dirty="0" err="1" smtClean="0"/>
              <a:t>всередині</a:t>
            </a:r>
            <a:r>
              <a:rPr lang="ru-RU" dirty="0" smtClean="0"/>
              <a:t> </a:t>
            </a:r>
            <a:r>
              <a:rPr lang="ru-RU" dirty="0" err="1" smtClean="0"/>
              <a:t>нього</a:t>
            </a:r>
            <a:r>
              <a:rPr lang="ru-RU" dirty="0" smtClean="0"/>
              <a:t> - </a:t>
            </a:r>
            <a:r>
              <a:rPr lang="ru-RU" dirty="0" err="1" smtClean="0"/>
              <a:t>наприклад</a:t>
            </a:r>
            <a:r>
              <a:rPr lang="ru-RU" dirty="0" smtClean="0"/>
              <a:t>, у </a:t>
            </a:r>
            <a:r>
              <a:rPr lang="ru-RU" dirty="0" err="1" smtClean="0"/>
              <a:t>прикладі</a:t>
            </a:r>
            <a:r>
              <a:rPr lang="ru-RU" dirty="0" smtClean="0"/>
              <a:t> </a:t>
            </a:r>
            <a:r>
              <a:rPr lang="ru-RU" dirty="0" err="1" smtClean="0"/>
              <a:t>нижче</a:t>
            </a:r>
            <a:r>
              <a:rPr lang="ru-RU" dirty="0" smtClean="0"/>
              <a:t>, де </a:t>
            </a:r>
            <a:r>
              <a:rPr lang="ru-RU" dirty="0" err="1" smtClean="0"/>
              <a:t>вузли</a:t>
            </a:r>
            <a:r>
              <a:rPr lang="ru-RU" dirty="0" smtClean="0"/>
              <a:t> </a:t>
            </a:r>
            <a:r>
              <a:rPr lang="ru-RU" dirty="0" err="1" smtClean="0"/>
              <a:t>містять</a:t>
            </a:r>
            <a:r>
              <a:rPr lang="ru-RU" dirty="0" smtClean="0"/>
              <a:t> </a:t>
            </a:r>
            <a:r>
              <a:rPr lang="ru-RU" dirty="0" err="1" smtClean="0"/>
              <a:t>компоненти</a:t>
            </a:r>
            <a:r>
              <a:rPr lang="ru-RU" dirty="0" smtClean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b="1" dirty="0" smtClean="0"/>
              <a:t>Стереотип</a:t>
            </a:r>
            <a:r>
              <a:rPr lang="ru-RU" dirty="0" smtClean="0"/>
              <a:t>: </a:t>
            </a:r>
            <a:r>
              <a:rPr lang="ru-RU" dirty="0" err="1" smtClean="0"/>
              <a:t>Пристрій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міститься</a:t>
            </a:r>
            <a:r>
              <a:rPr lang="ru-RU" dirty="0" smtClean="0"/>
              <a:t> </a:t>
            </a:r>
            <a:r>
              <a:rPr lang="ru-RU" dirty="0" err="1" smtClean="0"/>
              <a:t>всередині</a:t>
            </a:r>
            <a:r>
              <a:rPr lang="ru-RU" dirty="0" smtClean="0"/>
              <a:t> </a:t>
            </a:r>
            <a:r>
              <a:rPr lang="ru-RU" dirty="0" err="1" smtClean="0"/>
              <a:t>вузла</a:t>
            </a:r>
            <a:r>
              <a:rPr lang="ru-RU" dirty="0" smtClean="0"/>
              <a:t>, представлений у </a:t>
            </a:r>
            <a:r>
              <a:rPr lang="ru-RU" dirty="0" err="1" smtClean="0"/>
              <a:t>верхній</a:t>
            </a:r>
            <a:r>
              <a:rPr lang="ru-RU" dirty="0" smtClean="0"/>
              <a:t> </a:t>
            </a:r>
            <a:r>
              <a:rPr lang="ru-RU" dirty="0" err="1" smtClean="0"/>
              <a:t>частині</a:t>
            </a:r>
            <a:r>
              <a:rPr lang="ru-RU" dirty="0" smtClean="0"/>
              <a:t> </a:t>
            </a:r>
            <a:r>
              <a:rPr lang="ru-RU" dirty="0" err="1" smtClean="0"/>
              <a:t>вузла</a:t>
            </a:r>
            <a:r>
              <a:rPr lang="ru-RU" dirty="0" smtClean="0"/>
              <a:t>, з </a:t>
            </a:r>
            <a:r>
              <a:rPr lang="ru-RU" dirty="0" err="1" smtClean="0"/>
              <a:t>ім'ям</a:t>
            </a:r>
            <a:r>
              <a:rPr lang="ru-RU" dirty="0" smtClean="0"/>
              <a:t> у дужках </a:t>
            </a:r>
            <a:r>
              <a:rPr lang="ru-RU" dirty="0" err="1" smtClean="0"/>
              <a:t>подвійними</a:t>
            </a:r>
            <a:r>
              <a:rPr lang="ru-RU" dirty="0" smtClean="0"/>
              <a:t> </a:t>
            </a:r>
            <a:r>
              <a:rPr lang="ru-RU" dirty="0" err="1" smtClean="0"/>
              <a:t>стрілками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94045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i="0" dirty="0" smtClean="0">
                <a:solidFill>
                  <a:schemeClr val="bg1"/>
                </a:solidFill>
                <a:effectLst/>
                <a:latin typeface="Open Sans"/>
              </a:rPr>
              <a:t>TCP/IP Client / Server Example</a:t>
            </a:r>
            <a:endParaRPr lang="en-US" sz="2800" b="1" i="0" dirty="0">
              <a:solidFill>
                <a:schemeClr val="bg1"/>
              </a:solidFill>
              <a:effectLst/>
              <a:latin typeface="Open Sans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7839"/>
            <a:ext cx="9089691" cy="579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7411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" y="0"/>
            <a:ext cx="90327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0" dirty="0" smtClean="0">
                <a:solidFill>
                  <a:schemeClr val="bg1"/>
                </a:solidFill>
                <a:effectLst/>
                <a:latin typeface="Open Sans"/>
              </a:rPr>
              <a:t>Deployment Diagram Example - Corporate Distributed System</a:t>
            </a:r>
            <a:endParaRPr lang="en-US" sz="2400" b="1" i="0" dirty="0">
              <a:solidFill>
                <a:schemeClr val="bg1"/>
              </a:solidFill>
              <a:effectLst/>
              <a:latin typeface="Open Sans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54" y="1285103"/>
            <a:ext cx="8810368" cy="441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112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</a:t>
            </a:r>
            <a:endParaRPr lang="ru-R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54459" y="921244"/>
            <a:ext cx="883508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Мета </a:t>
            </a:r>
            <a:r>
              <a:rPr lang="ru-RU" dirty="0" err="1" smtClean="0"/>
              <a:t>компонентної</a:t>
            </a:r>
            <a:r>
              <a:rPr lang="ru-RU" dirty="0" smtClean="0"/>
              <a:t> </a:t>
            </a:r>
            <a:r>
              <a:rPr lang="ru-RU" dirty="0" err="1" smtClean="0"/>
              <a:t>діаграми</a:t>
            </a:r>
            <a:r>
              <a:rPr lang="ru-RU" dirty="0" smtClean="0"/>
              <a:t> - </a:t>
            </a:r>
            <a:r>
              <a:rPr lang="ru-RU" dirty="0" err="1" smtClean="0"/>
              <a:t>показати</a:t>
            </a:r>
            <a:r>
              <a:rPr lang="ru-RU" dirty="0" smtClean="0"/>
              <a:t> </a:t>
            </a:r>
            <a:r>
              <a:rPr lang="ru-RU" dirty="0" err="1" smtClean="0"/>
              <a:t>взаємозв'язок</a:t>
            </a:r>
            <a:r>
              <a:rPr lang="ru-RU" dirty="0" smtClean="0"/>
              <a:t> </a:t>
            </a:r>
            <a:r>
              <a:rPr lang="ru-RU" dirty="0" err="1" smtClean="0"/>
              <a:t>між</a:t>
            </a:r>
            <a:r>
              <a:rPr lang="ru-RU" dirty="0" smtClean="0"/>
              <a:t> </a:t>
            </a:r>
            <a:r>
              <a:rPr lang="ru-RU" dirty="0" err="1" smtClean="0"/>
              <a:t>різними</a:t>
            </a:r>
            <a:r>
              <a:rPr lang="ru-RU" dirty="0" smtClean="0"/>
              <a:t> компонентами </a:t>
            </a:r>
            <a:r>
              <a:rPr lang="ru-RU" dirty="0" err="1" smtClean="0"/>
              <a:t>системи</a:t>
            </a:r>
            <a:r>
              <a:rPr lang="ru-RU" dirty="0" smtClean="0"/>
              <a:t>. </a:t>
            </a:r>
            <a:r>
              <a:rPr lang="uk-UA" dirty="0"/>
              <a:t>Т</a:t>
            </a:r>
            <a:r>
              <a:rPr lang="ru-RU" dirty="0" err="1" smtClean="0"/>
              <a:t>ермін</a:t>
            </a:r>
            <a:r>
              <a:rPr lang="ru-RU" dirty="0" smtClean="0"/>
              <a:t> "компонент" </a:t>
            </a:r>
            <a:r>
              <a:rPr lang="ru-RU" dirty="0" err="1" smtClean="0"/>
              <a:t>відноситься</a:t>
            </a:r>
            <a:r>
              <a:rPr lang="ru-RU" dirty="0" smtClean="0"/>
              <a:t> до модуля </a:t>
            </a:r>
            <a:r>
              <a:rPr lang="ru-RU" dirty="0" err="1" smtClean="0"/>
              <a:t>класів</a:t>
            </a:r>
            <a:r>
              <a:rPr lang="ru-RU" dirty="0" smtClean="0"/>
              <a:t>, </a:t>
            </a:r>
            <a:r>
              <a:rPr lang="ru-RU" dirty="0" err="1" smtClean="0"/>
              <a:t>які</a:t>
            </a:r>
            <a:r>
              <a:rPr lang="ru-RU" dirty="0" smtClean="0"/>
              <a:t> </a:t>
            </a:r>
            <a:r>
              <a:rPr lang="ru-RU" dirty="0" err="1" smtClean="0"/>
              <a:t>представляють</a:t>
            </a:r>
            <a:r>
              <a:rPr lang="ru-RU" dirty="0" smtClean="0"/>
              <a:t> </a:t>
            </a:r>
            <a:r>
              <a:rPr lang="ru-RU" dirty="0" err="1" smtClean="0"/>
              <a:t>незалежні</a:t>
            </a:r>
            <a:r>
              <a:rPr lang="ru-RU" dirty="0" smtClean="0"/>
              <a:t> </a:t>
            </a:r>
            <a:r>
              <a:rPr lang="ru-RU" dirty="0" err="1" smtClean="0"/>
              <a:t>системи</a:t>
            </a:r>
            <a:r>
              <a:rPr lang="ru-RU" dirty="0" smtClean="0"/>
              <a:t> </a:t>
            </a:r>
            <a:r>
              <a:rPr lang="ru-RU" dirty="0" err="1" smtClean="0"/>
              <a:t>або</a:t>
            </a:r>
            <a:r>
              <a:rPr lang="ru-RU" dirty="0" smtClean="0"/>
              <a:t> </a:t>
            </a:r>
            <a:r>
              <a:rPr lang="ru-RU" dirty="0" err="1" smtClean="0"/>
              <a:t>підсистеми</a:t>
            </a:r>
            <a:r>
              <a:rPr lang="ru-RU" dirty="0" smtClean="0"/>
              <a:t> з </a:t>
            </a:r>
            <a:r>
              <a:rPr lang="ru-RU" dirty="0" err="1" smtClean="0"/>
              <a:t>можливістю</a:t>
            </a:r>
            <a:r>
              <a:rPr lang="ru-RU" dirty="0" smtClean="0"/>
              <a:t> </a:t>
            </a:r>
            <a:r>
              <a:rPr lang="ru-RU" dirty="0" err="1" smtClean="0"/>
              <a:t>взаємодії</a:t>
            </a:r>
            <a:r>
              <a:rPr lang="ru-RU" dirty="0" smtClean="0"/>
              <a:t> з </a:t>
            </a:r>
            <a:r>
              <a:rPr lang="ru-RU" dirty="0" err="1" smtClean="0"/>
              <a:t>рештою</a:t>
            </a:r>
            <a:r>
              <a:rPr lang="ru-RU" dirty="0" smtClean="0"/>
              <a:t> </a:t>
            </a:r>
            <a:r>
              <a:rPr lang="ru-RU" dirty="0" err="1" smtClean="0"/>
              <a:t>системи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en-US" dirty="0" smtClean="0"/>
              <a:t>IBM</a:t>
            </a:r>
            <a:r>
              <a:rPr lang="uk-UA" dirty="0" smtClean="0"/>
              <a:t> розробила методологію </a:t>
            </a:r>
            <a:r>
              <a:rPr lang="ru-RU" dirty="0" err="1" smtClean="0"/>
              <a:t>розробки</a:t>
            </a:r>
            <a:r>
              <a:rPr lang="ru-RU" dirty="0" smtClean="0"/>
              <a:t> ПЗ, яка </a:t>
            </a:r>
            <a:r>
              <a:rPr lang="ru-RU" dirty="0" err="1" smtClean="0"/>
              <a:t>називається</a:t>
            </a:r>
            <a:r>
              <a:rPr lang="ru-RU" dirty="0" smtClean="0"/>
              <a:t> </a:t>
            </a:r>
            <a:r>
              <a:rPr lang="en-US" dirty="0" smtClean="0"/>
              <a:t>Component Business Model IBM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err="1" smtClean="0"/>
              <a:t>Найчастіше</a:t>
            </a:r>
            <a:r>
              <a:rPr lang="ru-RU" dirty="0" smtClean="0"/>
              <a:t>, у </a:t>
            </a:r>
            <a:r>
              <a:rPr lang="ru-RU" dirty="0" err="1" smtClean="0"/>
              <a:t>підході</a:t>
            </a:r>
            <a:r>
              <a:rPr lang="ru-RU" dirty="0" smtClean="0"/>
              <a:t> до </a:t>
            </a:r>
            <a:r>
              <a:rPr lang="ru-RU" dirty="0" err="1" smtClean="0"/>
              <a:t>програмування</a:t>
            </a:r>
            <a:r>
              <a:rPr lang="ru-RU" dirty="0" smtClean="0"/>
              <a:t>, </a:t>
            </a:r>
            <a:r>
              <a:rPr lang="ru-RU" dirty="0" err="1" smtClean="0"/>
              <a:t>компонентна</a:t>
            </a:r>
            <a:r>
              <a:rPr lang="ru-RU" dirty="0" smtClean="0"/>
              <a:t> </a:t>
            </a:r>
            <a:r>
              <a:rPr lang="ru-RU" dirty="0" err="1" smtClean="0"/>
              <a:t>діаграма</a:t>
            </a:r>
            <a:r>
              <a:rPr lang="ru-RU" dirty="0" smtClean="0"/>
              <a:t> </a:t>
            </a:r>
            <a:r>
              <a:rPr lang="ru-RU" dirty="0" err="1" smtClean="0"/>
              <a:t>дозволяє</a:t>
            </a:r>
            <a:r>
              <a:rPr lang="ru-RU" dirty="0" smtClean="0"/>
              <a:t> </a:t>
            </a:r>
            <a:r>
              <a:rPr lang="ru-RU" dirty="0" err="1" smtClean="0"/>
              <a:t>розробнику</a:t>
            </a:r>
            <a:r>
              <a:rPr lang="ru-RU" dirty="0" smtClean="0"/>
              <a:t> </a:t>
            </a:r>
            <a:r>
              <a:rPr lang="ru-RU" dirty="0" err="1" smtClean="0"/>
              <a:t>групувати</a:t>
            </a:r>
            <a:r>
              <a:rPr lang="ru-RU" dirty="0" smtClean="0"/>
              <a:t> </a:t>
            </a:r>
            <a:r>
              <a:rPr lang="ru-RU" dirty="0" err="1" smtClean="0"/>
              <a:t>класи</a:t>
            </a:r>
            <a:r>
              <a:rPr lang="ru-RU" dirty="0" smtClean="0"/>
              <a:t> на </a:t>
            </a:r>
            <a:r>
              <a:rPr lang="ru-RU" dirty="0" err="1" smtClean="0"/>
              <a:t>основі</a:t>
            </a:r>
            <a:r>
              <a:rPr lang="ru-RU" dirty="0" smtClean="0"/>
              <a:t> </a:t>
            </a:r>
            <a:r>
              <a:rPr lang="ru-RU" dirty="0" err="1" smtClean="0"/>
              <a:t>спільної</a:t>
            </a:r>
            <a:r>
              <a:rPr lang="ru-RU" dirty="0" smtClean="0"/>
              <a:t> мети, так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розробник</a:t>
            </a:r>
            <a:r>
              <a:rPr lang="ru-RU" dirty="0" smtClean="0"/>
              <a:t> та </a:t>
            </a:r>
            <a:r>
              <a:rPr lang="ru-RU" dirty="0" err="1" smtClean="0"/>
              <a:t>інші</a:t>
            </a:r>
            <a:r>
              <a:rPr lang="ru-RU" dirty="0" smtClean="0"/>
              <a:t> </a:t>
            </a:r>
            <a:r>
              <a:rPr lang="ru-RU" dirty="0" err="1" smtClean="0"/>
              <a:t>користувачі</a:t>
            </a:r>
            <a:r>
              <a:rPr lang="ru-RU" dirty="0" smtClean="0"/>
              <a:t> </a:t>
            </a:r>
            <a:r>
              <a:rPr lang="ru-RU" dirty="0" err="1" smtClean="0"/>
              <a:t>можуть</a:t>
            </a:r>
            <a:r>
              <a:rPr lang="ru-RU" dirty="0" smtClean="0"/>
              <a:t> </a:t>
            </a:r>
            <a:r>
              <a:rPr lang="ru-RU" dirty="0" err="1" smtClean="0"/>
              <a:t>дивитися</a:t>
            </a:r>
            <a:r>
              <a:rPr lang="ru-RU" dirty="0" smtClean="0"/>
              <a:t> на проект </a:t>
            </a:r>
            <a:r>
              <a:rPr lang="ru-RU" dirty="0" err="1" smtClean="0"/>
              <a:t>розробки</a:t>
            </a:r>
            <a:r>
              <a:rPr lang="ru-RU" dirty="0" smtClean="0"/>
              <a:t> </a:t>
            </a:r>
            <a:r>
              <a:rPr lang="ru-RU" dirty="0" err="1" smtClean="0"/>
              <a:t>програмного</a:t>
            </a:r>
            <a:r>
              <a:rPr lang="ru-RU" dirty="0" smtClean="0"/>
              <a:t> </a:t>
            </a:r>
            <a:r>
              <a:rPr lang="ru-RU" dirty="0" err="1" smtClean="0"/>
              <a:t>забезпечення</a:t>
            </a:r>
            <a:r>
              <a:rPr lang="ru-RU" dirty="0" smtClean="0"/>
              <a:t> на </a:t>
            </a:r>
            <a:r>
              <a:rPr lang="ru-RU" dirty="0" err="1" smtClean="0"/>
              <a:t>високому</a:t>
            </a:r>
            <a:r>
              <a:rPr lang="ru-RU" dirty="0" smtClean="0"/>
              <a:t> </a:t>
            </a:r>
            <a:r>
              <a:rPr lang="ru-RU" dirty="0" err="1" smtClean="0"/>
              <a:t>рівні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17174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uk-UA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Елементи 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 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</a:t>
            </a:r>
            <a:endParaRPr lang="ru-R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2357" y="788033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b="1" dirty="0" smtClean="0"/>
              <a:t>Компонент</a:t>
            </a:r>
            <a:r>
              <a:rPr lang="en-US" b="1" dirty="0" smtClean="0"/>
              <a:t>. </a:t>
            </a:r>
            <a:r>
              <a:rPr lang="ru-RU" dirty="0" err="1" smtClean="0"/>
              <a:t>Сутність</a:t>
            </a:r>
            <a:r>
              <a:rPr lang="ru-RU" dirty="0" smtClean="0"/>
              <a:t>, </a:t>
            </a:r>
            <a:r>
              <a:rPr lang="ru-RU" dirty="0" err="1" smtClean="0"/>
              <a:t>необхідна</a:t>
            </a:r>
            <a:r>
              <a:rPr lang="ru-RU" dirty="0" smtClean="0"/>
              <a:t> для </a:t>
            </a:r>
            <a:r>
              <a:rPr lang="ru-RU" dirty="0" err="1" smtClean="0"/>
              <a:t>виконання</a:t>
            </a:r>
            <a:r>
              <a:rPr lang="ru-RU" dirty="0" smtClean="0"/>
              <a:t> </a:t>
            </a:r>
            <a:r>
              <a:rPr lang="ru-RU" dirty="0" err="1" smtClean="0"/>
              <a:t>функції</a:t>
            </a:r>
            <a:r>
              <a:rPr lang="ru-RU" dirty="0" smtClean="0"/>
              <a:t> стереотипу. Компонент </a:t>
            </a:r>
            <a:r>
              <a:rPr lang="ru-RU" dirty="0" err="1" smtClean="0"/>
              <a:t>забезпечує</a:t>
            </a:r>
            <a:r>
              <a:rPr lang="ru-RU" dirty="0" smtClean="0"/>
              <a:t> і </a:t>
            </a:r>
            <a:r>
              <a:rPr lang="ru-RU" dirty="0" err="1" smtClean="0"/>
              <a:t>споживає</a:t>
            </a:r>
            <a:r>
              <a:rPr lang="ru-RU" dirty="0" smtClean="0"/>
              <a:t> </a:t>
            </a:r>
            <a:r>
              <a:rPr lang="ru-RU" dirty="0" err="1" smtClean="0"/>
              <a:t>поведінку</a:t>
            </a:r>
            <a:r>
              <a:rPr lang="ru-RU" dirty="0" smtClean="0"/>
              <a:t> через </a:t>
            </a:r>
            <a:r>
              <a:rPr lang="ru-RU" dirty="0" err="1" smtClean="0"/>
              <a:t>інтерфейси</a:t>
            </a:r>
            <a:r>
              <a:rPr lang="ru-RU" dirty="0" smtClean="0"/>
              <a:t>, а </a:t>
            </a:r>
            <a:r>
              <a:rPr lang="ru-RU" dirty="0" err="1" smtClean="0"/>
              <a:t>також</a:t>
            </a:r>
            <a:r>
              <a:rPr lang="ru-RU" dirty="0" smtClean="0"/>
              <a:t> через </a:t>
            </a:r>
            <a:r>
              <a:rPr lang="ru-RU" dirty="0" err="1" smtClean="0"/>
              <a:t>інші</a:t>
            </a:r>
            <a:r>
              <a:rPr lang="ru-RU" dirty="0" smtClean="0"/>
              <a:t> </a:t>
            </a:r>
            <a:r>
              <a:rPr lang="ru-RU" dirty="0" err="1" smtClean="0"/>
              <a:t>компоненти</a:t>
            </a:r>
            <a:r>
              <a:rPr lang="ru-RU" dirty="0" smtClean="0"/>
              <a:t>. </a:t>
            </a:r>
            <a:r>
              <a:rPr lang="ru-RU" dirty="0" err="1" smtClean="0"/>
              <a:t>Реалізація</a:t>
            </a:r>
            <a:r>
              <a:rPr lang="ru-RU" dirty="0" smtClean="0"/>
              <a:t> </a:t>
            </a:r>
            <a:r>
              <a:rPr lang="ru-RU" dirty="0" err="1" smtClean="0"/>
              <a:t>компоненти</a:t>
            </a:r>
            <a:r>
              <a:rPr lang="ru-RU" dirty="0" smtClean="0"/>
              <a:t> </a:t>
            </a:r>
            <a:r>
              <a:rPr lang="ru-RU" dirty="0" err="1" smtClean="0"/>
              <a:t>здійснюється</a:t>
            </a:r>
            <a:r>
              <a:rPr lang="ru-RU" dirty="0" smtClean="0"/>
              <a:t> через </a:t>
            </a:r>
            <a:r>
              <a:rPr lang="ru-RU" dirty="0" err="1" smtClean="0"/>
              <a:t>клас</a:t>
            </a:r>
            <a:r>
              <a:rPr lang="ru-RU" dirty="0" smtClean="0"/>
              <a:t>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2357" y="2849785"/>
            <a:ext cx="91440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indent="-358775">
              <a:spcAft>
                <a:spcPts val="600"/>
              </a:spcAft>
            </a:pPr>
            <a:r>
              <a:rPr lang="ru-RU" b="1" dirty="0" smtClean="0"/>
              <a:t>2. </a:t>
            </a:r>
            <a:r>
              <a:rPr lang="ru-RU" b="1" dirty="0" err="1" smtClean="0"/>
              <a:t>Інтерфейс</a:t>
            </a:r>
            <a:r>
              <a:rPr lang="ru-RU" dirty="0" smtClean="0"/>
              <a:t>. </a:t>
            </a:r>
            <a:r>
              <a:rPr lang="ru-RU" dirty="0" err="1" smtClean="0"/>
              <a:t>Інтерфейс</a:t>
            </a:r>
            <a:r>
              <a:rPr lang="ru-RU" dirty="0" smtClean="0"/>
              <a:t> </a:t>
            </a:r>
            <a:r>
              <a:rPr lang="ru-RU" dirty="0" err="1" smtClean="0"/>
              <a:t>описує</a:t>
            </a:r>
            <a:r>
              <a:rPr lang="ru-RU" dirty="0" smtClean="0"/>
              <a:t> </a:t>
            </a:r>
            <a:r>
              <a:rPr lang="ru-RU" dirty="0" err="1" smtClean="0"/>
              <a:t>групу</a:t>
            </a:r>
            <a:r>
              <a:rPr lang="ru-RU" dirty="0" smtClean="0"/>
              <a:t> </a:t>
            </a:r>
            <a:r>
              <a:rPr lang="ru-RU" dirty="0" err="1" smtClean="0"/>
              <a:t>операцій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використовуються</a:t>
            </a:r>
            <a:r>
              <a:rPr lang="ru-RU" dirty="0" smtClean="0"/>
              <a:t> (</a:t>
            </a:r>
            <a:r>
              <a:rPr lang="ru-RU" dirty="0" err="1" smtClean="0"/>
              <a:t>необхідні</a:t>
            </a:r>
            <a:r>
              <a:rPr lang="ru-RU" dirty="0" smtClean="0"/>
              <a:t>) </a:t>
            </a:r>
            <a:r>
              <a:rPr lang="ru-RU" dirty="0" err="1" smtClean="0"/>
              <a:t>або</a:t>
            </a:r>
            <a:r>
              <a:rPr lang="ru-RU" dirty="0" smtClean="0"/>
              <a:t> </a:t>
            </a:r>
            <a:r>
              <a:rPr lang="ru-RU" dirty="0" err="1" smtClean="0"/>
              <a:t>створюються</a:t>
            </a:r>
            <a:r>
              <a:rPr lang="ru-RU" dirty="0" smtClean="0"/>
              <a:t> (</a:t>
            </a:r>
            <a:r>
              <a:rPr lang="ru-RU" dirty="0" err="1" smtClean="0"/>
              <a:t>надаються</a:t>
            </a:r>
            <a:r>
              <a:rPr lang="ru-RU" dirty="0" smtClean="0"/>
              <a:t>) компонентами.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290" y="1861474"/>
            <a:ext cx="2486025" cy="8382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014" y="3646227"/>
            <a:ext cx="3838575" cy="112395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35924" y="5166838"/>
            <a:ext cx="85508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4500" indent="-444500">
              <a:spcAft>
                <a:spcPts val="600"/>
              </a:spcAft>
              <a:buFont typeface="+mj-lt"/>
              <a:buAutoNum type="arabicPeriod" startAt="3"/>
              <a:tabLst>
                <a:tab pos="358775" algn="l"/>
              </a:tabLst>
            </a:pPr>
            <a:r>
              <a:rPr lang="ru-RU" b="1" dirty="0" err="1" smtClean="0"/>
              <a:t>Вузол</a:t>
            </a:r>
            <a:r>
              <a:rPr lang="ru-RU" dirty="0" smtClean="0"/>
              <a:t>. </a:t>
            </a:r>
            <a:r>
              <a:rPr lang="ru-RU" dirty="0" err="1" smtClean="0"/>
              <a:t>Представляє</a:t>
            </a:r>
            <a:r>
              <a:rPr lang="ru-RU" dirty="0" smtClean="0"/>
              <a:t> </a:t>
            </a:r>
            <a:r>
              <a:rPr lang="ru-RU" dirty="0" err="1" smtClean="0"/>
              <a:t>апаратні</a:t>
            </a:r>
            <a:r>
              <a:rPr lang="ru-RU" dirty="0" smtClean="0"/>
              <a:t> </a:t>
            </a:r>
            <a:r>
              <a:rPr lang="ru-RU" dirty="0" err="1" smtClean="0"/>
              <a:t>або</a:t>
            </a:r>
            <a:r>
              <a:rPr lang="ru-RU" dirty="0" smtClean="0"/>
              <a:t> </a:t>
            </a:r>
            <a:r>
              <a:rPr lang="ru-RU" dirty="0" err="1" smtClean="0"/>
              <a:t>програмні</a:t>
            </a:r>
            <a:r>
              <a:rPr lang="ru-RU" dirty="0" smtClean="0"/>
              <a:t> </a:t>
            </a:r>
            <a:r>
              <a:rPr lang="ru-RU" dirty="0" err="1" smtClean="0"/>
              <a:t>об'єкти</a:t>
            </a:r>
            <a:r>
              <a:rPr lang="ru-RU" dirty="0" smtClean="0"/>
              <a:t>, </a:t>
            </a:r>
            <a:r>
              <a:rPr lang="ru-RU" dirty="0" err="1" smtClean="0"/>
              <a:t>які</a:t>
            </a:r>
            <a:r>
              <a:rPr lang="ru-RU" dirty="0" smtClean="0"/>
              <a:t> </a:t>
            </a:r>
            <a:r>
              <a:rPr lang="ru-RU" dirty="0" err="1" smtClean="0"/>
              <a:t>мають</a:t>
            </a:r>
            <a:r>
              <a:rPr lang="ru-RU" dirty="0" smtClean="0"/>
              <a:t> </a:t>
            </a:r>
            <a:r>
              <a:rPr lang="ru-RU" dirty="0" err="1" smtClean="0"/>
              <a:t>більш</a:t>
            </a:r>
            <a:r>
              <a:rPr lang="ru-RU" dirty="0" smtClean="0"/>
              <a:t> </a:t>
            </a:r>
            <a:r>
              <a:rPr lang="ru-RU" dirty="0" err="1" smtClean="0"/>
              <a:t>високий</a:t>
            </a:r>
            <a:r>
              <a:rPr lang="ru-RU" dirty="0" smtClean="0"/>
              <a:t> </a:t>
            </a:r>
            <a:r>
              <a:rPr lang="ru-RU" dirty="0" err="1" smtClean="0"/>
              <a:t>рівень</a:t>
            </a:r>
            <a:r>
              <a:rPr lang="ru-RU" dirty="0" smtClean="0"/>
              <a:t>, </a:t>
            </a:r>
            <a:r>
              <a:rPr lang="ru-RU" dirty="0" err="1" smtClean="0"/>
              <a:t>ніж</a:t>
            </a:r>
            <a:r>
              <a:rPr lang="ru-RU" dirty="0" smtClean="0"/>
              <a:t> </a:t>
            </a:r>
            <a:r>
              <a:rPr lang="ru-RU" dirty="0" err="1" smtClean="0"/>
              <a:t>компоненти</a:t>
            </a:r>
            <a:r>
              <a:rPr lang="ru-RU" dirty="0" smtClean="0"/>
              <a:t>.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30605404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uk-UA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Елементи 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 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</a:t>
            </a:r>
            <a:endParaRPr lang="ru-R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2357" y="788033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4"/>
            </a:pPr>
            <a:r>
              <a:rPr lang="ru-RU" b="1" dirty="0" smtClean="0"/>
              <a:t>Порт</a:t>
            </a:r>
            <a:r>
              <a:rPr lang="ru-RU" dirty="0" smtClean="0"/>
              <a:t>.  </a:t>
            </a:r>
            <a:r>
              <a:rPr lang="ru-RU" dirty="0" err="1" smtClean="0"/>
              <a:t>Визначає</a:t>
            </a:r>
            <a:r>
              <a:rPr lang="ru-RU" dirty="0" smtClean="0"/>
              <a:t> </a:t>
            </a:r>
            <a:r>
              <a:rPr lang="ru-RU" dirty="0" err="1" smtClean="0"/>
              <a:t>окрему</a:t>
            </a:r>
            <a:r>
              <a:rPr lang="ru-RU" dirty="0" smtClean="0"/>
              <a:t> точку </a:t>
            </a:r>
            <a:r>
              <a:rPr lang="ru-RU" dirty="0" err="1" smtClean="0"/>
              <a:t>взаємодії</a:t>
            </a:r>
            <a:r>
              <a:rPr lang="ru-RU" dirty="0" smtClean="0"/>
              <a:t> </a:t>
            </a:r>
            <a:r>
              <a:rPr lang="ru-RU" dirty="0" err="1" smtClean="0"/>
              <a:t>між</a:t>
            </a:r>
            <a:r>
              <a:rPr lang="ru-RU" dirty="0" smtClean="0"/>
              <a:t> компонентом і </a:t>
            </a:r>
            <a:r>
              <a:rPr lang="ru-RU" dirty="0" err="1" smtClean="0"/>
              <a:t>середовищем</a:t>
            </a:r>
            <a:r>
              <a:rPr lang="ru-RU" dirty="0" smtClean="0"/>
              <a:t>. Порти </a:t>
            </a:r>
            <a:r>
              <a:rPr lang="ru-RU" dirty="0" err="1" smtClean="0"/>
              <a:t>символізуються</a:t>
            </a:r>
            <a:r>
              <a:rPr lang="ru-RU" dirty="0" smtClean="0"/>
              <a:t> невеликим квадратом.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69553" y="2670095"/>
            <a:ext cx="8604894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ru-RU" b="1" dirty="0" smtClean="0"/>
              <a:t>Пакет</a:t>
            </a:r>
            <a:r>
              <a:rPr lang="ru-RU" dirty="0" smtClean="0"/>
              <a:t>. </a:t>
            </a:r>
            <a:r>
              <a:rPr lang="ru-RU" dirty="0" err="1" smtClean="0"/>
              <a:t>Групує</a:t>
            </a:r>
            <a:r>
              <a:rPr lang="ru-RU" dirty="0" smtClean="0"/>
              <a:t> разом </a:t>
            </a:r>
            <a:r>
              <a:rPr lang="ru-RU" dirty="0" err="1" smtClean="0"/>
              <a:t>декілька</a:t>
            </a:r>
            <a:r>
              <a:rPr lang="ru-RU" dirty="0" smtClean="0"/>
              <a:t> </a:t>
            </a:r>
            <a:r>
              <a:rPr lang="ru-RU" dirty="0" err="1" smtClean="0"/>
              <a:t>елементів</a:t>
            </a:r>
            <a:r>
              <a:rPr lang="ru-RU" dirty="0" smtClean="0"/>
              <a:t> </a:t>
            </a:r>
            <a:r>
              <a:rPr lang="ru-RU" dirty="0" err="1" smtClean="0"/>
              <a:t>системи</a:t>
            </a:r>
            <a:r>
              <a:rPr lang="ru-RU" dirty="0" smtClean="0"/>
              <a:t> і </a:t>
            </a:r>
            <a:r>
              <a:rPr lang="ru-RU" dirty="0" err="1" smtClean="0"/>
              <a:t>представляє</a:t>
            </a:r>
            <a:r>
              <a:rPr lang="ru-RU" dirty="0" smtClean="0"/>
              <a:t> </a:t>
            </a:r>
            <a:r>
              <a:rPr lang="ru-RU" dirty="0" err="1" smtClean="0"/>
              <a:t>файлові</a:t>
            </a:r>
            <a:r>
              <a:rPr lang="ru-RU" dirty="0" smtClean="0"/>
              <a:t> папки.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ru-RU" b="1" dirty="0" err="1" smtClean="0"/>
              <a:t>Примітка</a:t>
            </a:r>
            <a:r>
              <a:rPr lang="ru-RU" dirty="0" smtClean="0"/>
              <a:t>. </a:t>
            </a:r>
            <a:r>
              <a:rPr lang="ru-RU" dirty="0" err="1" smtClean="0"/>
              <a:t>Дозволяє</a:t>
            </a:r>
            <a:r>
              <a:rPr lang="ru-RU" dirty="0" smtClean="0"/>
              <a:t> </a:t>
            </a:r>
            <a:r>
              <a:rPr lang="ru-RU" dirty="0" err="1" smtClean="0"/>
              <a:t>розробникам</a:t>
            </a:r>
            <a:r>
              <a:rPr lang="ru-RU" dirty="0" smtClean="0"/>
              <a:t> </a:t>
            </a:r>
            <a:r>
              <a:rPr lang="ru-RU" dirty="0" err="1" smtClean="0"/>
              <a:t>прикріпити</a:t>
            </a:r>
            <a:r>
              <a:rPr lang="ru-RU" dirty="0" smtClean="0"/>
              <a:t> мета-</a:t>
            </a:r>
            <a:r>
              <a:rPr lang="ru-RU" dirty="0" err="1" smtClean="0"/>
              <a:t>аналіз</a:t>
            </a:r>
            <a:r>
              <a:rPr lang="ru-RU" dirty="0" smtClean="0"/>
              <a:t> до </a:t>
            </a:r>
            <a:r>
              <a:rPr lang="ru-RU" dirty="0" err="1" smtClean="0"/>
              <a:t>діаграми</a:t>
            </a:r>
            <a:r>
              <a:rPr lang="ru-RU" dirty="0" smtClean="0"/>
              <a:t> </a:t>
            </a:r>
            <a:r>
              <a:rPr lang="ru-RU" dirty="0" err="1" smtClean="0"/>
              <a:t>компонентів</a:t>
            </a:r>
            <a:r>
              <a:rPr lang="ru-RU" dirty="0" smtClean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5"/>
            </a:pPr>
            <a:r>
              <a:rPr lang="ru-RU" b="1" dirty="0" err="1" smtClean="0"/>
              <a:t>Залежність</a:t>
            </a:r>
            <a:r>
              <a:rPr lang="ru-RU" b="1" dirty="0" smtClean="0"/>
              <a:t>. </a:t>
            </a:r>
            <a:r>
              <a:rPr lang="ru-RU" dirty="0" err="1" smtClean="0"/>
              <a:t>Показує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одна </a:t>
            </a:r>
            <a:r>
              <a:rPr lang="ru-RU" dirty="0" err="1" smtClean="0"/>
              <a:t>частина</a:t>
            </a:r>
            <a:r>
              <a:rPr lang="ru-RU" dirty="0" smtClean="0"/>
              <a:t> </a:t>
            </a:r>
            <a:r>
              <a:rPr lang="ru-RU" dirty="0" err="1" smtClean="0"/>
              <a:t>системи</a:t>
            </a:r>
            <a:r>
              <a:rPr lang="ru-RU" dirty="0" smtClean="0"/>
              <a:t> </a:t>
            </a:r>
            <a:r>
              <a:rPr lang="ru-RU" dirty="0" err="1" smtClean="0"/>
              <a:t>залежить</a:t>
            </a:r>
            <a:r>
              <a:rPr lang="ru-RU" dirty="0" smtClean="0"/>
              <a:t> </a:t>
            </a:r>
            <a:r>
              <a:rPr lang="ru-RU" dirty="0" err="1" smtClean="0"/>
              <a:t>від</a:t>
            </a:r>
            <a:r>
              <a:rPr lang="ru-RU" dirty="0" smtClean="0"/>
              <a:t> </a:t>
            </a:r>
            <a:r>
              <a:rPr lang="ru-RU" dirty="0" err="1" smtClean="0"/>
              <a:t>іншої</a:t>
            </a:r>
            <a:r>
              <a:rPr lang="ru-RU" dirty="0" smtClean="0"/>
              <a:t>. </a:t>
            </a:r>
            <a:r>
              <a:rPr lang="ru-RU" dirty="0" err="1" smtClean="0"/>
              <a:t>Залежність</a:t>
            </a:r>
            <a:r>
              <a:rPr lang="ru-RU" dirty="0" smtClean="0"/>
              <a:t> представлена ​​</a:t>
            </a:r>
            <a:r>
              <a:rPr lang="ru-RU" dirty="0" err="1" smtClean="0"/>
              <a:t>пунктирними</a:t>
            </a:r>
            <a:r>
              <a:rPr lang="ru-RU" dirty="0" smtClean="0"/>
              <a:t> </a:t>
            </a:r>
            <a:r>
              <a:rPr lang="ru-RU" dirty="0" err="1" smtClean="0"/>
              <a:t>лініями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зв'язують</a:t>
            </a:r>
            <a:r>
              <a:rPr lang="ru-RU" dirty="0" smtClean="0"/>
              <a:t> один компонент (</a:t>
            </a:r>
            <a:r>
              <a:rPr lang="ru-RU" dirty="0" err="1" smtClean="0"/>
              <a:t>або</a:t>
            </a:r>
            <a:r>
              <a:rPr lang="ru-RU" dirty="0" smtClean="0"/>
              <a:t> </a:t>
            </a:r>
            <a:r>
              <a:rPr lang="ru-RU" dirty="0" err="1" smtClean="0"/>
              <a:t>елемент</a:t>
            </a:r>
            <a:r>
              <a:rPr lang="ru-RU" dirty="0" smtClean="0"/>
              <a:t>) з </a:t>
            </a:r>
            <a:r>
              <a:rPr lang="ru-RU" dirty="0" err="1" smtClean="0"/>
              <a:t>іншим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154" y="1540664"/>
            <a:ext cx="3838575" cy="11239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155" y="4992952"/>
            <a:ext cx="3838575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14293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ChangeArrowheads="1"/>
          </p:cNvSpPr>
          <p:nvPr/>
        </p:nvSpPr>
        <p:spPr bwMode="auto">
          <a:xfrm>
            <a:off x="16556" y="907"/>
            <a:ext cx="9293057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uk-UA" sz="3000" b="1" dirty="0">
                <a:solidFill>
                  <a:schemeClr val="bg1"/>
                </a:solidFill>
              </a:rPr>
              <a:t>Базові складові </a:t>
            </a:r>
            <a:r>
              <a:rPr lang="ru-RU" sz="3000" b="1" dirty="0">
                <a:solidFill>
                  <a:schemeClr val="bg1"/>
                </a:solidFill>
              </a:rPr>
              <a:t>компонентного </a:t>
            </a:r>
            <a:r>
              <a:rPr lang="ru-RU" sz="3000" b="1" dirty="0" err="1">
                <a:solidFill>
                  <a:schemeClr val="bg1"/>
                </a:solidFill>
              </a:rPr>
              <a:t>програмування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10243" name="Rectangle 7"/>
          <p:cNvSpPr>
            <a:spLocks noChangeArrowheads="1"/>
          </p:cNvSpPr>
          <p:nvPr/>
        </p:nvSpPr>
        <p:spPr bwMode="auto">
          <a:xfrm>
            <a:off x="2275489" y="1376830"/>
            <a:ext cx="441499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ru-RU" sz="2400" dirty="0" err="1" smtClean="0"/>
              <a:t>Програмний</a:t>
            </a:r>
            <a:r>
              <a:rPr lang="ru-RU" sz="2400" dirty="0" smtClean="0"/>
              <a:t> </a:t>
            </a:r>
            <a:r>
              <a:rPr lang="ru-RU" sz="2400" dirty="0"/>
              <a:t>компонент </a:t>
            </a:r>
          </a:p>
          <a:p>
            <a:pPr marL="342900" indent="-342900">
              <a:buFontTx/>
              <a:buAutoNum type="arabicPeriod"/>
            </a:pPr>
            <a:r>
              <a:rPr lang="uk-UA" sz="2400" dirty="0"/>
              <a:t>Компонентна програма </a:t>
            </a:r>
            <a:endParaRPr lang="ru-RU" sz="2400" dirty="0"/>
          </a:p>
          <a:p>
            <a:pPr marL="342900" indent="-342900">
              <a:buFontTx/>
              <a:buAutoNum type="arabicPeriod"/>
            </a:pPr>
            <a:r>
              <a:rPr lang="ru-RU" sz="2400" dirty="0" err="1"/>
              <a:t>Компонентна</a:t>
            </a:r>
            <a:r>
              <a:rPr lang="ru-RU" sz="2400" dirty="0"/>
              <a:t> модель </a:t>
            </a:r>
          </a:p>
          <a:p>
            <a:pPr marL="342900" indent="-342900">
              <a:buFontTx/>
              <a:buAutoNum type="arabicPeriod"/>
            </a:pPr>
            <a:r>
              <a:rPr lang="uk-UA" sz="2400" dirty="0"/>
              <a:t>Компонентна конфігурація </a:t>
            </a:r>
          </a:p>
          <a:p>
            <a:pPr marL="342900" indent="-342900">
              <a:buFontTx/>
              <a:buAutoNum type="arabicPeriod"/>
            </a:pPr>
            <a:r>
              <a:rPr lang="uk-UA" sz="2400" dirty="0"/>
              <a:t>К</a:t>
            </a:r>
            <a:r>
              <a:rPr lang="uk-UA" altLang="ko-KR" sz="2400" dirty="0"/>
              <a:t>омпонентне середовище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179602986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ChangeArrowheads="1"/>
          </p:cNvSpPr>
          <p:nvPr/>
        </p:nvSpPr>
        <p:spPr bwMode="auto">
          <a:xfrm>
            <a:off x="1894375" y="-24714"/>
            <a:ext cx="55713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uk-UA" sz="3600" b="1" dirty="0">
                <a:solidFill>
                  <a:schemeClr val="bg1"/>
                </a:solidFill>
              </a:rPr>
              <a:t>Програмний </a:t>
            </a:r>
            <a:r>
              <a:rPr lang="ru-RU" sz="3600" b="1" dirty="0">
                <a:solidFill>
                  <a:schemeClr val="bg1"/>
                </a:solidFill>
              </a:rPr>
              <a:t>компонент</a:t>
            </a:r>
          </a:p>
        </p:txBody>
      </p:sp>
      <p:sp>
        <p:nvSpPr>
          <p:cNvPr id="12291" name="Rectangle 4"/>
          <p:cNvSpPr>
            <a:spLocks noChangeArrowheads="1"/>
          </p:cNvSpPr>
          <p:nvPr/>
        </p:nvSpPr>
        <p:spPr bwMode="auto">
          <a:xfrm>
            <a:off x="86498" y="1011208"/>
            <a:ext cx="9057502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uk-UA" sz="2000" dirty="0"/>
              <a:t>1. </a:t>
            </a:r>
            <a:r>
              <a:rPr lang="uk-UA" sz="2000" b="1" dirty="0"/>
              <a:t>Програмний компонент або просто компонент</a:t>
            </a:r>
            <a:r>
              <a:rPr lang="uk-UA" sz="2000" dirty="0"/>
              <a:t> - це незалежний від мови програмування, самостійно реалізований програмний об'єкт, який:</a:t>
            </a:r>
          </a:p>
          <a:p>
            <a:pPr lvl="1">
              <a:buFont typeface="Wingdings" pitchFamily="2" charset="2"/>
              <a:buChar char="Ш"/>
            </a:pPr>
            <a:r>
              <a:rPr lang="uk-UA" sz="2000" dirty="0"/>
              <a:t> </a:t>
            </a:r>
            <a:r>
              <a:rPr lang="uk-UA" sz="2000" dirty="0">
                <a:solidFill>
                  <a:srgbClr val="000099"/>
                </a:solidFill>
              </a:rPr>
              <a:t>забезпечує виконання певної множини програмних сервісів,</a:t>
            </a:r>
          </a:p>
          <a:p>
            <a:pPr lvl="1">
              <a:buFont typeface="Wingdings" pitchFamily="2" charset="2"/>
              <a:buChar char="Ш"/>
            </a:pPr>
            <a:r>
              <a:rPr lang="uk-UA" sz="2000" dirty="0">
                <a:solidFill>
                  <a:srgbClr val="000099"/>
                </a:solidFill>
              </a:rPr>
              <a:t> поданий як взаємозамінний контейнер, </a:t>
            </a:r>
          </a:p>
          <a:p>
            <a:pPr lvl="1">
              <a:buFont typeface="Wingdings" pitchFamily="2" charset="2"/>
              <a:buChar char="Ш"/>
            </a:pPr>
            <a:r>
              <a:rPr lang="uk-UA" sz="2000" dirty="0">
                <a:solidFill>
                  <a:srgbClr val="000099"/>
                </a:solidFill>
              </a:rPr>
              <a:t> </a:t>
            </a:r>
            <a:r>
              <a:rPr lang="uk-UA" sz="2000" b="1" dirty="0">
                <a:solidFill>
                  <a:srgbClr val="000099"/>
                </a:solidFill>
              </a:rPr>
              <a:t>доступ до компонента можливий тільки за допомогою інтерфейсів</a:t>
            </a:r>
            <a:r>
              <a:rPr lang="uk-UA" sz="2000" dirty="0">
                <a:solidFill>
                  <a:srgbClr val="000099"/>
                </a:solidFill>
              </a:rPr>
              <a:t>,</a:t>
            </a:r>
          </a:p>
          <a:p>
            <a:pPr lvl="1">
              <a:buFont typeface="Wingdings" pitchFamily="2" charset="2"/>
              <a:buChar char="Ш"/>
            </a:pPr>
            <a:r>
              <a:rPr lang="uk-UA" sz="2000" dirty="0">
                <a:solidFill>
                  <a:srgbClr val="000099"/>
                </a:solidFill>
              </a:rPr>
              <a:t> інтерфейси описують функціональні можливості компонента і порядок звернення до його </a:t>
            </a:r>
            <a:r>
              <a:rPr lang="uk-UA" sz="2000" dirty="0" smtClean="0">
                <a:solidFill>
                  <a:srgbClr val="000099"/>
                </a:solidFill>
              </a:rPr>
              <a:t>операцій, не мати реалізацію </a:t>
            </a:r>
            <a:endParaRPr lang="uk-UA" sz="2000" dirty="0">
              <a:solidFill>
                <a:srgbClr val="000099"/>
              </a:solidFill>
            </a:endParaRPr>
          </a:p>
          <a:p>
            <a:pPr lvl="1">
              <a:buFont typeface="Wingdings" pitchFamily="2" charset="2"/>
              <a:buChar char="Ш"/>
            </a:pPr>
            <a:endParaRPr lang="uk-UA" sz="2000" dirty="0">
              <a:solidFill>
                <a:srgbClr val="000099"/>
              </a:solidFill>
            </a:endParaRPr>
          </a:p>
          <a:p>
            <a:r>
              <a:rPr lang="uk-UA" sz="2000" dirty="0"/>
              <a:t>2. Компонент є неділимою і </a:t>
            </a:r>
            <a:r>
              <a:rPr lang="uk-UA" sz="2000" dirty="0" err="1"/>
              <a:t>інкапсульованою</a:t>
            </a:r>
            <a:r>
              <a:rPr lang="uk-UA" sz="2000" dirty="0"/>
              <a:t> суттю, що задовольняє певним функціональним вимогам, а також вимогам архітектури, структури і організації взаємодії в компонентній програмі: </a:t>
            </a:r>
          </a:p>
          <a:p>
            <a:pPr lvl="1">
              <a:buFont typeface="Wingdings" pitchFamily="2" charset="2"/>
              <a:buChar char="Ш"/>
            </a:pPr>
            <a:r>
              <a:rPr lang="uk-UA" sz="2000" dirty="0">
                <a:solidFill>
                  <a:srgbClr val="000099"/>
                </a:solidFill>
              </a:rPr>
              <a:t>сукупність вимог до конкретного компонента визначає класи компонентів, </a:t>
            </a:r>
          </a:p>
          <a:p>
            <a:pPr lvl="1">
              <a:buFont typeface="Wingdings" pitchFamily="2" charset="2"/>
              <a:buChar char="Ш"/>
            </a:pPr>
            <a:r>
              <a:rPr lang="uk-UA" sz="2000" dirty="0">
                <a:solidFill>
                  <a:srgbClr val="000099"/>
                </a:solidFill>
              </a:rPr>
              <a:t>будь-які представники цих класів забезпечують побудову компонентної програми за умови, що для цього над ними виконуються допустимі </a:t>
            </a:r>
            <a:r>
              <a:rPr lang="uk-UA" sz="2000" dirty="0" smtClean="0">
                <a:solidFill>
                  <a:srgbClr val="000099"/>
                </a:solidFill>
              </a:rPr>
              <a:t>операції.</a:t>
            </a:r>
            <a:endParaRPr lang="uk-UA" sz="20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00690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1908175" y="0"/>
            <a:ext cx="491878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uk-UA" sz="3200" b="1" dirty="0">
                <a:solidFill>
                  <a:schemeClr val="bg1"/>
                </a:solidFill>
              </a:rPr>
              <a:t>К</a:t>
            </a:r>
            <a:r>
              <a:rPr lang="uk-UA" altLang="ko-KR" sz="3200" b="1" dirty="0">
                <a:solidFill>
                  <a:schemeClr val="bg1"/>
                </a:solidFill>
              </a:rPr>
              <a:t>омпонентна програма</a:t>
            </a:r>
            <a:endParaRPr lang="ru-RU" sz="3200" b="1" dirty="0">
              <a:solidFill>
                <a:schemeClr val="bg1"/>
              </a:solidFill>
            </a:endParaRPr>
          </a:p>
        </p:txBody>
      </p:sp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122324" y="1026491"/>
            <a:ext cx="8885752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uk-UA" altLang="ko-KR" sz="2200" b="1" dirty="0"/>
              <a:t>Компонентна програма </a:t>
            </a:r>
            <a:r>
              <a:rPr lang="uk-UA" altLang="ko-KR" sz="2200" dirty="0"/>
              <a:t>- сукупність компонентів (представників з відповідних класів еквівалентності), необхідних для забезпечення функціональних і інших вимог, яка побудована і функціонує відповідно до певних правил створення компонентних конфігурацій і компонентної взаємодії. </a:t>
            </a:r>
            <a:endParaRPr lang="uk-UA" altLang="ko-KR" sz="2200" dirty="0" smtClean="0"/>
          </a:p>
          <a:p>
            <a:endParaRPr lang="uk-UA" altLang="ko-KR" sz="2200" dirty="0"/>
          </a:p>
          <a:p>
            <a:r>
              <a:rPr lang="ru-RU" altLang="ko-KR" sz="2200" dirty="0" err="1"/>
              <a:t>Ці</a:t>
            </a:r>
            <a:r>
              <a:rPr lang="ru-RU" altLang="ko-KR" sz="2200" dirty="0"/>
              <a:t> правила </a:t>
            </a:r>
            <a:r>
              <a:rPr lang="ru-RU" altLang="ko-KR" sz="2200" dirty="0" err="1"/>
              <a:t>складають</a:t>
            </a:r>
            <a:r>
              <a:rPr lang="ru-RU" altLang="ko-KR" sz="2200" dirty="0"/>
              <a:t> основу </a:t>
            </a:r>
            <a:r>
              <a:rPr lang="ru-RU" altLang="ko-KR" sz="2200" b="1" dirty="0" err="1"/>
              <a:t>компонентної</a:t>
            </a:r>
            <a:r>
              <a:rPr lang="ru-RU" altLang="ko-KR" sz="2200" b="1" dirty="0"/>
              <a:t> </a:t>
            </a:r>
            <a:r>
              <a:rPr lang="ru-RU" altLang="ko-KR" sz="2200" b="1" dirty="0" err="1"/>
              <a:t>моделі</a:t>
            </a:r>
            <a:r>
              <a:rPr lang="ru-RU" altLang="ko-KR" sz="2200" dirty="0"/>
              <a:t> 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9864176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ChangeArrowheads="1"/>
          </p:cNvSpPr>
          <p:nvPr/>
        </p:nvSpPr>
        <p:spPr bwMode="auto">
          <a:xfrm>
            <a:off x="2051050" y="0"/>
            <a:ext cx="400000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uk-UA" sz="2800" b="1" dirty="0">
                <a:solidFill>
                  <a:schemeClr val="bg1"/>
                </a:solidFill>
              </a:rPr>
              <a:t>К</a:t>
            </a:r>
            <a:r>
              <a:rPr lang="uk-UA" altLang="ko-KR" sz="2800" b="1" dirty="0">
                <a:solidFill>
                  <a:schemeClr val="bg1"/>
                </a:solidFill>
              </a:rPr>
              <a:t>омпонентна модель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185352" y="1091158"/>
            <a:ext cx="8958648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ru-RU" altLang="ko-KR" sz="2000" b="1" dirty="0" err="1">
                <a:solidFill>
                  <a:srgbClr val="000099"/>
                </a:solidFill>
              </a:rPr>
              <a:t>Компонентна</a:t>
            </a:r>
            <a:r>
              <a:rPr lang="ru-RU" altLang="ko-KR" sz="2000" b="1" dirty="0">
                <a:solidFill>
                  <a:srgbClr val="000099"/>
                </a:solidFill>
              </a:rPr>
              <a:t> модель</a:t>
            </a:r>
            <a:r>
              <a:rPr lang="ru-RU" altLang="ko-KR" sz="2000" dirty="0">
                <a:solidFill>
                  <a:srgbClr val="000099"/>
                </a:solidFill>
              </a:rPr>
              <a:t> </a:t>
            </a:r>
            <a:r>
              <a:rPr lang="ru-RU" altLang="ko-KR" sz="2000" dirty="0"/>
              <a:t>- </a:t>
            </a:r>
            <a:r>
              <a:rPr lang="ru-RU" altLang="ko-KR" sz="2000" dirty="0" err="1"/>
              <a:t>це</a:t>
            </a:r>
            <a:r>
              <a:rPr lang="ru-RU" altLang="ko-KR" sz="2000" dirty="0"/>
              <a:t> </a:t>
            </a:r>
            <a:r>
              <a:rPr lang="ru-RU" altLang="ko-KR" sz="2000" dirty="0" err="1"/>
              <a:t>сукупність</a:t>
            </a:r>
            <a:r>
              <a:rPr lang="ru-RU" altLang="ko-KR" sz="2000" dirty="0"/>
              <a:t> </a:t>
            </a:r>
            <a:r>
              <a:rPr lang="ru-RU" altLang="ko-KR" sz="2000" dirty="0" err="1"/>
              <a:t>архітектурних</a:t>
            </a:r>
            <a:r>
              <a:rPr lang="ru-RU" altLang="ko-KR" sz="2000" dirty="0"/>
              <a:t>, </a:t>
            </a:r>
            <a:r>
              <a:rPr lang="ru-RU" altLang="ko-KR" sz="2000" dirty="0" err="1"/>
              <a:t>структурних</a:t>
            </a:r>
            <a:r>
              <a:rPr lang="ru-RU" altLang="ko-KR" sz="2000" dirty="0"/>
              <a:t> і </a:t>
            </a:r>
            <a:r>
              <a:rPr lang="ru-RU" altLang="ko-KR" sz="2000" dirty="0" err="1"/>
              <a:t>поведінкових</a:t>
            </a:r>
            <a:r>
              <a:rPr lang="ru-RU" altLang="ko-KR" sz="2000" dirty="0"/>
              <a:t> </a:t>
            </a:r>
            <a:r>
              <a:rPr lang="ru-RU" altLang="ko-KR" sz="2000" dirty="0" err="1"/>
              <a:t>вимог</a:t>
            </a:r>
            <a:r>
              <a:rPr lang="ru-RU" altLang="ko-KR" sz="2000" dirty="0"/>
              <a:t> до </a:t>
            </a:r>
            <a:r>
              <a:rPr lang="ru-RU" altLang="ko-KR" sz="2000" dirty="0" err="1"/>
              <a:t>компонентів</a:t>
            </a:r>
            <a:r>
              <a:rPr lang="ru-RU" altLang="ko-KR" sz="2000" dirty="0"/>
              <a:t>, а </a:t>
            </a:r>
            <a:r>
              <a:rPr lang="ru-RU" altLang="ko-KR" sz="2000" dirty="0" err="1"/>
              <a:t>також</a:t>
            </a:r>
            <a:r>
              <a:rPr lang="ru-RU" altLang="ko-KR" sz="2000" dirty="0"/>
              <a:t> правила </a:t>
            </a:r>
            <a:r>
              <a:rPr lang="ru-RU" altLang="ko-KR" sz="2000" dirty="0" err="1"/>
              <a:t>взаємодії</a:t>
            </a:r>
            <a:r>
              <a:rPr lang="ru-RU" altLang="ko-KR" sz="2000" dirty="0"/>
              <a:t> і </a:t>
            </a:r>
            <a:r>
              <a:rPr lang="ru-RU" altLang="ko-KR" sz="2000" dirty="0" err="1"/>
              <a:t>побудови</a:t>
            </a:r>
            <a:r>
              <a:rPr lang="ru-RU" altLang="ko-KR" sz="2000" dirty="0"/>
              <a:t> </a:t>
            </a:r>
            <a:r>
              <a:rPr lang="ru-RU" altLang="ko-KR" sz="2000" dirty="0" err="1"/>
              <a:t>компонентних</a:t>
            </a:r>
            <a:r>
              <a:rPr lang="ru-RU" altLang="ko-KR" sz="2000" dirty="0"/>
              <a:t> </a:t>
            </a:r>
            <a:r>
              <a:rPr lang="ru-RU" altLang="ko-KR" sz="2000" dirty="0" err="1"/>
              <a:t>конфігурацій</a:t>
            </a:r>
            <a:r>
              <a:rPr lang="ru-RU" altLang="ko-KR" sz="2000" dirty="0"/>
              <a:t>. </a:t>
            </a:r>
          </a:p>
          <a:p>
            <a:pPr algn="ctr"/>
            <a:endParaRPr lang="uk-UA" altLang="ko-KR" sz="2000" b="1" dirty="0"/>
          </a:p>
          <a:p>
            <a:pPr algn="ctr"/>
            <a:r>
              <a:rPr lang="uk-UA" altLang="ko-KR" sz="2000" b="1" dirty="0"/>
              <a:t>Різновиди компонентних моделей</a:t>
            </a:r>
            <a:endParaRPr lang="ru-RU" altLang="ko-KR" sz="2000" b="1" dirty="0"/>
          </a:p>
          <a:p>
            <a:endParaRPr lang="uk-UA" sz="2000" dirty="0">
              <a:solidFill>
                <a:srgbClr val="003399"/>
              </a:solidFill>
            </a:endParaRPr>
          </a:p>
          <a:p>
            <a:pPr marL="1257300" lvl="2" indent="-342900"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uk-UA" sz="2000" dirty="0" err="1">
                <a:solidFill>
                  <a:srgbClr val="003399"/>
                </a:solidFill>
              </a:rPr>
              <a:t>JavaBeans</a:t>
            </a:r>
            <a:r>
              <a:rPr lang="uk-UA" sz="2000" dirty="0">
                <a:solidFill>
                  <a:srgbClr val="003399"/>
                </a:solidFill>
              </a:rPr>
              <a:t>, EJB, </a:t>
            </a:r>
          </a:p>
          <a:p>
            <a:pPr marL="1257300" lvl="2" indent="-342900"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uk-UA" sz="2000" dirty="0">
                <a:solidFill>
                  <a:srgbClr val="003399"/>
                </a:solidFill>
              </a:rPr>
              <a:t>CORBA, </a:t>
            </a:r>
          </a:p>
          <a:p>
            <a:pPr marL="1257300" lvl="2" indent="-342900"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uk-UA" sz="2000" dirty="0" err="1">
                <a:solidFill>
                  <a:srgbClr val="003399"/>
                </a:solidFill>
              </a:rPr>
              <a:t>ActiveX</a:t>
            </a:r>
            <a:r>
              <a:rPr lang="uk-UA" sz="2000" dirty="0">
                <a:solidFill>
                  <a:srgbClr val="003399"/>
                </a:solidFill>
              </a:rPr>
              <a:t>, </a:t>
            </a:r>
          </a:p>
          <a:p>
            <a:pPr marL="1257300" lvl="2" indent="-342900"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uk-UA" sz="2000" dirty="0">
                <a:solidFill>
                  <a:srgbClr val="003399"/>
                </a:solidFill>
              </a:rPr>
              <a:t>VBA, </a:t>
            </a:r>
          </a:p>
          <a:p>
            <a:pPr marL="1257300" lvl="2" indent="-342900"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uk-UA" sz="2000" dirty="0">
                <a:solidFill>
                  <a:srgbClr val="003399"/>
                </a:solidFill>
              </a:rPr>
              <a:t>COM, DCOM, </a:t>
            </a:r>
            <a:r>
              <a:rPr lang="uk-UA" sz="2000" dirty="0" err="1">
                <a:solidFill>
                  <a:srgbClr val="003399"/>
                </a:solidFill>
              </a:rPr>
              <a:t>.Net</a:t>
            </a:r>
            <a:r>
              <a:rPr lang="uk-UA" sz="2000" dirty="0">
                <a:solidFill>
                  <a:srgbClr val="003399"/>
                </a:solidFill>
              </a:rPr>
              <a:t>,</a:t>
            </a:r>
            <a:r>
              <a:rPr lang="uk-UA" sz="2000" dirty="0"/>
              <a:t> </a:t>
            </a:r>
          </a:p>
          <a:p>
            <a:pPr marL="1257300" lvl="2" indent="-342900"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uk-UA" sz="2000" dirty="0">
                <a:solidFill>
                  <a:srgbClr val="003399"/>
                </a:solidFill>
              </a:rPr>
              <a:t>Web-служби</a:t>
            </a:r>
            <a:r>
              <a:rPr lang="uk-UA" sz="2000" dirty="0"/>
              <a:t> (</a:t>
            </a:r>
            <a:r>
              <a:rPr lang="uk-UA" sz="2000" dirty="0" err="1">
                <a:solidFill>
                  <a:srgbClr val="003399"/>
                </a:solidFill>
              </a:rPr>
              <a:t>web</a:t>
            </a:r>
            <a:r>
              <a:rPr lang="uk-UA" sz="2000" dirty="0">
                <a:solidFill>
                  <a:srgbClr val="003399"/>
                </a:solidFill>
              </a:rPr>
              <a:t> </a:t>
            </a:r>
            <a:r>
              <a:rPr lang="uk-UA" sz="2000" dirty="0" err="1">
                <a:solidFill>
                  <a:srgbClr val="003399"/>
                </a:solidFill>
              </a:rPr>
              <a:t>services</a:t>
            </a:r>
            <a:r>
              <a:rPr lang="uk-UA" sz="2000" dirty="0" smtClean="0">
                <a:solidFill>
                  <a:srgbClr val="003399"/>
                </a:solidFill>
              </a:rPr>
              <a:t>).</a:t>
            </a:r>
          </a:p>
          <a:p>
            <a:pPr marL="1257300" lvl="2" indent="-342900"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uk-UA" sz="2000" dirty="0" smtClean="0">
                <a:solidFill>
                  <a:srgbClr val="003399"/>
                </a:solidFill>
              </a:rPr>
              <a:t>…..</a:t>
            </a:r>
            <a:endParaRPr lang="uk-UA" sz="2000" dirty="0">
              <a:solidFill>
                <a:srgbClr val="003399"/>
              </a:solidFill>
            </a:endParaRPr>
          </a:p>
          <a:p>
            <a:pPr lvl="2">
              <a:buClr>
                <a:schemeClr val="accent2"/>
              </a:buClr>
              <a:buFont typeface="Wingdings" pitchFamily="2" charset="2"/>
              <a:buChar char="ь"/>
            </a:pPr>
            <a:endParaRPr lang="ru-RU" altLang="ko-KR" sz="2000" dirty="0"/>
          </a:p>
          <a:p>
            <a:r>
              <a:rPr lang="ru-RU" altLang="ko-KR" sz="2000" dirty="0" err="1"/>
              <a:t>Компонентна</a:t>
            </a:r>
            <a:r>
              <a:rPr lang="ru-RU" altLang="ko-KR" sz="2000" dirty="0"/>
              <a:t> модель є основою </a:t>
            </a:r>
            <a:r>
              <a:rPr lang="ru-RU" altLang="ko-KR" sz="2000" dirty="0" err="1"/>
              <a:t>побудови</a:t>
            </a:r>
            <a:r>
              <a:rPr lang="ru-RU" altLang="ko-KR" sz="2000" dirty="0"/>
              <a:t> </a:t>
            </a:r>
            <a:r>
              <a:rPr lang="ru-RU" altLang="ko-KR" sz="2000" b="1" dirty="0" err="1"/>
              <a:t>компонентних</a:t>
            </a:r>
            <a:r>
              <a:rPr lang="ru-RU" altLang="ko-KR" sz="2000" b="1" dirty="0"/>
              <a:t> </a:t>
            </a:r>
            <a:r>
              <a:rPr lang="ru-RU" altLang="ko-KR" sz="2000" b="1" dirty="0" err="1"/>
              <a:t>конфігурацій</a:t>
            </a:r>
            <a:r>
              <a:rPr lang="ru-RU" altLang="ko-KR" sz="2000" b="1" dirty="0"/>
              <a:t>. 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326808330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/>
          <p:cNvSpPr>
            <a:spLocks noChangeArrowheads="1"/>
          </p:cNvSpPr>
          <p:nvPr/>
        </p:nvSpPr>
        <p:spPr bwMode="auto">
          <a:xfrm>
            <a:off x="0" y="1080032"/>
            <a:ext cx="8867346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457200" indent="-457200">
              <a:buAutoNum type="arabicPeriod"/>
            </a:pPr>
            <a:r>
              <a:rPr lang="uk-UA" altLang="ko-KR" sz="2200" b="1" dirty="0" smtClean="0">
                <a:solidFill>
                  <a:srgbClr val="000099"/>
                </a:solidFill>
              </a:rPr>
              <a:t>Компонентна </a:t>
            </a:r>
            <a:r>
              <a:rPr lang="uk-UA" altLang="ko-KR" sz="2200" b="1" dirty="0">
                <a:solidFill>
                  <a:srgbClr val="000099"/>
                </a:solidFill>
              </a:rPr>
              <a:t>конфігурація</a:t>
            </a:r>
            <a:r>
              <a:rPr lang="uk-UA" altLang="ko-KR" sz="2200" b="1" dirty="0"/>
              <a:t> </a:t>
            </a:r>
            <a:r>
              <a:rPr lang="uk-UA" altLang="ko-KR" sz="2200" dirty="0"/>
              <a:t>- це архітектурно впорядкована відносно певної компонентної моделі сукупність компонентів, що побудована і взаємодіє згідно з вимогами і правилами цієї моделі. </a:t>
            </a:r>
            <a:endParaRPr lang="uk-UA" altLang="ko-KR" sz="2200" dirty="0" smtClean="0"/>
          </a:p>
          <a:p>
            <a:endParaRPr lang="ru-RU" altLang="ko-KR" sz="2200" dirty="0"/>
          </a:p>
          <a:p>
            <a:r>
              <a:rPr lang="ru-RU" altLang="ko-KR" sz="2200" dirty="0"/>
              <a:t>2. </a:t>
            </a:r>
            <a:r>
              <a:rPr lang="ru-RU" altLang="ko-KR" sz="2200" dirty="0" err="1">
                <a:solidFill>
                  <a:srgbClr val="0000CC"/>
                </a:solidFill>
              </a:rPr>
              <a:t>Компонентна</a:t>
            </a:r>
            <a:r>
              <a:rPr lang="ru-RU" altLang="ko-KR" sz="2200" dirty="0">
                <a:solidFill>
                  <a:srgbClr val="0000CC"/>
                </a:solidFill>
              </a:rPr>
              <a:t> </a:t>
            </a:r>
            <a:r>
              <a:rPr lang="ru-RU" altLang="ko-KR" sz="2200" dirty="0" err="1">
                <a:solidFill>
                  <a:srgbClr val="0000CC"/>
                </a:solidFill>
              </a:rPr>
              <a:t>конфігурація</a:t>
            </a:r>
            <a:r>
              <a:rPr lang="ru-RU" altLang="ko-KR" sz="2200" dirty="0">
                <a:solidFill>
                  <a:srgbClr val="0000CC"/>
                </a:solidFill>
              </a:rPr>
              <a:t> </a:t>
            </a:r>
            <a:r>
              <a:rPr lang="ru-RU" altLang="ko-KR" sz="2200" dirty="0" err="1"/>
              <a:t>визначається</a:t>
            </a:r>
            <a:r>
              <a:rPr lang="ru-RU" altLang="ko-KR" sz="2200" dirty="0"/>
              <a:t> у рамках </a:t>
            </a:r>
            <a:r>
              <a:rPr lang="ru-RU" altLang="ko-KR" sz="2200" dirty="0" err="1"/>
              <a:t>вимог</a:t>
            </a:r>
            <a:r>
              <a:rPr lang="ru-RU" altLang="ko-KR" sz="2200" dirty="0"/>
              <a:t> до </a:t>
            </a:r>
            <a:r>
              <a:rPr lang="ru-RU" altLang="ko-KR" sz="2200" dirty="0" err="1"/>
              <a:t>конкретної</a:t>
            </a:r>
            <a:r>
              <a:rPr lang="ru-RU" altLang="ko-KR" sz="2200" dirty="0"/>
              <a:t> </a:t>
            </a:r>
            <a:r>
              <a:rPr lang="ru-RU" altLang="ko-KR" sz="2200" dirty="0" err="1"/>
              <a:t>компонентної</a:t>
            </a:r>
            <a:r>
              <a:rPr lang="ru-RU" altLang="ko-KR" sz="2200" dirty="0"/>
              <a:t> </a:t>
            </a:r>
            <a:r>
              <a:rPr lang="ru-RU" altLang="ko-KR" sz="2200" dirty="0" err="1"/>
              <a:t>програми</a:t>
            </a:r>
            <a:r>
              <a:rPr lang="ru-RU" altLang="ko-KR" sz="2200" dirty="0"/>
              <a:t>. </a:t>
            </a:r>
          </a:p>
          <a:p>
            <a:pPr marL="800100" lvl="1" indent="-342900">
              <a:buClr>
                <a:srgbClr val="000099"/>
              </a:buClr>
              <a:buFont typeface="Wingdings" panose="05000000000000000000" pitchFamily="2" charset="2"/>
              <a:buChar char="Ø"/>
            </a:pPr>
            <a:r>
              <a:rPr lang="ru-RU" altLang="ko-KR" sz="2000" dirty="0" err="1" smtClean="0">
                <a:solidFill>
                  <a:srgbClr val="C00000"/>
                </a:solidFill>
              </a:rPr>
              <a:t>Необхідно</a:t>
            </a:r>
            <a:r>
              <a:rPr lang="ru-RU" altLang="ko-KR" sz="2000" dirty="0">
                <a:solidFill>
                  <a:srgbClr val="C00000"/>
                </a:solidFill>
              </a:rPr>
              <a:t>, </a:t>
            </a:r>
            <a:r>
              <a:rPr lang="ru-RU" altLang="ko-KR" sz="2000" dirty="0" err="1">
                <a:solidFill>
                  <a:srgbClr val="C00000"/>
                </a:solidFill>
              </a:rPr>
              <a:t>щоб</a:t>
            </a:r>
            <a:r>
              <a:rPr lang="ru-RU" altLang="ko-KR" sz="2000" dirty="0">
                <a:solidFill>
                  <a:srgbClr val="C00000"/>
                </a:solidFill>
              </a:rPr>
              <a:t> </a:t>
            </a:r>
            <a:r>
              <a:rPr lang="ru-RU" altLang="ko-KR" sz="2000" dirty="0" err="1">
                <a:solidFill>
                  <a:srgbClr val="C00000"/>
                </a:solidFill>
              </a:rPr>
              <a:t>між</a:t>
            </a:r>
            <a:r>
              <a:rPr lang="ru-RU" altLang="ko-KR" sz="2000" dirty="0">
                <a:solidFill>
                  <a:srgbClr val="C00000"/>
                </a:solidFill>
              </a:rPr>
              <a:t> компонентами </a:t>
            </a:r>
            <a:r>
              <a:rPr lang="ru-RU" altLang="ko-KR" sz="2000" dirty="0" err="1">
                <a:solidFill>
                  <a:srgbClr val="C00000"/>
                </a:solidFill>
              </a:rPr>
              <a:t>існували</a:t>
            </a:r>
            <a:r>
              <a:rPr lang="ru-RU" altLang="ko-KR" sz="2000" dirty="0">
                <a:solidFill>
                  <a:srgbClr val="C00000"/>
                </a:solidFill>
              </a:rPr>
              <a:t> </a:t>
            </a:r>
            <a:r>
              <a:rPr lang="ru-RU" altLang="ko-KR" sz="2000" dirty="0" err="1">
                <a:solidFill>
                  <a:srgbClr val="C00000"/>
                </a:solidFill>
              </a:rPr>
              <a:t>взаємодії</a:t>
            </a:r>
            <a:r>
              <a:rPr lang="ru-RU" altLang="ko-KR" sz="2000" dirty="0">
                <a:solidFill>
                  <a:srgbClr val="C00000"/>
                </a:solidFill>
              </a:rPr>
              <a:t>, а для </a:t>
            </a:r>
            <a:r>
              <a:rPr lang="ru-RU" altLang="ko-KR" sz="2000" dirty="0" err="1">
                <a:solidFill>
                  <a:srgbClr val="C00000"/>
                </a:solidFill>
              </a:rPr>
              <a:t>цього</a:t>
            </a:r>
            <a:r>
              <a:rPr lang="ru-RU" altLang="ko-KR" sz="2000" dirty="0">
                <a:solidFill>
                  <a:srgbClr val="C00000"/>
                </a:solidFill>
              </a:rPr>
              <a:t> вони </a:t>
            </a:r>
            <a:r>
              <a:rPr lang="ru-RU" altLang="ko-KR" sz="2000" dirty="0" err="1">
                <a:solidFill>
                  <a:srgbClr val="C00000"/>
                </a:solidFill>
              </a:rPr>
              <a:t>повинні</a:t>
            </a:r>
            <a:r>
              <a:rPr lang="ru-RU" altLang="ko-KR" sz="2000" dirty="0">
                <a:solidFill>
                  <a:srgbClr val="C00000"/>
                </a:solidFill>
              </a:rPr>
              <a:t> </a:t>
            </a:r>
            <a:r>
              <a:rPr lang="ru-RU" altLang="ko-KR" sz="2000" dirty="0" err="1">
                <a:solidFill>
                  <a:srgbClr val="C00000"/>
                </a:solidFill>
              </a:rPr>
              <a:t>мати</a:t>
            </a:r>
            <a:r>
              <a:rPr lang="ru-RU" altLang="ko-KR" sz="2000" dirty="0">
                <a:solidFill>
                  <a:srgbClr val="C00000"/>
                </a:solidFill>
              </a:rPr>
              <a:t> </a:t>
            </a:r>
            <a:r>
              <a:rPr lang="ru-RU" altLang="ko-KR" sz="2000" dirty="0" err="1">
                <a:solidFill>
                  <a:srgbClr val="C00000"/>
                </a:solidFill>
              </a:rPr>
              <a:t>узгоджені</a:t>
            </a:r>
            <a:r>
              <a:rPr lang="ru-RU" altLang="ko-KR" sz="2000" dirty="0">
                <a:solidFill>
                  <a:srgbClr val="C00000"/>
                </a:solidFill>
              </a:rPr>
              <a:t> </a:t>
            </a:r>
            <a:r>
              <a:rPr lang="ru-RU" altLang="ko-KR" sz="2000" dirty="0" err="1">
                <a:solidFill>
                  <a:srgbClr val="C00000"/>
                </a:solidFill>
              </a:rPr>
              <a:t>інтерфейси</a:t>
            </a:r>
            <a:r>
              <a:rPr lang="ru-RU" altLang="ko-KR" sz="2000" dirty="0">
                <a:solidFill>
                  <a:srgbClr val="C00000"/>
                </a:solidFill>
              </a:rPr>
              <a:t>, </a:t>
            </a:r>
            <a:r>
              <a:rPr lang="ru-RU" altLang="ko-KR" sz="2000" dirty="0" err="1">
                <a:solidFill>
                  <a:srgbClr val="C00000"/>
                </a:solidFill>
              </a:rPr>
              <a:t>що</a:t>
            </a:r>
            <a:r>
              <a:rPr lang="ru-RU" altLang="ko-KR" sz="2000" dirty="0">
                <a:solidFill>
                  <a:srgbClr val="C00000"/>
                </a:solidFill>
              </a:rPr>
              <a:t> </a:t>
            </a:r>
            <a:r>
              <a:rPr lang="ru-RU" altLang="ko-KR" sz="2000" dirty="0" err="1">
                <a:solidFill>
                  <a:srgbClr val="C00000"/>
                </a:solidFill>
              </a:rPr>
              <a:t>виконується</a:t>
            </a:r>
            <a:r>
              <a:rPr lang="ru-RU" altLang="ko-KR" sz="2000" dirty="0">
                <a:solidFill>
                  <a:srgbClr val="C00000"/>
                </a:solidFill>
              </a:rPr>
              <a:t> не для </a:t>
            </a:r>
            <a:r>
              <a:rPr lang="ru-RU" altLang="ko-KR" sz="2000" dirty="0" err="1">
                <a:solidFill>
                  <a:srgbClr val="C00000"/>
                </a:solidFill>
              </a:rPr>
              <a:t>кожної</a:t>
            </a:r>
            <a:r>
              <a:rPr lang="ru-RU" altLang="ko-KR" sz="2000" dirty="0">
                <a:solidFill>
                  <a:srgbClr val="C00000"/>
                </a:solidFill>
              </a:rPr>
              <a:t> пари </a:t>
            </a:r>
            <a:r>
              <a:rPr lang="ru-RU" altLang="ko-KR" sz="2000" dirty="0" err="1">
                <a:solidFill>
                  <a:srgbClr val="C00000"/>
                </a:solidFill>
              </a:rPr>
              <a:t>компонентів</a:t>
            </a:r>
            <a:r>
              <a:rPr lang="ru-RU" altLang="ko-KR" sz="2000" dirty="0">
                <a:solidFill>
                  <a:srgbClr val="C00000"/>
                </a:solidFill>
              </a:rPr>
              <a:t>. </a:t>
            </a:r>
          </a:p>
          <a:p>
            <a:pPr marL="800100" lvl="1" indent="-342900">
              <a:buClr>
                <a:srgbClr val="000099"/>
              </a:buClr>
              <a:buFont typeface="Wingdings" panose="05000000000000000000" pitchFamily="2" charset="2"/>
              <a:buChar char="Ø"/>
            </a:pPr>
            <a:r>
              <a:rPr lang="ru-RU" altLang="ko-KR" sz="2000" dirty="0">
                <a:solidFill>
                  <a:srgbClr val="C00000"/>
                </a:solidFill>
              </a:rPr>
              <a:t>У свою </a:t>
            </a:r>
            <a:r>
              <a:rPr lang="ru-RU" altLang="ko-KR" sz="2000" dirty="0" err="1">
                <a:solidFill>
                  <a:srgbClr val="C00000"/>
                </a:solidFill>
              </a:rPr>
              <a:t>чергу</a:t>
            </a:r>
            <a:r>
              <a:rPr lang="ru-RU" altLang="ko-KR" sz="2000" dirty="0">
                <a:solidFill>
                  <a:srgbClr val="C00000"/>
                </a:solidFill>
              </a:rPr>
              <a:t> </a:t>
            </a:r>
            <a:r>
              <a:rPr lang="ru-RU" altLang="ko-KR" sz="2000" dirty="0" err="1">
                <a:solidFill>
                  <a:srgbClr val="C00000"/>
                </a:solidFill>
              </a:rPr>
              <a:t>сукупність</a:t>
            </a:r>
            <a:r>
              <a:rPr lang="ru-RU" altLang="ko-KR" sz="2000" dirty="0">
                <a:solidFill>
                  <a:srgbClr val="C00000"/>
                </a:solidFill>
              </a:rPr>
              <a:t> </a:t>
            </a:r>
            <a:r>
              <a:rPr lang="ru-RU" altLang="ko-KR" sz="2000" dirty="0" err="1">
                <a:solidFill>
                  <a:srgbClr val="C00000"/>
                </a:solidFill>
              </a:rPr>
              <a:t>необхідних</a:t>
            </a:r>
            <a:r>
              <a:rPr lang="ru-RU" altLang="ko-KR" sz="2000" dirty="0">
                <a:solidFill>
                  <a:srgbClr val="C00000"/>
                </a:solidFill>
              </a:rPr>
              <a:t> </a:t>
            </a:r>
            <a:r>
              <a:rPr lang="ru-RU" altLang="ko-KR" sz="2000" dirty="0" err="1">
                <a:solidFill>
                  <a:srgbClr val="C00000"/>
                </a:solidFill>
              </a:rPr>
              <a:t>інтерфейсів</a:t>
            </a:r>
            <a:r>
              <a:rPr lang="ru-RU" altLang="ko-KR" sz="2000" dirty="0">
                <a:solidFill>
                  <a:srgbClr val="C00000"/>
                </a:solidFill>
              </a:rPr>
              <a:t> повинна </a:t>
            </a:r>
            <a:r>
              <a:rPr lang="ru-RU" altLang="ko-KR" sz="2000" dirty="0" err="1">
                <a:solidFill>
                  <a:srgbClr val="C00000"/>
                </a:solidFill>
              </a:rPr>
              <a:t>визначати</a:t>
            </a:r>
            <a:r>
              <a:rPr lang="ru-RU" altLang="ko-KR" sz="2000" dirty="0">
                <a:solidFill>
                  <a:srgbClr val="C00000"/>
                </a:solidFill>
              </a:rPr>
              <a:t> </a:t>
            </a:r>
            <a:r>
              <a:rPr lang="ru-RU" altLang="ko-KR" sz="2000" dirty="0" err="1">
                <a:solidFill>
                  <a:srgbClr val="C00000"/>
                </a:solidFill>
              </a:rPr>
              <a:t>функціональні</a:t>
            </a:r>
            <a:r>
              <a:rPr lang="ru-RU" altLang="ko-KR" sz="2000" dirty="0">
                <a:solidFill>
                  <a:srgbClr val="C00000"/>
                </a:solidFill>
              </a:rPr>
              <a:t> </a:t>
            </a:r>
            <a:r>
              <a:rPr lang="ru-RU" altLang="ko-KR" sz="2000" dirty="0" err="1">
                <a:solidFill>
                  <a:srgbClr val="C00000"/>
                </a:solidFill>
              </a:rPr>
              <a:t>властивості</a:t>
            </a:r>
            <a:r>
              <a:rPr lang="ru-RU" altLang="ko-KR" sz="2000" dirty="0">
                <a:solidFill>
                  <a:srgbClr val="C00000"/>
                </a:solidFill>
              </a:rPr>
              <a:t> </a:t>
            </a:r>
            <a:r>
              <a:rPr lang="ru-RU" altLang="ko-KR" sz="2000" dirty="0" err="1">
                <a:solidFill>
                  <a:srgbClr val="C00000"/>
                </a:solidFill>
              </a:rPr>
              <a:t>компонентної</a:t>
            </a:r>
            <a:r>
              <a:rPr lang="ru-RU" altLang="ko-KR" sz="2000" dirty="0">
                <a:solidFill>
                  <a:srgbClr val="C00000"/>
                </a:solidFill>
              </a:rPr>
              <a:t> </a:t>
            </a:r>
            <a:r>
              <a:rPr lang="ru-RU" altLang="ko-KR" sz="2000" dirty="0" err="1">
                <a:solidFill>
                  <a:srgbClr val="C00000"/>
                </a:solidFill>
              </a:rPr>
              <a:t>програми</a:t>
            </a:r>
            <a:r>
              <a:rPr lang="ru-RU" altLang="ko-KR" sz="2000" dirty="0">
                <a:solidFill>
                  <a:srgbClr val="C00000"/>
                </a:solidFill>
              </a:rPr>
              <a:t>. </a:t>
            </a:r>
            <a:r>
              <a:rPr lang="ru-RU" altLang="ko-KR" sz="2000" dirty="0" err="1">
                <a:solidFill>
                  <a:srgbClr val="C00000"/>
                </a:solidFill>
              </a:rPr>
              <a:t>Цим</a:t>
            </a:r>
            <a:r>
              <a:rPr lang="ru-RU" altLang="ko-KR" sz="2000" dirty="0">
                <a:solidFill>
                  <a:srgbClr val="C00000"/>
                </a:solidFill>
              </a:rPr>
              <a:t> і </a:t>
            </a:r>
            <a:r>
              <a:rPr lang="ru-RU" altLang="ko-KR" sz="2000" dirty="0" err="1">
                <a:solidFill>
                  <a:srgbClr val="C00000"/>
                </a:solidFill>
              </a:rPr>
              <a:t>обумовлюється</a:t>
            </a:r>
            <a:r>
              <a:rPr lang="ru-RU" altLang="ko-KR" sz="2000" dirty="0">
                <a:solidFill>
                  <a:srgbClr val="C00000"/>
                </a:solidFill>
              </a:rPr>
              <a:t> </a:t>
            </a:r>
            <a:r>
              <a:rPr lang="ru-RU" altLang="ko-KR" sz="2000" dirty="0" err="1">
                <a:solidFill>
                  <a:srgbClr val="C00000"/>
                </a:solidFill>
              </a:rPr>
              <a:t>відносність</a:t>
            </a:r>
            <a:r>
              <a:rPr lang="ru-RU" altLang="ko-KR" sz="2000" dirty="0">
                <a:solidFill>
                  <a:srgbClr val="C00000"/>
                </a:solidFill>
              </a:rPr>
              <a:t> </a:t>
            </a:r>
            <a:r>
              <a:rPr lang="ru-RU" altLang="ko-KR" sz="2000" dirty="0" err="1">
                <a:solidFill>
                  <a:srgbClr val="C00000"/>
                </a:solidFill>
              </a:rPr>
              <a:t>компонентної</a:t>
            </a:r>
            <a:r>
              <a:rPr lang="ru-RU" altLang="ko-KR" sz="2000" dirty="0">
                <a:solidFill>
                  <a:srgbClr val="C00000"/>
                </a:solidFill>
              </a:rPr>
              <a:t> </a:t>
            </a:r>
            <a:r>
              <a:rPr lang="ru-RU" altLang="ko-KR" sz="2000" dirty="0" err="1">
                <a:solidFill>
                  <a:srgbClr val="C00000"/>
                </a:solidFill>
              </a:rPr>
              <a:t>конфігурації</a:t>
            </a:r>
            <a:r>
              <a:rPr lang="ru-RU" altLang="ko-KR" sz="2000" dirty="0">
                <a:solidFill>
                  <a:srgbClr val="C00000"/>
                </a:solidFill>
              </a:rPr>
              <a:t>. </a:t>
            </a:r>
            <a:endParaRPr lang="ru-RU" sz="2000" dirty="0">
              <a:solidFill>
                <a:srgbClr val="C00000"/>
              </a:solidFill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1763713" y="0"/>
            <a:ext cx="49666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uk-UA" sz="2800" b="1" dirty="0">
                <a:solidFill>
                  <a:schemeClr val="bg1"/>
                </a:solidFill>
              </a:rPr>
              <a:t>К</a:t>
            </a:r>
            <a:r>
              <a:rPr lang="uk-UA" altLang="ko-KR" sz="2800" b="1" dirty="0">
                <a:solidFill>
                  <a:schemeClr val="bg1"/>
                </a:solidFill>
              </a:rPr>
              <a:t>омпонентна конфігурація</a:t>
            </a:r>
            <a:endParaRPr lang="ru-RU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69251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 noChangeArrowheads="1"/>
          </p:cNvSpPr>
          <p:nvPr/>
        </p:nvSpPr>
        <p:spPr bwMode="auto">
          <a:xfrm>
            <a:off x="269875" y="1378913"/>
            <a:ext cx="864076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n-US" sz="2200" b="1" i="1" dirty="0">
                <a:solidFill>
                  <a:srgbClr val="000099"/>
                </a:solidFill>
              </a:rPr>
              <a:t>  </a:t>
            </a:r>
            <a:r>
              <a:rPr lang="uk-UA" sz="2200" b="1" i="1" dirty="0">
                <a:solidFill>
                  <a:srgbClr val="000099"/>
                </a:solidFill>
              </a:rPr>
              <a:t>Компонентне середовище</a:t>
            </a:r>
            <a:r>
              <a:rPr lang="uk-UA" sz="2200" dirty="0">
                <a:solidFill>
                  <a:srgbClr val="000000"/>
                </a:solidFill>
              </a:rPr>
              <a:t> – розширення класичної моделі </a:t>
            </a:r>
            <a:r>
              <a:rPr lang="uk-UA" sz="2200" b="1" dirty="0">
                <a:solidFill>
                  <a:srgbClr val="000099"/>
                </a:solidFill>
              </a:rPr>
              <a:t>клієнт–сервер</a:t>
            </a:r>
            <a:r>
              <a:rPr lang="uk-UA" sz="2200" dirty="0">
                <a:solidFill>
                  <a:srgbClr val="000099"/>
                </a:solidFill>
              </a:rPr>
              <a:t> </a:t>
            </a:r>
            <a:r>
              <a:rPr lang="uk-UA" sz="2200" dirty="0">
                <a:solidFill>
                  <a:srgbClr val="000000"/>
                </a:solidFill>
              </a:rPr>
              <a:t>з урахуванням специфіки побудови і функціонування програмних компонентів, а також результатів практичних реалізацій і їхньої апробації.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n-US" sz="2200" b="1" dirty="0">
                <a:solidFill>
                  <a:srgbClr val="000099"/>
                </a:solidFill>
              </a:rPr>
              <a:t>  </a:t>
            </a:r>
            <a:r>
              <a:rPr lang="uk-UA" sz="2200" b="1" dirty="0">
                <a:solidFill>
                  <a:srgbClr val="000099"/>
                </a:solidFill>
              </a:rPr>
              <a:t>Основа компонентного середовища</a:t>
            </a:r>
            <a:r>
              <a:rPr lang="uk-UA" sz="2200" dirty="0">
                <a:solidFill>
                  <a:srgbClr val="000000"/>
                </a:solidFill>
              </a:rPr>
              <a:t> – множина серверів компонентів (часто їх називають сервери застосувань – </a:t>
            </a:r>
            <a:r>
              <a:rPr lang="uk-UA" sz="2200" dirty="0" err="1">
                <a:solidFill>
                  <a:srgbClr val="C00000"/>
                </a:solidFill>
              </a:rPr>
              <a:t>application</a:t>
            </a:r>
            <a:r>
              <a:rPr lang="uk-UA" sz="2200" dirty="0">
                <a:solidFill>
                  <a:srgbClr val="C00000"/>
                </a:solidFill>
              </a:rPr>
              <a:t> </a:t>
            </a:r>
            <a:r>
              <a:rPr lang="uk-UA" sz="2200" dirty="0" err="1">
                <a:solidFill>
                  <a:srgbClr val="C00000"/>
                </a:solidFill>
              </a:rPr>
              <a:t>servers</a:t>
            </a:r>
            <a:r>
              <a:rPr lang="uk-UA" sz="2200" dirty="0">
                <a:solidFill>
                  <a:srgbClr val="C00000"/>
                </a:solidFill>
              </a:rPr>
              <a:t>).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n-US" sz="2200" dirty="0">
                <a:solidFill>
                  <a:srgbClr val="000000"/>
                </a:solidFill>
              </a:rPr>
              <a:t>  </a:t>
            </a:r>
            <a:r>
              <a:rPr lang="uk-UA" sz="2200" dirty="0">
                <a:solidFill>
                  <a:srgbClr val="000000"/>
                </a:solidFill>
              </a:rPr>
              <a:t>Усередині сервера розгортаються </a:t>
            </a:r>
            <a:r>
              <a:rPr lang="uk-UA" sz="2200" b="1" dirty="0">
                <a:solidFill>
                  <a:srgbClr val="000099"/>
                </a:solidFill>
              </a:rPr>
              <a:t>компоненти-контейнери.</a:t>
            </a:r>
            <a:r>
              <a:rPr lang="uk-UA" sz="2200" dirty="0">
                <a:solidFill>
                  <a:srgbClr val="000099"/>
                </a:solidFill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lang="en-US" sz="2200" dirty="0">
                <a:solidFill>
                  <a:srgbClr val="000000"/>
                </a:solidFill>
              </a:rPr>
              <a:t>  </a:t>
            </a:r>
            <a:r>
              <a:rPr lang="uk-UA" sz="2200" dirty="0">
                <a:solidFill>
                  <a:srgbClr val="000000"/>
                </a:solidFill>
              </a:rPr>
              <a:t>Для кожного сервера може існувати </a:t>
            </a:r>
            <a:r>
              <a:rPr lang="uk-UA" sz="2200" dirty="0">
                <a:solidFill>
                  <a:srgbClr val="000099"/>
                </a:solidFill>
              </a:rPr>
              <a:t>довільна кількість контейнерів.</a:t>
            </a:r>
            <a:r>
              <a:rPr lang="uk-UA" sz="2200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8435" name="Rectangle 6"/>
          <p:cNvSpPr>
            <a:spLocks noChangeArrowheads="1"/>
          </p:cNvSpPr>
          <p:nvPr/>
        </p:nvSpPr>
        <p:spPr bwMode="auto">
          <a:xfrm>
            <a:off x="1835150" y="0"/>
            <a:ext cx="55172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uk-UA" sz="3200" b="1" dirty="0">
                <a:solidFill>
                  <a:schemeClr val="bg1"/>
                </a:solidFill>
              </a:rPr>
              <a:t>К</a:t>
            </a:r>
            <a:r>
              <a:rPr lang="uk-UA" altLang="ko-KR" sz="3200" b="1" dirty="0">
                <a:solidFill>
                  <a:schemeClr val="bg1"/>
                </a:solidFill>
              </a:rPr>
              <a:t>омпонентне середовище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8880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72" y="1036112"/>
            <a:ext cx="8681456" cy="4785775"/>
          </a:xfrm>
          <a:prstGeom prst="rect">
            <a:avLst/>
          </a:prstGeom>
        </p:spPr>
      </p:pic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diagram</a:t>
            </a:r>
            <a:r>
              <a:rPr lang="uk-UA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endParaRPr lang="ru-R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7063235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99" y="1000896"/>
            <a:ext cx="8485655" cy="4823043"/>
          </a:xfrm>
          <a:prstGeom prst="rect">
            <a:avLst/>
          </a:prstGeom>
        </p:spPr>
      </p:pic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diagram</a:t>
            </a:r>
            <a:r>
              <a:rPr lang="uk-UA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endParaRPr lang="ru-R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9923425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90831"/>
            <a:ext cx="9144000" cy="5657593"/>
          </a:xfrm>
          <a:prstGeom prst="rect">
            <a:avLst/>
          </a:prstGeom>
        </p:spPr>
      </p:pic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diagram</a:t>
            </a:r>
            <a:r>
              <a:rPr lang="uk-UA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endParaRPr lang="ru-R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69579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551863" y="6597650"/>
            <a:ext cx="592137" cy="274638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>
                <a:solidFill>
                  <a:srgbClr val="FFFFFF"/>
                </a:solidFill>
              </a:rPr>
              <a:pPr/>
              <a:t>78</a:t>
            </a:fld>
            <a:endParaRPr lang="uk-UA" dirty="0">
              <a:solidFill>
                <a:srgbClr val="FFFFFF"/>
              </a:solidFill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uk-UA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Генерація коду по діаграмі класів</a:t>
            </a:r>
            <a:endParaRPr lang="ru-R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248" y="523220"/>
            <a:ext cx="6944498" cy="633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18427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551863" y="6597650"/>
            <a:ext cx="592137" cy="274638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>
                <a:solidFill>
                  <a:srgbClr val="FFFFFF"/>
                </a:solidFill>
              </a:rPr>
              <a:pPr/>
              <a:t>79</a:t>
            </a:fld>
            <a:endParaRPr lang="uk-UA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30383" y="0"/>
            <a:ext cx="40832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b="1" dirty="0" smtClean="0">
                <a:solidFill>
                  <a:schemeClr val="bg1"/>
                </a:solidFill>
              </a:rPr>
              <a:t>Домашнє завдання</a:t>
            </a:r>
            <a:endParaRPr lang="ru-RU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84775"/>
            <a:ext cx="9144000" cy="61093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1700" dirty="0" err="1" smtClean="0">
                <a:solidFill>
                  <a:srgbClr val="0000CC"/>
                </a:solidFill>
              </a:rPr>
              <a:t>Розробити</a:t>
            </a:r>
            <a:r>
              <a:rPr lang="ru-RU" sz="1700" dirty="0" smtClean="0">
                <a:solidFill>
                  <a:srgbClr val="0000CC"/>
                </a:solidFill>
              </a:rPr>
              <a:t> </a:t>
            </a:r>
            <a:r>
              <a:rPr lang="en-US" sz="1700" dirty="0" smtClean="0">
                <a:solidFill>
                  <a:srgbClr val="0000CC"/>
                </a:solidFill>
              </a:rPr>
              <a:t>UML</a:t>
            </a:r>
            <a:r>
              <a:rPr lang="uk-UA" sz="1700" dirty="0" smtClean="0">
                <a:solidFill>
                  <a:srgbClr val="0000CC"/>
                </a:solidFill>
              </a:rPr>
              <a:t> діаграми : </a:t>
            </a:r>
            <a:r>
              <a:rPr lang="en-US" sz="1700" dirty="0" smtClean="0">
                <a:solidFill>
                  <a:srgbClr val="0000CC"/>
                </a:solidFill>
              </a:rPr>
              <a:t>class</a:t>
            </a:r>
            <a:r>
              <a:rPr lang="ru-RU" sz="1700" dirty="0" smtClean="0">
                <a:solidFill>
                  <a:srgbClr val="0000CC"/>
                </a:solidFill>
              </a:rPr>
              <a:t>,</a:t>
            </a:r>
            <a:r>
              <a:rPr lang="en-US" sz="1700" dirty="0" smtClean="0">
                <a:solidFill>
                  <a:srgbClr val="0000CC"/>
                </a:solidFill>
              </a:rPr>
              <a:t> activity, sequence</a:t>
            </a:r>
            <a:r>
              <a:rPr lang="en-US" sz="1700" dirty="0" smtClean="0">
                <a:solidFill>
                  <a:srgbClr val="0000CC"/>
                </a:solidFill>
              </a:rPr>
              <a:t>, </a:t>
            </a:r>
            <a:r>
              <a:rPr lang="en-US" sz="1700" dirty="0" err="1" smtClean="0">
                <a:solidFill>
                  <a:srgbClr val="0000CC"/>
                </a:solidFill>
              </a:rPr>
              <a:t>statechart</a:t>
            </a:r>
            <a:r>
              <a:rPr lang="en-US" sz="1700" dirty="0" smtClean="0">
                <a:solidFill>
                  <a:srgbClr val="0000CC"/>
                </a:solidFill>
              </a:rPr>
              <a:t>, component, deployment:</a:t>
            </a:r>
            <a:endParaRPr lang="ru-RU" sz="1700" dirty="0" smtClean="0">
              <a:solidFill>
                <a:srgbClr val="0000CC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uk-UA" sz="1700" dirty="0" smtClean="0"/>
              <a:t>для бізнес-процесів </a:t>
            </a:r>
            <a:r>
              <a:rPr lang="uk-UA" sz="1700" dirty="0" smtClean="0">
                <a:solidFill>
                  <a:srgbClr val="C00000"/>
                </a:solidFill>
              </a:rPr>
              <a:t>виконання лабораторних робіт з курсу «Архітектура ПЗ»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700" dirty="0" smtClean="0"/>
              <a:t>для бізнес-процесів </a:t>
            </a:r>
            <a:r>
              <a:rPr lang="uk-UA" sz="1700" dirty="0" smtClean="0">
                <a:solidFill>
                  <a:srgbClr val="C00000"/>
                </a:solidFill>
              </a:rPr>
              <a:t>Інтернет-магазину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700" dirty="0" smtClean="0"/>
              <a:t>для </a:t>
            </a:r>
            <a:r>
              <a:rPr lang="uk-UA" sz="1700" dirty="0"/>
              <a:t>бізнес-процесів </a:t>
            </a:r>
            <a:r>
              <a:rPr lang="uk-UA" sz="1700" dirty="0" smtClean="0">
                <a:solidFill>
                  <a:srgbClr val="C00000"/>
                </a:solidFill>
              </a:rPr>
              <a:t>роботи менеджера з управління програмними проектами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700" dirty="0" smtClean="0"/>
              <a:t>для </a:t>
            </a:r>
            <a:r>
              <a:rPr lang="uk-UA" sz="1700" dirty="0"/>
              <a:t>бізнес-процесів </a:t>
            </a:r>
            <a:r>
              <a:rPr lang="uk-UA" sz="1700" dirty="0" smtClean="0">
                <a:solidFill>
                  <a:srgbClr val="C00000"/>
                </a:solidFill>
              </a:rPr>
              <a:t>бронювання квитків (ж/д, авіа)</a:t>
            </a:r>
            <a:endParaRPr lang="uk-UA" sz="1700" dirty="0">
              <a:solidFill>
                <a:srgbClr val="C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uk-UA" sz="1700" dirty="0" smtClean="0"/>
              <a:t>для </a:t>
            </a:r>
            <a:r>
              <a:rPr lang="uk-UA" sz="1700" dirty="0"/>
              <a:t>бізнес-процесів </a:t>
            </a:r>
            <a:r>
              <a:rPr lang="uk-UA" sz="1700" dirty="0" smtClean="0">
                <a:solidFill>
                  <a:srgbClr val="C00000"/>
                </a:solidFill>
              </a:rPr>
              <a:t>контролю успішності студентів</a:t>
            </a:r>
            <a:endParaRPr lang="uk-UA" sz="1700" dirty="0">
              <a:solidFill>
                <a:srgbClr val="C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uk-UA" sz="1700" dirty="0" smtClean="0"/>
              <a:t>для </a:t>
            </a:r>
            <a:r>
              <a:rPr lang="uk-UA" sz="1700" dirty="0"/>
              <a:t>бізнес-процесів </a:t>
            </a:r>
            <a:r>
              <a:rPr lang="uk-UA" sz="1700" dirty="0" smtClean="0">
                <a:solidFill>
                  <a:srgbClr val="C00000"/>
                </a:solidFill>
              </a:rPr>
              <a:t>студентського кадрового </a:t>
            </a:r>
            <a:r>
              <a:rPr lang="uk-UA" sz="1700" dirty="0" err="1" smtClean="0">
                <a:solidFill>
                  <a:srgbClr val="C00000"/>
                </a:solidFill>
              </a:rPr>
              <a:t>агенства</a:t>
            </a:r>
            <a:endParaRPr lang="uk-UA" sz="1700" dirty="0">
              <a:solidFill>
                <a:srgbClr val="C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uk-UA" sz="1700" dirty="0" smtClean="0"/>
              <a:t>для </a:t>
            </a:r>
            <a:r>
              <a:rPr lang="uk-UA" sz="1700" dirty="0"/>
              <a:t>бізнес-процесів </a:t>
            </a:r>
            <a:r>
              <a:rPr lang="uk-UA" sz="1700" dirty="0" smtClean="0">
                <a:solidFill>
                  <a:srgbClr val="C00000"/>
                </a:solidFill>
              </a:rPr>
              <a:t>роботи старости групи</a:t>
            </a:r>
            <a:endParaRPr lang="uk-UA" sz="1700" dirty="0">
              <a:solidFill>
                <a:srgbClr val="C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uk-UA" sz="1700" dirty="0" smtClean="0"/>
              <a:t>для </a:t>
            </a:r>
            <a:r>
              <a:rPr lang="uk-UA" sz="1700" dirty="0"/>
              <a:t>бізнес-процесів </a:t>
            </a:r>
            <a:r>
              <a:rPr lang="uk-UA" sz="1700" dirty="0" smtClean="0">
                <a:solidFill>
                  <a:srgbClr val="C00000"/>
                </a:solidFill>
              </a:rPr>
              <a:t>обліку готової продукції на підприємстві</a:t>
            </a:r>
            <a:endParaRPr lang="uk-UA" sz="1700" dirty="0">
              <a:solidFill>
                <a:srgbClr val="C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uk-UA" sz="1700" dirty="0" smtClean="0"/>
              <a:t>для </a:t>
            </a:r>
            <a:r>
              <a:rPr lang="uk-UA" sz="1700" dirty="0"/>
              <a:t>бізнес-процесів </a:t>
            </a:r>
            <a:r>
              <a:rPr lang="uk-UA" sz="1700" dirty="0" smtClean="0">
                <a:solidFill>
                  <a:srgbClr val="C00000"/>
                </a:solidFill>
              </a:rPr>
              <a:t>роботи наукової </a:t>
            </a:r>
            <a:r>
              <a:rPr lang="uk-UA" sz="1700" dirty="0" smtClean="0">
                <a:solidFill>
                  <a:srgbClr val="C00000"/>
                </a:solidFill>
              </a:rPr>
              <a:t>бібліотеки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700" dirty="0" smtClean="0"/>
              <a:t>для бізнес-процесів </a:t>
            </a:r>
            <a:r>
              <a:rPr lang="uk-UA" sz="1700" dirty="0" smtClean="0">
                <a:solidFill>
                  <a:srgbClr val="C00000"/>
                </a:solidFill>
              </a:rPr>
              <a:t>обслуговування пацієнтів поліклініки</a:t>
            </a:r>
          </a:p>
          <a:p>
            <a:pPr marL="342900" indent="-342900">
              <a:buFont typeface="+mj-lt"/>
              <a:buAutoNum type="arabicPeriod"/>
            </a:pPr>
            <a:r>
              <a:rPr lang="uk-UA" sz="1700" dirty="0" smtClean="0"/>
              <a:t>для </a:t>
            </a:r>
            <a:r>
              <a:rPr lang="uk-UA" sz="1700" dirty="0"/>
              <a:t>бізнес-процесів </a:t>
            </a:r>
            <a:r>
              <a:rPr lang="uk-UA" sz="1700" dirty="0" smtClean="0">
                <a:solidFill>
                  <a:srgbClr val="C00000"/>
                </a:solidFill>
              </a:rPr>
              <a:t>туристичної </a:t>
            </a:r>
            <a:r>
              <a:rPr lang="uk-UA" sz="1700" dirty="0" smtClean="0">
                <a:solidFill>
                  <a:srgbClr val="C00000"/>
                </a:solidFill>
              </a:rPr>
              <a:t>агенції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uk-UA" sz="1700" dirty="0" smtClean="0"/>
              <a:t>для бізнес-процесів </a:t>
            </a:r>
            <a:r>
              <a:rPr lang="uk-UA" sz="1700" dirty="0" smtClean="0">
                <a:solidFill>
                  <a:srgbClr val="C00000"/>
                </a:solidFill>
              </a:rPr>
              <a:t>управління готелем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uk-UA" sz="1700" dirty="0" smtClean="0"/>
              <a:t>для бізнес-процесів </a:t>
            </a:r>
            <a:r>
              <a:rPr lang="uk-UA" sz="1700" dirty="0" smtClean="0">
                <a:solidFill>
                  <a:srgbClr val="C00000"/>
                </a:solidFill>
              </a:rPr>
              <a:t>роботи приймальної комісії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uk-UA" sz="1700" dirty="0" smtClean="0"/>
              <a:t>для бізнес-процесів </a:t>
            </a:r>
            <a:r>
              <a:rPr lang="uk-UA" sz="1700" dirty="0" smtClean="0">
                <a:solidFill>
                  <a:srgbClr val="C00000"/>
                </a:solidFill>
              </a:rPr>
              <a:t>вступу абітурієнтів у ЗВО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uk-UA" sz="1700" dirty="0" smtClean="0"/>
              <a:t>для бізнес-процесів </a:t>
            </a:r>
            <a:r>
              <a:rPr lang="uk-UA" sz="1700" dirty="0" smtClean="0">
                <a:solidFill>
                  <a:srgbClr val="C00000"/>
                </a:solidFill>
              </a:rPr>
              <a:t>роботи </a:t>
            </a:r>
            <a:r>
              <a:rPr lang="uk-UA" sz="1700" dirty="0" err="1" smtClean="0">
                <a:solidFill>
                  <a:srgbClr val="C00000"/>
                </a:solidFill>
              </a:rPr>
              <a:t>ріелтерської</a:t>
            </a:r>
            <a:r>
              <a:rPr lang="uk-UA" sz="1700" dirty="0" smtClean="0">
                <a:solidFill>
                  <a:srgbClr val="C00000"/>
                </a:solidFill>
              </a:rPr>
              <a:t> компанії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uk-UA" sz="1700" dirty="0" smtClean="0"/>
              <a:t>для бізнес-процесів </a:t>
            </a:r>
            <a:r>
              <a:rPr lang="uk-UA" sz="1700" dirty="0" smtClean="0">
                <a:solidFill>
                  <a:srgbClr val="C00000"/>
                </a:solidFill>
              </a:rPr>
              <a:t>роботи системного адміністратора </a:t>
            </a:r>
            <a:r>
              <a:rPr lang="uk-UA" sz="1700" dirty="0" err="1" smtClean="0">
                <a:solidFill>
                  <a:srgbClr val="C00000"/>
                </a:solidFill>
              </a:rPr>
              <a:t>комп</a:t>
            </a:r>
            <a:r>
              <a:rPr lang="en-US" sz="1700" dirty="0" smtClean="0">
                <a:solidFill>
                  <a:srgbClr val="C00000"/>
                </a:solidFill>
              </a:rPr>
              <a:t>’</a:t>
            </a:r>
            <a:r>
              <a:rPr lang="uk-UA" sz="1700" dirty="0" err="1" smtClean="0">
                <a:solidFill>
                  <a:srgbClr val="C00000"/>
                </a:solidFill>
              </a:rPr>
              <a:t>ютерної</a:t>
            </a:r>
            <a:r>
              <a:rPr lang="uk-UA" sz="1700" dirty="0" smtClean="0">
                <a:solidFill>
                  <a:srgbClr val="C00000"/>
                </a:solidFill>
              </a:rPr>
              <a:t> мережі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uk-UA" sz="1700" dirty="0" smtClean="0"/>
              <a:t>для бізнес-процесів </a:t>
            </a:r>
            <a:r>
              <a:rPr lang="en-US" sz="1700" dirty="0" smtClean="0">
                <a:solidFill>
                  <a:srgbClr val="C00000"/>
                </a:solidFill>
              </a:rPr>
              <a:t>scrum</a:t>
            </a:r>
            <a:r>
              <a:rPr lang="uk-UA" sz="1700" dirty="0" smtClean="0">
                <a:solidFill>
                  <a:srgbClr val="C00000"/>
                </a:solidFill>
              </a:rPr>
              <a:t>-майстра в процесі розробки ПЗ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uk-UA" sz="1700" dirty="0" smtClean="0"/>
              <a:t>для бізнес-процесів </a:t>
            </a:r>
            <a:r>
              <a:rPr lang="uk-UA" sz="1700" dirty="0" smtClean="0">
                <a:solidFill>
                  <a:srgbClr val="C00000"/>
                </a:solidFill>
              </a:rPr>
              <a:t>розробки веб-сайту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uk-UA" sz="1700" dirty="0" smtClean="0"/>
              <a:t>для бізнес-процесів </a:t>
            </a:r>
            <a:r>
              <a:rPr lang="uk-UA" sz="1700" dirty="0" smtClean="0">
                <a:solidFill>
                  <a:srgbClr val="C00000"/>
                </a:solidFill>
              </a:rPr>
              <a:t>розробки курсового проекту з технології програмування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uk-UA" sz="1700" dirty="0" smtClean="0"/>
              <a:t>для бізнес-процесів </a:t>
            </a:r>
            <a:r>
              <a:rPr lang="uk-UA" sz="1700" dirty="0" smtClean="0">
                <a:solidFill>
                  <a:srgbClr val="C00000"/>
                </a:solidFill>
              </a:rPr>
              <a:t>взаємодії ІТ-компанії та ЗВО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uk-UA" sz="1700" dirty="0" smtClean="0"/>
              <a:t>для бізнес-процесів </a:t>
            </a:r>
            <a:r>
              <a:rPr lang="uk-UA" sz="1700" dirty="0" smtClean="0">
                <a:solidFill>
                  <a:srgbClr val="C00000"/>
                </a:solidFill>
              </a:rPr>
              <a:t>участі в конкурсі на отримання гранту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uk-UA" sz="1700" dirty="0" smtClean="0"/>
              <a:t>для бізнес-процесів </a:t>
            </a:r>
            <a:r>
              <a:rPr lang="uk-UA" sz="1700" dirty="0" err="1" smtClean="0">
                <a:solidFill>
                  <a:srgbClr val="C00000"/>
                </a:solidFill>
              </a:rPr>
              <a:t>освітньо</a:t>
            </a:r>
            <a:r>
              <a:rPr lang="uk-UA" sz="1700" dirty="0" smtClean="0">
                <a:solidFill>
                  <a:srgbClr val="C00000"/>
                </a:solidFill>
              </a:rPr>
              <a:t>-виробничого ІТ кластеру</a:t>
            </a:r>
            <a:endParaRPr lang="ru-RU" sz="17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78075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3848" y="22385"/>
            <a:ext cx="31563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800" b="1" dirty="0" smtClean="0">
                <a:solidFill>
                  <a:schemeClr val="bg1"/>
                </a:solidFill>
              </a:rPr>
              <a:t>Корисні посилання</a:t>
            </a:r>
            <a:endParaRPr lang="uk-UA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24115" y="862237"/>
            <a:ext cx="658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 smtClean="0"/>
              <a:t>Раджу скористатись довідкою </a:t>
            </a:r>
            <a:r>
              <a:rPr lang="en-US" dirty="0" smtClean="0"/>
              <a:t> MSDN (</a:t>
            </a:r>
            <a:r>
              <a:rPr lang="uk-UA" dirty="0" smtClean="0"/>
              <a:t>стисло, коротко, доступно</a:t>
            </a:r>
            <a:r>
              <a:rPr lang="en-US" dirty="0" smtClean="0"/>
              <a:t>)</a:t>
            </a:r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18280" y="1772816"/>
            <a:ext cx="79541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hlinkClick r:id="rId2"/>
              </a:rPr>
              <a:t>https://</a:t>
            </a:r>
            <a:r>
              <a:rPr lang="en-US" sz="1600" dirty="0" smtClean="0">
                <a:hlinkClick r:id="rId2"/>
              </a:rPr>
              <a:t>msdn.microsoft.com/en-us/library/dd409427.aspx</a:t>
            </a:r>
            <a:r>
              <a:rPr lang="en-US" sz="1600" dirty="0"/>
              <a:t> </a:t>
            </a:r>
            <a:r>
              <a:rPr lang="en-US" sz="1600" dirty="0" smtClean="0"/>
              <a:t>		Use case</a:t>
            </a:r>
            <a:endParaRPr lang="uk-UA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89653" y="2276872"/>
            <a:ext cx="82773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https://</a:t>
            </a:r>
            <a:r>
              <a:rPr lang="en-US" sz="1600" dirty="0" smtClean="0">
                <a:hlinkClick r:id="rId3"/>
              </a:rPr>
              <a:t>msdn.microsoft.com/en-us/library/dd409389.aspx</a:t>
            </a:r>
            <a:r>
              <a:rPr lang="en-US" sz="1600" dirty="0" smtClean="0"/>
              <a:t> 		Sequence</a:t>
            </a:r>
            <a:endParaRPr lang="uk-UA" sz="16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55048" y="2736503"/>
            <a:ext cx="734481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hlinkClick r:id="rId4"/>
              </a:rPr>
              <a:t>https://</a:t>
            </a:r>
            <a:r>
              <a:rPr lang="en-US" sz="1600" dirty="0" smtClean="0">
                <a:hlinkClick r:id="rId4"/>
              </a:rPr>
              <a:t>msdn.microsoft.com/en-us/library/dd409437.aspx</a:t>
            </a:r>
            <a:r>
              <a:rPr lang="en-US" sz="1600" dirty="0" smtClean="0"/>
              <a:t> 		class</a:t>
            </a:r>
            <a:endParaRPr lang="uk-UA" sz="1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01840" y="3212976"/>
            <a:ext cx="808658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hlinkClick r:id="rId5"/>
              </a:rPr>
              <a:t>https://</a:t>
            </a:r>
            <a:r>
              <a:rPr lang="en-US" sz="1600" dirty="0" smtClean="0">
                <a:hlinkClick r:id="rId5"/>
              </a:rPr>
              <a:t>msdn.microsoft.com/en-us/library/dd409390.aspx</a:t>
            </a:r>
            <a:r>
              <a:rPr lang="en-US" sz="1600" dirty="0" smtClean="0"/>
              <a:t>		component</a:t>
            </a:r>
            <a:endParaRPr lang="uk-UA" sz="16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44270" y="3717032"/>
            <a:ext cx="820172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hlinkClick r:id="rId6"/>
              </a:rPr>
              <a:t>https://</a:t>
            </a:r>
            <a:r>
              <a:rPr lang="en-US" sz="1600" dirty="0" smtClean="0">
                <a:hlinkClick r:id="rId6"/>
              </a:rPr>
              <a:t>msdn.microsoft.com/en-us/library/dd409360.aspx</a:t>
            </a:r>
            <a:r>
              <a:rPr lang="en-US" sz="1600" dirty="0" smtClean="0"/>
              <a:t>		</a:t>
            </a:r>
            <a:r>
              <a:rPr lang="en-US" sz="1600" dirty="0"/>
              <a:t>a</a:t>
            </a:r>
            <a:r>
              <a:rPr lang="en-US" sz="1600" dirty="0" smtClean="0"/>
              <a:t>ctivity</a:t>
            </a:r>
            <a:endParaRPr lang="uk-UA" sz="16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301840" y="4221088"/>
            <a:ext cx="84969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hlinkClick r:id="rId7"/>
              </a:rPr>
              <a:t>https://halllowelt.wordpress.com/2010/03/25/automatically-generating-states-with-vs2010-uml-tools-and-t4</a:t>
            </a:r>
            <a:r>
              <a:rPr lang="en-US" sz="1600" dirty="0" smtClean="0">
                <a:hlinkClick r:id="rId7"/>
              </a:rPr>
              <a:t>/</a:t>
            </a:r>
            <a:r>
              <a:rPr lang="en-US" sz="1600" dirty="0" smtClean="0"/>
              <a:t> 					</a:t>
            </a:r>
            <a:endParaRPr lang="uk-UA" sz="1600" dirty="0"/>
          </a:p>
        </p:txBody>
      </p:sp>
    </p:spTree>
    <p:extLst>
      <p:ext uri="{BB962C8B-B14F-4D97-AF65-F5344CB8AC3E}">
        <p14:creationId xmlns:p14="http://schemas.microsoft.com/office/powerpoint/2010/main" val="211498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8366125" y="6597650"/>
            <a:ext cx="777875" cy="260350"/>
          </a:xfrm>
          <a:prstGeom prst="rect">
            <a:avLst/>
          </a:prstGeom>
        </p:spPr>
        <p:txBody>
          <a:bodyPr/>
          <a:lstStyle/>
          <a:p>
            <a:fld id="{73178F59-CF44-477D-AF85-0D45C1C1D1D3}" type="slidenum">
              <a:rPr lang="uk-UA" smtClean="0"/>
              <a:pPr/>
              <a:t>81</a:t>
            </a:fld>
            <a:endParaRPr lang="uk-UA" dirty="0"/>
          </a:p>
        </p:txBody>
      </p:sp>
      <p:sp>
        <p:nvSpPr>
          <p:cNvPr id="3" name="Прямокутник 2"/>
          <p:cNvSpPr/>
          <p:nvPr/>
        </p:nvSpPr>
        <p:spPr>
          <a:xfrm>
            <a:off x="611560" y="1340768"/>
            <a:ext cx="838842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b="0" dirty="0"/>
              <a:t>Дж. </a:t>
            </a:r>
            <a:r>
              <a:rPr lang="ru-RU" b="0" dirty="0" err="1"/>
              <a:t>Рамбо</a:t>
            </a:r>
            <a:r>
              <a:rPr lang="ru-RU" b="0" dirty="0"/>
              <a:t>, М. </a:t>
            </a:r>
            <a:r>
              <a:rPr lang="ru-RU" b="0" dirty="0" err="1" smtClean="0"/>
              <a:t>Блаха</a:t>
            </a:r>
            <a:r>
              <a:rPr lang="ru-RU" b="0" dirty="0" smtClean="0"/>
              <a:t>. </a:t>
            </a:r>
            <a:r>
              <a:rPr lang="ru-RU" b="0" dirty="0"/>
              <a:t>UML 2.0. Объектно-ориентированное моделирование и </a:t>
            </a:r>
            <a:r>
              <a:rPr lang="ru-RU" b="0" dirty="0" smtClean="0"/>
              <a:t>разработка. 2-е </a:t>
            </a:r>
            <a:r>
              <a:rPr lang="ru-RU" b="0" dirty="0"/>
              <a:t>изд. — СПб.: Питер, 2007. — 544 </a:t>
            </a:r>
            <a:r>
              <a:rPr lang="ru-RU" b="0" dirty="0" smtClean="0"/>
              <a:t>с</a:t>
            </a:r>
          </a:p>
          <a:p>
            <a:pPr marL="342900" indent="-342900">
              <a:buFont typeface="+mj-lt"/>
              <a:buAutoNum type="arabicPeriod"/>
            </a:pPr>
            <a:r>
              <a:rPr lang="uk-UA" b="0" dirty="0" err="1" smtClean="0"/>
              <a:t>Йордон</a:t>
            </a:r>
            <a:r>
              <a:rPr lang="uk-UA" b="0" dirty="0" smtClean="0"/>
              <a:t> Э., </a:t>
            </a:r>
            <a:r>
              <a:rPr lang="uk-UA" b="0" dirty="0" err="1" smtClean="0"/>
              <a:t>Аргила</a:t>
            </a:r>
            <a:r>
              <a:rPr lang="uk-UA" b="0" dirty="0" smtClean="0"/>
              <a:t> К. </a:t>
            </a:r>
            <a:r>
              <a:rPr lang="uk-UA" b="0" dirty="0" err="1" smtClean="0"/>
              <a:t>Объектно-ориентированный</a:t>
            </a:r>
            <a:r>
              <a:rPr lang="uk-UA" b="0" dirty="0" smtClean="0"/>
              <a:t> </a:t>
            </a:r>
            <a:r>
              <a:rPr lang="uk-UA" b="0" dirty="0" err="1" smtClean="0"/>
              <a:t>анализ</a:t>
            </a:r>
            <a:r>
              <a:rPr lang="uk-UA" b="0" dirty="0" smtClean="0"/>
              <a:t> и </a:t>
            </a:r>
            <a:r>
              <a:rPr lang="uk-UA" b="0" dirty="0" err="1" smtClean="0"/>
              <a:t>проектирование</a:t>
            </a:r>
            <a:r>
              <a:rPr lang="uk-UA" b="0" dirty="0" smtClean="0"/>
              <a:t> систем. </a:t>
            </a:r>
            <a:r>
              <a:rPr lang="uk-UA" b="0" dirty="0" err="1" smtClean="0"/>
              <a:t>Издательство</a:t>
            </a:r>
            <a:r>
              <a:rPr lang="uk-UA" b="0" dirty="0" smtClean="0"/>
              <a:t> «Лори». 2007. – 284 с.</a:t>
            </a:r>
          </a:p>
          <a:p>
            <a:pPr marL="342900" indent="-342900">
              <a:buFont typeface="+mj-lt"/>
              <a:buAutoNum type="arabicPeriod"/>
            </a:pPr>
            <a:r>
              <a:rPr lang="uk-UA" b="0" dirty="0" smtClean="0"/>
              <a:t>Г. Буч. Об</a:t>
            </a:r>
            <a:r>
              <a:rPr lang="ru-RU" b="0" dirty="0" err="1" smtClean="0"/>
              <a:t>ъектно</a:t>
            </a:r>
            <a:r>
              <a:rPr lang="ru-RU" b="0" smtClean="0"/>
              <a:t>-ориентированное проектирование </a:t>
            </a:r>
            <a:r>
              <a:rPr lang="ru-RU" b="0" dirty="0" smtClean="0"/>
              <a:t>с примерами на С++</a:t>
            </a:r>
            <a:endParaRPr lang="uk-UA" b="0" dirty="0" smtClean="0"/>
          </a:p>
          <a:p>
            <a:pPr marL="342900" indent="-342900">
              <a:buFont typeface="+mj-lt"/>
              <a:buAutoNum type="arabicPeriod"/>
            </a:pP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2627784" y="116632"/>
            <a:ext cx="2684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600" dirty="0" smtClean="0">
                <a:solidFill>
                  <a:schemeClr val="bg1"/>
                </a:solidFill>
              </a:rPr>
              <a:t>Література</a:t>
            </a: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45246" y="3310759"/>
            <a:ext cx="7920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hlinkClick r:id="rId2"/>
              </a:rPr>
              <a:t>https://www.lucidchart.com/pages/uml-deployment-diagram</a:t>
            </a:r>
            <a:endParaRPr lang="ru-RU" sz="16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45246" y="3896187"/>
            <a:ext cx="80995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hlinkClick r:id="rId3"/>
              </a:rPr>
              <a:t>https://www.smartdraw.com/component-diagram/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3002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ua1">
  <a:themeElements>
    <a:clrScheme name="ua1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ua1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ua1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222</TotalTime>
  <Words>4996</Words>
  <Application>Microsoft Office PowerPoint</Application>
  <PresentationFormat>Экран (4:3)</PresentationFormat>
  <Paragraphs>614</Paragraphs>
  <Slides>81</Slides>
  <Notes>0</Notes>
  <HiddenSlides>1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3</vt:i4>
      </vt:variant>
      <vt:variant>
        <vt:lpstr>Заголовки слайдов</vt:lpstr>
      </vt:variant>
      <vt:variant>
        <vt:i4>81</vt:i4>
      </vt:variant>
    </vt:vector>
  </HeadingPairs>
  <TitlesOfParts>
    <vt:vector size="91" baseType="lpstr">
      <vt:lpstr>Arial</vt:lpstr>
      <vt:lpstr>Calibri</vt:lpstr>
      <vt:lpstr>Open Sans</vt:lpstr>
      <vt:lpstr>Segoe UI</vt:lpstr>
      <vt:lpstr>Times New Roman</vt:lpstr>
      <vt:lpstr>Wingdings</vt:lpstr>
      <vt:lpstr>1_ua1</vt:lpstr>
      <vt:lpstr>Фотография Photo Editor</vt:lpstr>
      <vt:lpstr>Visio</vt:lpstr>
      <vt:lpstr>Точечный рисунок</vt:lpstr>
      <vt:lpstr>Презентация PowerPoint</vt:lpstr>
      <vt:lpstr>Презентация PowerPoint</vt:lpstr>
      <vt:lpstr>Презентация PowerPoint</vt:lpstr>
      <vt:lpstr>Типи діаграм UML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Приклад package diagram</vt:lpstr>
      <vt:lpstr>Приклад class diagram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Tetyana Kovalyuk</dc:creator>
  <cp:lastModifiedBy>Tetyana Kovalyuk</cp:lastModifiedBy>
  <cp:revision>26</cp:revision>
  <dcterms:created xsi:type="dcterms:W3CDTF">2019-03-28T05:37:40Z</dcterms:created>
  <dcterms:modified xsi:type="dcterms:W3CDTF">2019-03-28T09:19:43Z</dcterms:modified>
</cp:coreProperties>
</file>